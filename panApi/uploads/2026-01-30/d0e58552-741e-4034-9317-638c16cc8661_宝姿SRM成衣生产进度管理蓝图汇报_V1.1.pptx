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7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8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9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2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3.xml" ContentType="application/vnd.openxmlformats-officedocument.presentationml.notesSlide+xml"/>
  <Override PartName="/ppt/tags/tag38.xml" ContentType="application/vnd.openxmlformats-officedocument.presentationml.tags+xml"/>
  <Override PartName="/ppt/notesSlides/notesSlide14.xml" ContentType="application/vnd.openxmlformats-officedocument.presentationml.notesSlide+xml"/>
  <Override PartName="/ppt/tags/tag39.xml" ContentType="application/vnd.openxmlformats-officedocument.presentationml.tags+xml"/>
  <Override PartName="/ppt/notesSlides/notesSlide15.xml" ContentType="application/vnd.openxmlformats-officedocument.presentationml.notesSlide+xml"/>
  <Override PartName="/ppt/tags/tag40.xml" ContentType="application/vnd.openxmlformats-officedocument.presentationml.tags+xml"/>
  <Override PartName="/ppt/notesSlides/notesSlide16.xml" ContentType="application/vnd.openxmlformats-officedocument.presentationml.notesSlide+xml"/>
  <Override PartName="/ppt/tags/tag41.xml" ContentType="application/vnd.openxmlformats-officedocument.presentationml.tags+xml"/>
  <Override PartName="/ppt/notesSlides/notesSlide17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23"/>
  </p:notesMasterIdLst>
  <p:sldIdLst>
    <p:sldId id="736" r:id="rId3"/>
    <p:sldId id="16756498" r:id="rId4"/>
    <p:sldId id="1642" r:id="rId5"/>
    <p:sldId id="16756598" r:id="rId6"/>
    <p:sldId id="16756599" r:id="rId7"/>
    <p:sldId id="16756597" r:id="rId8"/>
    <p:sldId id="16756600" r:id="rId9"/>
    <p:sldId id="16756601" r:id="rId10"/>
    <p:sldId id="16756602" r:id="rId11"/>
    <p:sldId id="16756603" r:id="rId12"/>
    <p:sldId id="16756607" r:id="rId13"/>
    <p:sldId id="16756608" r:id="rId14"/>
    <p:sldId id="16756604" r:id="rId15"/>
    <p:sldId id="16756605" r:id="rId16"/>
    <p:sldId id="16756609" r:id="rId17"/>
    <p:sldId id="16756610" r:id="rId18"/>
    <p:sldId id="16756611" r:id="rId19"/>
    <p:sldId id="16756612" r:id="rId20"/>
    <p:sldId id="16756613" r:id="rId21"/>
    <p:sldId id="1351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Jenny" initials="J" lastIdx="1" clrIdx="6"/>
  <p:cmAuthor id="0" name="Stone.Xuan" initials="S" lastIdx="2" clrIdx="0"/>
  <p:cmAuthor id="1" name="Qzing_赵华" initials="ZhaoHua" lastIdx="1" clrIdx="0"/>
  <p:cmAuthor id="2" name="zhao hua" initials="zh" lastIdx="1" clrIdx="1"/>
  <p:cmAuthor id="9" name="fyxi_ly@163.com" initials="f [2] [3] [2] [5]" lastIdx="1" clrIdx="2"/>
  <p:cmAuthor id="3" name="Wang, Echo X.T. (SH/MC)" initials="WEX(" lastIdx="24" clrIdx="2"/>
  <p:cmAuthor id="10" name="Windows 用户" initials="W用" lastIdx="1" clrIdx="3"/>
  <p:cmAuthor id="11" name="作者" initials="A" lastIdx="0" clrIdx="4"/>
  <p:cmAuthor id="12" name="brad" initials="brad" lastIdx="1" clrIdx="5"/>
  <p:cmAuthor id="6" name="一凡 杨" initials="一凡" lastIdx="3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742"/>
    <a:srgbClr val="F2F2F2"/>
    <a:srgbClr val="FFDA73"/>
    <a:srgbClr val="FFFBEF"/>
    <a:srgbClr val="F4F5F7"/>
    <a:srgbClr val="000000"/>
    <a:srgbClr val="FFE3D2"/>
    <a:srgbClr val="6A6E77"/>
    <a:srgbClr val="36CADB"/>
    <a:srgbClr val="FBE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3" autoAdjust="0"/>
    <p:restoredTop sz="90192" autoAdjust="0"/>
  </p:normalViewPr>
  <p:slideViewPr>
    <p:cSldViewPr snapToGrid="0">
      <p:cViewPr varScale="1">
        <p:scale>
          <a:sx n="59" d="100"/>
          <a:sy n="59" d="100"/>
        </p:scale>
        <p:origin x="11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258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354DA-0CD6-4B0F-9DC3-EDB2645F490E}" type="datetimeFigureOut">
              <a:rPr lang="zh-CN" altLang="en-US" smtClean="0"/>
              <a:t>2023/2/13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7FC7F-5DD0-4595-B784-520C0143E3C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356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587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709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093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201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691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899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381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842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387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8082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238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321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5343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8140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377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7FC7F-5DD0-4595-B784-520C0143E3C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3"/>
          <p:cNvSpPr>
            <a:spLocks noChangeArrowheads="1"/>
          </p:cNvSpPr>
          <p:nvPr userDrawn="1"/>
        </p:nvSpPr>
        <p:spPr bwMode="auto">
          <a:xfrm>
            <a:off x="0" y="6565557"/>
            <a:ext cx="12192002" cy="29244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endParaRPr lang="en-US" altLang="zh-CN" sz="1200" dirty="0">
              <a:solidFill>
                <a:schemeClr val="bg1"/>
              </a:solidFill>
              <a:latin typeface="+mj-ea"/>
              <a:ea typeface="+mj-ea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1" name="TextBox 13"/>
          <p:cNvSpPr>
            <a:spLocks noChangeArrowheads="1"/>
          </p:cNvSpPr>
          <p:nvPr userDrawn="1"/>
        </p:nvSpPr>
        <p:spPr bwMode="auto">
          <a:xfrm>
            <a:off x="-1" y="-1"/>
            <a:ext cx="12192001" cy="507625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horz" lIns="91440" tIns="45720" rIns="91440" bIns="45720" rtlCol="0" anchor="b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endParaRPr lang="en-US" altLang="zh-CN" sz="1200" dirty="0">
              <a:solidFill>
                <a:schemeClr val="bg1"/>
              </a:solidFill>
              <a:latin typeface="+mj-ea"/>
              <a:ea typeface="+mj-ea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769" y="1011637"/>
            <a:ext cx="5702061" cy="679139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Rectangle 1032"/>
          <p:cNvSpPr>
            <a:spLocks noChangeArrowheads="1"/>
          </p:cNvSpPr>
          <p:nvPr userDrawn="1"/>
        </p:nvSpPr>
        <p:spPr bwMode="auto">
          <a:xfrm>
            <a:off x="199705" y="5488026"/>
            <a:ext cx="4787900" cy="838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defRPr/>
            </a:pPr>
            <a:endParaRPr lang="en-US" altLang="zh-CN" sz="1400" b="0" dirty="0">
              <a:solidFill>
                <a:schemeClr val="tx1">
                  <a:lumMod val="50000"/>
                  <a:lumOff val="50000"/>
                </a:schemeClr>
              </a:solidFill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1400" b="0" dirty="0">
                <a:solidFill>
                  <a:schemeClr val="tx1">
                    <a:lumMod val="50000"/>
                    <a:lumOff val="50000"/>
                  </a:schemeClr>
                </a:solidFill>
                <a:ea typeface="黑体" panose="02010609060101010101" pitchFamily="2" charset="-122"/>
                <a:cs typeface="Arial" panose="020B0604020202020204" pitchFamily="34" charset="0"/>
              </a:rPr>
              <a:t>HAND Enterprise Solutions Company Ltd.</a:t>
            </a:r>
          </a:p>
          <a:p>
            <a:pPr>
              <a:defRPr/>
            </a:pPr>
            <a:r>
              <a:rPr lang="en-US" altLang="zh-CN" sz="1400" b="0" dirty="0">
                <a:solidFill>
                  <a:schemeClr val="tx1">
                    <a:lumMod val="50000"/>
                    <a:lumOff val="50000"/>
                  </a:schemeClr>
                </a:solidFill>
                <a:ea typeface="黑体" panose="02010609060101010101" pitchFamily="2" charset="-122"/>
                <a:cs typeface="Arial" panose="020B0604020202020204" pitchFamily="34" charset="0"/>
              </a:rPr>
              <a:t>www.hand-china.com</a:t>
            </a:r>
            <a:endParaRPr lang="en-US" altLang="en-US" sz="1600" b="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Text Box 1042"/>
          <p:cNvSpPr txBox="1">
            <a:spLocks noChangeArrowheads="1"/>
          </p:cNvSpPr>
          <p:nvPr userDrawn="1"/>
        </p:nvSpPr>
        <p:spPr bwMode="auto">
          <a:xfrm>
            <a:off x="199705" y="5310878"/>
            <a:ext cx="502626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上海汉得信息技术股份有限公司</a:t>
            </a:r>
            <a:endParaRPr kumimoji="1"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 bwMode="auto">
          <a:xfrm>
            <a:off x="0" y="6553200"/>
            <a:ext cx="12192000" cy="0"/>
          </a:xfrm>
          <a:prstGeom prst="line">
            <a:avLst/>
          </a:prstGeom>
          <a:solidFill>
            <a:srgbClr val="FFFF99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图片 13" descr="logo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1264900" y="6596063"/>
            <a:ext cx="914400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1"/>
          <p:cNvSpPr txBox="1"/>
          <p:nvPr userDrawn="1"/>
        </p:nvSpPr>
        <p:spPr>
          <a:xfrm>
            <a:off x="792480" y="2690337"/>
            <a:ext cx="10607040" cy="697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535" b="1" cap="all" dirty="0">
                <a:solidFill>
                  <a:schemeClr val="bg1"/>
                </a:solidFill>
                <a:latin typeface="Lato Black" panose="020F0A02020204030203" pitchFamily="34" charset="0"/>
              </a:rPr>
              <a:t>希望汉得能成为宝姿的长期合作伙伴！</a:t>
            </a:r>
            <a:endParaRPr lang="en-US" sz="4535" cap="all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cxnSp>
        <p:nvCxnSpPr>
          <p:cNvPr id="8" name="Straight Connector 2"/>
          <p:cNvCxnSpPr/>
          <p:nvPr userDrawn="1"/>
        </p:nvCxnSpPr>
        <p:spPr>
          <a:xfrm>
            <a:off x="808907" y="2588824"/>
            <a:ext cx="12192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3"/>
          <p:cNvSpPr txBox="1"/>
          <p:nvPr userDrawn="1"/>
        </p:nvSpPr>
        <p:spPr>
          <a:xfrm>
            <a:off x="792480" y="3810782"/>
            <a:ext cx="10607040" cy="287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800" b="0" dirty="0">
                <a:solidFill>
                  <a:schemeClr val="bg1"/>
                </a:solidFill>
                <a:latin typeface="+mj-ea"/>
                <a:ea typeface="+mj-ea"/>
              </a:rPr>
              <a:t>以感恩的心服务客户！</a:t>
            </a:r>
            <a:r>
              <a:rPr lang="en-US" altLang="zh-CN" sz="1800" b="0" dirty="0">
                <a:solidFill>
                  <a:schemeClr val="bg1"/>
                </a:solidFill>
                <a:latin typeface="+mj-ea"/>
                <a:ea typeface="+mj-ea"/>
              </a:rPr>
              <a:t>Better Experience</a:t>
            </a:r>
            <a:r>
              <a:rPr lang="zh-CN" altLang="en-US" sz="1800" b="0" dirty="0">
                <a:solidFill>
                  <a:schemeClr val="bg1"/>
                </a:solidFill>
                <a:latin typeface="+mj-ea"/>
                <a:ea typeface="+mj-ea"/>
              </a:rPr>
              <a:t>！</a:t>
            </a:r>
            <a:endParaRPr lang="en-US" sz="18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0" name="Group 4"/>
          <p:cNvGrpSpPr/>
          <p:nvPr userDrawn="1"/>
        </p:nvGrpSpPr>
        <p:grpSpPr>
          <a:xfrm>
            <a:off x="914546" y="5449857"/>
            <a:ext cx="184711" cy="184711"/>
            <a:chOff x="685909" y="4075113"/>
            <a:chExt cx="150813" cy="150813"/>
          </a:xfrm>
          <a:solidFill>
            <a:srgbClr val="C00000"/>
          </a:solidFill>
        </p:grpSpPr>
        <p:sp>
          <p:nvSpPr>
            <p:cNvPr id="11" name="Oval 1125"/>
            <p:cNvSpPr>
              <a:spLocks noChangeArrowheads="1"/>
            </p:cNvSpPr>
            <p:nvPr/>
          </p:nvSpPr>
          <p:spPr bwMode="auto">
            <a:xfrm>
              <a:off x="685909" y="4075113"/>
              <a:ext cx="150813" cy="15081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2" name="Freeform 1126"/>
            <p:cNvSpPr>
              <a:spLocks noEditPoints="1"/>
            </p:cNvSpPr>
            <p:nvPr/>
          </p:nvSpPr>
          <p:spPr bwMode="auto">
            <a:xfrm>
              <a:off x="733534" y="4102100"/>
              <a:ext cx="55563" cy="98425"/>
            </a:xfrm>
            <a:custGeom>
              <a:avLst/>
              <a:gdLst>
                <a:gd name="T0" fmla="*/ 0 w 23"/>
                <a:gd name="T1" fmla="*/ 11 h 41"/>
                <a:gd name="T2" fmla="*/ 3 w 23"/>
                <a:gd name="T3" fmla="*/ 3 h 41"/>
                <a:gd name="T4" fmla="*/ 12 w 23"/>
                <a:gd name="T5" fmla="*/ 0 h 41"/>
                <a:gd name="T6" fmla="*/ 20 w 23"/>
                <a:gd name="T7" fmla="*/ 3 h 41"/>
                <a:gd name="T8" fmla="*/ 23 w 23"/>
                <a:gd name="T9" fmla="*/ 11 h 41"/>
                <a:gd name="T10" fmla="*/ 22 w 23"/>
                <a:gd name="T11" fmla="*/ 16 h 41"/>
                <a:gd name="T12" fmla="*/ 12 w 23"/>
                <a:gd name="T13" fmla="*/ 41 h 41"/>
                <a:gd name="T14" fmla="*/ 1 w 23"/>
                <a:gd name="T15" fmla="*/ 16 h 41"/>
                <a:gd name="T16" fmla="*/ 0 w 23"/>
                <a:gd name="T17" fmla="*/ 14 h 41"/>
                <a:gd name="T18" fmla="*/ 0 w 23"/>
                <a:gd name="T19" fmla="*/ 11 h 41"/>
                <a:gd name="T20" fmla="*/ 7 w 23"/>
                <a:gd name="T21" fmla="*/ 7 h 41"/>
                <a:gd name="T22" fmla="*/ 6 w 23"/>
                <a:gd name="T23" fmla="*/ 11 h 41"/>
                <a:gd name="T24" fmla="*/ 7 w 23"/>
                <a:gd name="T25" fmla="*/ 15 h 41"/>
                <a:gd name="T26" fmla="*/ 12 w 23"/>
                <a:gd name="T27" fmla="*/ 17 h 41"/>
                <a:gd name="T28" fmla="*/ 16 w 23"/>
                <a:gd name="T29" fmla="*/ 15 h 41"/>
                <a:gd name="T30" fmla="*/ 17 w 23"/>
                <a:gd name="T31" fmla="*/ 11 h 41"/>
                <a:gd name="T32" fmla="*/ 16 w 23"/>
                <a:gd name="T33" fmla="*/ 7 h 41"/>
                <a:gd name="T34" fmla="*/ 12 w 23"/>
                <a:gd name="T35" fmla="*/ 5 h 41"/>
                <a:gd name="T36" fmla="*/ 7 w 23"/>
                <a:gd name="T37" fmla="*/ 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41">
                  <a:moveTo>
                    <a:pt x="0" y="11"/>
                  </a:moveTo>
                  <a:cubicBezTo>
                    <a:pt x="0" y="8"/>
                    <a:pt x="1" y="5"/>
                    <a:pt x="3" y="3"/>
                  </a:cubicBezTo>
                  <a:cubicBezTo>
                    <a:pt x="6" y="1"/>
                    <a:pt x="8" y="0"/>
                    <a:pt x="12" y="0"/>
                  </a:cubicBezTo>
                  <a:cubicBezTo>
                    <a:pt x="15" y="0"/>
                    <a:pt x="17" y="1"/>
                    <a:pt x="20" y="3"/>
                  </a:cubicBezTo>
                  <a:cubicBezTo>
                    <a:pt x="22" y="5"/>
                    <a:pt x="23" y="8"/>
                    <a:pt x="23" y="11"/>
                  </a:cubicBezTo>
                  <a:cubicBezTo>
                    <a:pt x="23" y="13"/>
                    <a:pt x="23" y="14"/>
                    <a:pt x="22" y="16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5"/>
                    <a:pt x="0" y="14"/>
                    <a:pt x="0" y="14"/>
                  </a:cubicBezTo>
                  <a:cubicBezTo>
                    <a:pt x="0" y="13"/>
                    <a:pt x="0" y="12"/>
                    <a:pt x="0" y="11"/>
                  </a:cubicBezTo>
                  <a:close/>
                  <a:moveTo>
                    <a:pt x="7" y="7"/>
                  </a:moveTo>
                  <a:cubicBezTo>
                    <a:pt x="6" y="8"/>
                    <a:pt x="6" y="10"/>
                    <a:pt x="6" y="11"/>
                  </a:cubicBezTo>
                  <a:cubicBezTo>
                    <a:pt x="6" y="13"/>
                    <a:pt x="6" y="14"/>
                    <a:pt x="7" y="15"/>
                  </a:cubicBezTo>
                  <a:cubicBezTo>
                    <a:pt x="9" y="16"/>
                    <a:pt x="10" y="17"/>
                    <a:pt x="12" y="17"/>
                  </a:cubicBezTo>
                  <a:cubicBezTo>
                    <a:pt x="13" y="17"/>
                    <a:pt x="14" y="16"/>
                    <a:pt x="16" y="15"/>
                  </a:cubicBezTo>
                  <a:cubicBezTo>
                    <a:pt x="17" y="14"/>
                    <a:pt x="17" y="13"/>
                    <a:pt x="17" y="11"/>
                  </a:cubicBezTo>
                  <a:cubicBezTo>
                    <a:pt x="17" y="10"/>
                    <a:pt x="17" y="8"/>
                    <a:pt x="16" y="7"/>
                  </a:cubicBezTo>
                  <a:cubicBezTo>
                    <a:pt x="14" y="6"/>
                    <a:pt x="13" y="5"/>
                    <a:pt x="12" y="5"/>
                  </a:cubicBezTo>
                  <a:cubicBezTo>
                    <a:pt x="10" y="5"/>
                    <a:pt x="9" y="6"/>
                    <a:pt x="7" y="7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13" name="Group 15"/>
          <p:cNvGrpSpPr/>
          <p:nvPr userDrawn="1"/>
        </p:nvGrpSpPr>
        <p:grpSpPr>
          <a:xfrm>
            <a:off x="914546" y="5714439"/>
            <a:ext cx="184711" cy="184711"/>
            <a:chOff x="685909" y="4273550"/>
            <a:chExt cx="150813" cy="150813"/>
          </a:xfrm>
          <a:solidFill>
            <a:srgbClr val="C00000"/>
          </a:solidFill>
        </p:grpSpPr>
        <p:sp>
          <p:nvSpPr>
            <p:cNvPr id="14" name="Oval 1127"/>
            <p:cNvSpPr>
              <a:spLocks noChangeArrowheads="1"/>
            </p:cNvSpPr>
            <p:nvPr/>
          </p:nvSpPr>
          <p:spPr bwMode="auto">
            <a:xfrm>
              <a:off x="685909" y="4273550"/>
              <a:ext cx="150813" cy="15081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5" name="Freeform 1130"/>
            <p:cNvSpPr/>
            <p:nvPr/>
          </p:nvSpPr>
          <p:spPr bwMode="auto">
            <a:xfrm>
              <a:off x="714484" y="4302125"/>
              <a:ext cx="90488" cy="92075"/>
            </a:xfrm>
            <a:custGeom>
              <a:avLst/>
              <a:gdLst>
                <a:gd name="T0" fmla="*/ 22 w 38"/>
                <a:gd name="T1" fmla="*/ 22 h 38"/>
                <a:gd name="T2" fmla="*/ 13 w 38"/>
                <a:gd name="T3" fmla="*/ 27 h 38"/>
                <a:gd name="T4" fmla="*/ 5 w 38"/>
                <a:gd name="T5" fmla="*/ 27 h 38"/>
                <a:gd name="T6" fmla="*/ 6 w 38"/>
                <a:gd name="T7" fmla="*/ 36 h 38"/>
                <a:gd name="T8" fmla="*/ 27 w 38"/>
                <a:gd name="T9" fmla="*/ 27 h 38"/>
                <a:gd name="T10" fmla="*/ 36 w 38"/>
                <a:gd name="T11" fmla="*/ 6 h 38"/>
                <a:gd name="T12" fmla="*/ 27 w 38"/>
                <a:gd name="T13" fmla="*/ 5 h 38"/>
                <a:gd name="T14" fmla="*/ 27 w 38"/>
                <a:gd name="T15" fmla="*/ 13 h 38"/>
                <a:gd name="T16" fmla="*/ 22 w 38"/>
                <a:gd name="T1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8">
                  <a:moveTo>
                    <a:pt x="22" y="22"/>
                  </a:moveTo>
                  <a:cubicBezTo>
                    <a:pt x="19" y="26"/>
                    <a:pt x="15" y="29"/>
                    <a:pt x="13" y="27"/>
                  </a:cubicBezTo>
                  <a:cubicBezTo>
                    <a:pt x="11" y="25"/>
                    <a:pt x="10" y="23"/>
                    <a:pt x="5" y="27"/>
                  </a:cubicBezTo>
                  <a:cubicBezTo>
                    <a:pt x="0" y="31"/>
                    <a:pt x="4" y="34"/>
                    <a:pt x="6" y="36"/>
                  </a:cubicBezTo>
                  <a:cubicBezTo>
                    <a:pt x="8" y="38"/>
                    <a:pt x="18" y="36"/>
                    <a:pt x="27" y="27"/>
                  </a:cubicBezTo>
                  <a:cubicBezTo>
                    <a:pt x="36" y="18"/>
                    <a:pt x="38" y="8"/>
                    <a:pt x="36" y="6"/>
                  </a:cubicBezTo>
                  <a:cubicBezTo>
                    <a:pt x="33" y="4"/>
                    <a:pt x="31" y="0"/>
                    <a:pt x="27" y="5"/>
                  </a:cubicBezTo>
                  <a:cubicBezTo>
                    <a:pt x="23" y="10"/>
                    <a:pt x="25" y="11"/>
                    <a:pt x="27" y="13"/>
                  </a:cubicBezTo>
                  <a:cubicBezTo>
                    <a:pt x="29" y="15"/>
                    <a:pt x="25" y="19"/>
                    <a:pt x="22" y="22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16" name="Group 16"/>
          <p:cNvGrpSpPr/>
          <p:nvPr userDrawn="1"/>
        </p:nvGrpSpPr>
        <p:grpSpPr>
          <a:xfrm>
            <a:off x="914546" y="5983257"/>
            <a:ext cx="184711" cy="184711"/>
            <a:chOff x="685909" y="4475163"/>
            <a:chExt cx="150813" cy="150813"/>
          </a:xfrm>
          <a:solidFill>
            <a:srgbClr val="C00000"/>
          </a:solidFill>
        </p:grpSpPr>
        <p:sp>
          <p:nvSpPr>
            <p:cNvPr id="17" name="Oval 1128"/>
            <p:cNvSpPr>
              <a:spLocks noChangeArrowheads="1"/>
            </p:cNvSpPr>
            <p:nvPr/>
          </p:nvSpPr>
          <p:spPr bwMode="auto">
            <a:xfrm>
              <a:off x="685909" y="4475163"/>
              <a:ext cx="150813" cy="15081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8" name="Freeform 1141"/>
            <p:cNvSpPr>
              <a:spLocks noEditPoints="1"/>
            </p:cNvSpPr>
            <p:nvPr/>
          </p:nvSpPr>
          <p:spPr bwMode="auto">
            <a:xfrm>
              <a:off x="724913" y="4524377"/>
              <a:ext cx="82692" cy="52386"/>
            </a:xfrm>
            <a:custGeom>
              <a:avLst/>
              <a:gdLst>
                <a:gd name="T0" fmla="*/ 532 w 543"/>
                <a:gd name="T1" fmla="*/ 91 h 344"/>
                <a:gd name="T2" fmla="*/ 532 w 543"/>
                <a:gd name="T3" fmla="*/ 91 h 344"/>
                <a:gd name="T4" fmla="*/ 297 w 543"/>
                <a:gd name="T5" fmla="*/ 211 h 344"/>
                <a:gd name="T6" fmla="*/ 284 w 543"/>
                <a:gd name="T7" fmla="*/ 217 h 344"/>
                <a:gd name="T8" fmla="*/ 271 w 543"/>
                <a:gd name="T9" fmla="*/ 217 h 344"/>
                <a:gd name="T10" fmla="*/ 257 w 543"/>
                <a:gd name="T11" fmla="*/ 217 h 344"/>
                <a:gd name="T12" fmla="*/ 244 w 543"/>
                <a:gd name="T13" fmla="*/ 211 h 344"/>
                <a:gd name="T14" fmla="*/ 11 w 543"/>
                <a:gd name="T15" fmla="*/ 91 h 344"/>
                <a:gd name="T16" fmla="*/ 4 w 543"/>
                <a:gd name="T17" fmla="*/ 89 h 344"/>
                <a:gd name="T18" fmla="*/ 0 w 543"/>
                <a:gd name="T19" fmla="*/ 91 h 344"/>
                <a:gd name="T20" fmla="*/ 0 w 543"/>
                <a:gd name="T21" fmla="*/ 93 h 344"/>
                <a:gd name="T22" fmla="*/ 0 w 543"/>
                <a:gd name="T23" fmla="*/ 99 h 344"/>
                <a:gd name="T24" fmla="*/ 0 w 543"/>
                <a:gd name="T25" fmla="*/ 317 h 344"/>
                <a:gd name="T26" fmla="*/ 0 w 543"/>
                <a:gd name="T27" fmla="*/ 321 h 344"/>
                <a:gd name="T28" fmla="*/ 2 w 543"/>
                <a:gd name="T29" fmla="*/ 327 h 344"/>
                <a:gd name="T30" fmla="*/ 9 w 543"/>
                <a:gd name="T31" fmla="*/ 334 h 344"/>
                <a:gd name="T32" fmla="*/ 21 w 543"/>
                <a:gd name="T33" fmla="*/ 342 h 344"/>
                <a:gd name="T34" fmla="*/ 24 w 543"/>
                <a:gd name="T35" fmla="*/ 344 h 344"/>
                <a:gd name="T36" fmla="*/ 30 w 543"/>
                <a:gd name="T37" fmla="*/ 344 h 344"/>
                <a:gd name="T38" fmla="*/ 513 w 543"/>
                <a:gd name="T39" fmla="*/ 344 h 344"/>
                <a:gd name="T40" fmla="*/ 517 w 543"/>
                <a:gd name="T41" fmla="*/ 344 h 344"/>
                <a:gd name="T42" fmla="*/ 522 w 543"/>
                <a:gd name="T43" fmla="*/ 342 h 344"/>
                <a:gd name="T44" fmla="*/ 534 w 543"/>
                <a:gd name="T45" fmla="*/ 334 h 344"/>
                <a:gd name="T46" fmla="*/ 539 w 543"/>
                <a:gd name="T47" fmla="*/ 327 h 344"/>
                <a:gd name="T48" fmla="*/ 541 w 543"/>
                <a:gd name="T49" fmla="*/ 321 h 344"/>
                <a:gd name="T50" fmla="*/ 543 w 543"/>
                <a:gd name="T51" fmla="*/ 317 h 344"/>
                <a:gd name="T52" fmla="*/ 543 w 543"/>
                <a:gd name="T53" fmla="*/ 99 h 344"/>
                <a:gd name="T54" fmla="*/ 543 w 543"/>
                <a:gd name="T55" fmla="*/ 93 h 344"/>
                <a:gd name="T56" fmla="*/ 541 w 543"/>
                <a:gd name="T57" fmla="*/ 91 h 344"/>
                <a:gd name="T58" fmla="*/ 537 w 543"/>
                <a:gd name="T59" fmla="*/ 89 h 344"/>
                <a:gd name="T60" fmla="*/ 532 w 543"/>
                <a:gd name="T61" fmla="*/ 91 h 344"/>
                <a:gd name="T62" fmla="*/ 19 w 543"/>
                <a:gd name="T63" fmla="*/ 31 h 344"/>
                <a:gd name="T64" fmla="*/ 19 w 543"/>
                <a:gd name="T65" fmla="*/ 31 h 344"/>
                <a:gd name="T66" fmla="*/ 244 w 543"/>
                <a:gd name="T67" fmla="*/ 153 h 344"/>
                <a:gd name="T68" fmla="*/ 257 w 543"/>
                <a:gd name="T69" fmla="*/ 156 h 344"/>
                <a:gd name="T70" fmla="*/ 271 w 543"/>
                <a:gd name="T71" fmla="*/ 158 h 344"/>
                <a:gd name="T72" fmla="*/ 286 w 543"/>
                <a:gd name="T73" fmla="*/ 156 h 344"/>
                <a:gd name="T74" fmla="*/ 297 w 543"/>
                <a:gd name="T75" fmla="*/ 153 h 344"/>
                <a:gd name="T76" fmla="*/ 524 w 543"/>
                <a:gd name="T77" fmla="*/ 31 h 344"/>
                <a:gd name="T78" fmla="*/ 530 w 543"/>
                <a:gd name="T79" fmla="*/ 29 h 344"/>
                <a:gd name="T80" fmla="*/ 535 w 543"/>
                <a:gd name="T81" fmla="*/ 24 h 344"/>
                <a:gd name="T82" fmla="*/ 539 w 543"/>
                <a:gd name="T83" fmla="*/ 18 h 344"/>
                <a:gd name="T84" fmla="*/ 541 w 543"/>
                <a:gd name="T85" fmla="*/ 14 h 344"/>
                <a:gd name="T86" fmla="*/ 541 w 543"/>
                <a:gd name="T87" fmla="*/ 10 h 344"/>
                <a:gd name="T88" fmla="*/ 539 w 543"/>
                <a:gd name="T89" fmla="*/ 4 h 344"/>
                <a:gd name="T90" fmla="*/ 535 w 543"/>
                <a:gd name="T91" fmla="*/ 0 h 344"/>
                <a:gd name="T92" fmla="*/ 524 w 543"/>
                <a:gd name="T93" fmla="*/ 0 h 344"/>
                <a:gd name="T94" fmla="*/ 17 w 543"/>
                <a:gd name="T95" fmla="*/ 0 h 344"/>
                <a:gd name="T96" fmla="*/ 8 w 543"/>
                <a:gd name="T97" fmla="*/ 0 h 344"/>
                <a:gd name="T98" fmla="*/ 2 w 543"/>
                <a:gd name="T99" fmla="*/ 4 h 344"/>
                <a:gd name="T100" fmla="*/ 0 w 543"/>
                <a:gd name="T101" fmla="*/ 10 h 344"/>
                <a:gd name="T102" fmla="*/ 0 w 543"/>
                <a:gd name="T103" fmla="*/ 14 h 344"/>
                <a:gd name="T104" fmla="*/ 4 w 543"/>
                <a:gd name="T105" fmla="*/ 18 h 344"/>
                <a:gd name="T106" fmla="*/ 6 w 543"/>
                <a:gd name="T107" fmla="*/ 24 h 344"/>
                <a:gd name="T108" fmla="*/ 11 w 543"/>
                <a:gd name="T109" fmla="*/ 29 h 344"/>
                <a:gd name="T110" fmla="*/ 19 w 543"/>
                <a:gd name="T111" fmla="*/ 31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43" h="344">
                  <a:moveTo>
                    <a:pt x="532" y="91"/>
                  </a:moveTo>
                  <a:lnTo>
                    <a:pt x="532" y="91"/>
                  </a:lnTo>
                  <a:lnTo>
                    <a:pt x="297" y="211"/>
                  </a:lnTo>
                  <a:lnTo>
                    <a:pt x="284" y="217"/>
                  </a:lnTo>
                  <a:lnTo>
                    <a:pt x="271" y="217"/>
                  </a:lnTo>
                  <a:lnTo>
                    <a:pt x="257" y="217"/>
                  </a:lnTo>
                  <a:lnTo>
                    <a:pt x="244" y="211"/>
                  </a:lnTo>
                  <a:lnTo>
                    <a:pt x="11" y="91"/>
                  </a:lnTo>
                  <a:lnTo>
                    <a:pt x="4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0" y="99"/>
                  </a:lnTo>
                  <a:lnTo>
                    <a:pt x="0" y="317"/>
                  </a:lnTo>
                  <a:lnTo>
                    <a:pt x="0" y="321"/>
                  </a:lnTo>
                  <a:lnTo>
                    <a:pt x="2" y="327"/>
                  </a:lnTo>
                  <a:lnTo>
                    <a:pt x="9" y="334"/>
                  </a:lnTo>
                  <a:lnTo>
                    <a:pt x="21" y="342"/>
                  </a:lnTo>
                  <a:lnTo>
                    <a:pt x="24" y="344"/>
                  </a:lnTo>
                  <a:lnTo>
                    <a:pt x="30" y="344"/>
                  </a:lnTo>
                  <a:lnTo>
                    <a:pt x="513" y="344"/>
                  </a:lnTo>
                  <a:lnTo>
                    <a:pt x="517" y="344"/>
                  </a:lnTo>
                  <a:lnTo>
                    <a:pt x="522" y="342"/>
                  </a:lnTo>
                  <a:lnTo>
                    <a:pt x="534" y="334"/>
                  </a:lnTo>
                  <a:lnTo>
                    <a:pt x="539" y="327"/>
                  </a:lnTo>
                  <a:lnTo>
                    <a:pt x="541" y="321"/>
                  </a:lnTo>
                  <a:lnTo>
                    <a:pt x="543" y="317"/>
                  </a:lnTo>
                  <a:lnTo>
                    <a:pt x="543" y="99"/>
                  </a:lnTo>
                  <a:lnTo>
                    <a:pt x="543" y="93"/>
                  </a:lnTo>
                  <a:lnTo>
                    <a:pt x="541" y="91"/>
                  </a:lnTo>
                  <a:lnTo>
                    <a:pt x="537" y="89"/>
                  </a:lnTo>
                  <a:lnTo>
                    <a:pt x="532" y="91"/>
                  </a:lnTo>
                  <a:close/>
                  <a:moveTo>
                    <a:pt x="19" y="31"/>
                  </a:moveTo>
                  <a:lnTo>
                    <a:pt x="19" y="31"/>
                  </a:lnTo>
                  <a:lnTo>
                    <a:pt x="244" y="153"/>
                  </a:lnTo>
                  <a:lnTo>
                    <a:pt x="257" y="156"/>
                  </a:lnTo>
                  <a:lnTo>
                    <a:pt x="271" y="158"/>
                  </a:lnTo>
                  <a:lnTo>
                    <a:pt x="286" y="156"/>
                  </a:lnTo>
                  <a:lnTo>
                    <a:pt x="297" y="153"/>
                  </a:lnTo>
                  <a:lnTo>
                    <a:pt x="524" y="31"/>
                  </a:lnTo>
                  <a:lnTo>
                    <a:pt x="530" y="29"/>
                  </a:lnTo>
                  <a:lnTo>
                    <a:pt x="535" y="24"/>
                  </a:lnTo>
                  <a:lnTo>
                    <a:pt x="539" y="18"/>
                  </a:lnTo>
                  <a:lnTo>
                    <a:pt x="541" y="14"/>
                  </a:lnTo>
                  <a:lnTo>
                    <a:pt x="541" y="10"/>
                  </a:lnTo>
                  <a:lnTo>
                    <a:pt x="539" y="4"/>
                  </a:lnTo>
                  <a:lnTo>
                    <a:pt x="535" y="0"/>
                  </a:lnTo>
                  <a:lnTo>
                    <a:pt x="524" y="0"/>
                  </a:lnTo>
                  <a:lnTo>
                    <a:pt x="17" y="0"/>
                  </a:lnTo>
                  <a:lnTo>
                    <a:pt x="8" y="0"/>
                  </a:lnTo>
                  <a:lnTo>
                    <a:pt x="2" y="4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4" y="18"/>
                  </a:lnTo>
                  <a:lnTo>
                    <a:pt x="6" y="24"/>
                  </a:lnTo>
                  <a:lnTo>
                    <a:pt x="11" y="29"/>
                  </a:lnTo>
                  <a:lnTo>
                    <a:pt x="19" y="3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19" name="TextBox 11"/>
          <p:cNvSpPr txBox="1"/>
          <p:nvPr userDrawn="1"/>
        </p:nvSpPr>
        <p:spPr>
          <a:xfrm>
            <a:off x="1235857" y="5451974"/>
            <a:ext cx="2195404" cy="1642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青浦区汇联路</a:t>
            </a:r>
            <a:r>
              <a:rPr lang="en-US" altLang="zh-CN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33</a:t>
            </a:r>
            <a:r>
              <a:rPr lang="zh-CN" altLang="en-US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号，上海，中国</a:t>
            </a:r>
            <a:endParaRPr lang="en-US" sz="1065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</a:endParaRPr>
          </a:p>
        </p:txBody>
      </p:sp>
      <p:sp>
        <p:nvSpPr>
          <p:cNvPr id="20" name="TextBox 12"/>
          <p:cNvSpPr txBox="1"/>
          <p:nvPr userDrawn="1"/>
        </p:nvSpPr>
        <p:spPr>
          <a:xfrm>
            <a:off x="1235857" y="5714440"/>
            <a:ext cx="2195404" cy="1642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021</a:t>
            </a:r>
            <a:r>
              <a:rPr lang="en-US" altLang="zh-CN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-6700 2300</a:t>
            </a:r>
            <a:endParaRPr lang="en-US" sz="1065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</a:endParaRPr>
          </a:p>
        </p:txBody>
      </p:sp>
      <p:sp>
        <p:nvSpPr>
          <p:cNvPr id="21" name="TextBox 13"/>
          <p:cNvSpPr txBox="1"/>
          <p:nvPr userDrawn="1"/>
        </p:nvSpPr>
        <p:spPr>
          <a:xfrm>
            <a:off x="1235857" y="5985374"/>
            <a:ext cx="2195404" cy="1642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sales@hand-china.com</a:t>
            </a:r>
            <a:endParaRPr lang="en-US" sz="1065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</a:endParaRPr>
          </a:p>
        </p:txBody>
      </p:sp>
      <p:sp>
        <p:nvSpPr>
          <p:cNvPr id="22" name="TextBox 14"/>
          <p:cNvSpPr txBox="1"/>
          <p:nvPr userDrawn="1"/>
        </p:nvSpPr>
        <p:spPr>
          <a:xfrm>
            <a:off x="892956" y="5022247"/>
            <a:ext cx="2538304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35" b="1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Contact us: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9" grpId="0"/>
      <p:bldP spid="20" grpId="0"/>
      <p:bldP spid="21" grpId="0"/>
      <p:bldP spid="2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2023/2/13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数部PPT-正文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97140" y="295632"/>
            <a:ext cx="8301717" cy="347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 bwMode="auto">
          <a:xfrm>
            <a:off x="0" y="6553200"/>
            <a:ext cx="12192000" cy="0"/>
          </a:xfrm>
          <a:prstGeom prst="line">
            <a:avLst/>
          </a:prstGeom>
          <a:solidFill>
            <a:srgbClr val="FFFF99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8137" y="163903"/>
            <a:ext cx="11593183" cy="490538"/>
          </a:xfr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268137" y="974096"/>
            <a:ext cx="11593183" cy="4351338"/>
          </a:xfrm>
        </p:spPr>
        <p:txBody>
          <a:bodyPr>
            <a:normAutofit/>
          </a:bodyPr>
          <a:lstStyle>
            <a:lvl1pPr marL="411480" indent="-411480">
              <a:buClr>
                <a:srgbClr val="C70019"/>
              </a:buClr>
              <a:buFont typeface="Wingdings" panose="05000000000000000000" pitchFamily="2" charset="2"/>
              <a:buChar char="n"/>
              <a:defRPr sz="2400">
                <a:latin typeface="+mj-ea"/>
                <a:ea typeface="+mj-ea"/>
              </a:defRPr>
            </a:lvl1pPr>
            <a:lvl2pPr>
              <a:buClr>
                <a:srgbClr val="C70019"/>
              </a:buClr>
              <a:defRPr sz="2400">
                <a:latin typeface="+mj-ea"/>
                <a:ea typeface="+mj-ea"/>
              </a:defRPr>
            </a:lvl2pPr>
            <a:lvl3pPr marL="1441450" indent="-342900">
              <a:buClr>
                <a:srgbClr val="C70019"/>
              </a:buClr>
              <a:buFont typeface="Wingdings" panose="05000000000000000000" pitchFamily="2" charset="2"/>
              <a:buChar char="p"/>
              <a:defRPr sz="2400">
                <a:latin typeface="+mj-ea"/>
                <a:ea typeface="+mj-ea"/>
              </a:defRPr>
            </a:lvl3pPr>
            <a:lvl4pPr marL="1990090" indent="-342900">
              <a:buClr>
                <a:srgbClr val="C70019"/>
              </a:buClr>
              <a:buFont typeface="Arial" panose="020B0604020202020204" pitchFamily="34" charset="0"/>
              <a:buChar char="•"/>
              <a:defRPr sz="2400">
                <a:latin typeface="+mj-ea"/>
                <a:ea typeface="+mj-ea"/>
              </a:defRPr>
            </a:lvl4pPr>
            <a:lvl5pPr>
              <a:buClr>
                <a:srgbClr val="C70019"/>
              </a:buClr>
              <a:defRPr sz="2400">
                <a:latin typeface="+mj-ea"/>
                <a:ea typeface="+mj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788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3"/>
          <p:cNvSpPr>
            <a:spLocks noChangeArrowheads="1"/>
          </p:cNvSpPr>
          <p:nvPr userDrawn="1"/>
        </p:nvSpPr>
        <p:spPr bwMode="auto">
          <a:xfrm>
            <a:off x="0" y="6565557"/>
            <a:ext cx="12192002" cy="29244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endParaRPr lang="en-US" altLang="zh-CN" sz="1200" dirty="0">
              <a:solidFill>
                <a:schemeClr val="bg1"/>
              </a:solidFill>
              <a:latin typeface="+mj-ea"/>
              <a:ea typeface="+mj-ea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1" name="TextBox 13"/>
          <p:cNvSpPr>
            <a:spLocks noChangeArrowheads="1"/>
          </p:cNvSpPr>
          <p:nvPr userDrawn="1"/>
        </p:nvSpPr>
        <p:spPr bwMode="auto">
          <a:xfrm>
            <a:off x="-1" y="-1"/>
            <a:ext cx="12192001" cy="507625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horz" lIns="91440" tIns="45720" rIns="91440" bIns="45720" rtlCol="0" anchor="b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endParaRPr lang="en-US" altLang="zh-CN" sz="1200" dirty="0">
              <a:solidFill>
                <a:schemeClr val="bg1"/>
              </a:solidFill>
              <a:latin typeface="+mj-ea"/>
              <a:ea typeface="+mj-ea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769" y="1011637"/>
            <a:ext cx="5702061" cy="679139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Rectangle 1032"/>
          <p:cNvSpPr>
            <a:spLocks noChangeArrowheads="1"/>
          </p:cNvSpPr>
          <p:nvPr userDrawn="1"/>
        </p:nvSpPr>
        <p:spPr bwMode="auto">
          <a:xfrm>
            <a:off x="199705" y="5488026"/>
            <a:ext cx="4787900" cy="838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defRPr/>
            </a:pPr>
            <a:endParaRPr lang="en-US" altLang="zh-CN" sz="1400" b="0" dirty="0">
              <a:solidFill>
                <a:schemeClr val="tx1">
                  <a:lumMod val="50000"/>
                  <a:lumOff val="50000"/>
                </a:schemeClr>
              </a:solidFill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1400" b="0" dirty="0">
                <a:solidFill>
                  <a:schemeClr val="tx1">
                    <a:lumMod val="50000"/>
                    <a:lumOff val="50000"/>
                  </a:schemeClr>
                </a:solidFill>
                <a:ea typeface="黑体" panose="02010609060101010101" pitchFamily="2" charset="-122"/>
                <a:cs typeface="Arial" panose="020B0604020202020204" pitchFamily="34" charset="0"/>
              </a:rPr>
              <a:t>HAND Enterprise Solutions Company Ltd.</a:t>
            </a:r>
          </a:p>
          <a:p>
            <a:pPr>
              <a:defRPr/>
            </a:pPr>
            <a:r>
              <a:rPr lang="en-US" altLang="zh-CN" sz="1400" b="0" dirty="0">
                <a:solidFill>
                  <a:schemeClr val="tx1">
                    <a:lumMod val="50000"/>
                    <a:lumOff val="50000"/>
                  </a:schemeClr>
                </a:solidFill>
                <a:ea typeface="黑体" panose="02010609060101010101" pitchFamily="2" charset="-122"/>
                <a:cs typeface="Arial" panose="020B0604020202020204" pitchFamily="34" charset="0"/>
              </a:rPr>
              <a:t>www.hand-china.com</a:t>
            </a:r>
            <a:endParaRPr lang="en-US" altLang="en-US" sz="1600" b="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Text Box 1042"/>
          <p:cNvSpPr txBox="1">
            <a:spLocks noChangeArrowheads="1"/>
          </p:cNvSpPr>
          <p:nvPr userDrawn="1"/>
        </p:nvSpPr>
        <p:spPr bwMode="auto">
          <a:xfrm>
            <a:off x="199705" y="5310878"/>
            <a:ext cx="502626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上海汉得信息技术股份有限公司</a:t>
            </a:r>
            <a:endParaRPr kumimoji="1"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 bwMode="auto">
          <a:xfrm>
            <a:off x="0" y="6553200"/>
            <a:ext cx="12192000" cy="0"/>
          </a:xfrm>
          <a:prstGeom prst="line">
            <a:avLst/>
          </a:prstGeom>
          <a:solidFill>
            <a:srgbClr val="FFFF99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图片 13" descr="logo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1264900" y="6596063"/>
            <a:ext cx="914400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1"/>
          <p:cNvSpPr txBox="1"/>
          <p:nvPr userDrawn="1"/>
        </p:nvSpPr>
        <p:spPr>
          <a:xfrm>
            <a:off x="792480" y="2690337"/>
            <a:ext cx="10607040" cy="697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535" b="1" cap="all" dirty="0">
                <a:solidFill>
                  <a:schemeClr val="bg1"/>
                </a:solidFill>
                <a:latin typeface="Lato Black" panose="020F0A02020204030203" pitchFamily="34" charset="0"/>
              </a:rPr>
              <a:t>希望汉得能成为宝姿的长期合作伙伴！</a:t>
            </a:r>
            <a:endParaRPr lang="en-US" sz="4535" cap="all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cxnSp>
        <p:nvCxnSpPr>
          <p:cNvPr id="8" name="Straight Connector 2"/>
          <p:cNvCxnSpPr/>
          <p:nvPr userDrawn="1"/>
        </p:nvCxnSpPr>
        <p:spPr>
          <a:xfrm>
            <a:off x="808907" y="2588824"/>
            <a:ext cx="12192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3"/>
          <p:cNvSpPr txBox="1"/>
          <p:nvPr userDrawn="1"/>
        </p:nvSpPr>
        <p:spPr>
          <a:xfrm>
            <a:off x="792480" y="3810782"/>
            <a:ext cx="10607040" cy="287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800" b="0" dirty="0">
                <a:solidFill>
                  <a:schemeClr val="bg1"/>
                </a:solidFill>
                <a:latin typeface="+mj-ea"/>
                <a:ea typeface="+mj-ea"/>
              </a:rPr>
              <a:t>以感恩的心服务客户！</a:t>
            </a:r>
            <a:r>
              <a:rPr lang="en-US" altLang="zh-CN" sz="1800" b="0" dirty="0">
                <a:solidFill>
                  <a:schemeClr val="bg1"/>
                </a:solidFill>
                <a:latin typeface="+mj-ea"/>
                <a:ea typeface="+mj-ea"/>
              </a:rPr>
              <a:t>Better Experience</a:t>
            </a:r>
            <a:r>
              <a:rPr lang="zh-CN" altLang="en-US" sz="1800" b="0" dirty="0">
                <a:solidFill>
                  <a:schemeClr val="bg1"/>
                </a:solidFill>
                <a:latin typeface="+mj-ea"/>
                <a:ea typeface="+mj-ea"/>
              </a:rPr>
              <a:t>！</a:t>
            </a:r>
            <a:endParaRPr lang="en-US" sz="18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0" name="Group 4"/>
          <p:cNvGrpSpPr/>
          <p:nvPr userDrawn="1"/>
        </p:nvGrpSpPr>
        <p:grpSpPr>
          <a:xfrm>
            <a:off x="914546" y="5449857"/>
            <a:ext cx="184711" cy="184711"/>
            <a:chOff x="685909" y="4075113"/>
            <a:chExt cx="150813" cy="150813"/>
          </a:xfrm>
          <a:solidFill>
            <a:srgbClr val="C00000"/>
          </a:solidFill>
        </p:grpSpPr>
        <p:sp>
          <p:nvSpPr>
            <p:cNvPr id="11" name="Oval 1125"/>
            <p:cNvSpPr>
              <a:spLocks noChangeArrowheads="1"/>
            </p:cNvSpPr>
            <p:nvPr/>
          </p:nvSpPr>
          <p:spPr bwMode="auto">
            <a:xfrm>
              <a:off x="685909" y="4075113"/>
              <a:ext cx="150813" cy="15081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2" name="Freeform 1126"/>
            <p:cNvSpPr>
              <a:spLocks noEditPoints="1"/>
            </p:cNvSpPr>
            <p:nvPr/>
          </p:nvSpPr>
          <p:spPr bwMode="auto">
            <a:xfrm>
              <a:off x="733534" y="4102100"/>
              <a:ext cx="55563" cy="98425"/>
            </a:xfrm>
            <a:custGeom>
              <a:avLst/>
              <a:gdLst>
                <a:gd name="T0" fmla="*/ 0 w 23"/>
                <a:gd name="T1" fmla="*/ 11 h 41"/>
                <a:gd name="T2" fmla="*/ 3 w 23"/>
                <a:gd name="T3" fmla="*/ 3 h 41"/>
                <a:gd name="T4" fmla="*/ 12 w 23"/>
                <a:gd name="T5" fmla="*/ 0 h 41"/>
                <a:gd name="T6" fmla="*/ 20 w 23"/>
                <a:gd name="T7" fmla="*/ 3 h 41"/>
                <a:gd name="T8" fmla="*/ 23 w 23"/>
                <a:gd name="T9" fmla="*/ 11 h 41"/>
                <a:gd name="T10" fmla="*/ 22 w 23"/>
                <a:gd name="T11" fmla="*/ 16 h 41"/>
                <a:gd name="T12" fmla="*/ 12 w 23"/>
                <a:gd name="T13" fmla="*/ 41 h 41"/>
                <a:gd name="T14" fmla="*/ 1 w 23"/>
                <a:gd name="T15" fmla="*/ 16 h 41"/>
                <a:gd name="T16" fmla="*/ 0 w 23"/>
                <a:gd name="T17" fmla="*/ 14 h 41"/>
                <a:gd name="T18" fmla="*/ 0 w 23"/>
                <a:gd name="T19" fmla="*/ 11 h 41"/>
                <a:gd name="T20" fmla="*/ 7 w 23"/>
                <a:gd name="T21" fmla="*/ 7 h 41"/>
                <a:gd name="T22" fmla="*/ 6 w 23"/>
                <a:gd name="T23" fmla="*/ 11 h 41"/>
                <a:gd name="T24" fmla="*/ 7 w 23"/>
                <a:gd name="T25" fmla="*/ 15 h 41"/>
                <a:gd name="T26" fmla="*/ 12 w 23"/>
                <a:gd name="T27" fmla="*/ 17 h 41"/>
                <a:gd name="T28" fmla="*/ 16 w 23"/>
                <a:gd name="T29" fmla="*/ 15 h 41"/>
                <a:gd name="T30" fmla="*/ 17 w 23"/>
                <a:gd name="T31" fmla="*/ 11 h 41"/>
                <a:gd name="T32" fmla="*/ 16 w 23"/>
                <a:gd name="T33" fmla="*/ 7 h 41"/>
                <a:gd name="T34" fmla="*/ 12 w 23"/>
                <a:gd name="T35" fmla="*/ 5 h 41"/>
                <a:gd name="T36" fmla="*/ 7 w 23"/>
                <a:gd name="T37" fmla="*/ 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41">
                  <a:moveTo>
                    <a:pt x="0" y="11"/>
                  </a:moveTo>
                  <a:cubicBezTo>
                    <a:pt x="0" y="8"/>
                    <a:pt x="1" y="5"/>
                    <a:pt x="3" y="3"/>
                  </a:cubicBezTo>
                  <a:cubicBezTo>
                    <a:pt x="6" y="1"/>
                    <a:pt x="8" y="0"/>
                    <a:pt x="12" y="0"/>
                  </a:cubicBezTo>
                  <a:cubicBezTo>
                    <a:pt x="15" y="0"/>
                    <a:pt x="17" y="1"/>
                    <a:pt x="20" y="3"/>
                  </a:cubicBezTo>
                  <a:cubicBezTo>
                    <a:pt x="22" y="5"/>
                    <a:pt x="23" y="8"/>
                    <a:pt x="23" y="11"/>
                  </a:cubicBezTo>
                  <a:cubicBezTo>
                    <a:pt x="23" y="13"/>
                    <a:pt x="23" y="14"/>
                    <a:pt x="22" y="16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5"/>
                    <a:pt x="0" y="14"/>
                    <a:pt x="0" y="14"/>
                  </a:cubicBezTo>
                  <a:cubicBezTo>
                    <a:pt x="0" y="13"/>
                    <a:pt x="0" y="12"/>
                    <a:pt x="0" y="11"/>
                  </a:cubicBezTo>
                  <a:close/>
                  <a:moveTo>
                    <a:pt x="7" y="7"/>
                  </a:moveTo>
                  <a:cubicBezTo>
                    <a:pt x="6" y="8"/>
                    <a:pt x="6" y="10"/>
                    <a:pt x="6" y="11"/>
                  </a:cubicBezTo>
                  <a:cubicBezTo>
                    <a:pt x="6" y="13"/>
                    <a:pt x="6" y="14"/>
                    <a:pt x="7" y="15"/>
                  </a:cubicBezTo>
                  <a:cubicBezTo>
                    <a:pt x="9" y="16"/>
                    <a:pt x="10" y="17"/>
                    <a:pt x="12" y="17"/>
                  </a:cubicBezTo>
                  <a:cubicBezTo>
                    <a:pt x="13" y="17"/>
                    <a:pt x="14" y="16"/>
                    <a:pt x="16" y="15"/>
                  </a:cubicBezTo>
                  <a:cubicBezTo>
                    <a:pt x="17" y="14"/>
                    <a:pt x="17" y="13"/>
                    <a:pt x="17" y="11"/>
                  </a:cubicBezTo>
                  <a:cubicBezTo>
                    <a:pt x="17" y="10"/>
                    <a:pt x="17" y="8"/>
                    <a:pt x="16" y="7"/>
                  </a:cubicBezTo>
                  <a:cubicBezTo>
                    <a:pt x="14" y="6"/>
                    <a:pt x="13" y="5"/>
                    <a:pt x="12" y="5"/>
                  </a:cubicBezTo>
                  <a:cubicBezTo>
                    <a:pt x="10" y="5"/>
                    <a:pt x="9" y="6"/>
                    <a:pt x="7" y="7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13" name="Group 15"/>
          <p:cNvGrpSpPr/>
          <p:nvPr userDrawn="1"/>
        </p:nvGrpSpPr>
        <p:grpSpPr>
          <a:xfrm>
            <a:off x="914546" y="5714439"/>
            <a:ext cx="184711" cy="184711"/>
            <a:chOff x="685909" y="4273550"/>
            <a:chExt cx="150813" cy="150813"/>
          </a:xfrm>
          <a:solidFill>
            <a:srgbClr val="C00000"/>
          </a:solidFill>
        </p:grpSpPr>
        <p:sp>
          <p:nvSpPr>
            <p:cNvPr id="14" name="Oval 1127"/>
            <p:cNvSpPr>
              <a:spLocks noChangeArrowheads="1"/>
            </p:cNvSpPr>
            <p:nvPr/>
          </p:nvSpPr>
          <p:spPr bwMode="auto">
            <a:xfrm>
              <a:off x="685909" y="4273550"/>
              <a:ext cx="150813" cy="15081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5" name="Freeform 1130"/>
            <p:cNvSpPr/>
            <p:nvPr/>
          </p:nvSpPr>
          <p:spPr bwMode="auto">
            <a:xfrm>
              <a:off x="714484" y="4302125"/>
              <a:ext cx="90488" cy="92075"/>
            </a:xfrm>
            <a:custGeom>
              <a:avLst/>
              <a:gdLst>
                <a:gd name="T0" fmla="*/ 22 w 38"/>
                <a:gd name="T1" fmla="*/ 22 h 38"/>
                <a:gd name="T2" fmla="*/ 13 w 38"/>
                <a:gd name="T3" fmla="*/ 27 h 38"/>
                <a:gd name="T4" fmla="*/ 5 w 38"/>
                <a:gd name="T5" fmla="*/ 27 h 38"/>
                <a:gd name="T6" fmla="*/ 6 w 38"/>
                <a:gd name="T7" fmla="*/ 36 h 38"/>
                <a:gd name="T8" fmla="*/ 27 w 38"/>
                <a:gd name="T9" fmla="*/ 27 h 38"/>
                <a:gd name="T10" fmla="*/ 36 w 38"/>
                <a:gd name="T11" fmla="*/ 6 h 38"/>
                <a:gd name="T12" fmla="*/ 27 w 38"/>
                <a:gd name="T13" fmla="*/ 5 h 38"/>
                <a:gd name="T14" fmla="*/ 27 w 38"/>
                <a:gd name="T15" fmla="*/ 13 h 38"/>
                <a:gd name="T16" fmla="*/ 22 w 38"/>
                <a:gd name="T1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8">
                  <a:moveTo>
                    <a:pt x="22" y="22"/>
                  </a:moveTo>
                  <a:cubicBezTo>
                    <a:pt x="19" y="26"/>
                    <a:pt x="15" y="29"/>
                    <a:pt x="13" y="27"/>
                  </a:cubicBezTo>
                  <a:cubicBezTo>
                    <a:pt x="11" y="25"/>
                    <a:pt x="10" y="23"/>
                    <a:pt x="5" y="27"/>
                  </a:cubicBezTo>
                  <a:cubicBezTo>
                    <a:pt x="0" y="31"/>
                    <a:pt x="4" y="34"/>
                    <a:pt x="6" y="36"/>
                  </a:cubicBezTo>
                  <a:cubicBezTo>
                    <a:pt x="8" y="38"/>
                    <a:pt x="18" y="36"/>
                    <a:pt x="27" y="27"/>
                  </a:cubicBezTo>
                  <a:cubicBezTo>
                    <a:pt x="36" y="18"/>
                    <a:pt x="38" y="8"/>
                    <a:pt x="36" y="6"/>
                  </a:cubicBezTo>
                  <a:cubicBezTo>
                    <a:pt x="33" y="4"/>
                    <a:pt x="31" y="0"/>
                    <a:pt x="27" y="5"/>
                  </a:cubicBezTo>
                  <a:cubicBezTo>
                    <a:pt x="23" y="10"/>
                    <a:pt x="25" y="11"/>
                    <a:pt x="27" y="13"/>
                  </a:cubicBezTo>
                  <a:cubicBezTo>
                    <a:pt x="29" y="15"/>
                    <a:pt x="25" y="19"/>
                    <a:pt x="22" y="22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16" name="Group 16"/>
          <p:cNvGrpSpPr/>
          <p:nvPr userDrawn="1"/>
        </p:nvGrpSpPr>
        <p:grpSpPr>
          <a:xfrm>
            <a:off x="914546" y="5983257"/>
            <a:ext cx="184711" cy="184711"/>
            <a:chOff x="685909" y="4475163"/>
            <a:chExt cx="150813" cy="150813"/>
          </a:xfrm>
          <a:solidFill>
            <a:srgbClr val="C00000"/>
          </a:solidFill>
        </p:grpSpPr>
        <p:sp>
          <p:nvSpPr>
            <p:cNvPr id="17" name="Oval 1128"/>
            <p:cNvSpPr>
              <a:spLocks noChangeArrowheads="1"/>
            </p:cNvSpPr>
            <p:nvPr/>
          </p:nvSpPr>
          <p:spPr bwMode="auto">
            <a:xfrm>
              <a:off x="685909" y="4475163"/>
              <a:ext cx="150813" cy="15081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8" name="Freeform 1141"/>
            <p:cNvSpPr>
              <a:spLocks noEditPoints="1"/>
            </p:cNvSpPr>
            <p:nvPr/>
          </p:nvSpPr>
          <p:spPr bwMode="auto">
            <a:xfrm>
              <a:off x="724913" y="4524377"/>
              <a:ext cx="82692" cy="52386"/>
            </a:xfrm>
            <a:custGeom>
              <a:avLst/>
              <a:gdLst>
                <a:gd name="T0" fmla="*/ 532 w 543"/>
                <a:gd name="T1" fmla="*/ 91 h 344"/>
                <a:gd name="T2" fmla="*/ 532 w 543"/>
                <a:gd name="T3" fmla="*/ 91 h 344"/>
                <a:gd name="T4" fmla="*/ 297 w 543"/>
                <a:gd name="T5" fmla="*/ 211 h 344"/>
                <a:gd name="T6" fmla="*/ 284 w 543"/>
                <a:gd name="T7" fmla="*/ 217 h 344"/>
                <a:gd name="T8" fmla="*/ 271 w 543"/>
                <a:gd name="T9" fmla="*/ 217 h 344"/>
                <a:gd name="T10" fmla="*/ 257 w 543"/>
                <a:gd name="T11" fmla="*/ 217 h 344"/>
                <a:gd name="T12" fmla="*/ 244 w 543"/>
                <a:gd name="T13" fmla="*/ 211 h 344"/>
                <a:gd name="T14" fmla="*/ 11 w 543"/>
                <a:gd name="T15" fmla="*/ 91 h 344"/>
                <a:gd name="T16" fmla="*/ 4 w 543"/>
                <a:gd name="T17" fmla="*/ 89 h 344"/>
                <a:gd name="T18" fmla="*/ 0 w 543"/>
                <a:gd name="T19" fmla="*/ 91 h 344"/>
                <a:gd name="T20" fmla="*/ 0 w 543"/>
                <a:gd name="T21" fmla="*/ 93 h 344"/>
                <a:gd name="T22" fmla="*/ 0 w 543"/>
                <a:gd name="T23" fmla="*/ 99 h 344"/>
                <a:gd name="T24" fmla="*/ 0 w 543"/>
                <a:gd name="T25" fmla="*/ 317 h 344"/>
                <a:gd name="T26" fmla="*/ 0 w 543"/>
                <a:gd name="T27" fmla="*/ 321 h 344"/>
                <a:gd name="T28" fmla="*/ 2 w 543"/>
                <a:gd name="T29" fmla="*/ 327 h 344"/>
                <a:gd name="T30" fmla="*/ 9 w 543"/>
                <a:gd name="T31" fmla="*/ 334 h 344"/>
                <a:gd name="T32" fmla="*/ 21 w 543"/>
                <a:gd name="T33" fmla="*/ 342 h 344"/>
                <a:gd name="T34" fmla="*/ 24 w 543"/>
                <a:gd name="T35" fmla="*/ 344 h 344"/>
                <a:gd name="T36" fmla="*/ 30 w 543"/>
                <a:gd name="T37" fmla="*/ 344 h 344"/>
                <a:gd name="T38" fmla="*/ 513 w 543"/>
                <a:gd name="T39" fmla="*/ 344 h 344"/>
                <a:gd name="T40" fmla="*/ 517 w 543"/>
                <a:gd name="T41" fmla="*/ 344 h 344"/>
                <a:gd name="T42" fmla="*/ 522 w 543"/>
                <a:gd name="T43" fmla="*/ 342 h 344"/>
                <a:gd name="T44" fmla="*/ 534 w 543"/>
                <a:gd name="T45" fmla="*/ 334 h 344"/>
                <a:gd name="T46" fmla="*/ 539 w 543"/>
                <a:gd name="T47" fmla="*/ 327 h 344"/>
                <a:gd name="T48" fmla="*/ 541 w 543"/>
                <a:gd name="T49" fmla="*/ 321 h 344"/>
                <a:gd name="T50" fmla="*/ 543 w 543"/>
                <a:gd name="T51" fmla="*/ 317 h 344"/>
                <a:gd name="T52" fmla="*/ 543 w 543"/>
                <a:gd name="T53" fmla="*/ 99 h 344"/>
                <a:gd name="T54" fmla="*/ 543 w 543"/>
                <a:gd name="T55" fmla="*/ 93 h 344"/>
                <a:gd name="T56" fmla="*/ 541 w 543"/>
                <a:gd name="T57" fmla="*/ 91 h 344"/>
                <a:gd name="T58" fmla="*/ 537 w 543"/>
                <a:gd name="T59" fmla="*/ 89 h 344"/>
                <a:gd name="T60" fmla="*/ 532 w 543"/>
                <a:gd name="T61" fmla="*/ 91 h 344"/>
                <a:gd name="T62" fmla="*/ 19 w 543"/>
                <a:gd name="T63" fmla="*/ 31 h 344"/>
                <a:gd name="T64" fmla="*/ 19 w 543"/>
                <a:gd name="T65" fmla="*/ 31 h 344"/>
                <a:gd name="T66" fmla="*/ 244 w 543"/>
                <a:gd name="T67" fmla="*/ 153 h 344"/>
                <a:gd name="T68" fmla="*/ 257 w 543"/>
                <a:gd name="T69" fmla="*/ 156 h 344"/>
                <a:gd name="T70" fmla="*/ 271 w 543"/>
                <a:gd name="T71" fmla="*/ 158 h 344"/>
                <a:gd name="T72" fmla="*/ 286 w 543"/>
                <a:gd name="T73" fmla="*/ 156 h 344"/>
                <a:gd name="T74" fmla="*/ 297 w 543"/>
                <a:gd name="T75" fmla="*/ 153 h 344"/>
                <a:gd name="T76" fmla="*/ 524 w 543"/>
                <a:gd name="T77" fmla="*/ 31 h 344"/>
                <a:gd name="T78" fmla="*/ 530 w 543"/>
                <a:gd name="T79" fmla="*/ 29 h 344"/>
                <a:gd name="T80" fmla="*/ 535 w 543"/>
                <a:gd name="T81" fmla="*/ 24 h 344"/>
                <a:gd name="T82" fmla="*/ 539 w 543"/>
                <a:gd name="T83" fmla="*/ 18 h 344"/>
                <a:gd name="T84" fmla="*/ 541 w 543"/>
                <a:gd name="T85" fmla="*/ 14 h 344"/>
                <a:gd name="T86" fmla="*/ 541 w 543"/>
                <a:gd name="T87" fmla="*/ 10 h 344"/>
                <a:gd name="T88" fmla="*/ 539 w 543"/>
                <a:gd name="T89" fmla="*/ 4 h 344"/>
                <a:gd name="T90" fmla="*/ 535 w 543"/>
                <a:gd name="T91" fmla="*/ 0 h 344"/>
                <a:gd name="T92" fmla="*/ 524 w 543"/>
                <a:gd name="T93" fmla="*/ 0 h 344"/>
                <a:gd name="T94" fmla="*/ 17 w 543"/>
                <a:gd name="T95" fmla="*/ 0 h 344"/>
                <a:gd name="T96" fmla="*/ 8 w 543"/>
                <a:gd name="T97" fmla="*/ 0 h 344"/>
                <a:gd name="T98" fmla="*/ 2 w 543"/>
                <a:gd name="T99" fmla="*/ 4 h 344"/>
                <a:gd name="T100" fmla="*/ 0 w 543"/>
                <a:gd name="T101" fmla="*/ 10 h 344"/>
                <a:gd name="T102" fmla="*/ 0 w 543"/>
                <a:gd name="T103" fmla="*/ 14 h 344"/>
                <a:gd name="T104" fmla="*/ 4 w 543"/>
                <a:gd name="T105" fmla="*/ 18 h 344"/>
                <a:gd name="T106" fmla="*/ 6 w 543"/>
                <a:gd name="T107" fmla="*/ 24 h 344"/>
                <a:gd name="T108" fmla="*/ 11 w 543"/>
                <a:gd name="T109" fmla="*/ 29 h 344"/>
                <a:gd name="T110" fmla="*/ 19 w 543"/>
                <a:gd name="T111" fmla="*/ 31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43" h="344">
                  <a:moveTo>
                    <a:pt x="532" y="91"/>
                  </a:moveTo>
                  <a:lnTo>
                    <a:pt x="532" y="91"/>
                  </a:lnTo>
                  <a:lnTo>
                    <a:pt x="297" y="211"/>
                  </a:lnTo>
                  <a:lnTo>
                    <a:pt x="284" y="217"/>
                  </a:lnTo>
                  <a:lnTo>
                    <a:pt x="271" y="217"/>
                  </a:lnTo>
                  <a:lnTo>
                    <a:pt x="257" y="217"/>
                  </a:lnTo>
                  <a:lnTo>
                    <a:pt x="244" y="211"/>
                  </a:lnTo>
                  <a:lnTo>
                    <a:pt x="11" y="91"/>
                  </a:lnTo>
                  <a:lnTo>
                    <a:pt x="4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0" y="99"/>
                  </a:lnTo>
                  <a:lnTo>
                    <a:pt x="0" y="317"/>
                  </a:lnTo>
                  <a:lnTo>
                    <a:pt x="0" y="321"/>
                  </a:lnTo>
                  <a:lnTo>
                    <a:pt x="2" y="327"/>
                  </a:lnTo>
                  <a:lnTo>
                    <a:pt x="9" y="334"/>
                  </a:lnTo>
                  <a:lnTo>
                    <a:pt x="21" y="342"/>
                  </a:lnTo>
                  <a:lnTo>
                    <a:pt x="24" y="344"/>
                  </a:lnTo>
                  <a:lnTo>
                    <a:pt x="30" y="344"/>
                  </a:lnTo>
                  <a:lnTo>
                    <a:pt x="513" y="344"/>
                  </a:lnTo>
                  <a:lnTo>
                    <a:pt x="517" y="344"/>
                  </a:lnTo>
                  <a:lnTo>
                    <a:pt x="522" y="342"/>
                  </a:lnTo>
                  <a:lnTo>
                    <a:pt x="534" y="334"/>
                  </a:lnTo>
                  <a:lnTo>
                    <a:pt x="539" y="327"/>
                  </a:lnTo>
                  <a:lnTo>
                    <a:pt x="541" y="321"/>
                  </a:lnTo>
                  <a:lnTo>
                    <a:pt x="543" y="317"/>
                  </a:lnTo>
                  <a:lnTo>
                    <a:pt x="543" y="99"/>
                  </a:lnTo>
                  <a:lnTo>
                    <a:pt x="543" y="93"/>
                  </a:lnTo>
                  <a:lnTo>
                    <a:pt x="541" y="91"/>
                  </a:lnTo>
                  <a:lnTo>
                    <a:pt x="537" y="89"/>
                  </a:lnTo>
                  <a:lnTo>
                    <a:pt x="532" y="91"/>
                  </a:lnTo>
                  <a:close/>
                  <a:moveTo>
                    <a:pt x="19" y="31"/>
                  </a:moveTo>
                  <a:lnTo>
                    <a:pt x="19" y="31"/>
                  </a:lnTo>
                  <a:lnTo>
                    <a:pt x="244" y="153"/>
                  </a:lnTo>
                  <a:lnTo>
                    <a:pt x="257" y="156"/>
                  </a:lnTo>
                  <a:lnTo>
                    <a:pt x="271" y="158"/>
                  </a:lnTo>
                  <a:lnTo>
                    <a:pt x="286" y="156"/>
                  </a:lnTo>
                  <a:lnTo>
                    <a:pt x="297" y="153"/>
                  </a:lnTo>
                  <a:lnTo>
                    <a:pt x="524" y="31"/>
                  </a:lnTo>
                  <a:lnTo>
                    <a:pt x="530" y="29"/>
                  </a:lnTo>
                  <a:lnTo>
                    <a:pt x="535" y="24"/>
                  </a:lnTo>
                  <a:lnTo>
                    <a:pt x="539" y="18"/>
                  </a:lnTo>
                  <a:lnTo>
                    <a:pt x="541" y="14"/>
                  </a:lnTo>
                  <a:lnTo>
                    <a:pt x="541" y="10"/>
                  </a:lnTo>
                  <a:lnTo>
                    <a:pt x="539" y="4"/>
                  </a:lnTo>
                  <a:lnTo>
                    <a:pt x="535" y="0"/>
                  </a:lnTo>
                  <a:lnTo>
                    <a:pt x="524" y="0"/>
                  </a:lnTo>
                  <a:lnTo>
                    <a:pt x="17" y="0"/>
                  </a:lnTo>
                  <a:lnTo>
                    <a:pt x="8" y="0"/>
                  </a:lnTo>
                  <a:lnTo>
                    <a:pt x="2" y="4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4" y="18"/>
                  </a:lnTo>
                  <a:lnTo>
                    <a:pt x="6" y="24"/>
                  </a:lnTo>
                  <a:lnTo>
                    <a:pt x="11" y="29"/>
                  </a:lnTo>
                  <a:lnTo>
                    <a:pt x="19" y="3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19" name="TextBox 11"/>
          <p:cNvSpPr txBox="1"/>
          <p:nvPr userDrawn="1"/>
        </p:nvSpPr>
        <p:spPr>
          <a:xfrm>
            <a:off x="1235857" y="5451974"/>
            <a:ext cx="2195404" cy="1642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青浦区汇联路</a:t>
            </a:r>
            <a:r>
              <a:rPr lang="en-US" altLang="zh-CN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33</a:t>
            </a:r>
            <a:r>
              <a:rPr lang="zh-CN" altLang="en-US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号，上海，中国</a:t>
            </a:r>
            <a:endParaRPr lang="en-US" sz="1065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</a:endParaRPr>
          </a:p>
        </p:txBody>
      </p:sp>
      <p:sp>
        <p:nvSpPr>
          <p:cNvPr id="20" name="TextBox 12"/>
          <p:cNvSpPr txBox="1"/>
          <p:nvPr userDrawn="1"/>
        </p:nvSpPr>
        <p:spPr>
          <a:xfrm>
            <a:off x="1235857" y="5714440"/>
            <a:ext cx="2195404" cy="1642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021</a:t>
            </a:r>
            <a:r>
              <a:rPr lang="en-US" altLang="zh-CN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-6700 2300</a:t>
            </a:r>
            <a:endParaRPr lang="en-US" sz="1065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</a:endParaRPr>
          </a:p>
        </p:txBody>
      </p:sp>
      <p:sp>
        <p:nvSpPr>
          <p:cNvPr id="21" name="TextBox 13"/>
          <p:cNvSpPr txBox="1"/>
          <p:nvPr userDrawn="1"/>
        </p:nvSpPr>
        <p:spPr>
          <a:xfrm>
            <a:off x="1235857" y="5985374"/>
            <a:ext cx="2195404" cy="1642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065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sales@hand-china.com</a:t>
            </a:r>
            <a:endParaRPr lang="en-US" sz="1065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</a:endParaRPr>
          </a:p>
        </p:txBody>
      </p:sp>
      <p:sp>
        <p:nvSpPr>
          <p:cNvPr id="22" name="TextBox 14"/>
          <p:cNvSpPr txBox="1"/>
          <p:nvPr userDrawn="1"/>
        </p:nvSpPr>
        <p:spPr>
          <a:xfrm>
            <a:off x="892956" y="5022247"/>
            <a:ext cx="2538304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35" b="1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</a:rPr>
              <a:t>Contact us: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9" grpId="0"/>
      <p:bldP spid="20" grpId="0"/>
      <p:bldP spid="21" grpId="0"/>
      <p:bldP spid="2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2023/2/13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数部PPT-正文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97140" y="295632"/>
            <a:ext cx="8301717" cy="347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2023/2/13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>
            <a:cxnSpLocks noChangeShapeType="1"/>
          </p:cNvCxnSpPr>
          <p:nvPr userDrawn="1"/>
        </p:nvCxnSpPr>
        <p:spPr bwMode="auto">
          <a:xfrm>
            <a:off x="202361" y="735977"/>
            <a:ext cx="11779250" cy="0"/>
          </a:xfrm>
          <a:prstGeom prst="line">
            <a:avLst/>
          </a:prstGeom>
          <a:noFill/>
          <a:ln w="28575" algn="ctr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" name="直接连接符 2"/>
          <p:cNvCxnSpPr/>
          <p:nvPr userDrawn="1"/>
        </p:nvCxnSpPr>
        <p:spPr bwMode="auto">
          <a:xfrm>
            <a:off x="0" y="6553200"/>
            <a:ext cx="12192000" cy="0"/>
          </a:xfrm>
          <a:prstGeom prst="line">
            <a:avLst/>
          </a:prstGeom>
          <a:solidFill>
            <a:srgbClr val="FFFF99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图片 13" descr="logo.jpg"/>
          <p:cNvPicPr>
            <a:picLocks noChangeAspect="1"/>
          </p:cNvPicPr>
          <p:nvPr userDrawn="1"/>
        </p:nvPicPr>
        <p:blipFill>
          <a:blip r:embed="rId11"/>
          <a:srcRect/>
          <a:stretch>
            <a:fillRect/>
          </a:stretch>
        </p:blipFill>
        <p:spPr bwMode="auto">
          <a:xfrm>
            <a:off x="11264900" y="6596063"/>
            <a:ext cx="914400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32"/>
          <p:cNvSpPr>
            <a:spLocks noChangeArrowheads="1"/>
          </p:cNvSpPr>
          <p:nvPr userDrawn="1"/>
        </p:nvSpPr>
        <p:spPr bwMode="auto">
          <a:xfrm>
            <a:off x="3187700" y="6605587"/>
            <a:ext cx="4419600" cy="2174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汉得信息 </a:t>
            </a:r>
            <a:r>
              <a:rPr lang="en-US" altLang="zh-CN" sz="10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</a:t>
            </a:r>
            <a:r>
              <a:rPr lang="en-US" altLang="zh-CN" sz="1000" baseline="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Copy Right Reserved ©2022 </a:t>
            </a:r>
            <a:endParaRPr lang="en-US" altLang="zh-CN" sz="1000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268137" y="163903"/>
            <a:ext cx="11644941" cy="4905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268138" y="974096"/>
            <a:ext cx="116449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40256" y="6583424"/>
            <a:ext cx="529087" cy="239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6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>
            <a:cxnSpLocks noChangeShapeType="1"/>
          </p:cNvCxnSpPr>
          <p:nvPr userDrawn="1"/>
        </p:nvCxnSpPr>
        <p:spPr bwMode="auto">
          <a:xfrm>
            <a:off x="202361" y="735977"/>
            <a:ext cx="11779250" cy="0"/>
          </a:xfrm>
          <a:prstGeom prst="line">
            <a:avLst/>
          </a:prstGeom>
          <a:noFill/>
          <a:ln w="28575" algn="ctr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" name="直接连接符 2"/>
          <p:cNvCxnSpPr/>
          <p:nvPr userDrawn="1"/>
        </p:nvCxnSpPr>
        <p:spPr bwMode="auto">
          <a:xfrm>
            <a:off x="0" y="6553200"/>
            <a:ext cx="12192000" cy="0"/>
          </a:xfrm>
          <a:prstGeom prst="line">
            <a:avLst/>
          </a:prstGeom>
          <a:solidFill>
            <a:srgbClr val="FFFF99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图片 13" descr="logo.jpg"/>
          <p:cNvPicPr>
            <a:picLocks noChangeAspect="1"/>
          </p:cNvPicPr>
          <p:nvPr userDrawn="1"/>
        </p:nvPicPr>
        <p:blipFill>
          <a:blip r:embed="rId10"/>
          <a:srcRect/>
          <a:stretch>
            <a:fillRect/>
          </a:stretch>
        </p:blipFill>
        <p:spPr bwMode="auto">
          <a:xfrm>
            <a:off x="11264900" y="6596063"/>
            <a:ext cx="914400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32"/>
          <p:cNvSpPr>
            <a:spLocks noChangeArrowheads="1"/>
          </p:cNvSpPr>
          <p:nvPr userDrawn="1"/>
        </p:nvSpPr>
        <p:spPr bwMode="auto">
          <a:xfrm>
            <a:off x="3187700" y="6605587"/>
            <a:ext cx="4419600" cy="2174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汉得信息 </a:t>
            </a:r>
            <a:r>
              <a:rPr lang="en-US" altLang="zh-CN" sz="10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</a:t>
            </a:r>
            <a:r>
              <a:rPr lang="en-US" altLang="zh-CN" sz="1000" baseline="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Copy Right Reserved ©2022 </a:t>
            </a:r>
            <a:endParaRPr lang="en-US" altLang="zh-CN" sz="1000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268137" y="163903"/>
            <a:ext cx="11644941" cy="4905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268138" y="974096"/>
            <a:ext cx="116449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40256" y="6583424"/>
            <a:ext cx="529087" cy="239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5.sv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9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14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4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0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44970" y="1077686"/>
            <a:ext cx="5702061" cy="21989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4400" dirty="0"/>
              <a:t>宝姿</a:t>
            </a:r>
            <a:r>
              <a:rPr lang="en-US" altLang="zh-CN" sz="4400" dirty="0"/>
              <a:t>SRM</a:t>
            </a:r>
            <a:r>
              <a:rPr lang="zh-CN" altLang="en-US" sz="4400" dirty="0"/>
              <a:t>系统</a:t>
            </a:r>
            <a:br>
              <a:rPr lang="en-US" altLang="zh-CN" sz="4400" dirty="0"/>
            </a:br>
            <a:r>
              <a:rPr lang="zh-CN" altLang="en-US" sz="4400" dirty="0"/>
              <a:t>成衣生产进度管理</a:t>
            </a:r>
          </a:p>
        </p:txBody>
      </p:sp>
      <p:pic>
        <p:nvPicPr>
          <p:cNvPr id="6" name="Picture 4" descr="C:\Documents and Settings\IBM\桌面\logo.pn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9639300" y="5593685"/>
            <a:ext cx="2185553" cy="626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86"/>
          <p:cNvSpPr txBox="1"/>
          <p:nvPr/>
        </p:nvSpPr>
        <p:spPr>
          <a:xfrm>
            <a:off x="6845300" y="1283011"/>
            <a:ext cx="4387332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39725" marR="0" lvl="0" indent="-339725" defTabSz="906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A070"/>
              </a:buClr>
              <a:buSzPct val="80000"/>
              <a:buFont typeface="Wingdings" panose="05000000000000000000" pitchFamily="2" charset="2"/>
              <a:buChar char="n"/>
              <a:defRPr kumimoji="0" sz="2800" b="0" i="0" u="none" strike="noStrike" cap="none" spc="0" normalizeH="0" baseline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Light" pitchFamily="50" charset="0"/>
              </a:defRPr>
            </a:lvl1pPr>
            <a:lvl2pPr marL="742950" indent="-28575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2pPr>
            <a:lvl3pPr marL="11430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3pPr>
            <a:lvl4pPr marL="16002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4pPr>
            <a:lvl5pPr marL="2057400" indent="-228600"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5pPr>
            <a:lvl6pPr marL="25146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6pPr>
            <a:lvl7pPr marL="29718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7pPr>
            <a:lvl8pPr marL="34290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8pPr>
            <a:lvl9pPr marL="3886200" indent="-228600" defTabSz="66865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0000"/>
                </a:solidFill>
                <a:latin typeface="Helvetica Light" pitchFamily="50" charset="0"/>
                <a:ea typeface="Helvetica Light" pitchFamily="50" charset="0"/>
                <a:cs typeface="Helvetica Light" pitchFamily="50" charset="0"/>
              </a:defRPr>
            </a:lvl9pPr>
          </a:lstStyle>
          <a:p>
            <a:r>
              <a:rPr lang="zh-CN" altLang="en-US" sz="3600" b="1" dirty="0">
                <a:solidFill>
                  <a:schemeClr val="tx1"/>
                </a:solidFill>
              </a:rPr>
              <a:t>方案要点和流程</a:t>
            </a:r>
            <a:endParaRPr lang="en-US" altLang="zh-CN" sz="3600" b="1" dirty="0">
              <a:solidFill>
                <a:schemeClr val="tx1"/>
              </a:solidFill>
            </a:endParaRPr>
          </a:p>
          <a:p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zh-CN" altLang="en-US" sz="3600" b="1" dirty="0">
                <a:solidFill>
                  <a:schemeClr val="tx1"/>
                </a:solidFill>
              </a:rPr>
              <a:t>详细方案介绍</a:t>
            </a:r>
            <a:endParaRPr lang="en-US" altLang="zh-CN" sz="3600" b="1" dirty="0">
              <a:solidFill>
                <a:schemeClr val="tx1"/>
              </a:solidFill>
            </a:endParaRPr>
          </a:p>
          <a:p>
            <a:endParaRPr lang="en-US" altLang="zh-CN" sz="3600" b="1" dirty="0">
              <a:solidFill>
                <a:schemeClr val="tx1"/>
              </a:solidFill>
            </a:endParaRPr>
          </a:p>
          <a:p>
            <a:r>
              <a:rPr lang="en-US" altLang="zh-CN" sz="3600" b="1" dirty="0">
                <a:solidFill>
                  <a:schemeClr val="tx1"/>
                </a:solidFill>
              </a:rPr>
              <a:t>ERP</a:t>
            </a:r>
            <a:r>
              <a:rPr lang="zh-CN" altLang="en-US" sz="3600" b="1" dirty="0">
                <a:solidFill>
                  <a:schemeClr val="tx1"/>
                </a:solidFill>
              </a:rPr>
              <a:t>改造点</a:t>
            </a:r>
            <a:endParaRPr lang="en-US" altLang="zh-CN" sz="3600" b="1" dirty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0"/>
            <a:ext cx="6419215" cy="6573520"/>
            <a:chOff x="-1" y="0"/>
            <a:chExt cx="6698256" cy="6858000"/>
          </a:xfrm>
        </p:grpSpPr>
        <p:sp>
          <p:nvSpPr>
            <p:cNvPr id="5" name="矩形 4"/>
            <p:cNvSpPr/>
            <p:nvPr/>
          </p:nvSpPr>
          <p:spPr>
            <a:xfrm>
              <a:off x="-1" y="0"/>
              <a:ext cx="6698256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44606" y="0"/>
              <a:ext cx="5449912" cy="56178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4400" dirty="0">
                  <a:solidFill>
                    <a:srgbClr val="333333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sz="6600" u="sng" dirty="0">
                  <a:solidFill>
                    <a:srgbClr val="333333"/>
                  </a:solidFill>
                  <a:latin typeface="Arial" panose="020B0604020202020204" pitchFamily="34" charset="0"/>
                </a:rPr>
                <a:t>ontents</a:t>
              </a:r>
              <a:endParaRPr lang="zh-CN" altLang="en-US" sz="66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029809" y="2321003"/>
              <a:ext cx="2478796" cy="1154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b="1" dirty="0">
                  <a:solidFill>
                    <a:schemeClr val="bg1"/>
                  </a:solidFill>
                </a:rPr>
                <a:t>目录</a:t>
              </a:r>
            </a:p>
          </p:txBody>
        </p:sp>
      </p:grpSp>
      <p:sp>
        <p:nvSpPr>
          <p:cNvPr id="3" name="灯片编号占位符 3">
            <a:extLst>
              <a:ext uri="{FF2B5EF4-FFF2-40B4-BE49-F238E27FC236}">
                <a16:creationId xmlns:a16="http://schemas.microsoft.com/office/drawing/2014/main" id="{FF82C604-FAD8-1EF3-749E-554C13014A66}"/>
              </a:ext>
            </a:extLst>
          </p:cNvPr>
          <p:cNvSpPr txBox="1">
            <a:spLocks/>
          </p:cNvSpPr>
          <p:nvPr/>
        </p:nvSpPr>
        <p:spPr>
          <a:xfrm>
            <a:off x="40256" y="6583424"/>
            <a:ext cx="529087" cy="239651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000" dirty="0">
              <a:solidFill>
                <a:prstClr val="black">
                  <a:tint val="75000"/>
                </a:prst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+mj-ea"/>
              </a:rPr>
              <a:t>成衣生产进度管理</a:t>
            </a:r>
            <a:endParaRPr lang="zh-CN" altLang="en-US" dirty="0">
              <a:latin typeface="+mj-ea"/>
              <a:sym typeface="微软雅黑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0256" y="6583423"/>
            <a:ext cx="455763" cy="261773"/>
          </a:xfrm>
        </p:spPr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+mj-ea"/>
                <a:ea typeface="+mj-ea"/>
              </a:rPr>
              <a:pPr/>
              <a:t>3</a:t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+mj-ea"/>
              <a:ea typeface="+mj-ea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298818" y="2237849"/>
            <a:ext cx="985569" cy="1499059"/>
          </a:xfrm>
          <a:custGeom>
            <a:avLst/>
            <a:gdLst>
              <a:gd name="connsiteX0" fmla="*/ 0 w 906780"/>
              <a:gd name="connsiteY0" fmla="*/ 1379220 h 1379220"/>
              <a:gd name="connsiteX1" fmla="*/ 571500 w 906780"/>
              <a:gd name="connsiteY1" fmla="*/ 1379220 h 1379220"/>
              <a:gd name="connsiteX2" fmla="*/ 906780 w 906780"/>
              <a:gd name="connsiteY2" fmla="*/ 1059180 h 1379220"/>
              <a:gd name="connsiteX3" fmla="*/ 906780 w 906780"/>
              <a:gd name="connsiteY3" fmla="*/ 0 h 1379220"/>
              <a:gd name="connsiteX0-1" fmla="*/ 0 w 906780"/>
              <a:gd name="connsiteY0-2" fmla="*/ 1379220 h 1379220"/>
              <a:gd name="connsiteX1-3" fmla="*/ 571500 w 906780"/>
              <a:gd name="connsiteY1-4" fmla="*/ 1379220 h 1379220"/>
              <a:gd name="connsiteX2-5" fmla="*/ 906780 w 906780"/>
              <a:gd name="connsiteY2-6" fmla="*/ 1059180 h 1379220"/>
              <a:gd name="connsiteX3-7" fmla="*/ 906780 w 906780"/>
              <a:gd name="connsiteY3-8" fmla="*/ 0 h 1379220"/>
              <a:gd name="connsiteX0-9" fmla="*/ 0 w 906780"/>
              <a:gd name="connsiteY0-10" fmla="*/ 1379220 h 1379220"/>
              <a:gd name="connsiteX1-11" fmla="*/ 571500 w 906780"/>
              <a:gd name="connsiteY1-12" fmla="*/ 1379220 h 1379220"/>
              <a:gd name="connsiteX2-13" fmla="*/ 906780 w 906780"/>
              <a:gd name="connsiteY2-14" fmla="*/ 1059180 h 1379220"/>
              <a:gd name="connsiteX3-15" fmla="*/ 906780 w 906780"/>
              <a:gd name="connsiteY3-16" fmla="*/ 0 h 1379220"/>
              <a:gd name="connsiteX0-17" fmla="*/ 0 w 906780"/>
              <a:gd name="connsiteY0-18" fmla="*/ 1379220 h 1379220"/>
              <a:gd name="connsiteX1-19" fmla="*/ 571500 w 906780"/>
              <a:gd name="connsiteY1-20" fmla="*/ 1379220 h 1379220"/>
              <a:gd name="connsiteX2-21" fmla="*/ 906780 w 906780"/>
              <a:gd name="connsiteY2-22" fmla="*/ 1059180 h 1379220"/>
              <a:gd name="connsiteX3-23" fmla="*/ 906780 w 906780"/>
              <a:gd name="connsiteY3-24" fmla="*/ 0 h 1379220"/>
            </a:gdLst>
            <a:ahLst/>
            <a:cxnLst>
              <a:cxn ang="0">
                <a:pos x="connsiteX0-17" y="connsiteY0-18"/>
              </a:cxn>
              <a:cxn ang="0">
                <a:pos x="connsiteX1-19" y="connsiteY1-20"/>
              </a:cxn>
              <a:cxn ang="0">
                <a:pos x="connsiteX2-21" y="connsiteY2-22"/>
              </a:cxn>
              <a:cxn ang="0">
                <a:pos x="connsiteX3-23" y="connsiteY3-24"/>
              </a:cxn>
            </a:cxnLst>
            <a:rect l="l" t="t" r="r" b="b"/>
            <a:pathLst>
              <a:path w="906780" h="1379220">
                <a:moveTo>
                  <a:pt x="0" y="1379220"/>
                </a:moveTo>
                <a:lnTo>
                  <a:pt x="571500" y="1379220"/>
                </a:lnTo>
                <a:cubicBezTo>
                  <a:pt x="611821" y="1120139"/>
                  <a:pt x="766445" y="1061085"/>
                  <a:pt x="906780" y="1059180"/>
                </a:cubicBezTo>
                <a:lnTo>
                  <a:pt x="906780" y="0"/>
                </a:lnTo>
              </a:path>
            </a:pathLst>
          </a:custGeom>
          <a:noFill/>
          <a:ln w="38100">
            <a:solidFill>
              <a:srgbClr val="392C47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+mj-ea"/>
              <a:ea typeface="+mj-ea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1251258" y="3753472"/>
            <a:ext cx="1474212" cy="1499059"/>
          </a:xfrm>
          <a:custGeom>
            <a:avLst/>
            <a:gdLst>
              <a:gd name="connsiteX0" fmla="*/ 0 w 1356360"/>
              <a:gd name="connsiteY0" fmla="*/ 320040 h 1379220"/>
              <a:gd name="connsiteX1" fmla="*/ 373380 w 1356360"/>
              <a:gd name="connsiteY1" fmla="*/ 0 h 1379220"/>
              <a:gd name="connsiteX2" fmla="*/ 990600 w 1356360"/>
              <a:gd name="connsiteY2" fmla="*/ 0 h 1379220"/>
              <a:gd name="connsiteX3" fmla="*/ 1356360 w 1356360"/>
              <a:gd name="connsiteY3" fmla="*/ 342900 h 1379220"/>
              <a:gd name="connsiteX4" fmla="*/ 1356360 w 1356360"/>
              <a:gd name="connsiteY4" fmla="*/ 1379220 h 1379220"/>
              <a:gd name="connsiteX0-1" fmla="*/ 0 w 1356360"/>
              <a:gd name="connsiteY0-2" fmla="*/ 320040 h 1379220"/>
              <a:gd name="connsiteX1-3" fmla="*/ 373380 w 1356360"/>
              <a:gd name="connsiteY1-4" fmla="*/ 0 h 1379220"/>
              <a:gd name="connsiteX2-5" fmla="*/ 990600 w 1356360"/>
              <a:gd name="connsiteY2-6" fmla="*/ 0 h 1379220"/>
              <a:gd name="connsiteX3-7" fmla="*/ 1356360 w 1356360"/>
              <a:gd name="connsiteY3-8" fmla="*/ 342900 h 1379220"/>
              <a:gd name="connsiteX4-9" fmla="*/ 1356360 w 1356360"/>
              <a:gd name="connsiteY4-10" fmla="*/ 1379220 h 1379220"/>
              <a:gd name="connsiteX0-11" fmla="*/ 0 w 1356360"/>
              <a:gd name="connsiteY0-12" fmla="*/ 320040 h 1379220"/>
              <a:gd name="connsiteX1-13" fmla="*/ 373380 w 1356360"/>
              <a:gd name="connsiteY1-14" fmla="*/ 0 h 1379220"/>
              <a:gd name="connsiteX2-15" fmla="*/ 990600 w 1356360"/>
              <a:gd name="connsiteY2-16" fmla="*/ 0 h 1379220"/>
              <a:gd name="connsiteX3-17" fmla="*/ 1356360 w 1356360"/>
              <a:gd name="connsiteY3-18" fmla="*/ 342900 h 1379220"/>
              <a:gd name="connsiteX4-19" fmla="*/ 1356360 w 1356360"/>
              <a:gd name="connsiteY4-20" fmla="*/ 1379220 h 1379220"/>
              <a:gd name="connsiteX0-21" fmla="*/ 0 w 1356360"/>
              <a:gd name="connsiteY0-22" fmla="*/ 320040 h 1379220"/>
              <a:gd name="connsiteX1-23" fmla="*/ 373380 w 1356360"/>
              <a:gd name="connsiteY1-24" fmla="*/ 0 h 1379220"/>
              <a:gd name="connsiteX2-25" fmla="*/ 990600 w 1356360"/>
              <a:gd name="connsiteY2-26" fmla="*/ 0 h 1379220"/>
              <a:gd name="connsiteX3-27" fmla="*/ 1356360 w 1356360"/>
              <a:gd name="connsiteY3-28" fmla="*/ 342900 h 1379220"/>
              <a:gd name="connsiteX4-29" fmla="*/ 1356360 w 1356360"/>
              <a:gd name="connsiteY4-30" fmla="*/ 1379220 h 1379220"/>
              <a:gd name="connsiteX0-31" fmla="*/ 0 w 1356360"/>
              <a:gd name="connsiteY0-32" fmla="*/ 320040 h 1379220"/>
              <a:gd name="connsiteX1-33" fmla="*/ 373380 w 1356360"/>
              <a:gd name="connsiteY1-34" fmla="*/ 0 h 1379220"/>
              <a:gd name="connsiteX2-35" fmla="*/ 990600 w 1356360"/>
              <a:gd name="connsiteY2-36" fmla="*/ 0 h 1379220"/>
              <a:gd name="connsiteX3-37" fmla="*/ 1356360 w 1356360"/>
              <a:gd name="connsiteY3-38" fmla="*/ 342900 h 1379220"/>
              <a:gd name="connsiteX4-39" fmla="*/ 1356360 w 1356360"/>
              <a:gd name="connsiteY4-40" fmla="*/ 1379220 h 1379220"/>
              <a:gd name="connsiteX0-41" fmla="*/ 0 w 1356360"/>
              <a:gd name="connsiteY0-42" fmla="*/ 320040 h 1379220"/>
              <a:gd name="connsiteX1-43" fmla="*/ 373380 w 1356360"/>
              <a:gd name="connsiteY1-44" fmla="*/ 0 h 1379220"/>
              <a:gd name="connsiteX2-45" fmla="*/ 990600 w 1356360"/>
              <a:gd name="connsiteY2-46" fmla="*/ 0 h 1379220"/>
              <a:gd name="connsiteX3-47" fmla="*/ 1356360 w 1356360"/>
              <a:gd name="connsiteY3-48" fmla="*/ 342900 h 1379220"/>
              <a:gd name="connsiteX4-49" fmla="*/ 1356360 w 1356360"/>
              <a:gd name="connsiteY4-50" fmla="*/ 1379220 h 1379220"/>
              <a:gd name="connsiteX0-51" fmla="*/ 0 w 1356360"/>
              <a:gd name="connsiteY0-52" fmla="*/ 320040 h 1379220"/>
              <a:gd name="connsiteX1-53" fmla="*/ 373380 w 1356360"/>
              <a:gd name="connsiteY1-54" fmla="*/ 0 h 1379220"/>
              <a:gd name="connsiteX2-55" fmla="*/ 990600 w 1356360"/>
              <a:gd name="connsiteY2-56" fmla="*/ 0 h 1379220"/>
              <a:gd name="connsiteX3-57" fmla="*/ 1356360 w 1356360"/>
              <a:gd name="connsiteY3-58" fmla="*/ 342900 h 1379220"/>
              <a:gd name="connsiteX4-59" fmla="*/ 1356360 w 1356360"/>
              <a:gd name="connsiteY4-60" fmla="*/ 1379220 h 1379220"/>
            </a:gdLst>
            <a:ahLst/>
            <a:cxnLst>
              <a:cxn ang="0">
                <a:pos x="connsiteX0-51" y="connsiteY0-52"/>
              </a:cxn>
              <a:cxn ang="0">
                <a:pos x="connsiteX1-53" y="connsiteY1-54"/>
              </a:cxn>
              <a:cxn ang="0">
                <a:pos x="connsiteX2-55" y="connsiteY2-56"/>
              </a:cxn>
              <a:cxn ang="0">
                <a:pos x="connsiteX3-57" y="connsiteY3-58"/>
              </a:cxn>
              <a:cxn ang="0">
                <a:pos x="connsiteX4-59" y="connsiteY4-60"/>
              </a:cxn>
            </a:cxnLst>
            <a:rect l="l" t="t" r="r" b="b"/>
            <a:pathLst>
              <a:path w="1356360" h="1379220">
                <a:moveTo>
                  <a:pt x="0" y="320040"/>
                </a:moveTo>
                <a:cubicBezTo>
                  <a:pt x="322104" y="337185"/>
                  <a:pt x="346551" y="149542"/>
                  <a:pt x="373380" y="0"/>
                </a:cubicBezTo>
                <a:lnTo>
                  <a:pt x="990600" y="0"/>
                </a:lnTo>
                <a:cubicBezTo>
                  <a:pt x="1024413" y="230981"/>
                  <a:pt x="1191577" y="345281"/>
                  <a:pt x="1356360" y="342900"/>
                </a:cubicBezTo>
                <a:lnTo>
                  <a:pt x="1356360" y="1379220"/>
                </a:lnTo>
              </a:path>
            </a:pathLst>
          </a:custGeom>
          <a:noFill/>
          <a:ln w="38100">
            <a:solidFill>
              <a:srgbClr val="392C47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+mj-ea"/>
              <a:ea typeface="+mj-ea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2684060" y="2262696"/>
            <a:ext cx="1457648" cy="1499059"/>
          </a:xfrm>
          <a:custGeom>
            <a:avLst/>
            <a:gdLst>
              <a:gd name="connsiteX0" fmla="*/ 0 w 1341120"/>
              <a:gd name="connsiteY0" fmla="*/ 1021080 h 1379220"/>
              <a:gd name="connsiteX1" fmla="*/ 396240 w 1341120"/>
              <a:gd name="connsiteY1" fmla="*/ 1379220 h 1379220"/>
              <a:gd name="connsiteX2" fmla="*/ 1013460 w 1341120"/>
              <a:gd name="connsiteY2" fmla="*/ 1379220 h 1379220"/>
              <a:gd name="connsiteX3" fmla="*/ 1341120 w 1341120"/>
              <a:gd name="connsiteY3" fmla="*/ 1036320 h 1379220"/>
              <a:gd name="connsiteX4" fmla="*/ 1341120 w 1341120"/>
              <a:gd name="connsiteY4" fmla="*/ 0 h 1379220"/>
              <a:gd name="connsiteX0-1" fmla="*/ 0 w 1341120"/>
              <a:gd name="connsiteY0-2" fmla="*/ 1021080 h 1379220"/>
              <a:gd name="connsiteX1-3" fmla="*/ 396240 w 1341120"/>
              <a:gd name="connsiteY1-4" fmla="*/ 1379220 h 1379220"/>
              <a:gd name="connsiteX2-5" fmla="*/ 1013460 w 1341120"/>
              <a:gd name="connsiteY2-6" fmla="*/ 1379220 h 1379220"/>
              <a:gd name="connsiteX3-7" fmla="*/ 1341120 w 1341120"/>
              <a:gd name="connsiteY3-8" fmla="*/ 1036320 h 1379220"/>
              <a:gd name="connsiteX4-9" fmla="*/ 1341120 w 1341120"/>
              <a:gd name="connsiteY4-10" fmla="*/ 0 h 1379220"/>
              <a:gd name="connsiteX0-11" fmla="*/ 0 w 1341120"/>
              <a:gd name="connsiteY0-12" fmla="*/ 1021080 h 1379220"/>
              <a:gd name="connsiteX1-13" fmla="*/ 396240 w 1341120"/>
              <a:gd name="connsiteY1-14" fmla="*/ 1379220 h 1379220"/>
              <a:gd name="connsiteX2-15" fmla="*/ 1013460 w 1341120"/>
              <a:gd name="connsiteY2-16" fmla="*/ 1379220 h 1379220"/>
              <a:gd name="connsiteX3-17" fmla="*/ 1341120 w 1341120"/>
              <a:gd name="connsiteY3-18" fmla="*/ 1036320 h 1379220"/>
              <a:gd name="connsiteX4-19" fmla="*/ 1341120 w 1341120"/>
              <a:gd name="connsiteY4-20" fmla="*/ 0 h 1379220"/>
              <a:gd name="connsiteX0-21" fmla="*/ 0 w 1341120"/>
              <a:gd name="connsiteY0-22" fmla="*/ 1021080 h 1379220"/>
              <a:gd name="connsiteX1-23" fmla="*/ 396240 w 1341120"/>
              <a:gd name="connsiteY1-24" fmla="*/ 1379220 h 1379220"/>
              <a:gd name="connsiteX2-25" fmla="*/ 1013460 w 1341120"/>
              <a:gd name="connsiteY2-26" fmla="*/ 1379220 h 1379220"/>
              <a:gd name="connsiteX3-27" fmla="*/ 1341120 w 1341120"/>
              <a:gd name="connsiteY3-28" fmla="*/ 1036320 h 1379220"/>
              <a:gd name="connsiteX4-29" fmla="*/ 1341120 w 1341120"/>
              <a:gd name="connsiteY4-30" fmla="*/ 0 h 1379220"/>
              <a:gd name="connsiteX0-31" fmla="*/ 0 w 1341120"/>
              <a:gd name="connsiteY0-32" fmla="*/ 1021080 h 1379220"/>
              <a:gd name="connsiteX1-33" fmla="*/ 396240 w 1341120"/>
              <a:gd name="connsiteY1-34" fmla="*/ 1379220 h 1379220"/>
              <a:gd name="connsiteX2-35" fmla="*/ 1013460 w 1341120"/>
              <a:gd name="connsiteY2-36" fmla="*/ 1379220 h 1379220"/>
              <a:gd name="connsiteX3-37" fmla="*/ 1341120 w 1341120"/>
              <a:gd name="connsiteY3-38" fmla="*/ 1036320 h 1379220"/>
              <a:gd name="connsiteX4-39" fmla="*/ 1341120 w 1341120"/>
              <a:gd name="connsiteY4-40" fmla="*/ 0 h 1379220"/>
              <a:gd name="connsiteX0-41" fmla="*/ 0 w 1341120"/>
              <a:gd name="connsiteY0-42" fmla="*/ 1021080 h 1379220"/>
              <a:gd name="connsiteX1-43" fmla="*/ 396240 w 1341120"/>
              <a:gd name="connsiteY1-44" fmla="*/ 1379220 h 1379220"/>
              <a:gd name="connsiteX2-45" fmla="*/ 1013460 w 1341120"/>
              <a:gd name="connsiteY2-46" fmla="*/ 1379220 h 1379220"/>
              <a:gd name="connsiteX3-47" fmla="*/ 1341120 w 1341120"/>
              <a:gd name="connsiteY3-48" fmla="*/ 1036320 h 1379220"/>
              <a:gd name="connsiteX4-49" fmla="*/ 1341120 w 1341120"/>
              <a:gd name="connsiteY4-50" fmla="*/ 0 h 1379220"/>
              <a:gd name="connsiteX0-51" fmla="*/ 0 w 1341120"/>
              <a:gd name="connsiteY0-52" fmla="*/ 1021080 h 1379220"/>
              <a:gd name="connsiteX1-53" fmla="*/ 396240 w 1341120"/>
              <a:gd name="connsiteY1-54" fmla="*/ 1379220 h 1379220"/>
              <a:gd name="connsiteX2-55" fmla="*/ 1013460 w 1341120"/>
              <a:gd name="connsiteY2-56" fmla="*/ 1379220 h 1379220"/>
              <a:gd name="connsiteX3-57" fmla="*/ 1341120 w 1341120"/>
              <a:gd name="connsiteY3-58" fmla="*/ 1036320 h 1379220"/>
              <a:gd name="connsiteX4-59" fmla="*/ 1341120 w 1341120"/>
              <a:gd name="connsiteY4-60" fmla="*/ 0 h 1379220"/>
              <a:gd name="connsiteX0-61" fmla="*/ 0 w 1341120"/>
              <a:gd name="connsiteY0-62" fmla="*/ 1021080 h 1379220"/>
              <a:gd name="connsiteX1-63" fmla="*/ 396240 w 1341120"/>
              <a:gd name="connsiteY1-64" fmla="*/ 1379220 h 1379220"/>
              <a:gd name="connsiteX2-65" fmla="*/ 1013460 w 1341120"/>
              <a:gd name="connsiteY2-66" fmla="*/ 1379220 h 1379220"/>
              <a:gd name="connsiteX3-67" fmla="*/ 1341120 w 1341120"/>
              <a:gd name="connsiteY3-68" fmla="*/ 1036320 h 1379220"/>
              <a:gd name="connsiteX4-69" fmla="*/ 1341120 w 1341120"/>
              <a:gd name="connsiteY4-70" fmla="*/ 0 h 1379220"/>
              <a:gd name="connsiteX0-71" fmla="*/ 0 w 1341120"/>
              <a:gd name="connsiteY0-72" fmla="*/ 1021080 h 1379220"/>
              <a:gd name="connsiteX1-73" fmla="*/ 396240 w 1341120"/>
              <a:gd name="connsiteY1-74" fmla="*/ 1379220 h 1379220"/>
              <a:gd name="connsiteX2-75" fmla="*/ 1013460 w 1341120"/>
              <a:gd name="connsiteY2-76" fmla="*/ 1379220 h 1379220"/>
              <a:gd name="connsiteX3-77" fmla="*/ 1341120 w 1341120"/>
              <a:gd name="connsiteY3-78" fmla="*/ 1036320 h 1379220"/>
              <a:gd name="connsiteX4-79" fmla="*/ 1341120 w 1341120"/>
              <a:gd name="connsiteY4-80" fmla="*/ 0 h 1379220"/>
              <a:gd name="connsiteX0-81" fmla="*/ 0 w 1341120"/>
              <a:gd name="connsiteY0-82" fmla="*/ 1021080 h 1379220"/>
              <a:gd name="connsiteX1-83" fmla="*/ 396240 w 1341120"/>
              <a:gd name="connsiteY1-84" fmla="*/ 1379220 h 1379220"/>
              <a:gd name="connsiteX2-85" fmla="*/ 1013460 w 1341120"/>
              <a:gd name="connsiteY2-86" fmla="*/ 1379220 h 1379220"/>
              <a:gd name="connsiteX3-87" fmla="*/ 1341120 w 1341120"/>
              <a:gd name="connsiteY3-88" fmla="*/ 1036320 h 1379220"/>
              <a:gd name="connsiteX4-89" fmla="*/ 1341120 w 1341120"/>
              <a:gd name="connsiteY4-90" fmla="*/ 0 h 1379220"/>
            </a:gdLst>
            <a:ahLst/>
            <a:cxnLst>
              <a:cxn ang="0">
                <a:pos x="connsiteX0-81" y="connsiteY0-82"/>
              </a:cxn>
              <a:cxn ang="0">
                <a:pos x="connsiteX1-83" y="connsiteY1-84"/>
              </a:cxn>
              <a:cxn ang="0">
                <a:pos x="connsiteX2-85" y="connsiteY2-86"/>
              </a:cxn>
              <a:cxn ang="0">
                <a:pos x="connsiteX3-87" y="connsiteY3-88"/>
              </a:cxn>
              <a:cxn ang="0">
                <a:pos x="connsiteX4-89" y="connsiteY4-90"/>
              </a:cxn>
            </a:cxnLst>
            <a:rect l="l" t="t" r="r" b="b"/>
            <a:pathLst>
              <a:path w="1341120" h="1379220">
                <a:moveTo>
                  <a:pt x="0" y="1021080"/>
                </a:moveTo>
                <a:cubicBezTo>
                  <a:pt x="267812" y="1011872"/>
                  <a:pt x="371317" y="1171734"/>
                  <a:pt x="396240" y="1379220"/>
                </a:cubicBezTo>
                <a:lnTo>
                  <a:pt x="1013460" y="1379220"/>
                </a:lnTo>
                <a:cubicBezTo>
                  <a:pt x="1020286" y="1100615"/>
                  <a:pt x="1169987" y="1045845"/>
                  <a:pt x="1341120" y="1036320"/>
                </a:cubicBezTo>
                <a:lnTo>
                  <a:pt x="1341120" y="0"/>
                </a:lnTo>
              </a:path>
            </a:pathLst>
          </a:custGeom>
          <a:noFill/>
          <a:ln w="38100">
            <a:solidFill>
              <a:srgbClr val="392C47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+mj-ea"/>
              <a:ea typeface="+mj-ea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5678596" y="3384033"/>
            <a:ext cx="1358263" cy="369437"/>
          </a:xfrm>
          <a:custGeom>
            <a:avLst/>
            <a:gdLst>
              <a:gd name="connsiteX0" fmla="*/ 0 w 1249680"/>
              <a:gd name="connsiteY0" fmla="*/ 0 h 335280"/>
              <a:gd name="connsiteX1" fmla="*/ 365760 w 1249680"/>
              <a:gd name="connsiteY1" fmla="*/ 335280 h 335280"/>
              <a:gd name="connsiteX2" fmla="*/ 1249680 w 1249680"/>
              <a:gd name="connsiteY2" fmla="*/ 335280 h 335280"/>
              <a:gd name="connsiteX0-1" fmla="*/ 0 w 1249680"/>
              <a:gd name="connsiteY0-2" fmla="*/ 1933 h 337213"/>
              <a:gd name="connsiteX1-3" fmla="*/ 365760 w 1249680"/>
              <a:gd name="connsiteY1-4" fmla="*/ 337213 h 337213"/>
              <a:gd name="connsiteX2-5" fmla="*/ 1249680 w 1249680"/>
              <a:gd name="connsiteY2-6" fmla="*/ 337213 h 337213"/>
              <a:gd name="connsiteX0-7" fmla="*/ 0 w 1249680"/>
              <a:gd name="connsiteY0-8" fmla="*/ 3084 h 338364"/>
              <a:gd name="connsiteX1-9" fmla="*/ 365760 w 1249680"/>
              <a:gd name="connsiteY1-10" fmla="*/ 338364 h 338364"/>
              <a:gd name="connsiteX2-11" fmla="*/ 1249680 w 1249680"/>
              <a:gd name="connsiteY2-12" fmla="*/ 338364 h 338364"/>
              <a:gd name="connsiteX0-13" fmla="*/ 0 w 1249680"/>
              <a:gd name="connsiteY0-14" fmla="*/ 4623 h 339903"/>
              <a:gd name="connsiteX1-15" fmla="*/ 365760 w 1249680"/>
              <a:gd name="connsiteY1-16" fmla="*/ 339903 h 339903"/>
              <a:gd name="connsiteX2-17" fmla="*/ 1249680 w 1249680"/>
              <a:gd name="connsiteY2-18" fmla="*/ 339903 h 339903"/>
            </a:gdLst>
            <a:ahLst/>
            <a:cxnLst>
              <a:cxn ang="0">
                <a:pos x="connsiteX0-13" y="connsiteY0-14"/>
              </a:cxn>
              <a:cxn ang="0">
                <a:pos x="connsiteX1-15" y="connsiteY1-16"/>
              </a:cxn>
              <a:cxn ang="0">
                <a:pos x="connsiteX2-17" y="connsiteY2-18"/>
              </a:cxn>
            </a:cxnLst>
            <a:rect l="l" t="t" r="r" b="b"/>
            <a:pathLst>
              <a:path w="1249680" h="339903">
                <a:moveTo>
                  <a:pt x="0" y="4623"/>
                </a:moveTo>
                <a:cubicBezTo>
                  <a:pt x="219552" y="-28874"/>
                  <a:pt x="334328" y="123368"/>
                  <a:pt x="365760" y="339903"/>
                </a:cubicBezTo>
                <a:lnTo>
                  <a:pt x="1249680" y="339903"/>
                </a:lnTo>
              </a:path>
            </a:pathLst>
          </a:custGeom>
          <a:noFill/>
          <a:ln w="38100">
            <a:solidFill>
              <a:srgbClr val="392C47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+mj-ea"/>
              <a:ea typeface="+mj-ea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4131355" y="3747950"/>
            <a:ext cx="1474212" cy="1499059"/>
          </a:xfrm>
          <a:custGeom>
            <a:avLst/>
            <a:gdLst>
              <a:gd name="connsiteX0" fmla="*/ 0 w 1356360"/>
              <a:gd name="connsiteY0" fmla="*/ 320040 h 1379220"/>
              <a:gd name="connsiteX1" fmla="*/ 373380 w 1356360"/>
              <a:gd name="connsiteY1" fmla="*/ 0 h 1379220"/>
              <a:gd name="connsiteX2" fmla="*/ 990600 w 1356360"/>
              <a:gd name="connsiteY2" fmla="*/ 0 h 1379220"/>
              <a:gd name="connsiteX3" fmla="*/ 1356360 w 1356360"/>
              <a:gd name="connsiteY3" fmla="*/ 342900 h 1379220"/>
              <a:gd name="connsiteX4" fmla="*/ 1356360 w 1356360"/>
              <a:gd name="connsiteY4" fmla="*/ 1379220 h 1379220"/>
              <a:gd name="connsiteX0-1" fmla="*/ 0 w 1356360"/>
              <a:gd name="connsiteY0-2" fmla="*/ 320040 h 1379220"/>
              <a:gd name="connsiteX1-3" fmla="*/ 373380 w 1356360"/>
              <a:gd name="connsiteY1-4" fmla="*/ 0 h 1379220"/>
              <a:gd name="connsiteX2-5" fmla="*/ 990600 w 1356360"/>
              <a:gd name="connsiteY2-6" fmla="*/ 0 h 1379220"/>
              <a:gd name="connsiteX3-7" fmla="*/ 1356360 w 1356360"/>
              <a:gd name="connsiteY3-8" fmla="*/ 342900 h 1379220"/>
              <a:gd name="connsiteX4-9" fmla="*/ 1356360 w 1356360"/>
              <a:gd name="connsiteY4-10" fmla="*/ 1379220 h 1379220"/>
              <a:gd name="connsiteX0-11" fmla="*/ 0 w 1356360"/>
              <a:gd name="connsiteY0-12" fmla="*/ 320040 h 1379220"/>
              <a:gd name="connsiteX1-13" fmla="*/ 373380 w 1356360"/>
              <a:gd name="connsiteY1-14" fmla="*/ 0 h 1379220"/>
              <a:gd name="connsiteX2-15" fmla="*/ 990600 w 1356360"/>
              <a:gd name="connsiteY2-16" fmla="*/ 0 h 1379220"/>
              <a:gd name="connsiteX3-17" fmla="*/ 1356360 w 1356360"/>
              <a:gd name="connsiteY3-18" fmla="*/ 342900 h 1379220"/>
              <a:gd name="connsiteX4-19" fmla="*/ 1356360 w 1356360"/>
              <a:gd name="connsiteY4-20" fmla="*/ 1379220 h 1379220"/>
              <a:gd name="connsiteX0-21" fmla="*/ 0 w 1356360"/>
              <a:gd name="connsiteY0-22" fmla="*/ 320040 h 1379220"/>
              <a:gd name="connsiteX1-23" fmla="*/ 373380 w 1356360"/>
              <a:gd name="connsiteY1-24" fmla="*/ 0 h 1379220"/>
              <a:gd name="connsiteX2-25" fmla="*/ 990600 w 1356360"/>
              <a:gd name="connsiteY2-26" fmla="*/ 0 h 1379220"/>
              <a:gd name="connsiteX3-27" fmla="*/ 1356360 w 1356360"/>
              <a:gd name="connsiteY3-28" fmla="*/ 342900 h 1379220"/>
              <a:gd name="connsiteX4-29" fmla="*/ 1356360 w 1356360"/>
              <a:gd name="connsiteY4-30" fmla="*/ 1379220 h 1379220"/>
              <a:gd name="connsiteX0-31" fmla="*/ 0 w 1356360"/>
              <a:gd name="connsiteY0-32" fmla="*/ 320040 h 1379220"/>
              <a:gd name="connsiteX1-33" fmla="*/ 373380 w 1356360"/>
              <a:gd name="connsiteY1-34" fmla="*/ 0 h 1379220"/>
              <a:gd name="connsiteX2-35" fmla="*/ 990600 w 1356360"/>
              <a:gd name="connsiteY2-36" fmla="*/ 0 h 1379220"/>
              <a:gd name="connsiteX3-37" fmla="*/ 1356360 w 1356360"/>
              <a:gd name="connsiteY3-38" fmla="*/ 342900 h 1379220"/>
              <a:gd name="connsiteX4-39" fmla="*/ 1356360 w 1356360"/>
              <a:gd name="connsiteY4-40" fmla="*/ 1379220 h 1379220"/>
              <a:gd name="connsiteX0-41" fmla="*/ 0 w 1356360"/>
              <a:gd name="connsiteY0-42" fmla="*/ 320040 h 1379220"/>
              <a:gd name="connsiteX1-43" fmla="*/ 373380 w 1356360"/>
              <a:gd name="connsiteY1-44" fmla="*/ 0 h 1379220"/>
              <a:gd name="connsiteX2-45" fmla="*/ 990600 w 1356360"/>
              <a:gd name="connsiteY2-46" fmla="*/ 0 h 1379220"/>
              <a:gd name="connsiteX3-47" fmla="*/ 1356360 w 1356360"/>
              <a:gd name="connsiteY3-48" fmla="*/ 342900 h 1379220"/>
              <a:gd name="connsiteX4-49" fmla="*/ 1356360 w 1356360"/>
              <a:gd name="connsiteY4-50" fmla="*/ 1379220 h 1379220"/>
              <a:gd name="connsiteX0-51" fmla="*/ 0 w 1356360"/>
              <a:gd name="connsiteY0-52" fmla="*/ 320040 h 1379220"/>
              <a:gd name="connsiteX1-53" fmla="*/ 373380 w 1356360"/>
              <a:gd name="connsiteY1-54" fmla="*/ 0 h 1379220"/>
              <a:gd name="connsiteX2-55" fmla="*/ 990600 w 1356360"/>
              <a:gd name="connsiteY2-56" fmla="*/ 0 h 1379220"/>
              <a:gd name="connsiteX3-57" fmla="*/ 1356360 w 1356360"/>
              <a:gd name="connsiteY3-58" fmla="*/ 342900 h 1379220"/>
              <a:gd name="connsiteX4-59" fmla="*/ 1356360 w 1356360"/>
              <a:gd name="connsiteY4-60" fmla="*/ 1379220 h 1379220"/>
            </a:gdLst>
            <a:ahLst/>
            <a:cxnLst>
              <a:cxn ang="0">
                <a:pos x="connsiteX0-51" y="connsiteY0-52"/>
              </a:cxn>
              <a:cxn ang="0">
                <a:pos x="connsiteX1-53" y="connsiteY1-54"/>
              </a:cxn>
              <a:cxn ang="0">
                <a:pos x="connsiteX2-55" y="connsiteY2-56"/>
              </a:cxn>
              <a:cxn ang="0">
                <a:pos x="connsiteX3-57" y="connsiteY3-58"/>
              </a:cxn>
              <a:cxn ang="0">
                <a:pos x="connsiteX4-59" y="connsiteY4-60"/>
              </a:cxn>
            </a:cxnLst>
            <a:rect l="l" t="t" r="r" b="b"/>
            <a:pathLst>
              <a:path w="1356360" h="1379220">
                <a:moveTo>
                  <a:pt x="0" y="320040"/>
                </a:moveTo>
                <a:cubicBezTo>
                  <a:pt x="322104" y="337185"/>
                  <a:pt x="346551" y="149542"/>
                  <a:pt x="373380" y="0"/>
                </a:cubicBezTo>
                <a:lnTo>
                  <a:pt x="990600" y="0"/>
                </a:lnTo>
                <a:cubicBezTo>
                  <a:pt x="1024413" y="230981"/>
                  <a:pt x="1191577" y="345281"/>
                  <a:pt x="1356360" y="342900"/>
                </a:cubicBezTo>
                <a:lnTo>
                  <a:pt x="1356360" y="1379220"/>
                </a:lnTo>
              </a:path>
            </a:pathLst>
          </a:custGeom>
          <a:noFill/>
          <a:ln w="38100">
            <a:solidFill>
              <a:srgbClr val="392C47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+mj-ea"/>
              <a:ea typeface="+mj-ea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4147920" y="1582872"/>
            <a:ext cx="310633" cy="372695"/>
          </a:xfrm>
          <a:custGeom>
            <a:avLst/>
            <a:gdLst>
              <a:gd name="connsiteX0" fmla="*/ 0 w 285750"/>
              <a:gd name="connsiteY0" fmla="*/ 0 h 342900"/>
              <a:gd name="connsiteX1" fmla="*/ 285750 w 285750"/>
              <a:gd name="connsiteY1" fmla="*/ 342900 h 342900"/>
              <a:gd name="connsiteX0-1" fmla="*/ 0 w 285750"/>
              <a:gd name="connsiteY0-2" fmla="*/ 0 h 342900"/>
              <a:gd name="connsiteX1-3" fmla="*/ 285750 w 285750"/>
              <a:gd name="connsiteY1-4" fmla="*/ 342900 h 342900"/>
              <a:gd name="connsiteX0-5" fmla="*/ 0 w 285750"/>
              <a:gd name="connsiteY0-6" fmla="*/ 0 h 342900"/>
              <a:gd name="connsiteX1-7" fmla="*/ 285750 w 285750"/>
              <a:gd name="connsiteY1-8" fmla="*/ 342900 h 342900"/>
              <a:gd name="connsiteX0-9" fmla="*/ 0 w 285750"/>
              <a:gd name="connsiteY0-10" fmla="*/ 0 h 342900"/>
              <a:gd name="connsiteX1-11" fmla="*/ 285750 w 285750"/>
              <a:gd name="connsiteY1-12" fmla="*/ 342900 h 342900"/>
              <a:gd name="connsiteX0-13" fmla="*/ 0 w 285750"/>
              <a:gd name="connsiteY0-14" fmla="*/ 0 h 342900"/>
              <a:gd name="connsiteX1-15" fmla="*/ 285750 w 285750"/>
              <a:gd name="connsiteY1-16" fmla="*/ 342900 h 342900"/>
              <a:gd name="connsiteX0-17" fmla="*/ 0 w 285800"/>
              <a:gd name="connsiteY0-18" fmla="*/ 0 h 342900"/>
              <a:gd name="connsiteX1-19" fmla="*/ 285750 w 285800"/>
              <a:gd name="connsiteY1-20" fmla="*/ 342900 h 342900"/>
            </a:gdLst>
            <a:ahLst/>
            <a:cxnLst>
              <a:cxn ang="0">
                <a:pos x="connsiteX0-17" y="connsiteY0-18"/>
              </a:cxn>
              <a:cxn ang="0">
                <a:pos x="connsiteX1-19" y="connsiteY1-20"/>
              </a:cxn>
            </a:cxnLst>
            <a:rect l="l" t="t" r="r" b="b"/>
            <a:pathLst>
              <a:path w="285800" h="342900">
                <a:moveTo>
                  <a:pt x="0" y="0"/>
                </a:moveTo>
                <a:cubicBezTo>
                  <a:pt x="207169" y="16669"/>
                  <a:pt x="288132" y="135732"/>
                  <a:pt x="285750" y="342900"/>
                </a:cubicBezTo>
              </a:path>
            </a:pathLst>
          </a:custGeom>
          <a:noFill/>
          <a:ln w="38100">
            <a:solidFill>
              <a:srgbClr val="392C4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+mj-ea"/>
              <a:ea typeface="+mj-ea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1284388" y="1582872"/>
            <a:ext cx="310633" cy="372695"/>
          </a:xfrm>
          <a:custGeom>
            <a:avLst/>
            <a:gdLst>
              <a:gd name="connsiteX0" fmla="*/ 0 w 285750"/>
              <a:gd name="connsiteY0" fmla="*/ 0 h 342900"/>
              <a:gd name="connsiteX1" fmla="*/ 285750 w 285750"/>
              <a:gd name="connsiteY1" fmla="*/ 342900 h 342900"/>
              <a:gd name="connsiteX0-1" fmla="*/ 0 w 285750"/>
              <a:gd name="connsiteY0-2" fmla="*/ 0 h 342900"/>
              <a:gd name="connsiteX1-3" fmla="*/ 285750 w 285750"/>
              <a:gd name="connsiteY1-4" fmla="*/ 342900 h 342900"/>
              <a:gd name="connsiteX0-5" fmla="*/ 0 w 285750"/>
              <a:gd name="connsiteY0-6" fmla="*/ 0 h 342900"/>
              <a:gd name="connsiteX1-7" fmla="*/ 285750 w 285750"/>
              <a:gd name="connsiteY1-8" fmla="*/ 342900 h 342900"/>
              <a:gd name="connsiteX0-9" fmla="*/ 0 w 285750"/>
              <a:gd name="connsiteY0-10" fmla="*/ 0 h 342900"/>
              <a:gd name="connsiteX1-11" fmla="*/ 285750 w 285750"/>
              <a:gd name="connsiteY1-12" fmla="*/ 342900 h 342900"/>
              <a:gd name="connsiteX0-13" fmla="*/ 0 w 285750"/>
              <a:gd name="connsiteY0-14" fmla="*/ 0 h 342900"/>
              <a:gd name="connsiteX1-15" fmla="*/ 285750 w 285750"/>
              <a:gd name="connsiteY1-16" fmla="*/ 342900 h 342900"/>
              <a:gd name="connsiteX0-17" fmla="*/ 0 w 285800"/>
              <a:gd name="connsiteY0-18" fmla="*/ 0 h 342900"/>
              <a:gd name="connsiteX1-19" fmla="*/ 285750 w 285800"/>
              <a:gd name="connsiteY1-20" fmla="*/ 342900 h 342900"/>
            </a:gdLst>
            <a:ahLst/>
            <a:cxnLst>
              <a:cxn ang="0">
                <a:pos x="connsiteX0-17" y="connsiteY0-18"/>
              </a:cxn>
              <a:cxn ang="0">
                <a:pos x="connsiteX1-19" y="connsiteY1-20"/>
              </a:cxn>
            </a:cxnLst>
            <a:rect l="l" t="t" r="r" b="b"/>
            <a:pathLst>
              <a:path w="285800" h="342900">
                <a:moveTo>
                  <a:pt x="0" y="0"/>
                </a:moveTo>
                <a:cubicBezTo>
                  <a:pt x="207169" y="16669"/>
                  <a:pt x="288132" y="135732"/>
                  <a:pt x="285750" y="342900"/>
                </a:cubicBezTo>
              </a:path>
            </a:pathLst>
          </a:custGeom>
          <a:noFill/>
          <a:ln w="38100">
            <a:solidFill>
              <a:srgbClr val="392C4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+mj-ea"/>
              <a:ea typeface="+mj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828961" y="3896972"/>
            <a:ext cx="352152" cy="0"/>
          </a:xfrm>
          <a:prstGeom prst="line">
            <a:avLst/>
          </a:prstGeom>
          <a:noFill/>
          <a:ln w="38100">
            <a:solidFill>
              <a:srgbClr val="392C4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236808" y="3605225"/>
            <a:ext cx="352152" cy="0"/>
          </a:xfrm>
          <a:prstGeom prst="line">
            <a:avLst/>
          </a:prstGeom>
          <a:noFill/>
          <a:ln w="38100">
            <a:solidFill>
              <a:srgbClr val="392C4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692385" y="3896972"/>
            <a:ext cx="352152" cy="0"/>
          </a:xfrm>
          <a:prstGeom prst="line">
            <a:avLst/>
          </a:prstGeom>
          <a:noFill/>
          <a:ln w="38100">
            <a:solidFill>
              <a:srgbClr val="392C4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任意多边形 13"/>
          <p:cNvSpPr/>
          <p:nvPr/>
        </p:nvSpPr>
        <p:spPr>
          <a:xfrm flipH="1" flipV="1">
            <a:off x="5272285" y="5593803"/>
            <a:ext cx="310633" cy="372695"/>
          </a:xfrm>
          <a:custGeom>
            <a:avLst/>
            <a:gdLst>
              <a:gd name="connsiteX0" fmla="*/ 0 w 285750"/>
              <a:gd name="connsiteY0" fmla="*/ 0 h 342900"/>
              <a:gd name="connsiteX1" fmla="*/ 285750 w 285750"/>
              <a:gd name="connsiteY1" fmla="*/ 342900 h 342900"/>
              <a:gd name="connsiteX0-1" fmla="*/ 0 w 285750"/>
              <a:gd name="connsiteY0-2" fmla="*/ 0 h 342900"/>
              <a:gd name="connsiteX1-3" fmla="*/ 285750 w 285750"/>
              <a:gd name="connsiteY1-4" fmla="*/ 342900 h 342900"/>
              <a:gd name="connsiteX0-5" fmla="*/ 0 w 285750"/>
              <a:gd name="connsiteY0-6" fmla="*/ 0 h 342900"/>
              <a:gd name="connsiteX1-7" fmla="*/ 285750 w 285750"/>
              <a:gd name="connsiteY1-8" fmla="*/ 342900 h 342900"/>
              <a:gd name="connsiteX0-9" fmla="*/ 0 w 285750"/>
              <a:gd name="connsiteY0-10" fmla="*/ 0 h 342900"/>
              <a:gd name="connsiteX1-11" fmla="*/ 285750 w 285750"/>
              <a:gd name="connsiteY1-12" fmla="*/ 342900 h 342900"/>
              <a:gd name="connsiteX0-13" fmla="*/ 0 w 285750"/>
              <a:gd name="connsiteY0-14" fmla="*/ 0 h 342900"/>
              <a:gd name="connsiteX1-15" fmla="*/ 285750 w 285750"/>
              <a:gd name="connsiteY1-16" fmla="*/ 342900 h 342900"/>
              <a:gd name="connsiteX0-17" fmla="*/ 0 w 285800"/>
              <a:gd name="connsiteY0-18" fmla="*/ 0 h 342900"/>
              <a:gd name="connsiteX1-19" fmla="*/ 285750 w 285800"/>
              <a:gd name="connsiteY1-20" fmla="*/ 342900 h 342900"/>
            </a:gdLst>
            <a:ahLst/>
            <a:cxnLst>
              <a:cxn ang="0">
                <a:pos x="connsiteX0-17" y="connsiteY0-18"/>
              </a:cxn>
              <a:cxn ang="0">
                <a:pos x="connsiteX1-19" y="connsiteY1-20"/>
              </a:cxn>
            </a:cxnLst>
            <a:rect l="l" t="t" r="r" b="b"/>
            <a:pathLst>
              <a:path w="285800" h="342900">
                <a:moveTo>
                  <a:pt x="0" y="0"/>
                </a:moveTo>
                <a:cubicBezTo>
                  <a:pt x="207169" y="16669"/>
                  <a:pt x="288132" y="135732"/>
                  <a:pt x="285750" y="342900"/>
                </a:cubicBezTo>
              </a:path>
            </a:pathLst>
          </a:custGeom>
          <a:noFill/>
          <a:ln w="38100">
            <a:solidFill>
              <a:srgbClr val="392C4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+mj-ea"/>
              <a:ea typeface="+mj-ea"/>
            </a:endParaRPr>
          </a:p>
        </p:txBody>
      </p:sp>
      <p:sp>
        <p:nvSpPr>
          <p:cNvPr id="15" name="任意多边形 14"/>
          <p:cNvSpPr/>
          <p:nvPr/>
        </p:nvSpPr>
        <p:spPr>
          <a:xfrm flipH="1" flipV="1">
            <a:off x="2349185" y="5570483"/>
            <a:ext cx="310633" cy="372695"/>
          </a:xfrm>
          <a:custGeom>
            <a:avLst/>
            <a:gdLst>
              <a:gd name="connsiteX0" fmla="*/ 0 w 285750"/>
              <a:gd name="connsiteY0" fmla="*/ 0 h 342900"/>
              <a:gd name="connsiteX1" fmla="*/ 285750 w 285750"/>
              <a:gd name="connsiteY1" fmla="*/ 342900 h 342900"/>
              <a:gd name="connsiteX0-1" fmla="*/ 0 w 285750"/>
              <a:gd name="connsiteY0-2" fmla="*/ 0 h 342900"/>
              <a:gd name="connsiteX1-3" fmla="*/ 285750 w 285750"/>
              <a:gd name="connsiteY1-4" fmla="*/ 342900 h 342900"/>
              <a:gd name="connsiteX0-5" fmla="*/ 0 w 285750"/>
              <a:gd name="connsiteY0-6" fmla="*/ 0 h 342900"/>
              <a:gd name="connsiteX1-7" fmla="*/ 285750 w 285750"/>
              <a:gd name="connsiteY1-8" fmla="*/ 342900 h 342900"/>
              <a:gd name="connsiteX0-9" fmla="*/ 0 w 285750"/>
              <a:gd name="connsiteY0-10" fmla="*/ 0 h 342900"/>
              <a:gd name="connsiteX1-11" fmla="*/ 285750 w 285750"/>
              <a:gd name="connsiteY1-12" fmla="*/ 342900 h 342900"/>
              <a:gd name="connsiteX0-13" fmla="*/ 0 w 285750"/>
              <a:gd name="connsiteY0-14" fmla="*/ 0 h 342900"/>
              <a:gd name="connsiteX1-15" fmla="*/ 285750 w 285750"/>
              <a:gd name="connsiteY1-16" fmla="*/ 342900 h 342900"/>
              <a:gd name="connsiteX0-17" fmla="*/ 0 w 285800"/>
              <a:gd name="connsiteY0-18" fmla="*/ 0 h 342900"/>
              <a:gd name="connsiteX1-19" fmla="*/ 285750 w 285800"/>
              <a:gd name="connsiteY1-20" fmla="*/ 342900 h 342900"/>
            </a:gdLst>
            <a:ahLst/>
            <a:cxnLst>
              <a:cxn ang="0">
                <a:pos x="connsiteX0-17" y="connsiteY0-18"/>
              </a:cxn>
              <a:cxn ang="0">
                <a:pos x="connsiteX1-19" y="connsiteY1-20"/>
              </a:cxn>
            </a:cxnLst>
            <a:rect l="l" t="t" r="r" b="b"/>
            <a:pathLst>
              <a:path w="285800" h="342900">
                <a:moveTo>
                  <a:pt x="0" y="0"/>
                </a:moveTo>
                <a:cubicBezTo>
                  <a:pt x="207169" y="16669"/>
                  <a:pt x="288132" y="135732"/>
                  <a:pt x="285750" y="342900"/>
                </a:cubicBezTo>
              </a:path>
            </a:pathLst>
          </a:custGeom>
          <a:noFill/>
          <a:ln w="38100">
            <a:solidFill>
              <a:srgbClr val="392C4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+mj-ea"/>
              <a:ea typeface="+mj-ea"/>
            </a:endParaRPr>
          </a:p>
        </p:txBody>
      </p:sp>
      <p:sp>
        <p:nvSpPr>
          <p:cNvPr id="16" name="椭圆 15"/>
          <p:cNvSpPr>
            <a:spLocks noChangeAspect="1"/>
          </p:cNvSpPr>
          <p:nvPr/>
        </p:nvSpPr>
        <p:spPr>
          <a:xfrm>
            <a:off x="2475712" y="3526986"/>
            <a:ext cx="469536" cy="469536"/>
          </a:xfrm>
          <a:prstGeom prst="ellipse">
            <a:avLst/>
          </a:prstGeom>
          <a:solidFill>
            <a:srgbClr val="F03F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latin typeface="+mj-ea"/>
              <a:ea typeface="+mj-ea"/>
            </a:endParaRPr>
          </a:p>
        </p:txBody>
      </p:sp>
      <p:sp>
        <p:nvSpPr>
          <p:cNvPr id="17" name="椭圆 16"/>
          <p:cNvSpPr>
            <a:spLocks noChangeAspect="1"/>
          </p:cNvSpPr>
          <p:nvPr/>
        </p:nvSpPr>
        <p:spPr>
          <a:xfrm>
            <a:off x="1049619" y="3502140"/>
            <a:ext cx="469536" cy="469536"/>
          </a:xfrm>
          <a:prstGeom prst="ellipse">
            <a:avLst/>
          </a:prstGeom>
          <a:solidFill>
            <a:srgbClr val="FB94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latin typeface="+mj-ea"/>
              <a:ea typeface="+mj-ea"/>
            </a:endParaRPr>
          </a:p>
        </p:txBody>
      </p:sp>
      <p:sp>
        <p:nvSpPr>
          <p:cNvPr id="18" name="椭圆 17"/>
          <p:cNvSpPr>
            <a:spLocks noChangeAspect="1"/>
          </p:cNvSpPr>
          <p:nvPr/>
        </p:nvSpPr>
        <p:spPr>
          <a:xfrm>
            <a:off x="3913151" y="3526986"/>
            <a:ext cx="469536" cy="469536"/>
          </a:xfrm>
          <a:prstGeom prst="ellipse">
            <a:avLst/>
          </a:prstGeom>
          <a:solidFill>
            <a:srgbClr val="392C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latin typeface="+mj-ea"/>
              <a:ea typeface="+mj-ea"/>
            </a:endParaRPr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>
            <a:off x="5370799" y="3497998"/>
            <a:ext cx="469536" cy="46953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latin typeface="+mj-ea"/>
              <a:ea typeface="+mj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049619" y="1674900"/>
            <a:ext cx="469536" cy="469536"/>
            <a:chOff x="1270403" y="1228850"/>
            <a:chExt cx="352152" cy="352152"/>
          </a:xfrm>
        </p:grpSpPr>
        <p:sp>
          <p:nvSpPr>
            <p:cNvPr id="21" name="椭圆 20"/>
            <p:cNvSpPr>
              <a:spLocks noChangeAspect="1"/>
            </p:cNvSpPr>
            <p:nvPr/>
          </p:nvSpPr>
          <p:spPr>
            <a:xfrm>
              <a:off x="1270403" y="1228850"/>
              <a:ext cx="352152" cy="352152"/>
            </a:xfrm>
            <a:prstGeom prst="ellipse">
              <a:avLst/>
            </a:prstGeom>
            <a:solidFill>
              <a:srgbClr val="FB94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+mj-ea"/>
                <a:ea typeface="+mj-ea"/>
              </a:endParaRPr>
            </a:p>
          </p:txBody>
        </p:sp>
        <p:sp>
          <p:nvSpPr>
            <p:cNvPr id="22" name="Freeform 217"/>
            <p:cNvSpPr>
              <a:spLocks noChangeAspect="1" noEditPoints="1"/>
            </p:cNvSpPr>
            <p:nvPr/>
          </p:nvSpPr>
          <p:spPr bwMode="auto">
            <a:xfrm>
              <a:off x="1356519" y="1309802"/>
              <a:ext cx="202187" cy="205422"/>
            </a:xfrm>
            <a:custGeom>
              <a:avLst/>
              <a:gdLst>
                <a:gd name="T0" fmla="*/ 49 w 125"/>
                <a:gd name="T1" fmla="*/ 16 h 127"/>
                <a:gd name="T2" fmla="*/ 36 w 125"/>
                <a:gd name="T3" fmla="*/ 18 h 127"/>
                <a:gd name="T4" fmla="*/ 25 w 125"/>
                <a:gd name="T5" fmla="*/ 26 h 127"/>
                <a:gd name="T6" fmla="*/ 18 w 125"/>
                <a:gd name="T7" fmla="*/ 37 h 127"/>
                <a:gd name="T8" fmla="*/ 15 w 125"/>
                <a:gd name="T9" fmla="*/ 50 h 127"/>
                <a:gd name="T10" fmla="*/ 18 w 125"/>
                <a:gd name="T11" fmla="*/ 64 h 127"/>
                <a:gd name="T12" fmla="*/ 25 w 125"/>
                <a:gd name="T13" fmla="*/ 75 h 127"/>
                <a:gd name="T14" fmla="*/ 36 w 125"/>
                <a:gd name="T15" fmla="*/ 81 h 127"/>
                <a:gd name="T16" fmla="*/ 49 w 125"/>
                <a:gd name="T17" fmla="*/ 85 h 127"/>
                <a:gd name="T18" fmla="*/ 63 w 125"/>
                <a:gd name="T19" fmla="*/ 81 h 127"/>
                <a:gd name="T20" fmla="*/ 73 w 125"/>
                <a:gd name="T21" fmla="*/ 75 h 127"/>
                <a:gd name="T22" fmla="*/ 81 w 125"/>
                <a:gd name="T23" fmla="*/ 64 h 127"/>
                <a:gd name="T24" fmla="*/ 84 w 125"/>
                <a:gd name="T25" fmla="*/ 50 h 127"/>
                <a:gd name="T26" fmla="*/ 81 w 125"/>
                <a:gd name="T27" fmla="*/ 37 h 127"/>
                <a:gd name="T28" fmla="*/ 73 w 125"/>
                <a:gd name="T29" fmla="*/ 26 h 127"/>
                <a:gd name="T30" fmla="*/ 63 w 125"/>
                <a:gd name="T31" fmla="*/ 18 h 127"/>
                <a:gd name="T32" fmla="*/ 49 w 125"/>
                <a:gd name="T33" fmla="*/ 16 h 127"/>
                <a:gd name="T34" fmla="*/ 49 w 125"/>
                <a:gd name="T35" fmla="*/ 0 h 127"/>
                <a:gd name="T36" fmla="*/ 68 w 125"/>
                <a:gd name="T37" fmla="*/ 4 h 127"/>
                <a:gd name="T38" fmla="*/ 85 w 125"/>
                <a:gd name="T39" fmla="*/ 16 h 127"/>
                <a:gd name="T40" fmla="*/ 95 w 125"/>
                <a:gd name="T41" fmla="*/ 31 h 127"/>
                <a:gd name="T42" fmla="*/ 99 w 125"/>
                <a:gd name="T43" fmla="*/ 50 h 127"/>
                <a:gd name="T44" fmla="*/ 97 w 125"/>
                <a:gd name="T45" fmla="*/ 64 h 127"/>
                <a:gd name="T46" fmla="*/ 91 w 125"/>
                <a:gd name="T47" fmla="*/ 77 h 127"/>
                <a:gd name="T48" fmla="*/ 91 w 125"/>
                <a:gd name="T49" fmla="*/ 78 h 127"/>
                <a:gd name="T50" fmla="*/ 122 w 125"/>
                <a:gd name="T51" fmla="*/ 109 h 127"/>
                <a:gd name="T52" fmla="*/ 124 w 125"/>
                <a:gd name="T53" fmla="*/ 113 h 127"/>
                <a:gd name="T54" fmla="*/ 125 w 125"/>
                <a:gd name="T55" fmla="*/ 116 h 127"/>
                <a:gd name="T56" fmla="*/ 124 w 125"/>
                <a:gd name="T57" fmla="*/ 120 h 127"/>
                <a:gd name="T58" fmla="*/ 122 w 125"/>
                <a:gd name="T59" fmla="*/ 123 h 127"/>
                <a:gd name="T60" fmla="*/ 119 w 125"/>
                <a:gd name="T61" fmla="*/ 126 h 127"/>
                <a:gd name="T62" fmla="*/ 115 w 125"/>
                <a:gd name="T63" fmla="*/ 127 h 127"/>
                <a:gd name="T64" fmla="*/ 111 w 125"/>
                <a:gd name="T65" fmla="*/ 126 h 127"/>
                <a:gd name="T66" fmla="*/ 107 w 125"/>
                <a:gd name="T67" fmla="*/ 123 h 127"/>
                <a:gd name="T68" fmla="*/ 77 w 125"/>
                <a:gd name="T69" fmla="*/ 93 h 127"/>
                <a:gd name="T70" fmla="*/ 76 w 125"/>
                <a:gd name="T71" fmla="*/ 92 h 127"/>
                <a:gd name="T72" fmla="*/ 64 w 125"/>
                <a:gd name="T73" fmla="*/ 98 h 127"/>
                <a:gd name="T74" fmla="*/ 49 w 125"/>
                <a:gd name="T75" fmla="*/ 101 h 127"/>
                <a:gd name="T76" fmla="*/ 30 w 125"/>
                <a:gd name="T77" fmla="*/ 97 h 127"/>
                <a:gd name="T78" fmla="*/ 14 w 125"/>
                <a:gd name="T79" fmla="*/ 85 h 127"/>
                <a:gd name="T80" fmla="*/ 4 w 125"/>
                <a:gd name="T81" fmla="*/ 69 h 127"/>
                <a:gd name="T82" fmla="*/ 0 w 125"/>
                <a:gd name="T83" fmla="*/ 50 h 127"/>
                <a:gd name="T84" fmla="*/ 4 w 125"/>
                <a:gd name="T85" fmla="*/ 31 h 127"/>
                <a:gd name="T86" fmla="*/ 14 w 125"/>
                <a:gd name="T87" fmla="*/ 16 h 127"/>
                <a:gd name="T88" fmla="*/ 30 w 125"/>
                <a:gd name="T89" fmla="*/ 4 h 127"/>
                <a:gd name="T90" fmla="*/ 49 w 125"/>
                <a:gd name="T91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5" h="127">
                  <a:moveTo>
                    <a:pt x="49" y="16"/>
                  </a:moveTo>
                  <a:lnTo>
                    <a:pt x="36" y="18"/>
                  </a:lnTo>
                  <a:lnTo>
                    <a:pt x="25" y="26"/>
                  </a:lnTo>
                  <a:lnTo>
                    <a:pt x="18" y="37"/>
                  </a:lnTo>
                  <a:lnTo>
                    <a:pt x="15" y="50"/>
                  </a:lnTo>
                  <a:lnTo>
                    <a:pt x="18" y="64"/>
                  </a:lnTo>
                  <a:lnTo>
                    <a:pt x="25" y="75"/>
                  </a:lnTo>
                  <a:lnTo>
                    <a:pt x="36" y="81"/>
                  </a:lnTo>
                  <a:lnTo>
                    <a:pt x="49" y="85"/>
                  </a:lnTo>
                  <a:lnTo>
                    <a:pt x="63" y="81"/>
                  </a:lnTo>
                  <a:lnTo>
                    <a:pt x="73" y="75"/>
                  </a:lnTo>
                  <a:lnTo>
                    <a:pt x="81" y="64"/>
                  </a:lnTo>
                  <a:lnTo>
                    <a:pt x="84" y="50"/>
                  </a:lnTo>
                  <a:lnTo>
                    <a:pt x="81" y="37"/>
                  </a:lnTo>
                  <a:lnTo>
                    <a:pt x="73" y="26"/>
                  </a:lnTo>
                  <a:lnTo>
                    <a:pt x="63" y="18"/>
                  </a:lnTo>
                  <a:lnTo>
                    <a:pt x="49" y="16"/>
                  </a:lnTo>
                  <a:close/>
                  <a:moveTo>
                    <a:pt x="49" y="0"/>
                  </a:moveTo>
                  <a:lnTo>
                    <a:pt x="68" y="4"/>
                  </a:lnTo>
                  <a:lnTo>
                    <a:pt x="85" y="16"/>
                  </a:lnTo>
                  <a:lnTo>
                    <a:pt x="95" y="31"/>
                  </a:lnTo>
                  <a:lnTo>
                    <a:pt x="99" y="50"/>
                  </a:lnTo>
                  <a:lnTo>
                    <a:pt x="97" y="64"/>
                  </a:lnTo>
                  <a:lnTo>
                    <a:pt x="91" y="77"/>
                  </a:lnTo>
                  <a:lnTo>
                    <a:pt x="91" y="78"/>
                  </a:lnTo>
                  <a:lnTo>
                    <a:pt x="122" y="109"/>
                  </a:lnTo>
                  <a:lnTo>
                    <a:pt x="124" y="113"/>
                  </a:lnTo>
                  <a:lnTo>
                    <a:pt x="125" y="116"/>
                  </a:lnTo>
                  <a:lnTo>
                    <a:pt x="124" y="120"/>
                  </a:lnTo>
                  <a:lnTo>
                    <a:pt x="122" y="123"/>
                  </a:lnTo>
                  <a:lnTo>
                    <a:pt x="119" y="126"/>
                  </a:lnTo>
                  <a:lnTo>
                    <a:pt x="115" y="127"/>
                  </a:lnTo>
                  <a:lnTo>
                    <a:pt x="111" y="126"/>
                  </a:lnTo>
                  <a:lnTo>
                    <a:pt x="107" y="123"/>
                  </a:lnTo>
                  <a:lnTo>
                    <a:pt x="77" y="93"/>
                  </a:lnTo>
                  <a:lnTo>
                    <a:pt x="76" y="92"/>
                  </a:lnTo>
                  <a:lnTo>
                    <a:pt x="64" y="98"/>
                  </a:lnTo>
                  <a:lnTo>
                    <a:pt x="49" y="101"/>
                  </a:lnTo>
                  <a:lnTo>
                    <a:pt x="30" y="97"/>
                  </a:lnTo>
                  <a:lnTo>
                    <a:pt x="14" y="85"/>
                  </a:lnTo>
                  <a:lnTo>
                    <a:pt x="4" y="69"/>
                  </a:lnTo>
                  <a:lnTo>
                    <a:pt x="0" y="50"/>
                  </a:lnTo>
                  <a:lnTo>
                    <a:pt x="4" y="31"/>
                  </a:lnTo>
                  <a:lnTo>
                    <a:pt x="14" y="16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+mj-ea"/>
                <a:ea typeface="+mj-ea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479235" y="5405313"/>
            <a:ext cx="469536" cy="469536"/>
            <a:chOff x="2342615" y="4026660"/>
            <a:chExt cx="352152" cy="352152"/>
          </a:xfrm>
        </p:grpSpPr>
        <p:sp>
          <p:nvSpPr>
            <p:cNvPr id="24" name="椭圆 23"/>
            <p:cNvSpPr>
              <a:spLocks noChangeAspect="1"/>
            </p:cNvSpPr>
            <p:nvPr/>
          </p:nvSpPr>
          <p:spPr>
            <a:xfrm>
              <a:off x="2342615" y="4026660"/>
              <a:ext cx="352152" cy="352152"/>
            </a:xfrm>
            <a:prstGeom prst="ellipse">
              <a:avLst/>
            </a:prstGeom>
            <a:solidFill>
              <a:srgbClr val="F03F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+mj-ea"/>
                <a:ea typeface="+mj-ea"/>
              </a:endParaRPr>
            </a:p>
          </p:txBody>
        </p:sp>
        <p:sp>
          <p:nvSpPr>
            <p:cNvPr id="25" name="Freeform 218"/>
            <p:cNvSpPr>
              <a:spLocks noChangeAspect="1" noEditPoints="1"/>
            </p:cNvSpPr>
            <p:nvPr/>
          </p:nvSpPr>
          <p:spPr bwMode="auto">
            <a:xfrm>
              <a:off x="2411596" y="4097399"/>
              <a:ext cx="195401" cy="205422"/>
            </a:xfrm>
            <a:custGeom>
              <a:avLst/>
              <a:gdLst>
                <a:gd name="T0" fmla="*/ 61 w 117"/>
                <a:gd name="T1" fmla="*/ 38 h 123"/>
                <a:gd name="T2" fmla="*/ 72 w 117"/>
                <a:gd name="T3" fmla="*/ 43 h 123"/>
                <a:gd name="T4" fmla="*/ 76 w 117"/>
                <a:gd name="T5" fmla="*/ 47 h 123"/>
                <a:gd name="T6" fmla="*/ 63 w 117"/>
                <a:gd name="T7" fmla="*/ 62 h 123"/>
                <a:gd name="T8" fmla="*/ 61 w 117"/>
                <a:gd name="T9" fmla="*/ 59 h 123"/>
                <a:gd name="T10" fmla="*/ 54 w 117"/>
                <a:gd name="T11" fmla="*/ 57 h 123"/>
                <a:gd name="T12" fmla="*/ 49 w 117"/>
                <a:gd name="T13" fmla="*/ 59 h 123"/>
                <a:gd name="T14" fmla="*/ 24 w 117"/>
                <a:gd name="T15" fmla="*/ 83 h 123"/>
                <a:gd name="T16" fmla="*/ 20 w 117"/>
                <a:gd name="T17" fmla="*/ 88 h 123"/>
                <a:gd name="T18" fmla="*/ 20 w 117"/>
                <a:gd name="T19" fmla="*/ 94 h 123"/>
                <a:gd name="T20" fmla="*/ 24 w 117"/>
                <a:gd name="T21" fmla="*/ 100 h 123"/>
                <a:gd name="T22" fmla="*/ 27 w 117"/>
                <a:gd name="T23" fmla="*/ 102 h 123"/>
                <a:gd name="T24" fmla="*/ 33 w 117"/>
                <a:gd name="T25" fmla="*/ 104 h 123"/>
                <a:gd name="T26" fmla="*/ 38 w 117"/>
                <a:gd name="T27" fmla="*/ 102 h 123"/>
                <a:gd name="T28" fmla="*/ 51 w 117"/>
                <a:gd name="T29" fmla="*/ 91 h 123"/>
                <a:gd name="T30" fmla="*/ 58 w 117"/>
                <a:gd name="T31" fmla="*/ 88 h 123"/>
                <a:gd name="T32" fmla="*/ 65 w 117"/>
                <a:gd name="T33" fmla="*/ 91 h 123"/>
                <a:gd name="T34" fmla="*/ 67 w 117"/>
                <a:gd name="T35" fmla="*/ 97 h 123"/>
                <a:gd name="T36" fmla="*/ 65 w 117"/>
                <a:gd name="T37" fmla="*/ 104 h 123"/>
                <a:gd name="T38" fmla="*/ 45 w 117"/>
                <a:gd name="T39" fmla="*/ 121 h 123"/>
                <a:gd name="T40" fmla="*/ 33 w 117"/>
                <a:gd name="T41" fmla="*/ 123 h 123"/>
                <a:gd name="T42" fmla="*/ 11 w 117"/>
                <a:gd name="T43" fmla="*/ 114 h 123"/>
                <a:gd name="T44" fmla="*/ 3 w 117"/>
                <a:gd name="T45" fmla="*/ 102 h 123"/>
                <a:gd name="T46" fmla="*/ 3 w 117"/>
                <a:gd name="T47" fmla="*/ 79 h 123"/>
                <a:gd name="T48" fmla="*/ 32 w 117"/>
                <a:gd name="T49" fmla="*/ 47 h 123"/>
                <a:gd name="T50" fmla="*/ 54 w 117"/>
                <a:gd name="T51" fmla="*/ 38 h 123"/>
                <a:gd name="T52" fmla="*/ 97 w 117"/>
                <a:gd name="T53" fmla="*/ 3 h 123"/>
                <a:gd name="T54" fmla="*/ 108 w 117"/>
                <a:gd name="T55" fmla="*/ 9 h 123"/>
                <a:gd name="T56" fmla="*/ 117 w 117"/>
                <a:gd name="T57" fmla="*/ 32 h 123"/>
                <a:gd name="T58" fmla="*/ 108 w 117"/>
                <a:gd name="T59" fmla="*/ 54 h 123"/>
                <a:gd name="T60" fmla="*/ 75 w 117"/>
                <a:gd name="T61" fmla="*/ 83 h 123"/>
                <a:gd name="T62" fmla="*/ 63 w 117"/>
                <a:gd name="T63" fmla="*/ 85 h 123"/>
                <a:gd name="T64" fmla="*/ 42 w 117"/>
                <a:gd name="T65" fmla="*/ 76 h 123"/>
                <a:gd name="T66" fmla="*/ 54 w 117"/>
                <a:gd name="T67" fmla="*/ 62 h 123"/>
                <a:gd name="T68" fmla="*/ 58 w 117"/>
                <a:gd name="T69" fmla="*/ 64 h 123"/>
                <a:gd name="T70" fmla="*/ 63 w 117"/>
                <a:gd name="T71" fmla="*/ 66 h 123"/>
                <a:gd name="T72" fmla="*/ 70 w 117"/>
                <a:gd name="T73" fmla="*/ 64 h 123"/>
                <a:gd name="T74" fmla="*/ 95 w 117"/>
                <a:gd name="T75" fmla="*/ 41 h 123"/>
                <a:gd name="T76" fmla="*/ 97 w 117"/>
                <a:gd name="T77" fmla="*/ 36 h 123"/>
                <a:gd name="T78" fmla="*/ 97 w 117"/>
                <a:gd name="T79" fmla="*/ 29 h 123"/>
                <a:gd name="T80" fmla="*/ 95 w 117"/>
                <a:gd name="T81" fmla="*/ 24 h 123"/>
                <a:gd name="T82" fmla="*/ 91 w 117"/>
                <a:gd name="T83" fmla="*/ 21 h 123"/>
                <a:gd name="T84" fmla="*/ 86 w 117"/>
                <a:gd name="T85" fmla="*/ 19 h 123"/>
                <a:gd name="T86" fmla="*/ 79 w 117"/>
                <a:gd name="T87" fmla="*/ 21 h 123"/>
                <a:gd name="T88" fmla="*/ 67 w 117"/>
                <a:gd name="T89" fmla="*/ 32 h 123"/>
                <a:gd name="T90" fmla="*/ 61 w 117"/>
                <a:gd name="T91" fmla="*/ 34 h 123"/>
                <a:gd name="T92" fmla="*/ 54 w 117"/>
                <a:gd name="T93" fmla="*/ 32 h 123"/>
                <a:gd name="T94" fmla="*/ 51 w 117"/>
                <a:gd name="T95" fmla="*/ 25 h 123"/>
                <a:gd name="T96" fmla="*/ 54 w 117"/>
                <a:gd name="T97" fmla="*/ 19 h 123"/>
                <a:gd name="T98" fmla="*/ 74 w 117"/>
                <a:gd name="T99" fmla="*/ 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7" h="123">
                  <a:moveTo>
                    <a:pt x="54" y="38"/>
                  </a:moveTo>
                  <a:lnTo>
                    <a:pt x="61" y="38"/>
                  </a:lnTo>
                  <a:lnTo>
                    <a:pt x="66" y="41"/>
                  </a:lnTo>
                  <a:lnTo>
                    <a:pt x="72" y="43"/>
                  </a:lnTo>
                  <a:lnTo>
                    <a:pt x="75" y="45"/>
                  </a:lnTo>
                  <a:lnTo>
                    <a:pt x="76" y="47"/>
                  </a:lnTo>
                  <a:lnTo>
                    <a:pt x="78" y="47"/>
                  </a:lnTo>
                  <a:lnTo>
                    <a:pt x="63" y="62"/>
                  </a:lnTo>
                  <a:lnTo>
                    <a:pt x="62" y="60"/>
                  </a:lnTo>
                  <a:lnTo>
                    <a:pt x="61" y="59"/>
                  </a:lnTo>
                  <a:lnTo>
                    <a:pt x="57" y="58"/>
                  </a:lnTo>
                  <a:lnTo>
                    <a:pt x="54" y="57"/>
                  </a:lnTo>
                  <a:lnTo>
                    <a:pt x="51" y="58"/>
                  </a:lnTo>
                  <a:lnTo>
                    <a:pt x="49" y="59"/>
                  </a:lnTo>
                  <a:lnTo>
                    <a:pt x="46" y="60"/>
                  </a:lnTo>
                  <a:lnTo>
                    <a:pt x="24" y="83"/>
                  </a:lnTo>
                  <a:lnTo>
                    <a:pt x="21" y="85"/>
                  </a:lnTo>
                  <a:lnTo>
                    <a:pt x="20" y="88"/>
                  </a:lnTo>
                  <a:lnTo>
                    <a:pt x="20" y="91"/>
                  </a:lnTo>
                  <a:lnTo>
                    <a:pt x="20" y="94"/>
                  </a:lnTo>
                  <a:lnTo>
                    <a:pt x="21" y="97"/>
                  </a:lnTo>
                  <a:lnTo>
                    <a:pt x="24" y="100"/>
                  </a:lnTo>
                  <a:lnTo>
                    <a:pt x="24" y="100"/>
                  </a:lnTo>
                  <a:lnTo>
                    <a:pt x="27" y="102"/>
                  </a:lnTo>
                  <a:lnTo>
                    <a:pt x="31" y="104"/>
                  </a:lnTo>
                  <a:lnTo>
                    <a:pt x="33" y="104"/>
                  </a:lnTo>
                  <a:lnTo>
                    <a:pt x="36" y="104"/>
                  </a:lnTo>
                  <a:lnTo>
                    <a:pt x="38" y="102"/>
                  </a:lnTo>
                  <a:lnTo>
                    <a:pt x="41" y="100"/>
                  </a:lnTo>
                  <a:lnTo>
                    <a:pt x="51" y="91"/>
                  </a:lnTo>
                  <a:lnTo>
                    <a:pt x="54" y="89"/>
                  </a:lnTo>
                  <a:lnTo>
                    <a:pt x="58" y="88"/>
                  </a:lnTo>
                  <a:lnTo>
                    <a:pt x="61" y="89"/>
                  </a:lnTo>
                  <a:lnTo>
                    <a:pt x="65" y="91"/>
                  </a:lnTo>
                  <a:lnTo>
                    <a:pt x="66" y="94"/>
                  </a:lnTo>
                  <a:lnTo>
                    <a:pt x="67" y="97"/>
                  </a:lnTo>
                  <a:lnTo>
                    <a:pt x="66" y="101"/>
                  </a:lnTo>
                  <a:lnTo>
                    <a:pt x="65" y="104"/>
                  </a:lnTo>
                  <a:lnTo>
                    <a:pt x="55" y="114"/>
                  </a:lnTo>
                  <a:lnTo>
                    <a:pt x="45" y="121"/>
                  </a:lnTo>
                  <a:lnTo>
                    <a:pt x="33" y="123"/>
                  </a:lnTo>
                  <a:lnTo>
                    <a:pt x="33" y="123"/>
                  </a:lnTo>
                  <a:lnTo>
                    <a:pt x="21" y="121"/>
                  </a:lnTo>
                  <a:lnTo>
                    <a:pt x="11" y="114"/>
                  </a:lnTo>
                  <a:lnTo>
                    <a:pt x="10" y="113"/>
                  </a:lnTo>
                  <a:lnTo>
                    <a:pt x="3" y="102"/>
                  </a:lnTo>
                  <a:lnTo>
                    <a:pt x="0" y="91"/>
                  </a:lnTo>
                  <a:lnTo>
                    <a:pt x="3" y="79"/>
                  </a:lnTo>
                  <a:lnTo>
                    <a:pt x="10" y="70"/>
                  </a:lnTo>
                  <a:lnTo>
                    <a:pt x="32" y="47"/>
                  </a:lnTo>
                  <a:lnTo>
                    <a:pt x="42" y="40"/>
                  </a:lnTo>
                  <a:lnTo>
                    <a:pt x="54" y="38"/>
                  </a:lnTo>
                  <a:close/>
                  <a:moveTo>
                    <a:pt x="86" y="0"/>
                  </a:moveTo>
                  <a:lnTo>
                    <a:pt x="97" y="3"/>
                  </a:lnTo>
                  <a:lnTo>
                    <a:pt x="107" y="9"/>
                  </a:lnTo>
                  <a:lnTo>
                    <a:pt x="108" y="9"/>
                  </a:lnTo>
                  <a:lnTo>
                    <a:pt x="114" y="20"/>
                  </a:lnTo>
                  <a:lnTo>
                    <a:pt x="117" y="32"/>
                  </a:lnTo>
                  <a:lnTo>
                    <a:pt x="114" y="43"/>
                  </a:lnTo>
                  <a:lnTo>
                    <a:pt x="108" y="54"/>
                  </a:lnTo>
                  <a:lnTo>
                    <a:pt x="86" y="76"/>
                  </a:lnTo>
                  <a:lnTo>
                    <a:pt x="75" y="83"/>
                  </a:lnTo>
                  <a:lnTo>
                    <a:pt x="63" y="85"/>
                  </a:lnTo>
                  <a:lnTo>
                    <a:pt x="63" y="85"/>
                  </a:lnTo>
                  <a:lnTo>
                    <a:pt x="51" y="83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54" y="62"/>
                  </a:lnTo>
                  <a:lnTo>
                    <a:pt x="55" y="63"/>
                  </a:lnTo>
                  <a:lnTo>
                    <a:pt x="58" y="64"/>
                  </a:lnTo>
                  <a:lnTo>
                    <a:pt x="61" y="66"/>
                  </a:lnTo>
                  <a:lnTo>
                    <a:pt x="63" y="66"/>
                  </a:lnTo>
                  <a:lnTo>
                    <a:pt x="67" y="66"/>
                  </a:lnTo>
                  <a:lnTo>
                    <a:pt x="70" y="64"/>
                  </a:lnTo>
                  <a:lnTo>
                    <a:pt x="72" y="63"/>
                  </a:lnTo>
                  <a:lnTo>
                    <a:pt x="95" y="41"/>
                  </a:lnTo>
                  <a:lnTo>
                    <a:pt x="96" y="38"/>
                  </a:lnTo>
                  <a:lnTo>
                    <a:pt x="97" y="36"/>
                  </a:lnTo>
                  <a:lnTo>
                    <a:pt x="97" y="32"/>
                  </a:lnTo>
                  <a:lnTo>
                    <a:pt x="97" y="29"/>
                  </a:lnTo>
                  <a:lnTo>
                    <a:pt x="96" y="26"/>
                  </a:lnTo>
                  <a:lnTo>
                    <a:pt x="95" y="24"/>
                  </a:lnTo>
                  <a:lnTo>
                    <a:pt x="93" y="22"/>
                  </a:lnTo>
                  <a:lnTo>
                    <a:pt x="91" y="21"/>
                  </a:lnTo>
                  <a:lnTo>
                    <a:pt x="88" y="20"/>
                  </a:lnTo>
                  <a:lnTo>
                    <a:pt x="86" y="19"/>
                  </a:lnTo>
                  <a:lnTo>
                    <a:pt x="82" y="20"/>
                  </a:lnTo>
                  <a:lnTo>
                    <a:pt x="79" y="21"/>
                  </a:lnTo>
                  <a:lnTo>
                    <a:pt x="76" y="22"/>
                  </a:lnTo>
                  <a:lnTo>
                    <a:pt x="67" y="32"/>
                  </a:lnTo>
                  <a:lnTo>
                    <a:pt x="65" y="34"/>
                  </a:lnTo>
                  <a:lnTo>
                    <a:pt x="61" y="34"/>
                  </a:lnTo>
                  <a:lnTo>
                    <a:pt x="57" y="34"/>
                  </a:lnTo>
                  <a:lnTo>
                    <a:pt x="54" y="32"/>
                  </a:lnTo>
                  <a:lnTo>
                    <a:pt x="51" y="29"/>
                  </a:lnTo>
                  <a:lnTo>
                    <a:pt x="51" y="25"/>
                  </a:lnTo>
                  <a:lnTo>
                    <a:pt x="51" y="21"/>
                  </a:lnTo>
                  <a:lnTo>
                    <a:pt x="54" y="19"/>
                  </a:lnTo>
                  <a:lnTo>
                    <a:pt x="63" y="9"/>
                  </a:lnTo>
                  <a:lnTo>
                    <a:pt x="74" y="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+mj-ea"/>
                <a:ea typeface="+mj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372836" y="5405313"/>
            <a:ext cx="469536" cy="469536"/>
            <a:chOff x="4512816" y="4026660"/>
            <a:chExt cx="352152" cy="352152"/>
          </a:xfrm>
        </p:grpSpPr>
        <p:sp>
          <p:nvSpPr>
            <p:cNvPr id="27" name="椭圆 26"/>
            <p:cNvSpPr>
              <a:spLocks noChangeAspect="1"/>
            </p:cNvSpPr>
            <p:nvPr/>
          </p:nvSpPr>
          <p:spPr>
            <a:xfrm>
              <a:off x="4512816" y="4026660"/>
              <a:ext cx="352152" cy="352152"/>
            </a:xfrm>
            <a:prstGeom prst="ellipse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+mj-ea"/>
                <a:ea typeface="+mj-ea"/>
              </a:endParaRPr>
            </a:p>
          </p:txBody>
        </p:sp>
        <p:sp>
          <p:nvSpPr>
            <p:cNvPr id="28" name="Freeform 219"/>
            <p:cNvSpPr>
              <a:spLocks noChangeAspect="1" noEditPoints="1"/>
            </p:cNvSpPr>
            <p:nvPr/>
          </p:nvSpPr>
          <p:spPr bwMode="auto">
            <a:xfrm>
              <a:off x="4607298" y="4095396"/>
              <a:ext cx="160132" cy="205422"/>
            </a:xfrm>
            <a:custGeom>
              <a:avLst/>
              <a:gdLst>
                <a:gd name="T0" fmla="*/ 49 w 99"/>
                <a:gd name="T1" fmla="*/ 17 h 127"/>
                <a:gd name="T2" fmla="*/ 36 w 99"/>
                <a:gd name="T3" fmla="*/ 21 h 127"/>
                <a:gd name="T4" fmla="*/ 26 w 99"/>
                <a:gd name="T5" fmla="*/ 31 h 127"/>
                <a:gd name="T6" fmla="*/ 22 w 99"/>
                <a:gd name="T7" fmla="*/ 46 h 127"/>
                <a:gd name="T8" fmla="*/ 26 w 99"/>
                <a:gd name="T9" fmla="*/ 60 h 127"/>
                <a:gd name="T10" fmla="*/ 36 w 99"/>
                <a:gd name="T11" fmla="*/ 69 h 127"/>
                <a:gd name="T12" fmla="*/ 49 w 99"/>
                <a:gd name="T13" fmla="*/ 73 h 127"/>
                <a:gd name="T14" fmla="*/ 64 w 99"/>
                <a:gd name="T15" fmla="*/ 69 h 127"/>
                <a:gd name="T16" fmla="*/ 74 w 99"/>
                <a:gd name="T17" fmla="*/ 60 h 127"/>
                <a:gd name="T18" fmla="*/ 78 w 99"/>
                <a:gd name="T19" fmla="*/ 46 h 127"/>
                <a:gd name="T20" fmla="*/ 74 w 99"/>
                <a:gd name="T21" fmla="*/ 31 h 127"/>
                <a:gd name="T22" fmla="*/ 64 w 99"/>
                <a:gd name="T23" fmla="*/ 21 h 127"/>
                <a:gd name="T24" fmla="*/ 49 w 99"/>
                <a:gd name="T25" fmla="*/ 17 h 127"/>
                <a:gd name="T26" fmla="*/ 49 w 99"/>
                <a:gd name="T27" fmla="*/ 0 h 127"/>
                <a:gd name="T28" fmla="*/ 69 w 99"/>
                <a:gd name="T29" fmla="*/ 4 h 127"/>
                <a:gd name="T30" fmla="*/ 85 w 99"/>
                <a:gd name="T31" fmla="*/ 14 h 127"/>
                <a:gd name="T32" fmla="*/ 95 w 99"/>
                <a:gd name="T33" fmla="*/ 30 h 127"/>
                <a:gd name="T34" fmla="*/ 99 w 99"/>
                <a:gd name="T35" fmla="*/ 50 h 127"/>
                <a:gd name="T36" fmla="*/ 99 w 99"/>
                <a:gd name="T37" fmla="*/ 55 h 127"/>
                <a:gd name="T38" fmla="*/ 97 w 99"/>
                <a:gd name="T39" fmla="*/ 72 h 127"/>
                <a:gd name="T40" fmla="*/ 89 w 99"/>
                <a:gd name="T41" fmla="*/ 89 h 127"/>
                <a:gd name="T42" fmla="*/ 80 w 99"/>
                <a:gd name="T43" fmla="*/ 102 h 127"/>
                <a:gd name="T44" fmla="*/ 69 w 99"/>
                <a:gd name="T45" fmla="*/ 113 h 127"/>
                <a:gd name="T46" fmla="*/ 60 w 99"/>
                <a:gd name="T47" fmla="*/ 120 h 127"/>
                <a:gd name="T48" fmla="*/ 53 w 99"/>
                <a:gd name="T49" fmla="*/ 126 h 127"/>
                <a:gd name="T50" fmla="*/ 51 w 99"/>
                <a:gd name="T51" fmla="*/ 127 h 127"/>
                <a:gd name="T52" fmla="*/ 48 w 99"/>
                <a:gd name="T53" fmla="*/ 126 h 127"/>
                <a:gd name="T54" fmla="*/ 43 w 99"/>
                <a:gd name="T55" fmla="*/ 122 h 127"/>
                <a:gd name="T56" fmla="*/ 34 w 99"/>
                <a:gd name="T57" fmla="*/ 115 h 127"/>
                <a:gd name="T58" fmla="*/ 25 w 99"/>
                <a:gd name="T59" fmla="*/ 106 h 127"/>
                <a:gd name="T60" fmla="*/ 15 w 99"/>
                <a:gd name="T61" fmla="*/ 94 h 127"/>
                <a:gd name="T62" fmla="*/ 8 w 99"/>
                <a:gd name="T63" fmla="*/ 80 h 127"/>
                <a:gd name="T64" fmla="*/ 2 w 99"/>
                <a:gd name="T65" fmla="*/ 65 h 127"/>
                <a:gd name="T66" fmla="*/ 1 w 99"/>
                <a:gd name="T67" fmla="*/ 58 h 127"/>
                <a:gd name="T68" fmla="*/ 0 w 99"/>
                <a:gd name="T69" fmla="*/ 50 h 127"/>
                <a:gd name="T70" fmla="*/ 4 w 99"/>
                <a:gd name="T71" fmla="*/ 30 h 127"/>
                <a:gd name="T72" fmla="*/ 14 w 99"/>
                <a:gd name="T73" fmla="*/ 14 h 127"/>
                <a:gd name="T74" fmla="*/ 30 w 99"/>
                <a:gd name="T75" fmla="*/ 4 h 127"/>
                <a:gd name="T76" fmla="*/ 49 w 99"/>
                <a:gd name="T7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9" h="127">
                  <a:moveTo>
                    <a:pt x="49" y="17"/>
                  </a:moveTo>
                  <a:lnTo>
                    <a:pt x="36" y="21"/>
                  </a:lnTo>
                  <a:lnTo>
                    <a:pt x="26" y="31"/>
                  </a:lnTo>
                  <a:lnTo>
                    <a:pt x="22" y="46"/>
                  </a:lnTo>
                  <a:lnTo>
                    <a:pt x="26" y="60"/>
                  </a:lnTo>
                  <a:lnTo>
                    <a:pt x="36" y="69"/>
                  </a:lnTo>
                  <a:lnTo>
                    <a:pt x="49" y="73"/>
                  </a:lnTo>
                  <a:lnTo>
                    <a:pt x="64" y="69"/>
                  </a:lnTo>
                  <a:lnTo>
                    <a:pt x="74" y="60"/>
                  </a:lnTo>
                  <a:lnTo>
                    <a:pt x="78" y="46"/>
                  </a:lnTo>
                  <a:lnTo>
                    <a:pt x="74" y="31"/>
                  </a:lnTo>
                  <a:lnTo>
                    <a:pt x="64" y="21"/>
                  </a:lnTo>
                  <a:lnTo>
                    <a:pt x="49" y="17"/>
                  </a:lnTo>
                  <a:close/>
                  <a:moveTo>
                    <a:pt x="49" y="0"/>
                  </a:moveTo>
                  <a:lnTo>
                    <a:pt x="69" y="4"/>
                  </a:lnTo>
                  <a:lnTo>
                    <a:pt x="85" y="14"/>
                  </a:lnTo>
                  <a:lnTo>
                    <a:pt x="95" y="30"/>
                  </a:lnTo>
                  <a:lnTo>
                    <a:pt x="99" y="50"/>
                  </a:lnTo>
                  <a:lnTo>
                    <a:pt x="99" y="55"/>
                  </a:lnTo>
                  <a:lnTo>
                    <a:pt x="97" y="72"/>
                  </a:lnTo>
                  <a:lnTo>
                    <a:pt x="89" y="89"/>
                  </a:lnTo>
                  <a:lnTo>
                    <a:pt x="80" y="102"/>
                  </a:lnTo>
                  <a:lnTo>
                    <a:pt x="69" y="113"/>
                  </a:lnTo>
                  <a:lnTo>
                    <a:pt x="60" y="120"/>
                  </a:lnTo>
                  <a:lnTo>
                    <a:pt x="53" y="126"/>
                  </a:lnTo>
                  <a:lnTo>
                    <a:pt x="51" y="127"/>
                  </a:lnTo>
                  <a:lnTo>
                    <a:pt x="48" y="126"/>
                  </a:lnTo>
                  <a:lnTo>
                    <a:pt x="43" y="122"/>
                  </a:lnTo>
                  <a:lnTo>
                    <a:pt x="34" y="115"/>
                  </a:lnTo>
                  <a:lnTo>
                    <a:pt x="25" y="106"/>
                  </a:lnTo>
                  <a:lnTo>
                    <a:pt x="15" y="94"/>
                  </a:lnTo>
                  <a:lnTo>
                    <a:pt x="8" y="80"/>
                  </a:lnTo>
                  <a:lnTo>
                    <a:pt x="2" y="65"/>
                  </a:lnTo>
                  <a:lnTo>
                    <a:pt x="1" y="58"/>
                  </a:lnTo>
                  <a:lnTo>
                    <a:pt x="0" y="50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+mj-ea"/>
                <a:ea typeface="+mj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906940" y="1674900"/>
            <a:ext cx="469536" cy="469536"/>
            <a:chOff x="3413394" y="1228850"/>
            <a:chExt cx="352152" cy="352152"/>
          </a:xfrm>
        </p:grpSpPr>
        <p:sp>
          <p:nvSpPr>
            <p:cNvPr id="30" name="椭圆 29"/>
            <p:cNvSpPr>
              <a:spLocks noChangeAspect="1"/>
            </p:cNvSpPr>
            <p:nvPr/>
          </p:nvSpPr>
          <p:spPr>
            <a:xfrm>
              <a:off x="3413394" y="1228850"/>
              <a:ext cx="352152" cy="352152"/>
            </a:xfrm>
            <a:prstGeom prst="ellipse">
              <a:avLst/>
            </a:prstGeom>
            <a:solidFill>
              <a:srgbClr val="392C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+mj-ea"/>
                <a:ea typeface="+mj-ea"/>
              </a:endParaRPr>
            </a:p>
          </p:txBody>
        </p:sp>
        <p:sp>
          <p:nvSpPr>
            <p:cNvPr id="31" name="Freeform 221"/>
            <p:cNvSpPr>
              <a:spLocks noChangeAspect="1"/>
            </p:cNvSpPr>
            <p:nvPr/>
          </p:nvSpPr>
          <p:spPr bwMode="auto">
            <a:xfrm>
              <a:off x="3482443" y="1302378"/>
              <a:ext cx="214053" cy="205422"/>
            </a:xfrm>
            <a:custGeom>
              <a:avLst/>
              <a:gdLst>
                <a:gd name="T0" fmla="*/ 61 w 124"/>
                <a:gd name="T1" fmla="*/ 0 h 119"/>
                <a:gd name="T2" fmla="*/ 82 w 124"/>
                <a:gd name="T3" fmla="*/ 38 h 119"/>
                <a:gd name="T4" fmla="*/ 124 w 124"/>
                <a:gd name="T5" fmla="*/ 45 h 119"/>
                <a:gd name="T6" fmla="*/ 95 w 124"/>
                <a:gd name="T7" fmla="*/ 77 h 119"/>
                <a:gd name="T8" fmla="*/ 101 w 124"/>
                <a:gd name="T9" fmla="*/ 119 h 119"/>
                <a:gd name="T10" fmla="*/ 61 w 124"/>
                <a:gd name="T11" fmla="*/ 100 h 119"/>
                <a:gd name="T12" fmla="*/ 23 w 124"/>
                <a:gd name="T13" fmla="*/ 119 h 119"/>
                <a:gd name="T14" fmla="*/ 29 w 124"/>
                <a:gd name="T15" fmla="*/ 77 h 119"/>
                <a:gd name="T16" fmla="*/ 0 w 124"/>
                <a:gd name="T17" fmla="*/ 45 h 119"/>
                <a:gd name="T18" fmla="*/ 42 w 124"/>
                <a:gd name="T19" fmla="*/ 38 h 119"/>
                <a:gd name="T20" fmla="*/ 61 w 124"/>
                <a:gd name="T21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4" h="119">
                  <a:moveTo>
                    <a:pt x="61" y="0"/>
                  </a:moveTo>
                  <a:lnTo>
                    <a:pt x="82" y="38"/>
                  </a:lnTo>
                  <a:lnTo>
                    <a:pt x="124" y="45"/>
                  </a:lnTo>
                  <a:lnTo>
                    <a:pt x="95" y="77"/>
                  </a:lnTo>
                  <a:lnTo>
                    <a:pt x="101" y="119"/>
                  </a:lnTo>
                  <a:lnTo>
                    <a:pt x="61" y="100"/>
                  </a:lnTo>
                  <a:lnTo>
                    <a:pt x="23" y="119"/>
                  </a:lnTo>
                  <a:lnTo>
                    <a:pt x="29" y="77"/>
                  </a:lnTo>
                  <a:lnTo>
                    <a:pt x="0" y="45"/>
                  </a:lnTo>
                  <a:lnTo>
                    <a:pt x="42" y="38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3200">
                <a:latin typeface="+mj-ea"/>
                <a:ea typeface="+mj-ea"/>
              </a:endParaRPr>
            </a:p>
          </p:txBody>
        </p:sp>
      </p:grpSp>
      <p:sp>
        <p:nvSpPr>
          <p:cNvPr id="32" name="文本框 32"/>
          <p:cNvSpPr txBox="1"/>
          <p:nvPr/>
        </p:nvSpPr>
        <p:spPr>
          <a:xfrm>
            <a:off x="1377780" y="2407788"/>
            <a:ext cx="2665401" cy="893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5" dirty="0">
                <a:solidFill>
                  <a:srgbClr val="7F7F7F"/>
                </a:solidFill>
                <a:latin typeface="+mj-ea"/>
                <a:ea typeface="+mj-ea"/>
                <a:cs typeface="Arial" pitchFamily="34" charset="0"/>
              </a:rPr>
              <a:t>物料出仓</a:t>
            </a:r>
            <a:endParaRPr lang="en-US" altLang="zh-CN" sz="1335" dirty="0">
              <a:solidFill>
                <a:srgbClr val="7F7F7F"/>
              </a:solidFill>
              <a:latin typeface="+mj-ea"/>
              <a:ea typeface="+mj-ea"/>
              <a:cs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335" dirty="0">
                <a:solidFill>
                  <a:srgbClr val="7F7F7F"/>
                </a:solidFill>
                <a:latin typeface="+mj-ea"/>
                <a:ea typeface="+mj-ea"/>
                <a:cs typeface="Arial" pitchFamily="34" charset="0"/>
              </a:rPr>
              <a:t>供应商接收</a:t>
            </a:r>
            <a:endParaRPr lang="en-US" altLang="zh-CN" sz="1335" dirty="0">
              <a:solidFill>
                <a:srgbClr val="7F7F7F"/>
              </a:solidFill>
              <a:latin typeface="+mj-ea"/>
              <a:ea typeface="+mj-ea"/>
              <a:cs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335" dirty="0">
                <a:solidFill>
                  <a:srgbClr val="7F7F7F"/>
                </a:solidFill>
                <a:latin typeface="+mj-ea"/>
                <a:ea typeface="+mj-ea"/>
                <a:cs typeface="Arial" pitchFamily="34" charset="0"/>
              </a:rPr>
              <a:t>退料</a:t>
            </a:r>
          </a:p>
        </p:txBody>
      </p:sp>
      <p:sp>
        <p:nvSpPr>
          <p:cNvPr id="33" name="矩形 32"/>
          <p:cNvSpPr/>
          <p:nvPr/>
        </p:nvSpPr>
        <p:spPr>
          <a:xfrm>
            <a:off x="1377778" y="2139690"/>
            <a:ext cx="1975977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865" b="1" dirty="0">
                <a:solidFill>
                  <a:srgbClr val="FB9460"/>
                </a:solidFill>
                <a:latin typeface="+mj-ea"/>
                <a:ea typeface="+mj-ea"/>
                <a:cs typeface="Arial" pitchFamily="34" charset="0"/>
              </a:rPr>
              <a:t>发料</a:t>
            </a:r>
            <a:endParaRPr lang="en-US" altLang="zh-CN" sz="1865" b="1" dirty="0">
              <a:solidFill>
                <a:srgbClr val="FB9460"/>
              </a:solidFill>
              <a:latin typeface="+mj-ea"/>
              <a:ea typeface="+mj-ea"/>
            </a:endParaRPr>
          </a:p>
        </p:txBody>
      </p:sp>
      <p:sp>
        <p:nvSpPr>
          <p:cNvPr id="34" name="文本框 35"/>
          <p:cNvSpPr txBox="1"/>
          <p:nvPr/>
        </p:nvSpPr>
        <p:spPr>
          <a:xfrm>
            <a:off x="4166112" y="2412535"/>
            <a:ext cx="2665401" cy="867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35" dirty="0">
                <a:solidFill>
                  <a:srgbClr val="7F7F7F"/>
                </a:solidFill>
                <a:latin typeface="+mj-ea"/>
                <a:ea typeface="+mj-ea"/>
                <a:cs typeface="Arial" pitchFamily="34" charset="0"/>
              </a:rPr>
              <a:t>基于</a:t>
            </a:r>
            <a:r>
              <a:rPr lang="en-US" altLang="zh-CN" sz="1335" dirty="0">
                <a:solidFill>
                  <a:srgbClr val="7F7F7F"/>
                </a:solidFill>
                <a:latin typeface="+mj-ea"/>
                <a:ea typeface="+mj-ea"/>
                <a:cs typeface="Arial" pitchFamily="34" charset="0"/>
              </a:rPr>
              <a:t>GPO</a:t>
            </a:r>
            <a:r>
              <a:rPr lang="zh-CN" altLang="en-US" sz="1335" dirty="0">
                <a:solidFill>
                  <a:srgbClr val="7F7F7F"/>
                </a:solidFill>
                <a:latin typeface="+mj-ea"/>
                <a:ea typeface="+mj-ea"/>
                <a:cs typeface="Arial" pitchFamily="34" charset="0"/>
              </a:rPr>
              <a:t>创建送货</a:t>
            </a:r>
            <a:endParaRPr lang="en-US" altLang="zh-CN" sz="1335" dirty="0">
              <a:solidFill>
                <a:srgbClr val="7F7F7F"/>
              </a:solidFill>
              <a:latin typeface="+mj-ea"/>
              <a:ea typeface="+mj-ea"/>
              <a:cs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335" dirty="0">
                <a:solidFill>
                  <a:srgbClr val="7F7F7F"/>
                </a:solidFill>
                <a:latin typeface="+mj-ea"/>
                <a:ea typeface="+mj-ea"/>
                <a:cs typeface="Arial" pitchFamily="34" charset="0"/>
              </a:rPr>
              <a:t>自动生成到仓单</a:t>
            </a:r>
            <a:endParaRPr lang="en-US" altLang="zh-CN" sz="1335" dirty="0">
              <a:solidFill>
                <a:srgbClr val="7F7F7F"/>
              </a:solidFill>
              <a:latin typeface="+mj-ea"/>
              <a:ea typeface="+mj-ea"/>
              <a:cs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335" dirty="0">
                <a:solidFill>
                  <a:srgbClr val="7F7F7F"/>
                </a:solidFill>
                <a:latin typeface="+mj-ea"/>
                <a:ea typeface="+mj-ea"/>
                <a:cs typeface="Arial" pitchFamily="34" charset="0"/>
              </a:rPr>
              <a:t>退货</a:t>
            </a:r>
          </a:p>
        </p:txBody>
      </p:sp>
      <p:sp>
        <p:nvSpPr>
          <p:cNvPr id="35" name="矩形 34"/>
          <p:cNvSpPr/>
          <p:nvPr/>
        </p:nvSpPr>
        <p:spPr>
          <a:xfrm>
            <a:off x="4166110" y="2144436"/>
            <a:ext cx="2188990" cy="379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865" b="1" dirty="0">
                <a:solidFill>
                  <a:srgbClr val="392C47"/>
                </a:solidFill>
                <a:latin typeface="+mj-ea"/>
                <a:ea typeface="+mj-ea"/>
              </a:rPr>
              <a:t>收货</a:t>
            </a:r>
            <a:endParaRPr lang="en-US" altLang="zh-CN" sz="1865" b="1" dirty="0">
              <a:solidFill>
                <a:srgbClr val="392C47"/>
              </a:solidFill>
              <a:latin typeface="+mj-ea"/>
              <a:ea typeface="+mj-ea"/>
            </a:endParaRPr>
          </a:p>
        </p:txBody>
      </p:sp>
      <p:sp>
        <p:nvSpPr>
          <p:cNvPr id="36" name="文本框 38"/>
          <p:cNvSpPr txBox="1"/>
          <p:nvPr/>
        </p:nvSpPr>
        <p:spPr>
          <a:xfrm>
            <a:off x="-5584" y="4464812"/>
            <a:ext cx="2665401" cy="867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335" dirty="0">
                <a:solidFill>
                  <a:srgbClr val="7F7F7F"/>
                </a:solidFill>
                <a:latin typeface="+mj-ea"/>
                <a:ea typeface="+mj-ea"/>
                <a:cs typeface="Arial" pitchFamily="34" charset="0"/>
              </a:rPr>
              <a:t>款号大类模板</a:t>
            </a:r>
            <a:endParaRPr lang="en-US" altLang="zh-CN" sz="1335" dirty="0">
              <a:solidFill>
                <a:srgbClr val="7F7F7F"/>
              </a:solidFill>
              <a:latin typeface="+mj-ea"/>
              <a:ea typeface="+mj-ea"/>
              <a:cs typeface="Arial" pitchFamily="34" charset="0"/>
            </a:endParaRPr>
          </a:p>
          <a:p>
            <a:pPr algn="r">
              <a:lnSpc>
                <a:spcPct val="130000"/>
              </a:lnSpc>
            </a:pPr>
            <a:r>
              <a:rPr lang="zh-CN" altLang="en-US" sz="1335" dirty="0">
                <a:solidFill>
                  <a:srgbClr val="7F7F7F"/>
                </a:solidFill>
                <a:latin typeface="+mj-ea"/>
                <a:ea typeface="+mj-ea"/>
                <a:cs typeface="Arial" pitchFamily="34" charset="0"/>
              </a:rPr>
              <a:t>提报计划和完成时间</a:t>
            </a:r>
            <a:endParaRPr lang="en-US" altLang="zh-CN" sz="1335" dirty="0">
              <a:solidFill>
                <a:srgbClr val="7F7F7F"/>
              </a:solidFill>
              <a:latin typeface="+mj-ea"/>
              <a:ea typeface="+mj-ea"/>
              <a:cs typeface="Arial" pitchFamily="34" charset="0"/>
            </a:endParaRPr>
          </a:p>
          <a:p>
            <a:pPr algn="r">
              <a:lnSpc>
                <a:spcPct val="130000"/>
              </a:lnSpc>
            </a:pPr>
            <a:r>
              <a:rPr lang="zh-CN" altLang="en-US" sz="1335" dirty="0">
                <a:solidFill>
                  <a:srgbClr val="7F7F7F"/>
                </a:solidFill>
                <a:latin typeface="+mj-ea"/>
                <a:ea typeface="+mj-ea"/>
                <a:cs typeface="Arial" pitchFamily="34" charset="0"/>
              </a:rPr>
              <a:t>异常提醒</a:t>
            </a:r>
            <a:endParaRPr lang="en-US" altLang="zh-CN" sz="1335" dirty="0">
              <a:solidFill>
                <a:srgbClr val="7F7F7F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93626" y="4132178"/>
            <a:ext cx="1966191" cy="379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zh-CN" altLang="en-US" sz="1865" b="1" dirty="0">
                <a:solidFill>
                  <a:srgbClr val="F03F30"/>
                </a:solidFill>
                <a:latin typeface="+mj-ea"/>
                <a:ea typeface="+mj-ea"/>
              </a:rPr>
              <a:t>报工</a:t>
            </a:r>
            <a:endParaRPr lang="en-US" altLang="zh-CN" sz="1865" b="1" dirty="0">
              <a:solidFill>
                <a:srgbClr val="F03F30"/>
              </a:solidFill>
              <a:latin typeface="+mj-ea"/>
              <a:ea typeface="+mj-ea"/>
            </a:endParaRPr>
          </a:p>
        </p:txBody>
      </p:sp>
      <p:sp>
        <p:nvSpPr>
          <p:cNvPr id="38" name="文本框 41"/>
          <p:cNvSpPr txBox="1"/>
          <p:nvPr/>
        </p:nvSpPr>
        <p:spPr>
          <a:xfrm>
            <a:off x="2889750" y="4502705"/>
            <a:ext cx="2665401" cy="60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335" dirty="0">
                <a:solidFill>
                  <a:srgbClr val="7F7F7F"/>
                </a:solidFill>
                <a:latin typeface="+mj-ea"/>
                <a:ea typeface="+mj-ea"/>
                <a:cs typeface="Arial" pitchFamily="34" charset="0"/>
              </a:rPr>
              <a:t>成衣大货生产进度跟踪</a:t>
            </a:r>
            <a:endParaRPr lang="en-US" altLang="zh-CN" sz="1335" dirty="0">
              <a:solidFill>
                <a:srgbClr val="7F7F7F"/>
              </a:solidFill>
              <a:latin typeface="+mj-ea"/>
              <a:ea typeface="+mj-ea"/>
              <a:cs typeface="Arial" pitchFamily="34" charset="0"/>
            </a:endParaRPr>
          </a:p>
          <a:p>
            <a:pPr algn="r">
              <a:lnSpc>
                <a:spcPct val="130000"/>
              </a:lnSpc>
            </a:pPr>
            <a:r>
              <a:rPr lang="zh-CN" altLang="en-US" sz="1335" dirty="0">
                <a:solidFill>
                  <a:srgbClr val="7F7F7F"/>
                </a:solidFill>
                <a:latin typeface="+mj-ea"/>
                <a:ea typeface="+mj-ea"/>
                <a:cs typeface="Arial" pitchFamily="34" charset="0"/>
              </a:rPr>
              <a:t>半成品委外加工进度跟踪</a:t>
            </a:r>
          </a:p>
        </p:txBody>
      </p:sp>
      <p:sp>
        <p:nvSpPr>
          <p:cNvPr id="39" name="矩形 38"/>
          <p:cNvSpPr/>
          <p:nvPr/>
        </p:nvSpPr>
        <p:spPr>
          <a:xfrm>
            <a:off x="3588961" y="4234607"/>
            <a:ext cx="1966191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zh-CN" altLang="en-US" sz="1865" b="1" dirty="0">
                <a:solidFill>
                  <a:srgbClr val="666666"/>
                </a:solidFill>
                <a:latin typeface="+mj-ea"/>
                <a:ea typeface="+mj-ea"/>
              </a:rPr>
              <a:t>报表</a:t>
            </a:r>
            <a:endParaRPr lang="en-US" altLang="zh-CN" sz="1865" b="1" dirty="0">
              <a:solidFill>
                <a:srgbClr val="666666"/>
              </a:solidFill>
              <a:latin typeface="+mj-ea"/>
              <a:ea typeface="+mj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071828" y="3488902"/>
            <a:ext cx="4251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dirty="0">
                <a:solidFill>
                  <a:srgbClr val="FFFFFF"/>
                </a:solidFill>
                <a:latin typeface="+mj-ea"/>
                <a:ea typeface="+mj-ea"/>
              </a:rPr>
              <a:t>1</a:t>
            </a:r>
          </a:p>
        </p:txBody>
      </p:sp>
      <p:sp>
        <p:nvSpPr>
          <p:cNvPr id="41" name="矩形 40"/>
          <p:cNvSpPr/>
          <p:nvPr/>
        </p:nvSpPr>
        <p:spPr>
          <a:xfrm>
            <a:off x="2494994" y="3501331"/>
            <a:ext cx="4251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dirty="0">
                <a:solidFill>
                  <a:srgbClr val="FFFFFF"/>
                </a:solidFill>
                <a:latin typeface="+mj-ea"/>
                <a:ea typeface="+mj-ea"/>
              </a:rPr>
              <a:t>2</a:t>
            </a:r>
          </a:p>
        </p:txBody>
      </p:sp>
      <p:sp>
        <p:nvSpPr>
          <p:cNvPr id="42" name="矩形 41"/>
          <p:cNvSpPr/>
          <p:nvPr/>
        </p:nvSpPr>
        <p:spPr>
          <a:xfrm>
            <a:off x="3947948" y="3501730"/>
            <a:ext cx="4251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dirty="0">
                <a:solidFill>
                  <a:srgbClr val="FFFFFF"/>
                </a:solidFill>
                <a:latin typeface="+mj-ea"/>
                <a:ea typeface="+mj-ea"/>
              </a:rPr>
              <a:t>3</a:t>
            </a:r>
          </a:p>
        </p:txBody>
      </p:sp>
      <p:sp>
        <p:nvSpPr>
          <p:cNvPr id="43" name="矩形 42"/>
          <p:cNvSpPr/>
          <p:nvPr/>
        </p:nvSpPr>
        <p:spPr>
          <a:xfrm>
            <a:off x="5396770" y="3475675"/>
            <a:ext cx="4251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3200" dirty="0">
                <a:solidFill>
                  <a:srgbClr val="FFFFFF"/>
                </a:solidFill>
                <a:latin typeface="+mj-ea"/>
                <a:ea typeface="+mj-ea"/>
              </a:rPr>
              <a:t>4</a:t>
            </a:r>
          </a:p>
        </p:txBody>
      </p:sp>
      <p:sp>
        <p:nvSpPr>
          <p:cNvPr id="60" name="圆角矩形 2">
            <a:extLst>
              <a:ext uri="{FF2B5EF4-FFF2-40B4-BE49-F238E27FC236}">
                <a16:creationId xmlns:a16="http://schemas.microsoft.com/office/drawing/2014/main" id="{49E6B4D7-21FA-E745-D407-6C0E98F9F1B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78030" y="1304109"/>
            <a:ext cx="4854602" cy="2170964"/>
          </a:xfrm>
          <a:prstGeom prst="roundRect">
            <a:avLst>
              <a:gd name="adj" fmla="val 8416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C6C805D-E816-B12F-4130-50729A8EE5B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249215" y="1375150"/>
            <a:ext cx="4102903" cy="515733"/>
          </a:xfrm>
          <a:prstGeom prst="rect">
            <a:avLst/>
          </a:prstGeom>
          <a:noFill/>
        </p:spPr>
        <p:txBody>
          <a:bodyPr wrap="square" anchor="b" anchorCtr="0"/>
          <a:lstStyle>
            <a:defPPr>
              <a:defRPr lang="zh-CN"/>
            </a:defPPr>
            <a:lvl1pPr algn="ctr">
              <a:defRPr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40000"/>
              </a:lnSpc>
            </a:pPr>
            <a:r>
              <a:rPr lang="zh-CN" altLang="en-US" sz="2000" b="1" spc="3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作业协同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139DDA5-78E5-E158-8E08-00CFA44725A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249357" y="1880036"/>
            <a:ext cx="4246298" cy="1472718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40000"/>
              </a:lnSpc>
            </a:pPr>
            <a:r>
              <a:rPr lang="en-US" altLang="zh-CN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j-ea"/>
                <a:ea typeface="+mj-ea"/>
                <a:sym typeface="Arial" panose="020B0604020202020204" pitchFamily="34" charset="0"/>
              </a:rPr>
              <a:t>1</a:t>
            </a:r>
            <a:r>
              <a:rPr lang="zh-CN" altLang="en-US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j-ea"/>
                <a:ea typeface="+mj-ea"/>
                <a:sym typeface="Arial" panose="020B0604020202020204" pitchFamily="34" charset="0"/>
              </a:rPr>
              <a:t>、物料外发协同：物料出仓与供应商扫码接收</a:t>
            </a:r>
          </a:p>
          <a:p>
            <a:pPr algn="l">
              <a:lnSpc>
                <a:spcPct val="140000"/>
              </a:lnSpc>
            </a:pPr>
            <a:r>
              <a:rPr lang="en-US" altLang="zh-CN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j-ea"/>
                <a:ea typeface="+mj-ea"/>
                <a:sym typeface="Arial" panose="020B0604020202020204" pitchFamily="34" charset="0"/>
              </a:rPr>
              <a:t>2</a:t>
            </a:r>
            <a:r>
              <a:rPr lang="zh-CN" altLang="en-US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j-ea"/>
                <a:ea typeface="+mj-ea"/>
                <a:sym typeface="Arial" panose="020B0604020202020204" pitchFamily="34" charset="0"/>
              </a:rPr>
              <a:t>、收货协同：供应商创建送货单后，业务员审核自动生成到仓单</a:t>
            </a:r>
          </a:p>
          <a:p>
            <a:pPr algn="l">
              <a:lnSpc>
                <a:spcPct val="140000"/>
              </a:lnSpc>
            </a:pPr>
            <a:r>
              <a:rPr lang="en-US" altLang="zh-CN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j-ea"/>
                <a:ea typeface="+mj-ea"/>
                <a:sym typeface="Arial" panose="020B0604020202020204" pitchFamily="34" charset="0"/>
              </a:rPr>
              <a:t>3</a:t>
            </a:r>
            <a:r>
              <a:rPr lang="zh-CN" altLang="en-US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j-ea"/>
                <a:ea typeface="+mj-ea"/>
                <a:sym typeface="Arial" panose="020B0604020202020204" pitchFamily="34" charset="0"/>
              </a:rPr>
              <a:t>、生产进度协同：供应商根据进度模板报工</a:t>
            </a: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1BBBE895-EB5A-48F7-EDE4-7AE045BA4BB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423519" y="1924481"/>
            <a:ext cx="709380" cy="709380"/>
          </a:xfrm>
          <a:prstGeom prst="ellipse">
            <a:avLst/>
          </a:prstGeom>
          <a:solidFill>
            <a:srgbClr val="8590C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" name="圆角矩形 2">
            <a:extLst>
              <a:ext uri="{FF2B5EF4-FFF2-40B4-BE49-F238E27FC236}">
                <a16:creationId xmlns:a16="http://schemas.microsoft.com/office/drawing/2014/main" id="{93AB9E1C-B48C-DB0E-D998-783FE9641BE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778205" y="3959171"/>
            <a:ext cx="4854530" cy="1621510"/>
          </a:xfrm>
          <a:prstGeom prst="roundRect">
            <a:avLst>
              <a:gd name="adj" fmla="val 8416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FD74BED-F0BF-622E-1EFB-5E14FA116E6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154234" y="4029940"/>
            <a:ext cx="4102903" cy="515733"/>
          </a:xfrm>
          <a:prstGeom prst="rect">
            <a:avLst/>
          </a:prstGeom>
          <a:noFill/>
        </p:spPr>
        <p:txBody>
          <a:bodyPr wrap="square" anchor="b" anchorCtr="0">
            <a:normAutofit/>
          </a:bodyPr>
          <a:lstStyle>
            <a:defPPr>
              <a:defRPr lang="zh-CN"/>
            </a:defPPr>
            <a:lvl1pPr algn="ctr">
              <a:defRPr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40000"/>
              </a:lnSpc>
            </a:pPr>
            <a:r>
              <a:rPr lang="zh-CN" altLang="en-US" sz="2000" b="1" spc="3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进度跟踪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A3A80F6-D8C6-E70E-7FA2-2EB2A4B2F4C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175265" y="4614262"/>
            <a:ext cx="4218280" cy="791051"/>
          </a:xfrm>
          <a:prstGeom prst="rect">
            <a:avLst/>
          </a:prstGeom>
        </p:spPr>
        <p:txBody>
          <a:bodyPr wrap="square">
            <a:normAutofit fontScale="97500"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40000"/>
              </a:lnSpc>
            </a:pPr>
            <a:r>
              <a:rPr lang="en-US" altLang="zh-CN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、大货生产进度跟踪</a:t>
            </a:r>
          </a:p>
          <a:p>
            <a:pPr algn="l">
              <a:lnSpc>
                <a:spcPct val="140000"/>
              </a:lnSpc>
            </a:pPr>
            <a:r>
              <a:rPr lang="en-US" altLang="zh-CN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pc="15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、半成品委外加工进度跟踪</a:t>
            </a:r>
            <a:endParaRPr lang="zh-CN" spc="150" dirty="0">
              <a:solidFill>
                <a:sysClr val="windowText" lastClr="000000">
                  <a:lumMod val="65000"/>
                  <a:lumOff val="35000"/>
                </a:sys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40000"/>
              </a:lnSpc>
            </a:pPr>
            <a:endParaRPr lang="zh-CN" sz="1600" spc="150" dirty="0">
              <a:solidFill>
                <a:sysClr val="windowText" lastClr="000000">
                  <a:lumMod val="65000"/>
                  <a:lumOff val="35000"/>
                </a:sys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0A34C0C5-71E7-85CB-6461-258160C7661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1278042" y="4308430"/>
            <a:ext cx="709380" cy="709380"/>
          </a:xfrm>
          <a:prstGeom prst="ellipse">
            <a:avLst/>
          </a:prstGeom>
          <a:solidFill>
            <a:srgbClr val="8EAAD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8" name="KSO_Shape">
            <a:extLst>
              <a:ext uri="{FF2B5EF4-FFF2-40B4-BE49-F238E27FC236}">
                <a16:creationId xmlns:a16="http://schemas.microsoft.com/office/drawing/2014/main" id="{6DD81110-3EBA-BC9A-00BF-2CB7E64B58F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448744" y="4472786"/>
            <a:ext cx="367977" cy="380665"/>
          </a:xfrm>
          <a:custGeom>
            <a:avLst/>
            <a:gdLst>
              <a:gd name="T0" fmla="*/ 2147483646 w 90"/>
              <a:gd name="T1" fmla="*/ 2147483646 h 93"/>
              <a:gd name="T2" fmla="*/ 2147483646 w 90"/>
              <a:gd name="T3" fmla="*/ 2147483646 h 93"/>
              <a:gd name="T4" fmla="*/ 2147483646 w 90"/>
              <a:gd name="T5" fmla="*/ 2147483646 h 93"/>
              <a:gd name="T6" fmla="*/ 2147483646 w 90"/>
              <a:gd name="T7" fmla="*/ 2147483646 h 93"/>
              <a:gd name="T8" fmla="*/ 2147483646 w 90"/>
              <a:gd name="T9" fmla="*/ 2147483646 h 93"/>
              <a:gd name="T10" fmla="*/ 0 w 90"/>
              <a:gd name="T11" fmla="*/ 2147483646 h 93"/>
              <a:gd name="T12" fmla="*/ 0 w 90"/>
              <a:gd name="T13" fmla="*/ 2147483646 h 93"/>
              <a:gd name="T14" fmla="*/ 2147483646 w 90"/>
              <a:gd name="T15" fmla="*/ 2147483646 h 93"/>
              <a:gd name="T16" fmla="*/ 2147483646 w 90"/>
              <a:gd name="T17" fmla="*/ 2147483646 h 93"/>
              <a:gd name="T18" fmla="*/ 2147483646 w 90"/>
              <a:gd name="T19" fmla="*/ 2147483646 h 93"/>
              <a:gd name="T20" fmla="*/ 2147483646 w 90"/>
              <a:gd name="T21" fmla="*/ 2147483646 h 93"/>
              <a:gd name="T22" fmla="*/ 2147483646 w 90"/>
              <a:gd name="T23" fmla="*/ 2147483646 h 93"/>
              <a:gd name="T24" fmla="*/ 2147483646 w 90"/>
              <a:gd name="T25" fmla="*/ 2147483646 h 93"/>
              <a:gd name="T26" fmla="*/ 2147483646 w 90"/>
              <a:gd name="T27" fmla="*/ 2147483646 h 93"/>
              <a:gd name="T28" fmla="*/ 2147483646 w 90"/>
              <a:gd name="T29" fmla="*/ 2147483646 h 93"/>
              <a:gd name="T30" fmla="*/ 2147483646 w 90"/>
              <a:gd name="T31" fmla="*/ 2147483646 h 93"/>
              <a:gd name="T32" fmla="*/ 2147483646 w 90"/>
              <a:gd name="T33" fmla="*/ 2147483646 h 93"/>
              <a:gd name="T34" fmla="*/ 2147483646 w 90"/>
              <a:gd name="T35" fmla="*/ 2147483646 h 93"/>
              <a:gd name="T36" fmla="*/ 2147483646 w 90"/>
              <a:gd name="T37" fmla="*/ 2147483646 h 93"/>
              <a:gd name="T38" fmla="*/ 2147483646 w 90"/>
              <a:gd name="T39" fmla="*/ 2147483646 h 93"/>
              <a:gd name="T40" fmla="*/ 2147483646 w 90"/>
              <a:gd name="T41" fmla="*/ 2147483646 h 93"/>
              <a:gd name="T42" fmla="*/ 2147483646 w 90"/>
              <a:gd name="T43" fmla="*/ 2147483646 h 93"/>
              <a:gd name="T44" fmla="*/ 2147483646 w 90"/>
              <a:gd name="T45" fmla="*/ 2147483646 h 93"/>
              <a:gd name="T46" fmla="*/ 2147483646 w 90"/>
              <a:gd name="T47" fmla="*/ 2147483646 h 93"/>
              <a:gd name="T48" fmla="*/ 2147483646 w 90"/>
              <a:gd name="T49" fmla="*/ 2147483646 h 93"/>
              <a:gd name="T50" fmla="*/ 2147483646 w 90"/>
              <a:gd name="T51" fmla="*/ 2147483646 h 93"/>
              <a:gd name="T52" fmla="*/ 2147483646 w 90"/>
              <a:gd name="T53" fmla="*/ 2147483646 h 93"/>
              <a:gd name="T54" fmla="*/ 2147483646 w 90"/>
              <a:gd name="T55" fmla="*/ 2147483646 h 93"/>
              <a:gd name="T56" fmla="*/ 2147483646 w 90"/>
              <a:gd name="T57" fmla="*/ 2147483646 h 93"/>
              <a:gd name="T58" fmla="*/ 2147483646 w 90"/>
              <a:gd name="T59" fmla="*/ 2147483646 h 93"/>
              <a:gd name="T60" fmla="*/ 2147483646 w 90"/>
              <a:gd name="T61" fmla="*/ 2147483646 h 93"/>
              <a:gd name="T62" fmla="*/ 2147483646 w 90"/>
              <a:gd name="T63" fmla="*/ 2147483646 h 93"/>
              <a:gd name="T64" fmla="*/ 2147483646 w 90"/>
              <a:gd name="T65" fmla="*/ 2147483646 h 93"/>
              <a:gd name="T66" fmla="*/ 2147483646 w 90"/>
              <a:gd name="T67" fmla="*/ 2147483646 h 93"/>
              <a:gd name="T68" fmla="*/ 2147483646 w 90"/>
              <a:gd name="T69" fmla="*/ 2147483646 h 93"/>
              <a:gd name="T70" fmla="*/ 2147483646 w 90"/>
              <a:gd name="T71" fmla="*/ 2147483646 h 93"/>
              <a:gd name="T72" fmla="*/ 2147483646 w 90"/>
              <a:gd name="T73" fmla="*/ 2147483646 h 93"/>
              <a:gd name="T74" fmla="*/ 2147483646 w 90"/>
              <a:gd name="T75" fmla="*/ 2147483646 h 93"/>
              <a:gd name="T76" fmla="*/ 2147483646 w 90"/>
              <a:gd name="T77" fmla="*/ 2147483646 h 93"/>
              <a:gd name="T78" fmla="*/ 2147483646 w 90"/>
              <a:gd name="T79" fmla="*/ 2147483646 h 93"/>
              <a:gd name="T80" fmla="*/ 2147483646 w 90"/>
              <a:gd name="T81" fmla="*/ 2147483646 h 93"/>
              <a:gd name="T82" fmla="*/ 2147483646 w 90"/>
              <a:gd name="T83" fmla="*/ 2147483646 h 93"/>
              <a:gd name="T84" fmla="*/ 2147483646 w 90"/>
              <a:gd name="T85" fmla="*/ 2147483646 h 93"/>
              <a:gd name="T86" fmla="*/ 2147483646 w 90"/>
              <a:gd name="T87" fmla="*/ 2147483646 h 93"/>
              <a:gd name="T88" fmla="*/ 2147483646 w 90"/>
              <a:gd name="T89" fmla="*/ 2147483646 h 93"/>
              <a:gd name="T90" fmla="*/ 2147483646 w 90"/>
              <a:gd name="T91" fmla="*/ 2147483646 h 93"/>
              <a:gd name="T92" fmla="*/ 2147483646 w 90"/>
              <a:gd name="T93" fmla="*/ 2147483646 h 93"/>
              <a:gd name="T94" fmla="*/ 2147483646 w 90"/>
              <a:gd name="T95" fmla="*/ 2147483646 h 93"/>
              <a:gd name="T96" fmla="*/ 2147483646 w 90"/>
              <a:gd name="T97" fmla="*/ 2147483646 h 9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90" h="93">
                <a:moveTo>
                  <a:pt x="86" y="38"/>
                </a:moveTo>
                <a:cubicBezTo>
                  <a:pt x="88" y="40"/>
                  <a:pt x="90" y="43"/>
                  <a:pt x="90" y="46"/>
                </a:cubicBezTo>
                <a:cubicBezTo>
                  <a:pt x="90" y="83"/>
                  <a:pt x="90" y="83"/>
                  <a:pt x="90" y="83"/>
                </a:cubicBezTo>
                <a:cubicBezTo>
                  <a:pt x="90" y="88"/>
                  <a:pt x="86" y="93"/>
                  <a:pt x="81" y="93"/>
                </a:cubicBezTo>
                <a:cubicBezTo>
                  <a:pt x="9" y="93"/>
                  <a:pt x="9" y="93"/>
                  <a:pt x="9" y="93"/>
                </a:cubicBezTo>
                <a:cubicBezTo>
                  <a:pt x="4" y="93"/>
                  <a:pt x="0" y="88"/>
                  <a:pt x="0" y="83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1" y="41"/>
                  <a:pt x="2" y="40"/>
                </a:cubicBezTo>
                <a:cubicBezTo>
                  <a:pt x="2" y="40"/>
                  <a:pt x="2" y="40"/>
                  <a:pt x="2" y="40"/>
                </a:cubicBezTo>
                <a:cubicBezTo>
                  <a:pt x="2" y="40"/>
                  <a:pt x="2" y="40"/>
                  <a:pt x="2" y="40"/>
                </a:cubicBezTo>
                <a:cubicBezTo>
                  <a:pt x="2" y="39"/>
                  <a:pt x="2" y="39"/>
                  <a:pt x="3" y="39"/>
                </a:cubicBezTo>
                <a:cubicBezTo>
                  <a:pt x="39" y="3"/>
                  <a:pt x="39" y="3"/>
                  <a:pt x="39" y="3"/>
                </a:cubicBezTo>
                <a:cubicBezTo>
                  <a:pt x="43" y="0"/>
                  <a:pt x="46" y="0"/>
                  <a:pt x="50" y="3"/>
                </a:cubicBezTo>
                <a:cubicBezTo>
                  <a:pt x="86" y="38"/>
                  <a:pt x="86" y="38"/>
                  <a:pt x="86" y="38"/>
                </a:cubicBezTo>
                <a:close/>
                <a:moveTo>
                  <a:pt x="15" y="30"/>
                </a:moveTo>
                <a:cubicBezTo>
                  <a:pt x="15" y="52"/>
                  <a:pt x="15" y="52"/>
                  <a:pt x="15" y="52"/>
                </a:cubicBezTo>
                <a:cubicBezTo>
                  <a:pt x="45" y="75"/>
                  <a:pt x="45" y="75"/>
                  <a:pt x="45" y="75"/>
                </a:cubicBezTo>
                <a:cubicBezTo>
                  <a:pt x="72" y="54"/>
                  <a:pt x="72" y="54"/>
                  <a:pt x="72" y="54"/>
                </a:cubicBezTo>
                <a:cubicBezTo>
                  <a:pt x="72" y="30"/>
                  <a:pt x="72" y="30"/>
                  <a:pt x="72" y="30"/>
                </a:cubicBezTo>
                <a:cubicBezTo>
                  <a:pt x="15" y="30"/>
                  <a:pt x="15" y="30"/>
                  <a:pt x="15" y="30"/>
                </a:cubicBezTo>
                <a:close/>
                <a:moveTo>
                  <a:pt x="25" y="35"/>
                </a:moveTo>
                <a:cubicBezTo>
                  <a:pt x="25" y="39"/>
                  <a:pt x="25" y="39"/>
                  <a:pt x="25" y="39"/>
                </a:cubicBezTo>
                <a:cubicBezTo>
                  <a:pt x="63" y="39"/>
                  <a:pt x="63" y="39"/>
                  <a:pt x="63" y="39"/>
                </a:cubicBezTo>
                <a:cubicBezTo>
                  <a:pt x="63" y="35"/>
                  <a:pt x="63" y="35"/>
                  <a:pt x="63" y="35"/>
                </a:cubicBezTo>
                <a:cubicBezTo>
                  <a:pt x="25" y="35"/>
                  <a:pt x="25" y="35"/>
                  <a:pt x="25" y="35"/>
                </a:cubicBezTo>
                <a:close/>
                <a:moveTo>
                  <a:pt x="25" y="51"/>
                </a:moveTo>
                <a:cubicBezTo>
                  <a:pt x="25" y="55"/>
                  <a:pt x="25" y="55"/>
                  <a:pt x="25" y="55"/>
                </a:cubicBezTo>
                <a:cubicBezTo>
                  <a:pt x="63" y="55"/>
                  <a:pt x="63" y="55"/>
                  <a:pt x="63" y="55"/>
                </a:cubicBezTo>
                <a:cubicBezTo>
                  <a:pt x="63" y="51"/>
                  <a:pt x="63" y="51"/>
                  <a:pt x="63" y="51"/>
                </a:cubicBezTo>
                <a:cubicBezTo>
                  <a:pt x="25" y="51"/>
                  <a:pt x="25" y="51"/>
                  <a:pt x="25" y="51"/>
                </a:cubicBezTo>
                <a:close/>
                <a:moveTo>
                  <a:pt x="25" y="43"/>
                </a:moveTo>
                <a:cubicBezTo>
                  <a:pt x="25" y="47"/>
                  <a:pt x="25" y="47"/>
                  <a:pt x="25" y="47"/>
                </a:cubicBezTo>
                <a:cubicBezTo>
                  <a:pt x="63" y="47"/>
                  <a:pt x="63" y="47"/>
                  <a:pt x="63" y="47"/>
                </a:cubicBezTo>
                <a:cubicBezTo>
                  <a:pt x="63" y="43"/>
                  <a:pt x="63" y="43"/>
                  <a:pt x="63" y="43"/>
                </a:cubicBezTo>
                <a:cubicBezTo>
                  <a:pt x="25" y="43"/>
                  <a:pt x="25" y="43"/>
                  <a:pt x="25" y="43"/>
                </a:cubicBezTo>
                <a:close/>
                <a:moveTo>
                  <a:pt x="10" y="87"/>
                </a:move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8"/>
                  <a:pt x="28" y="67"/>
                </a:cubicBezTo>
                <a:cubicBezTo>
                  <a:pt x="27" y="66"/>
                  <a:pt x="26" y="66"/>
                  <a:pt x="25" y="67"/>
                </a:cubicBezTo>
                <a:cubicBezTo>
                  <a:pt x="7" y="84"/>
                  <a:pt x="7" y="84"/>
                  <a:pt x="7" y="84"/>
                </a:cubicBezTo>
                <a:cubicBezTo>
                  <a:pt x="6" y="85"/>
                  <a:pt x="6" y="86"/>
                  <a:pt x="7" y="87"/>
                </a:cubicBezTo>
                <a:cubicBezTo>
                  <a:pt x="8" y="87"/>
                  <a:pt x="9" y="87"/>
                  <a:pt x="10" y="87"/>
                </a:cubicBezTo>
                <a:close/>
                <a:moveTo>
                  <a:pt x="84" y="84"/>
                </a:moveTo>
                <a:cubicBezTo>
                  <a:pt x="66" y="67"/>
                  <a:pt x="66" y="67"/>
                  <a:pt x="66" y="67"/>
                </a:cubicBezTo>
                <a:cubicBezTo>
                  <a:pt x="65" y="66"/>
                  <a:pt x="64" y="66"/>
                  <a:pt x="63" y="67"/>
                </a:cubicBezTo>
                <a:cubicBezTo>
                  <a:pt x="62" y="68"/>
                  <a:pt x="62" y="69"/>
                  <a:pt x="63" y="69"/>
                </a:cubicBezTo>
                <a:cubicBezTo>
                  <a:pt x="81" y="87"/>
                  <a:pt x="81" y="87"/>
                  <a:pt x="81" y="87"/>
                </a:cubicBezTo>
                <a:cubicBezTo>
                  <a:pt x="82" y="87"/>
                  <a:pt x="83" y="87"/>
                  <a:pt x="84" y="87"/>
                </a:cubicBezTo>
                <a:cubicBezTo>
                  <a:pt x="85" y="86"/>
                  <a:pt x="85" y="85"/>
                  <a:pt x="84" y="84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69" name="图形 4">
            <a:extLst>
              <a:ext uri="{FF2B5EF4-FFF2-40B4-BE49-F238E27FC236}">
                <a16:creationId xmlns:a16="http://schemas.microsoft.com/office/drawing/2014/main" id="{9D6C73D8-C9B5-A87D-347A-3A84CCA2C966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26339" y="2088838"/>
            <a:ext cx="503735" cy="39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21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成衣生产进度流程</a:t>
            </a:r>
          </a:p>
        </p:txBody>
      </p:sp>
      <p:sp>
        <p:nvSpPr>
          <p:cNvPr id="4" name="矩形 3"/>
          <p:cNvSpPr/>
          <p:nvPr/>
        </p:nvSpPr>
        <p:spPr>
          <a:xfrm>
            <a:off x="267970" y="978393"/>
            <a:ext cx="1638935" cy="471805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ERP→ SRM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GPO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订单、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BOM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</a:t>
            </a:r>
          </a:p>
        </p:txBody>
      </p:sp>
      <p:sp>
        <p:nvSpPr>
          <p:cNvPr id="2" name="矩形 1"/>
          <p:cNvSpPr/>
          <p:nvPr/>
        </p:nvSpPr>
        <p:spPr>
          <a:xfrm>
            <a:off x="2499817" y="1787792"/>
            <a:ext cx="1638935" cy="471805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供应商接收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415053" y="5123018"/>
            <a:ext cx="1177997" cy="471805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线下</a:t>
            </a: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业务员确认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731389" y="4301070"/>
            <a:ext cx="1638935" cy="4705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ERP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到货、检验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236240" y="5940878"/>
            <a:ext cx="1638935" cy="471805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财务对账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付款</a:t>
            </a:r>
          </a:p>
        </p:txBody>
      </p:sp>
      <p:cxnSp>
        <p:nvCxnSpPr>
          <p:cNvPr id="52" name="直接箭头连接符 51"/>
          <p:cNvCxnSpPr>
            <a:cxnSpLocks/>
            <a:stCxn id="2" idx="3"/>
            <a:endCxn id="17" idx="1"/>
          </p:cNvCxnSpPr>
          <p:nvPr/>
        </p:nvCxnSpPr>
        <p:spPr>
          <a:xfrm flipV="1">
            <a:off x="4138752" y="2023694"/>
            <a:ext cx="592639" cy="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cxnSpLocks/>
            <a:stCxn id="17" idx="2"/>
            <a:endCxn id="28" idx="0"/>
          </p:cNvCxnSpPr>
          <p:nvPr/>
        </p:nvCxnSpPr>
        <p:spPr>
          <a:xfrm flipH="1">
            <a:off x="5550858" y="2259596"/>
            <a:ext cx="1" cy="36295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cxnSpLocks/>
            <a:stCxn id="37" idx="1"/>
            <a:endCxn id="46" idx="3"/>
          </p:cNvCxnSpPr>
          <p:nvPr/>
        </p:nvCxnSpPr>
        <p:spPr>
          <a:xfrm flipH="1" flipV="1">
            <a:off x="4593050" y="5358921"/>
            <a:ext cx="500607" cy="519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cxnSpLocks/>
            <a:stCxn id="31" idx="2"/>
            <a:endCxn id="47" idx="0"/>
          </p:cNvCxnSpPr>
          <p:nvPr/>
        </p:nvCxnSpPr>
        <p:spPr>
          <a:xfrm>
            <a:off x="5550857" y="3934593"/>
            <a:ext cx="0" cy="36647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cxnSpLocks/>
            <a:stCxn id="47" idx="2"/>
            <a:endCxn id="37" idx="0"/>
          </p:cNvCxnSpPr>
          <p:nvPr/>
        </p:nvCxnSpPr>
        <p:spPr>
          <a:xfrm>
            <a:off x="5550857" y="4771605"/>
            <a:ext cx="0" cy="32576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cxnSpLocks/>
            <a:endCxn id="58" idx="1"/>
          </p:cNvCxnSpPr>
          <p:nvPr/>
        </p:nvCxnSpPr>
        <p:spPr>
          <a:xfrm>
            <a:off x="5856514" y="5358921"/>
            <a:ext cx="676923" cy="398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cxnSpLocks/>
            <a:stCxn id="58" idx="2"/>
            <a:endCxn id="50" idx="0"/>
          </p:cNvCxnSpPr>
          <p:nvPr/>
        </p:nvCxnSpPr>
        <p:spPr>
          <a:xfrm>
            <a:off x="7053224" y="5598174"/>
            <a:ext cx="2484" cy="34270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>
            <p:custDataLst>
              <p:tags r:id="rId1"/>
            </p:custDataLst>
          </p:nvPr>
        </p:nvSpPr>
        <p:spPr>
          <a:xfrm>
            <a:off x="7427842" y="896955"/>
            <a:ext cx="4151629" cy="62869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业务员在</a:t>
            </a:r>
            <a:r>
              <a:rPr lang="en-US" altLang="zh-CN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ERP</a:t>
            </a: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创建</a:t>
            </a:r>
            <a:r>
              <a:rPr lang="en-US" altLang="zh-CN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GPO</a:t>
            </a: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订单、</a:t>
            </a:r>
            <a:r>
              <a:rPr lang="en-US" altLang="zh-CN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BOM</a:t>
            </a: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表，生成合同，合同审批签署完成后，下发</a:t>
            </a:r>
            <a:r>
              <a:rPr lang="en-US" altLang="zh-CN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GPO</a:t>
            </a: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订单给供应商</a:t>
            </a:r>
          </a:p>
        </p:txBody>
      </p:sp>
      <p:cxnSp>
        <p:nvCxnSpPr>
          <p:cNvPr id="54" name="直接箭头连接符 53"/>
          <p:cNvCxnSpPr>
            <a:cxnSpLocks/>
            <a:stCxn id="4" idx="2"/>
            <a:endCxn id="6" idx="0"/>
          </p:cNvCxnSpPr>
          <p:nvPr/>
        </p:nvCxnSpPr>
        <p:spPr>
          <a:xfrm>
            <a:off x="1087438" y="1450198"/>
            <a:ext cx="0" cy="33759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67970" y="1787792"/>
            <a:ext cx="1638935" cy="4718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zh-CN" sz="1200" dirty="0">
                <a:latin typeface="Klavika Medium" panose="02000603040000020004" pitchFamily="2" charset="0"/>
                <a:ea typeface="微软雅黑" panose="020B0503020204020204" pitchFamily="34" charset="-122"/>
              </a:rPr>
              <a:t>ERP→SRM</a:t>
            </a:r>
          </a:p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Klavika Medium" panose="02000603040000020004" pitchFamily="2" charset="0"/>
                <a:ea typeface="微软雅黑" panose="020B0503020204020204" pitchFamily="34" charset="-122"/>
              </a:rPr>
              <a:t>要货</a:t>
            </a:r>
            <a:r>
              <a:rPr lang="en-US" altLang="zh-CN" sz="1200" dirty="0">
                <a:latin typeface="Klavika Medium" panose="02000603040000020004" pitchFamily="2" charset="0"/>
                <a:ea typeface="微软雅黑" panose="020B0503020204020204" pitchFamily="34" charset="-122"/>
              </a:rPr>
              <a:t>&amp;</a:t>
            </a:r>
            <a:r>
              <a:rPr lang="zh-CN" altLang="en-US" sz="1200" dirty="0">
                <a:latin typeface="Klavika Medium" panose="02000603040000020004" pitchFamily="2" charset="0"/>
                <a:ea typeface="微软雅黑" panose="020B0503020204020204" pitchFamily="34" charset="-122"/>
              </a:rPr>
              <a:t>挑货</a:t>
            </a:r>
            <a:r>
              <a:rPr lang="en-US" altLang="zh-CN" sz="1200" dirty="0">
                <a:latin typeface="Klavika Medium" panose="02000603040000020004" pitchFamily="2" charset="0"/>
                <a:ea typeface="微软雅黑" panose="020B0503020204020204" pitchFamily="34" charset="-122"/>
              </a:rPr>
              <a:t>&amp;</a:t>
            </a:r>
            <a:r>
              <a:rPr lang="zh-CN" altLang="en-US" sz="1200" dirty="0">
                <a:latin typeface="Klavika Medium" panose="02000603040000020004" pitchFamily="2" charset="0"/>
                <a:ea typeface="微软雅黑" panose="020B0503020204020204" pitchFamily="34" charset="-122"/>
              </a:rPr>
              <a:t>出仓</a:t>
            </a:r>
            <a:endParaRPr lang="en-US" altLang="zh-CN" sz="1200" dirty="0">
              <a:latin typeface="Klavika Medium" panose="02000603040000020004" pitchFamily="2" charset="0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C18D1C1-073B-9153-7320-7F32CC31C536}"/>
              </a:ext>
            </a:extLst>
          </p:cNvPr>
          <p:cNvCxnSpPr>
            <a:cxnSpLocks/>
            <a:stCxn id="6" idx="3"/>
            <a:endCxn id="2" idx="1"/>
          </p:cNvCxnSpPr>
          <p:nvPr/>
        </p:nvCxnSpPr>
        <p:spPr>
          <a:xfrm>
            <a:off x="1906905" y="2023695"/>
            <a:ext cx="59291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hlinkClick r:id="" action="ppaction://noaction"/>
            <a:extLst>
              <a:ext uri="{FF2B5EF4-FFF2-40B4-BE49-F238E27FC236}">
                <a16:creationId xmlns:a16="http://schemas.microsoft.com/office/drawing/2014/main" id="{1799EFA0-3D99-682C-7F48-3A49F1FF53E5}"/>
              </a:ext>
            </a:extLst>
          </p:cNvPr>
          <p:cNvSpPr/>
          <p:nvPr/>
        </p:nvSpPr>
        <p:spPr>
          <a:xfrm>
            <a:off x="118180" y="5868269"/>
            <a:ext cx="970596" cy="320040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操作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>
            <a:hlinkClick r:id="" action="ppaction://noaction"/>
            <a:extLst>
              <a:ext uri="{FF2B5EF4-FFF2-40B4-BE49-F238E27FC236}">
                <a16:creationId xmlns:a16="http://schemas.microsoft.com/office/drawing/2014/main" id="{A9A07160-CECE-C326-648B-5E27F863EA4E}"/>
              </a:ext>
            </a:extLst>
          </p:cNvPr>
          <p:cNvSpPr/>
          <p:nvPr/>
        </p:nvSpPr>
        <p:spPr>
          <a:xfrm>
            <a:off x="119560" y="6188309"/>
            <a:ext cx="969216" cy="3200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ERP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操作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97B0675-CAA9-2CC4-C78C-7B19647EF614}"/>
              </a:ext>
            </a:extLst>
          </p:cNvPr>
          <p:cNvSpPr/>
          <p:nvPr/>
        </p:nvSpPr>
        <p:spPr>
          <a:xfrm>
            <a:off x="4731391" y="1787791"/>
            <a:ext cx="1638935" cy="471805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供应商报工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B739271-3A56-A05F-261F-901A3EB7F9C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396621" y="1651490"/>
            <a:ext cx="4801138" cy="598394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同步出仓数据，供应商扫码接收</a:t>
            </a:r>
            <a:endParaRPr lang="en-US" altLang="zh-CN" sz="12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在</a:t>
            </a:r>
            <a:r>
              <a:rPr lang="en-US" altLang="zh-CN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GPO</a:t>
            </a: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订单上查看最早发货日期、发货数量、接收数量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FE0FF0C-23A9-2705-AB99-93AB1103A1A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396621" y="1700690"/>
            <a:ext cx="4574487" cy="885644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根据款号大类定义通用报工模板，有特殊要求的可复制通用，并增加报工节点，在报表中只体现通用模板中的节点</a:t>
            </a:r>
            <a:endParaRPr lang="en-US" altLang="zh-CN" sz="12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供应商在移动端报工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D2F45F-77F6-0812-30FD-23B069E76DE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427841" y="2715386"/>
            <a:ext cx="4151629" cy="334039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供应商提报验货申请，品管部检验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A3B9039-B477-C617-414A-A89E8C32EC7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014210" y="4868277"/>
            <a:ext cx="3802711" cy="1500746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如无退货则办理进仓</a:t>
            </a:r>
            <a:endParaRPr lang="en-US" altLang="zh-CN" sz="12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如有退货则由业务员确认，并线下发邮件通知生产管理部；生产管理部在</a:t>
            </a:r>
            <a:r>
              <a:rPr lang="en-US" altLang="zh-CN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ERP</a:t>
            </a: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做一张负数到货单，并指定退货负责人，未指定时默认为</a:t>
            </a:r>
            <a:r>
              <a:rPr lang="en-US" altLang="zh-CN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GPO</a:t>
            </a: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订单对应的采购员，后续通过消息提醒在</a:t>
            </a:r>
            <a:r>
              <a:rPr lang="en-US" altLang="zh-CN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SRM</a:t>
            </a: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补充快递单号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87F8817-D01A-935D-D48F-F838BFF060BF}"/>
              </a:ext>
            </a:extLst>
          </p:cNvPr>
          <p:cNvSpPr/>
          <p:nvPr/>
        </p:nvSpPr>
        <p:spPr>
          <a:xfrm>
            <a:off x="4731390" y="2622546"/>
            <a:ext cx="1638935" cy="471805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QA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验货流程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FD48F01-F2B7-3D78-900F-C8C63454E62D}"/>
              </a:ext>
            </a:extLst>
          </p:cNvPr>
          <p:cNvSpPr/>
          <p:nvPr/>
        </p:nvSpPr>
        <p:spPr>
          <a:xfrm>
            <a:off x="4731389" y="3462788"/>
            <a:ext cx="1638935" cy="471805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SRM→ERP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52DFC16-6FF5-8111-E00B-07E0952B83F8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 flipH="1">
            <a:off x="5550857" y="3094351"/>
            <a:ext cx="1" cy="36843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5625D56C-0589-47D7-1E91-01C59E0259BC}"/>
              </a:ext>
            </a:extLst>
          </p:cNvPr>
          <p:cNvSpPr/>
          <p:nvPr/>
        </p:nvSpPr>
        <p:spPr>
          <a:xfrm>
            <a:off x="2499817" y="3464564"/>
            <a:ext cx="1638935" cy="471805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zh-CN" sz="1200">
                <a:latin typeface="Klavika Medium" panose="02000603040000020004" pitchFamily="2" charset="0"/>
                <a:ea typeface="微软雅黑" panose="020B0503020204020204" pitchFamily="34" charset="-122"/>
              </a:rPr>
              <a:t>SRM→ERP</a:t>
            </a:r>
            <a:endParaRPr lang="en-US" altLang="zh-CN" sz="1200" dirty="0">
              <a:latin typeface="Klavika Medium" panose="02000603040000020004" pitchFamily="2" charset="0"/>
              <a:ea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200" dirty="0">
                <a:latin typeface="Klavika Medium" panose="02000603040000020004" pitchFamily="2" charset="0"/>
                <a:ea typeface="微软雅黑" panose="020B0503020204020204" pitchFamily="34" charset="-122"/>
              </a:rPr>
              <a:t>供应商</a:t>
            </a:r>
            <a:r>
              <a:rPr lang="zh-CN" altLang="en-US" sz="1200">
                <a:latin typeface="Klavika Medium" panose="02000603040000020004" pitchFamily="2" charset="0"/>
                <a:ea typeface="微软雅黑" panose="020B0503020204020204" pitchFamily="34" charset="-122"/>
              </a:rPr>
              <a:t>退料</a:t>
            </a:r>
            <a:endParaRPr lang="en-US" altLang="zh-CN" sz="1200" dirty="0">
              <a:latin typeface="Klavika Medium" panose="02000603040000020004" pitchFamily="2" charset="0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A8C6E4-FFCC-E060-F102-A8484B79284F}"/>
              </a:ext>
            </a:extLst>
          </p:cNvPr>
          <p:cNvSpPr/>
          <p:nvPr/>
        </p:nvSpPr>
        <p:spPr>
          <a:xfrm>
            <a:off x="118181" y="5566188"/>
            <a:ext cx="969216" cy="29613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线下</a:t>
            </a:r>
          </a:p>
        </p:txBody>
      </p:sp>
      <p:sp>
        <p:nvSpPr>
          <p:cNvPr id="37" name="菱形 36">
            <a:extLst>
              <a:ext uri="{FF2B5EF4-FFF2-40B4-BE49-F238E27FC236}">
                <a16:creationId xmlns:a16="http://schemas.microsoft.com/office/drawing/2014/main" id="{3CF95983-E378-6836-C3EE-7F26E8DE19C6}"/>
              </a:ext>
            </a:extLst>
          </p:cNvPr>
          <p:cNvSpPr/>
          <p:nvPr/>
        </p:nvSpPr>
        <p:spPr>
          <a:xfrm>
            <a:off x="5093657" y="5097367"/>
            <a:ext cx="914400" cy="53349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j-ea"/>
                <a:ea typeface="+mj-ea"/>
              </a:rPr>
              <a:t>是否</a:t>
            </a:r>
            <a:r>
              <a:rPr lang="zh-CN" altLang="en-US" sz="900" dirty="0">
                <a:solidFill>
                  <a:schemeClr val="tx1"/>
                </a:solidFill>
              </a:rPr>
              <a:t>退货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E880630-B768-D80C-EAE7-CC674B7FF08C}"/>
              </a:ext>
            </a:extLst>
          </p:cNvPr>
          <p:cNvSpPr/>
          <p:nvPr/>
        </p:nvSpPr>
        <p:spPr>
          <a:xfrm>
            <a:off x="6533437" y="5127639"/>
            <a:ext cx="1039573" cy="4705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ERP→SRM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进仓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973825B-2E3B-1CFA-B154-59FC5ACD8C59}"/>
              </a:ext>
            </a:extLst>
          </p:cNvPr>
          <p:cNvSpPr/>
          <p:nvPr/>
        </p:nvSpPr>
        <p:spPr>
          <a:xfrm>
            <a:off x="1819216" y="5124288"/>
            <a:ext cx="1039573" cy="4705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ERP→SRM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负数到仓单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92DC4501-786B-BC7E-1F22-F23DEB6438D9}"/>
              </a:ext>
            </a:extLst>
          </p:cNvPr>
          <p:cNvCxnSpPr>
            <a:cxnSpLocks/>
            <a:stCxn id="46" idx="1"/>
            <a:endCxn id="70" idx="3"/>
          </p:cNvCxnSpPr>
          <p:nvPr/>
        </p:nvCxnSpPr>
        <p:spPr>
          <a:xfrm flipH="1">
            <a:off x="2858789" y="5358921"/>
            <a:ext cx="556264" cy="6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310ECB1E-2FF8-7B02-F4AF-C56F83A8991B}"/>
              </a:ext>
            </a:extLst>
          </p:cNvPr>
          <p:cNvSpPr/>
          <p:nvPr/>
        </p:nvSpPr>
        <p:spPr>
          <a:xfrm>
            <a:off x="1458686" y="5956420"/>
            <a:ext cx="1752600" cy="471805"/>
          </a:xfrm>
          <a:prstGeom prst="rect">
            <a:avLst/>
          </a:prstGeom>
          <a:solidFill>
            <a:srgbClr val="36CADB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Klavika Medium" panose="02000603040000020004" pitchFamily="2" charset="0"/>
                <a:ea typeface="微软雅黑" panose="020B0503020204020204" pitchFamily="34" charset="-122"/>
                <a:cs typeface="+mn-cs"/>
              </a:rPr>
              <a:t>SRM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到仓单维护快递单号</a:t>
            </a: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6F913C73-6958-52FE-558A-00C3C6747091}"/>
              </a:ext>
            </a:extLst>
          </p:cNvPr>
          <p:cNvCxnSpPr>
            <a:cxnSpLocks/>
            <a:stCxn id="70" idx="2"/>
            <a:endCxn id="75" idx="0"/>
          </p:cNvCxnSpPr>
          <p:nvPr/>
        </p:nvCxnSpPr>
        <p:spPr>
          <a:xfrm flipH="1">
            <a:off x="2334986" y="5594823"/>
            <a:ext cx="4017" cy="36159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F867EEFC-D6F0-4CF5-0E93-1B08F3B9F84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396621" y="3208478"/>
            <a:ext cx="4601821" cy="1500746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供应商做送货单，消息提醒业务员，实际到货后业务员审核，审核后自动生成到货单，并同步到</a:t>
            </a:r>
            <a:r>
              <a:rPr lang="en-US" altLang="zh-CN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ERP</a:t>
            </a: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，消息提醒车间收货</a:t>
            </a:r>
            <a:endParaRPr lang="en-US" altLang="zh-CN" sz="12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剩余物料由供应商在</a:t>
            </a:r>
            <a:r>
              <a:rPr lang="en-US" altLang="zh-CN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SRM</a:t>
            </a: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做退料，自动生成</a:t>
            </a:r>
            <a:r>
              <a:rPr lang="en-US" altLang="zh-CN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ERP</a:t>
            </a: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的有订单退货</a:t>
            </a:r>
            <a:endParaRPr lang="en-US" altLang="zh-CN" sz="12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2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采购方做收货、开箱点数、检验</a:t>
            </a:r>
          </a:p>
        </p:txBody>
      </p: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312B3586-86F7-8DDA-0A72-CCE2198B8295}"/>
              </a:ext>
            </a:extLst>
          </p:cNvPr>
          <p:cNvCxnSpPr>
            <a:cxnSpLocks/>
            <a:stCxn id="35" idx="2"/>
            <a:endCxn id="47" idx="1"/>
          </p:cNvCxnSpPr>
          <p:nvPr/>
        </p:nvCxnSpPr>
        <p:spPr>
          <a:xfrm rot="16200000" flipH="1">
            <a:off x="3725353" y="3530301"/>
            <a:ext cx="599969" cy="1412104"/>
          </a:xfrm>
          <a:prstGeom prst="bentConnector2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CB6CAF43-0E41-2F27-055A-BB40A5921B3C}"/>
              </a:ext>
            </a:extLst>
          </p:cNvPr>
          <p:cNvSpPr txBox="1"/>
          <p:nvPr/>
        </p:nvSpPr>
        <p:spPr>
          <a:xfrm>
            <a:off x="6081734" y="5164801"/>
            <a:ext cx="3000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+mj-ea"/>
                <a:ea typeface="+mj-ea"/>
              </a:rPr>
              <a:t>否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75E94C44-E442-F287-1A28-200E33D93CB8}"/>
              </a:ext>
            </a:extLst>
          </p:cNvPr>
          <p:cNvSpPr txBox="1"/>
          <p:nvPr/>
        </p:nvSpPr>
        <p:spPr>
          <a:xfrm>
            <a:off x="4717481" y="5164801"/>
            <a:ext cx="3000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+mj-ea"/>
                <a:ea typeface="+mj-ea"/>
              </a:rPr>
              <a:t>是</a:t>
            </a:r>
          </a:p>
        </p:txBody>
      </p:sp>
      <p:sp>
        <p:nvSpPr>
          <p:cNvPr id="3" name="灯片编号占位符 3">
            <a:extLst>
              <a:ext uri="{FF2B5EF4-FFF2-40B4-BE49-F238E27FC236}">
                <a16:creationId xmlns:a16="http://schemas.microsoft.com/office/drawing/2014/main" id="{1DB1488D-903F-9A87-DBD6-95A6AC5C9E52}"/>
              </a:ext>
            </a:extLst>
          </p:cNvPr>
          <p:cNvSpPr txBox="1">
            <a:spLocks/>
          </p:cNvSpPr>
          <p:nvPr/>
        </p:nvSpPr>
        <p:spPr>
          <a:xfrm>
            <a:off x="40256" y="6583424"/>
            <a:ext cx="529087" cy="239651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0327E2-17C4-431B-B5C7-D724C9A939E1}" type="slidenum">
              <a:rPr lang="zh-CN" altLang="en-US" sz="1000" smtClean="0">
                <a:solidFill>
                  <a:prstClr val="black">
                    <a:tint val="75000"/>
                  </a:prstClr>
                </a:solidFill>
                <a:latin typeface="+mj-ea"/>
                <a:ea typeface="+mj-ea"/>
              </a:rPr>
              <a:pPr/>
              <a:t>4</a:t>
            </a:fld>
            <a:endParaRPr lang="zh-CN" altLang="en-US" sz="1000" dirty="0">
              <a:solidFill>
                <a:prstClr val="black">
                  <a:tint val="75000"/>
                </a:prst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1468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6" grpId="0" animBg="1"/>
      <p:bldP spid="47" grpId="0" animBg="1"/>
      <p:bldP spid="50" grpId="0" animBg="1"/>
      <p:bldP spid="66" grpId="0"/>
      <p:bldP spid="6" grpId="0" animBg="1"/>
      <p:bldP spid="17" grpId="0" animBg="1"/>
      <p:bldP spid="20" grpId="0"/>
      <p:bldP spid="20" grpId="1"/>
      <p:bldP spid="22" grpId="0"/>
      <p:bldP spid="22" grpId="1"/>
      <p:bldP spid="23" grpId="0"/>
      <p:bldP spid="23" grpId="1"/>
      <p:bldP spid="25" grpId="0"/>
      <p:bldP spid="28" grpId="0" animBg="1"/>
      <p:bldP spid="31" grpId="0" animBg="1"/>
      <p:bldP spid="35" grpId="0" animBg="1"/>
      <p:bldP spid="37" grpId="0" animBg="1"/>
      <p:bldP spid="58" grpId="0" animBg="1"/>
      <p:bldP spid="70" grpId="0" animBg="1"/>
      <p:bldP spid="75" grpId="0" animBg="1"/>
      <p:bldP spid="84" grpId="0"/>
      <p:bldP spid="84" grpId="1"/>
      <p:bldP spid="104" grpId="0"/>
      <p:bldP spid="10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D970E-D015-E7FC-FEC4-6A288B05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发料</a:t>
            </a:r>
            <a:r>
              <a:rPr lang="en-US" altLang="zh-CN" dirty="0"/>
              <a:t>---</a:t>
            </a:r>
            <a:r>
              <a:rPr lang="zh-CN" altLang="en-US" dirty="0"/>
              <a:t>出仓</a:t>
            </a:r>
            <a:r>
              <a:rPr lang="en-US" altLang="zh-CN" dirty="0"/>
              <a:t>&amp;</a:t>
            </a:r>
            <a:r>
              <a:rPr lang="zh-CN" altLang="en-US" dirty="0"/>
              <a:t>接收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3F61-10E3-5722-2425-C9401A51D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D1E26-0268-5B07-677C-0D3D2B557C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97205" y="4527323"/>
            <a:ext cx="9761855" cy="2014369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、业务员提有订单要货，仓库根据要货单进行挑货，生成出仓单，并打印条码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、出仓单同步后，通过微信公众号提醒供应商做接收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、供应商收到货物后，在移动端（微信公众号）扫描条码做接收，根据扫描的条码带出出仓单号，再根据出仓单号带出出仓明细</a:t>
            </a:r>
            <a:endParaRPr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94ED20-E475-34CA-98AB-1160BB4504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3880" y="1078865"/>
            <a:ext cx="5995670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en-US" altLang="zh-CN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ERP</a:t>
            </a: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出仓单同步到</a:t>
            </a:r>
            <a:r>
              <a:rPr lang="en-US" altLang="zh-CN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SRM</a:t>
            </a: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，供应商扫描接收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94082F-C250-124A-233B-E14FABF59BAE}"/>
              </a:ext>
            </a:extLst>
          </p:cNvPr>
          <p:cNvSpPr/>
          <p:nvPr/>
        </p:nvSpPr>
        <p:spPr>
          <a:xfrm>
            <a:off x="497205" y="1175385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36C1056-A445-4FBA-250D-B5166665A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" y="1573777"/>
            <a:ext cx="9332595" cy="291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690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D970E-D015-E7FC-FEC4-6A288B05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发料</a:t>
            </a:r>
            <a:r>
              <a:rPr lang="en-US" altLang="zh-CN" dirty="0"/>
              <a:t>---</a:t>
            </a:r>
            <a:r>
              <a:rPr lang="zh-CN" altLang="en-US" dirty="0"/>
              <a:t>退料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3F61-10E3-5722-2425-C9401A51D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6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D1E26-0268-5B07-677C-0D3D2B557C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97205" y="4440077"/>
            <a:ext cx="9761855" cy="1709960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、后续有退料时，供应商在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SRM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系统根据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GPO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订单创建退料单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、供应商创建退料单后，通过企业微信提醒业务员审批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、业务员审核后，生成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ERP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系统的有订单退货单，退货单上的申请人为审核退料单的业务员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94ED20-E475-34CA-98AB-1160BB4504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3880" y="1078865"/>
            <a:ext cx="5995670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剩余物料退回，同步到</a:t>
            </a:r>
            <a:r>
              <a:rPr lang="en-US" altLang="zh-CN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ERP</a:t>
            </a: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自动生成退货单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94082F-C250-124A-233B-E14FABF59BAE}"/>
              </a:ext>
            </a:extLst>
          </p:cNvPr>
          <p:cNvSpPr/>
          <p:nvPr/>
        </p:nvSpPr>
        <p:spPr>
          <a:xfrm>
            <a:off x="497205" y="1175385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717282F-A243-564F-CF23-1AEFD9967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" y="1607881"/>
            <a:ext cx="11074309" cy="245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808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D970E-D015-E7FC-FEC4-6A288B05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发料</a:t>
            </a:r>
            <a:r>
              <a:rPr lang="en-US" altLang="zh-CN" dirty="0"/>
              <a:t>---</a:t>
            </a:r>
            <a:r>
              <a:rPr lang="zh-CN" altLang="en-US" dirty="0"/>
              <a:t>查看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3F61-10E3-5722-2425-C9401A51D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D1E26-0268-5B07-677C-0D3D2B557C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97205" y="4690450"/>
            <a:ext cx="9761855" cy="1709960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、业务员和供应商都可以在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GPO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订单上查看发料、接收、退货、实际耗用数量数据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94ED20-E475-34CA-98AB-1160BB4504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3880" y="1078865"/>
            <a:ext cx="5995670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查看物料收发情况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94082F-C250-124A-233B-E14FABF59BAE}"/>
              </a:ext>
            </a:extLst>
          </p:cNvPr>
          <p:cNvSpPr/>
          <p:nvPr/>
        </p:nvSpPr>
        <p:spPr>
          <a:xfrm>
            <a:off x="497205" y="1175385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DF3F605-02E2-4230-E7B8-6496371A2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424" y="1533891"/>
            <a:ext cx="11587864" cy="302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68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D970E-D015-E7FC-FEC4-6A288B05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报工</a:t>
            </a:r>
            <a:r>
              <a:rPr lang="en-US" altLang="zh-CN" dirty="0"/>
              <a:t>---</a:t>
            </a:r>
            <a:r>
              <a:rPr lang="zh-CN" altLang="en-US" dirty="0"/>
              <a:t>报工模板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3F61-10E3-5722-2425-C9401A51D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D1E26-0268-5B07-677C-0D3D2B557C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35305" y="5033329"/>
            <a:ext cx="9761855" cy="1298571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、业务员根据款号的大类设置的进度通用模板，固定报工节点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、模板可复制，后续可以在固定节点上增加非必须的节点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94ED20-E475-34CA-98AB-1160BB4504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3880" y="1078865"/>
            <a:ext cx="5995670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生产进度模板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94082F-C250-124A-233B-E14FABF59BAE}"/>
              </a:ext>
            </a:extLst>
          </p:cNvPr>
          <p:cNvSpPr/>
          <p:nvPr/>
        </p:nvSpPr>
        <p:spPr>
          <a:xfrm>
            <a:off x="497205" y="1175385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C4EA06A-075E-F356-4C3E-133FB1690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1" y="1649770"/>
            <a:ext cx="5139738" cy="30855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9ED9686-0244-EF0F-B87E-C429206CD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3847" y="1649770"/>
            <a:ext cx="4954235" cy="343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3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D970E-D015-E7FC-FEC4-6A288B05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报工</a:t>
            </a:r>
            <a:r>
              <a:rPr lang="en-US" altLang="zh-CN" dirty="0"/>
              <a:t>---</a:t>
            </a:r>
            <a:r>
              <a:rPr lang="zh-CN" altLang="en-US" dirty="0"/>
              <a:t>实裁数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3F61-10E3-5722-2425-C9401A51D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D1E26-0268-5B07-677C-0D3D2B557C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97205" y="5168184"/>
            <a:ext cx="9761855" cy="1189073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、在订单上填写实裁数，可以通过“复制订单数”把订单数量带过来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、订单结案后，不允许修改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94ED20-E475-34CA-98AB-1160BB4504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3880" y="1078865"/>
            <a:ext cx="5995670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供应商在</a:t>
            </a:r>
            <a:r>
              <a:rPr lang="en-US" altLang="zh-CN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GPO</a:t>
            </a: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订单上通过复制订单数填写实裁数，可编辑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94082F-C250-124A-233B-E14FABF59BAE}"/>
              </a:ext>
            </a:extLst>
          </p:cNvPr>
          <p:cNvSpPr/>
          <p:nvPr/>
        </p:nvSpPr>
        <p:spPr>
          <a:xfrm>
            <a:off x="497205" y="1175385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711EB66-5B33-417A-8570-4B181154C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377" y="1529340"/>
            <a:ext cx="6942456" cy="352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87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D970E-D015-E7FC-FEC4-6A288B05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报工</a:t>
            </a:r>
            <a:r>
              <a:rPr lang="en-US" altLang="zh-CN" dirty="0"/>
              <a:t>---</a:t>
            </a:r>
            <a:r>
              <a:rPr lang="zh-CN" altLang="en-US" dirty="0"/>
              <a:t>进度报工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3F61-10E3-5722-2425-C9401A51D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D1E26-0268-5B07-677C-0D3D2B557C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97205" y="5206027"/>
            <a:ext cx="9761855" cy="1236447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、供应商报工在移动端按款号颜色提报当前进度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、供应商在报工界面的当前节点勾选完成时间，并填写完成数量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94ED20-E475-34CA-98AB-1160BB4504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3880" y="1078865"/>
            <a:ext cx="5995670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供应商在移动端报工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94082F-C250-124A-233B-E14FABF59BAE}"/>
              </a:ext>
            </a:extLst>
          </p:cNvPr>
          <p:cNvSpPr/>
          <p:nvPr/>
        </p:nvSpPr>
        <p:spPr>
          <a:xfrm>
            <a:off x="497205" y="1175385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EFE8B6E-F587-E960-E20E-57CB831AE9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296" y="933130"/>
            <a:ext cx="2762704" cy="439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F6CE3AE-477A-DA41-939F-8324852B66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7157" y="2064850"/>
            <a:ext cx="5129868" cy="31757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45B564C-37F1-9BA2-C4E9-747371D0BC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495" y="3489009"/>
            <a:ext cx="984939" cy="1485762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F7989A2-CD8A-C00F-96C2-277F688937C1}"/>
              </a:ext>
            </a:extLst>
          </p:cNvPr>
          <p:cNvSpPr/>
          <p:nvPr/>
        </p:nvSpPr>
        <p:spPr>
          <a:xfrm>
            <a:off x="5068569" y="3070394"/>
            <a:ext cx="406945" cy="130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94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D970E-D015-E7FC-FEC4-6A288B05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报工</a:t>
            </a:r>
            <a:r>
              <a:rPr lang="en-US" altLang="zh-CN" dirty="0"/>
              <a:t>---</a:t>
            </a:r>
            <a:r>
              <a:rPr lang="zh-CN" altLang="en-US" dirty="0"/>
              <a:t>进度查看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3F61-10E3-5722-2425-C9401A51D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D1E26-0268-5B07-677C-0D3D2B557C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97205" y="5206027"/>
            <a:ext cx="9761855" cy="1236447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、供应商可以在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PC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端查看各进度节点以及完成时间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、供应商在计划时间当天未报工时，通过微信公众号发送消息提醒供应商填报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94ED20-E475-34CA-98AB-1160BB4504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3880" y="1078865"/>
            <a:ext cx="5995670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供应商查看界面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94082F-C250-124A-233B-E14FABF59BAE}"/>
              </a:ext>
            </a:extLst>
          </p:cNvPr>
          <p:cNvSpPr/>
          <p:nvPr/>
        </p:nvSpPr>
        <p:spPr>
          <a:xfrm>
            <a:off x="497205" y="1175385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32F2191-C0A4-B3DB-B170-6B1F61CAA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12" y="1579791"/>
            <a:ext cx="10578875" cy="360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52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D970E-D015-E7FC-FEC4-6A288B05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报工</a:t>
            </a:r>
            <a:r>
              <a:rPr lang="en-US" altLang="zh-CN" dirty="0"/>
              <a:t>---</a:t>
            </a:r>
            <a:r>
              <a:rPr lang="zh-CN" altLang="en-US" dirty="0"/>
              <a:t>进度查看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3F61-10E3-5722-2425-C9401A51D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D1E26-0268-5B07-677C-0D3D2B557C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97205" y="5206027"/>
            <a:ext cx="9761855" cy="1236447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、在采购方界面增加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【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供应商编码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】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【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供应商名称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】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【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零售交期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】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字段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、当完成时间超出计划时间时，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GPO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订单号显示为红色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94ED20-E475-34CA-98AB-1160BB4504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3880" y="1078865"/>
            <a:ext cx="5995670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采购方查看界面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94082F-C250-124A-233B-E14FABF59BAE}"/>
              </a:ext>
            </a:extLst>
          </p:cNvPr>
          <p:cNvSpPr/>
          <p:nvPr/>
        </p:nvSpPr>
        <p:spPr>
          <a:xfrm>
            <a:off x="497205" y="1175385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CB225AA-D2A6-CDD4-8924-47D1A77B05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85" y="1641833"/>
            <a:ext cx="11255829" cy="337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91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D970E-D015-E7FC-FEC4-6A288B05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收货</a:t>
            </a:r>
            <a:r>
              <a:rPr lang="en-US" altLang="zh-CN" dirty="0"/>
              <a:t>---</a:t>
            </a:r>
            <a:r>
              <a:rPr lang="zh-CN" altLang="en-US" dirty="0"/>
              <a:t>供应商送货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3F61-10E3-5722-2425-C9401A51D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D1E26-0268-5B07-677C-0D3D2B557C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97205" y="4561113"/>
            <a:ext cx="9761855" cy="1588923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、供应商基于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GPO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创建送货单，通过企业微信提醒业务员审批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、送货单保存时，判断是否有实裁数，否则不允许保存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94ED20-E475-34CA-98AB-1160BB4504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3880" y="1078865"/>
            <a:ext cx="5995670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供应商送货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94082F-C250-124A-233B-E14FABF59BAE}"/>
              </a:ext>
            </a:extLst>
          </p:cNvPr>
          <p:cNvSpPr/>
          <p:nvPr/>
        </p:nvSpPr>
        <p:spPr>
          <a:xfrm>
            <a:off x="497205" y="1175385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C3690FA-0555-439A-4EFA-3FF864070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928" y="1806483"/>
            <a:ext cx="112776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78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D970E-D015-E7FC-FEC4-6A288B05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收货</a:t>
            </a:r>
            <a:r>
              <a:rPr lang="en-US" altLang="zh-CN" dirty="0"/>
              <a:t>---</a:t>
            </a:r>
            <a:r>
              <a:rPr lang="zh-CN" altLang="en-US" dirty="0"/>
              <a:t>到仓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3F61-10E3-5722-2425-C9401A51D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D1E26-0268-5B07-677C-0D3D2B557C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97205" y="4927632"/>
            <a:ext cx="10159909" cy="1655791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、后续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【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到仓日期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】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取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MES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9.01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节点的实际收货日期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、如有退货，则在负数到货单上指定退货负责人，未指定时默认为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GPO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订单对应的采购员，后续通过消息提醒在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SRM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补充快递单号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94ED20-E475-34CA-98AB-1160BB4504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3880" y="893804"/>
            <a:ext cx="5995670" cy="4133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送货单审核后，自动生成成衣到仓单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94082F-C250-124A-233B-E14FABF59BAE}"/>
              </a:ext>
            </a:extLst>
          </p:cNvPr>
          <p:cNvSpPr/>
          <p:nvPr/>
        </p:nvSpPr>
        <p:spPr>
          <a:xfrm>
            <a:off x="497205" y="990324"/>
            <a:ext cx="76200" cy="238760"/>
          </a:xfrm>
          <a:prstGeom prst="rect">
            <a:avLst/>
          </a:prstGeom>
          <a:solidFill>
            <a:srgbClr val="17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43CBE3B-5EE8-9C49-F2F5-D419A68A01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4" y="1409561"/>
            <a:ext cx="9761855" cy="351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881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D970E-D015-E7FC-FEC4-6A288B05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收货</a:t>
            </a:r>
            <a:r>
              <a:rPr lang="en-US" altLang="zh-CN" dirty="0"/>
              <a:t>---</a:t>
            </a:r>
            <a:r>
              <a:rPr lang="zh-CN" altLang="en-US" dirty="0"/>
              <a:t>到货进仓查看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3F61-10E3-5722-2425-C9401A51D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D1E26-0268-5B07-677C-0D3D2B557C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9343" y="5167389"/>
            <a:ext cx="9761855" cy="1178328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、采购方可以在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GPO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订单上查看订单数、实裁数、到仓数和进仓数，以及相关汇总数据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、通过点击到仓数量或进仓数量，查看相应的到仓或进仓明细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C6EF29-F1A2-F830-16AD-EF29232CF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43" y="926593"/>
            <a:ext cx="7954690" cy="408237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CBBEBC8-4F73-BE26-4A5F-576455876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3930" y="911486"/>
            <a:ext cx="8301014" cy="449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8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B70F8362-0E64-D1CE-F0B6-3DE529EA2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69" y="892148"/>
            <a:ext cx="9830556" cy="434388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FBD970E-D015-E7FC-FEC4-6A288B05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收货</a:t>
            </a:r>
            <a:r>
              <a:rPr lang="en-US" altLang="zh-CN" dirty="0"/>
              <a:t>---QA</a:t>
            </a:r>
            <a:r>
              <a:rPr lang="zh-CN" altLang="en-US" dirty="0"/>
              <a:t>验货查看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3F61-10E3-5722-2425-C9401A51D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16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D1E26-0268-5B07-677C-0D3D2B557C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9343" y="5236029"/>
            <a:ext cx="9761855" cy="1109688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、通过点击查看报告跳转到验货报告详情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2D3A187-4560-27A0-10BE-586EA2AA7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0532" y="892148"/>
            <a:ext cx="9580458" cy="446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4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D970E-D015-E7FC-FEC4-6A288B05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报表</a:t>
            </a:r>
            <a:r>
              <a:rPr lang="en-US" altLang="zh-CN" dirty="0"/>
              <a:t>---</a:t>
            </a:r>
            <a:r>
              <a:rPr lang="zh-CN" altLang="en-US" dirty="0"/>
              <a:t>成衣大货生产进度跟踪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3F61-10E3-5722-2425-C9401A51D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D1E26-0268-5B07-677C-0D3D2B557C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9343" y="4958888"/>
            <a:ext cx="9880943" cy="1597932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、以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GPO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订单的维度，查看产前样的完成时间、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QA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意见、理化测试合格时间，以及大货生产进度、计划发货与实际到货情况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、最后一笔到仓日期大于合同交期，则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GPO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订单号红色显示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346C549-7290-9950-39CC-3A5F6DFF1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438" y="822353"/>
            <a:ext cx="11488579" cy="413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019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D970E-D015-E7FC-FEC4-6A288B05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报表</a:t>
            </a:r>
            <a:r>
              <a:rPr lang="en-US" altLang="zh-CN" dirty="0"/>
              <a:t>---</a:t>
            </a:r>
            <a:r>
              <a:rPr lang="zh-CN" altLang="en-US" dirty="0"/>
              <a:t>半成品委外加工进度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C3F61-10E3-5722-2425-C9401A51D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27E2-17C4-431B-B5C7-D724C9A939E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DD1E26-0268-5B07-677C-0D3D2B557C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9343" y="3753431"/>
            <a:ext cx="10044228" cy="2056978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algn="ctr">
              <a:defRPr sz="14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600" b="1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关键业务点：</a:t>
            </a:r>
            <a:endParaRPr lang="en-US" sz="1600" b="1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、由于半成品委外供应商自身条件所限，配合度可能比较低，后续由生产管理部计划协调员在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SRM </a:t>
            </a: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系统填报</a:t>
            </a: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GPO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订单号、供应商、款号、订单数量、颜色、部位、尺码、回厂日期、批次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、再由检验员填写正品数量、次品数量、次品原因</a:t>
            </a:r>
            <a:endParaRPr lang="en-US" altLang="zh-CN" sz="1600" spc="15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zh-CN" altLang="en-US" sz="1600" spc="15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、最后由生产管理部计划协调员和业务员确认次品可用数量，以及备注相关信息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5877B8-0393-7C33-9000-C2851D158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9" y="1231808"/>
            <a:ext cx="11766570" cy="216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10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ERP</a:t>
            </a:r>
            <a:r>
              <a:rPr lang="zh-CN" altLang="en-US" dirty="0"/>
              <a:t>改造点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17347961"/>
              </p:ext>
            </p:extLst>
          </p:nvPr>
        </p:nvGraphicFramePr>
        <p:xfrm>
          <a:off x="743043" y="1201514"/>
          <a:ext cx="959838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8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dirty="0">
                          <a:latin typeface="+mj-ea"/>
                          <a:ea typeface="+mj-ea"/>
                        </a:rPr>
                        <a:t>功能改造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5955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dirty="0">
                          <a:latin typeface="+mj-ea"/>
                          <a:ea typeface="+mj-ea"/>
                        </a:rPr>
                        <a:t>单据上增加字段：在成衣到仓单表头增加“退货负责人”字段，非必填，由制单人指定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234244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735E95A-E9CB-A55B-0F69-C391262A5D3D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80827895"/>
              </p:ext>
            </p:extLst>
          </p:nvPr>
        </p:nvGraphicFramePr>
        <p:xfrm>
          <a:off x="743041" y="2207354"/>
          <a:ext cx="9598388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514">
                  <a:extLst>
                    <a:ext uri="{9D8B030D-6E8A-4147-A177-3AD203B41FA5}">
                      <a16:colId xmlns:a16="http://schemas.microsoft.com/office/drawing/2014/main" val="404723164"/>
                    </a:ext>
                  </a:extLst>
                </a:gridCol>
                <a:gridCol w="1284515">
                  <a:extLst>
                    <a:ext uri="{9D8B030D-6E8A-4147-A177-3AD203B41FA5}">
                      <a16:colId xmlns:a16="http://schemas.microsoft.com/office/drawing/2014/main" val="1855690089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179400987"/>
                    </a:ext>
                  </a:extLst>
                </a:gridCol>
              </a:tblGrid>
              <a:tr h="502920">
                <a:tc grid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dirty="0">
                          <a:latin typeface="+mj-ea"/>
                          <a:ea typeface="+mj-ea"/>
                        </a:rPr>
                        <a:t>接口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5955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序号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发出系统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 kern="1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接收系统</a:t>
                      </a:r>
                      <a:endParaRPr lang="zh-CN" sz="16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接口描述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323424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ERP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SRM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同步</a:t>
                      </a:r>
                      <a:r>
                        <a:rPr lang="en-US" sz="16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SRM</a:t>
                      </a:r>
                      <a:r>
                        <a:rPr lang="zh-CN" sz="16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供应商对应的出仓单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035677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</a:t>
                      </a:r>
                      <a:endParaRPr lang="zh-CN" sz="16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SRM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ERP</a:t>
                      </a:r>
                      <a:endParaRPr lang="zh-CN" sz="16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供应商在</a:t>
                      </a:r>
                      <a:r>
                        <a:rPr lang="en-US" sz="16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SRM</a:t>
                      </a:r>
                      <a:r>
                        <a:rPr lang="zh-CN" sz="16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创建送货单，业务员审核后自动生成成衣到仓单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649915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zh-CN" sz="16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SRM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ERP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供应商在</a:t>
                      </a:r>
                      <a:r>
                        <a:rPr lang="en-US" sz="16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SRM</a:t>
                      </a:r>
                      <a:r>
                        <a:rPr lang="zh-CN" sz="16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创建退料单，业务员审核后自动生成有订单退货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465109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4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SRM</a:t>
                      </a:r>
                      <a:endParaRPr lang="zh-CN" sz="16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ERP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供应商报工时的实裁数，同步到</a:t>
                      </a:r>
                      <a:r>
                        <a:rPr lang="en-US" sz="16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ERP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083526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ERP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SRM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改造：在原有成衣到仓单接口，增加“退货负责人”字段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3817244"/>
                  </a:ext>
                </a:extLst>
              </a:tr>
            </a:tbl>
          </a:graphicData>
        </a:graphic>
      </p:graphicFrame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01A05391-BFE3-5B82-D81D-3D04821C7C99}"/>
              </a:ext>
            </a:extLst>
          </p:cNvPr>
          <p:cNvSpPr txBox="1">
            <a:spLocks/>
          </p:cNvSpPr>
          <p:nvPr/>
        </p:nvSpPr>
        <p:spPr>
          <a:xfrm>
            <a:off x="40256" y="6583424"/>
            <a:ext cx="529087" cy="239651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0327E2-17C4-431B-B5C7-D724C9A939E1}" type="slidenum">
              <a:rPr lang="zh-CN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zh-CN" altLang="en-US" sz="1000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结束</a:t>
            </a:r>
          </a:p>
        </p:txBody>
      </p:sp>
      <p:sp>
        <p:nvSpPr>
          <p:cNvPr id="4" name="矩形 3"/>
          <p:cNvSpPr/>
          <p:nvPr/>
        </p:nvSpPr>
        <p:spPr>
          <a:xfrm>
            <a:off x="3810000" y="2828926"/>
            <a:ext cx="4572000" cy="110680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6600" dirty="0">
                <a:latin typeface="+mj-ea"/>
                <a:ea typeface="+mj-ea"/>
              </a:rPr>
              <a:t>Thank You!</a:t>
            </a:r>
          </a:p>
        </p:txBody>
      </p:sp>
      <p:sp>
        <p:nvSpPr>
          <p:cNvPr id="3" name="灯片编号占位符 3">
            <a:extLst>
              <a:ext uri="{FF2B5EF4-FFF2-40B4-BE49-F238E27FC236}">
                <a16:creationId xmlns:a16="http://schemas.microsoft.com/office/drawing/2014/main" id="{D3E195AD-3553-0A06-4561-F4F6F7812CDF}"/>
              </a:ext>
            </a:extLst>
          </p:cNvPr>
          <p:cNvSpPr txBox="1">
            <a:spLocks/>
          </p:cNvSpPr>
          <p:nvPr/>
        </p:nvSpPr>
        <p:spPr>
          <a:xfrm>
            <a:off x="40256" y="6583424"/>
            <a:ext cx="529087" cy="239651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0327E2-17C4-431B-B5C7-D724C9A939E1}" type="slidenum">
              <a:rPr lang="zh-CN" altLang="en-US" sz="1000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zh-CN" altLang="en-US" sz="1000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9f25d22-d721-41a7-8e3d-5dfcf0047e78"/>
  <p:tag name="COMMONDATA" val="eyJoZGlkIjoiMjZjMGNkYzRlM2U5NWMwODQxYTYyZmFjYmRiYzRkM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i"/>
  <p:tag name="KSO_WM_UNIT_INDEX" val="1_1_1"/>
  <p:tag name="KSO_WM_UNIT_ID" val="diagram20170847_2*l_h_i*1_1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a"/>
  <p:tag name="KSO_WM_UNIT_INDEX" val="1_1_1"/>
  <p:tag name="KSO_WM_UNIT_LAYERLEVEL" val="1_1_1"/>
  <p:tag name="KSO_WM_UNIT_VALUE" val="34"/>
  <p:tag name="KSO_WM_UNIT_HIGHLIGHT" val="0"/>
  <p:tag name="KSO_WM_UNIT_COMPATIBLE" val="0"/>
  <p:tag name="KSO_WM_DIAGRAM_GROUP_CODE" val="l1-1"/>
  <p:tag name="KSO_WM_UNIT_ID" val="diagram20170847_2*l_h_a*1_1_1"/>
  <p:tag name="KSO_WM_UNIT_ISCONTENTSTITLE" val="0"/>
  <p:tag name="KSO_WM_UNIT_NOCLEAR" val="0"/>
  <p:tag name="KSO_WM_UNIT_DIAGRAM_ISNUMVISUAL" val="0"/>
  <p:tag name="KSO_WM_UNIT_DIAGRAM_ISREFERUNIT" val="0"/>
  <p:tag name="KSO_WM_UNIT_PRESET_TEXT" val="单击此处添加标题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1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1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i"/>
  <p:tag name="KSO_WM_UNIT_INDEX" val="1_1_2"/>
  <p:tag name="KSO_WM_UNIT_ID" val="diagram20170847_2*l_h_i*1_1_2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i"/>
  <p:tag name="KSO_WM_UNIT_INDEX" val="1_2_3"/>
  <p:tag name="KSO_WM_UNIT_ID" val="diagram20170847_2*l_h_i*1_2_3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a"/>
  <p:tag name="KSO_WM_UNIT_INDEX" val="1_2_1"/>
  <p:tag name="KSO_WM_UNIT_LAYERLEVEL" val="1_1_1"/>
  <p:tag name="KSO_WM_UNIT_VALUE" val="34"/>
  <p:tag name="KSO_WM_UNIT_HIGHLIGHT" val="0"/>
  <p:tag name="KSO_WM_UNIT_COMPATIBLE" val="0"/>
  <p:tag name="KSO_WM_DIAGRAM_GROUP_CODE" val="l1-1"/>
  <p:tag name="KSO_WM_UNIT_ID" val="diagram20170847_2*l_h_a*1_2_1"/>
  <p:tag name="KSO_WM_UNIT_ISCONTENTSTITLE" val="0"/>
  <p:tag name="KSO_WM_UNIT_NOCLEAR" val="0"/>
  <p:tag name="KSO_WM_UNIT_DIAGRAM_ISNUMVISUAL" val="0"/>
  <p:tag name="KSO_WM_UNIT_DIAGRAM_ISREFERUNIT" val="0"/>
  <p:tag name="KSO_WM_UNIT_PRESET_TEXT" val="单击此处添加标题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i"/>
  <p:tag name="KSO_WM_UNIT_INDEX" val="1_2_1"/>
  <p:tag name="KSO_WM_UNIT_ID" val="diagram20170847_2*l_h_i*1_2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x"/>
  <p:tag name="KSO_WM_UNIT_INDEX" val="1_2_1"/>
  <p:tag name="KSO_WM_UNIT_ID" val="diagram20170847_2*l_h_x*1_2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VALUE" val="96*93"/>
  <p:tag name="KSO_WM_UNIT_FILL_FORE_SCHEMECOLOR_INDEX" val="14"/>
  <p:tag name="KSO_WM_UNIT_FILL_TYPE" val="1"/>
  <p:tag name="KSO_WM_UNIT_TEXT_FILL_FORE_SCHEMECOLOR_INDEX" val="14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170847_2*l_h_x*1_1_1"/>
  <p:tag name="KSO_WM_TEMPLATE_CATEGORY" val="diagram"/>
  <p:tag name="KSO_WM_TEMPLATE_INDEX" val="20170847"/>
  <p:tag name="KSO_WM_UNIT_LAYERLEVEL" val="1_1_1"/>
  <p:tag name="KSO_WM_TAG_VERSION" val="1.0"/>
  <p:tag name="KSO_WM_BEAUTIFY_FLAG" val="#wm#"/>
  <p:tag name="KSO_WM_UNIT_VALUE" val="100*127"/>
  <p:tag name="KSO_WM_UNIT_TYPE" val="l_h_x"/>
  <p:tag name="KSO_WM_UNIT_INDEX" val="1_1_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20170847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85"/>
  <p:tag name="KSO_WM_UNIT_HIGHLIGHT" val="0"/>
  <p:tag name="KSO_WM_UNIT_COMPATIBLE" val="0"/>
  <p:tag name="KSO_WM_DIAGRAM_GROUP_CODE" val="l1-1"/>
  <p:tag name="KSO_WM_UNIT_ID" val="diagram20170847_2*l_h_f*1_2_1"/>
  <p:tag name="KSO_WM_UNIT_NOCLEAR" val="0"/>
  <p:tag name="KSO_WM_UNIT_DIAGRAM_ISNUMVISUAL" val="0"/>
  <p:tag name="KSO_WM_UNIT_DIAGRAM_ISREFERUNIT" val="0"/>
  <p:tag name="KSO_WM_UNIT_PRESET_TEXT" val="单击此处添加文本具体内容，简明扼要的阐述您的观点。根据需要可酌情增减文字，以便观者准确的理解您传达的思想。"/>
  <p:tag name="KSO_WM_UNIT_TEXT_FILL_FORE_SCHEMECOLOR_INDEX" val="13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a24dd6a-5062-4834-a1b3-2cbfb8560384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a24dd6a-5062-4834-a1b3-2cbfb8560384}"/>
</p:tagLst>
</file>

<file path=ppt/theme/theme1.xml><?xml version="1.0" encoding="utf-8"?>
<a:theme xmlns:a="http://schemas.openxmlformats.org/drawingml/2006/main" name="2_Office 主题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B0F0"/>
      </a:hlink>
      <a:folHlink>
        <a:srgbClr val="00B0F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xmlns="" underline="false"/>
      </a:ext>
    </a:extLst>
  </a:themeElements>
  <a:objectDefaults>
    <a:lnDef>
      <a:spPr>
        <a:ln w="28575">
          <a:solidFill>
            <a:schemeClr val="tx1">
              <a:lumMod val="75000"/>
              <a:lumOff val="2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B0F0"/>
      </a:hlink>
      <a:folHlink>
        <a:srgbClr val="00B0F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xmlns="" underline="false"/>
      </a:ext>
    </a:extLst>
  </a:themeElements>
  <a:objectDefaults>
    <a:lnDef>
      <a:spPr>
        <a:ln w="28575">
          <a:solidFill>
            <a:schemeClr val="tx1">
              <a:lumMod val="75000"/>
              <a:lumOff val="2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1276</TotalTime>
  <Words>1476</Words>
  <Application>Microsoft Office PowerPoint</Application>
  <PresentationFormat>宽屏</PresentationFormat>
  <Paragraphs>213</Paragraphs>
  <Slides>20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Klavika Medium</vt:lpstr>
      <vt:lpstr>黑体</vt:lpstr>
      <vt:lpstr>微软雅黑</vt:lpstr>
      <vt:lpstr>Arial</vt:lpstr>
      <vt:lpstr>Arial Black</vt:lpstr>
      <vt:lpstr>Calibri</vt:lpstr>
      <vt:lpstr>Lato</vt:lpstr>
      <vt:lpstr>Lato Black</vt:lpstr>
      <vt:lpstr>Wingdings</vt:lpstr>
      <vt:lpstr>2_Office 主题</vt:lpstr>
      <vt:lpstr>1_Office 主题</vt:lpstr>
      <vt:lpstr>宝姿SRM系统 成衣生产进度管理</vt:lpstr>
      <vt:lpstr>PowerPoint 演示文稿</vt:lpstr>
      <vt:lpstr>成衣生产进度管理</vt:lpstr>
      <vt:lpstr>成衣生产进度流程</vt:lpstr>
      <vt:lpstr>发料---出仓&amp;接收</vt:lpstr>
      <vt:lpstr>发料---退料</vt:lpstr>
      <vt:lpstr>发料---查看</vt:lpstr>
      <vt:lpstr>报工---报工模板</vt:lpstr>
      <vt:lpstr>报工---实裁数</vt:lpstr>
      <vt:lpstr>报工---进度报工</vt:lpstr>
      <vt:lpstr>报工---进度查看</vt:lpstr>
      <vt:lpstr>报工---进度查看</vt:lpstr>
      <vt:lpstr>收货---供应商送货</vt:lpstr>
      <vt:lpstr>收货---到仓</vt:lpstr>
      <vt:lpstr>收货---到货进仓查看</vt:lpstr>
      <vt:lpstr>收货---QA验货查看</vt:lpstr>
      <vt:lpstr>报表---成衣大货生产进度跟踪</vt:lpstr>
      <vt:lpstr>报表---半成品委外加工进度</vt:lpstr>
      <vt:lpstr>ERP改造点</vt:lpstr>
      <vt:lpstr>结束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天津于家堡集团整体规划</dc:title>
  <dc:subject>HAND - Internet Product Center</dc:subject>
  <dc:creator>HAND</dc:creator>
  <cp:lastModifiedBy>xs</cp:lastModifiedBy>
  <cp:revision>1558</cp:revision>
  <dcterms:created xsi:type="dcterms:W3CDTF">2022-11-30T03:09:00Z</dcterms:created>
  <dcterms:modified xsi:type="dcterms:W3CDTF">2023-02-13T00:36:54Z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0x01010042BF25B8D0CF3E498A12B8CF17257F30</vt:lpwstr>
  </property>
  <property fmtid="{D5CDD505-2E9C-101B-9397-08002B2CF9AE}" pid="3" name="ItemRetentionFormula">
    <vt:lpwstr/>
  </property>
  <property fmtid="{D5CDD505-2E9C-101B-9397-08002B2CF9AE}" pid="4" name="_dlc_policyId">
    <vt:lpwstr/>
  </property>
  <property fmtid="{D5CDD505-2E9C-101B-9397-08002B2CF9AE}" pid="5" name="KSOProductBuildVer">
    <vt:lpwstr>2052-11.1.0.12763</vt:lpwstr>
  </property>
  <property fmtid="{D5CDD505-2E9C-101B-9397-08002B2CF9AE}" pid="6" name="ICV">
    <vt:lpwstr>FAF67C83A533974FD0727D63EF32D483</vt:lpwstr>
  </property>
</Properties>
</file>