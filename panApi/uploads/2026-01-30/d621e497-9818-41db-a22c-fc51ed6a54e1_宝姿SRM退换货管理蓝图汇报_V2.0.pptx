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media/image5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7" r:id="rId3"/>
  </p:sldMasterIdLst>
  <p:notesMasterIdLst>
    <p:notesMasterId r:id="rId5"/>
  </p:notesMasterIdLst>
  <p:sldIdLst>
    <p:sldId id="736" r:id="rId4"/>
    <p:sldId id="16756498" r:id="rId6"/>
    <p:sldId id="16756543" r:id="rId7"/>
    <p:sldId id="16756545" r:id="rId8"/>
    <p:sldId id="16756491" r:id="rId9"/>
    <p:sldId id="16756547" r:id="rId10"/>
    <p:sldId id="16756546" r:id="rId11"/>
    <p:sldId id="16756492" r:id="rId12"/>
    <p:sldId id="16756583" r:id="rId13"/>
    <p:sldId id="16756580" r:id="rId14"/>
    <p:sldId id="16756585" r:id="rId15"/>
    <p:sldId id="16756586" r:id="rId16"/>
    <p:sldId id="16756581" r:id="rId17"/>
    <p:sldId id="16756587" r:id="rId18"/>
    <p:sldId id="16756582" r:id="rId19"/>
    <p:sldId id="16756588" r:id="rId20"/>
    <p:sldId id="16756499" r:id="rId21"/>
    <p:sldId id="16756501" r:id="rId22"/>
    <p:sldId id="1351" r:id="rId23"/>
  </p:sldIdLst>
  <p:sldSz cx="12192000" cy="6858000"/>
  <p:notesSz cx="6858000" cy="9144000"/>
  <p:custDataLst>
    <p:tags r:id="rId2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7" name="Jenny" initials="J" lastIdx="1" clrIdx="6"/>
  <p:cmAuthor id="0" name="Stone.Xuan" initials="S" lastIdx="2" clrIdx="0"/>
  <p:cmAuthor id="1" name="Qzing_赵华" initials="ZhaoHua" lastIdx="1" clrIdx="0"/>
  <p:cmAuthor id="2" name="zhao hua" initials="zh" lastIdx="1" clrIdx="1"/>
  <p:cmAuthor id="9" name="fyxi_ly@163.com" initials="f [2] [3] [2] [5]" lastIdx="1" clrIdx="2"/>
  <p:cmAuthor id="3" name="Wang, Echo X.T. (SH/MC)" initials="WEX(" lastIdx="24" clrIdx="2"/>
  <p:cmAuthor id="10" name="Windows 用户" initials="W用" lastIdx="1" clrIdx="3"/>
  <p:cmAuthor id="11" name="作者" initials="A" lastIdx="0" clrIdx="4"/>
  <p:cmAuthor id="12" name="brad" initials="brad" lastIdx="1" clrIdx="5"/>
  <p:cmAuthor id="6" name="一凡 杨" initials="一凡" lastIdx="3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72742"/>
    <a:srgbClr val="F2F2F2"/>
    <a:srgbClr val="FFDA73"/>
    <a:srgbClr val="FFFBEF"/>
    <a:srgbClr val="F4F5F7"/>
    <a:srgbClr val="000000"/>
    <a:srgbClr val="FFE3D2"/>
    <a:srgbClr val="6A6E77"/>
    <a:srgbClr val="36CADB"/>
    <a:srgbClr val="FBE1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653" autoAdjust="0"/>
    <p:restoredTop sz="90192" autoAdjust="0"/>
  </p:normalViewPr>
  <p:slideViewPr>
    <p:cSldViewPr snapToGrid="0">
      <p:cViewPr varScale="1">
        <p:scale>
          <a:sx n="59" d="100"/>
          <a:sy n="59" d="100"/>
        </p:scale>
        <p:origin x="1128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" d="100"/>
        <a:sy n="20" d="100"/>
      </p:scale>
      <p:origin x="0" y="0"/>
    </p:cViewPr>
  </p:sorterViewPr>
  <p:notesViewPr>
    <p:cSldViewPr snapToGrid="0">
      <p:cViewPr varScale="1">
        <p:scale>
          <a:sx n="60" d="100"/>
          <a:sy n="60" d="100"/>
        </p:scale>
        <p:origin x="2580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8" Type="http://schemas.openxmlformats.org/officeDocument/2006/relationships/tags" Target="tags/tag25.xml"/><Relationship Id="rId27" Type="http://schemas.openxmlformats.org/officeDocument/2006/relationships/commentAuthors" Target="commentAuthors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E354DA-0CD6-4B0F-9DC3-EDB2645F490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A7FC7F-5DD0-4595-B784-520C0143E3C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A7FC7F-5DD0-4595-B784-520C0143E3C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待确认事项：</a:t>
            </a:r>
            <a:endParaRPr kumimoji="1" lang="en-US" altLang="zh-CN" dirty="0"/>
          </a:p>
          <a:p>
            <a:r>
              <a:rPr kumimoji="1" lang="en-US" altLang="zh-CN" dirty="0"/>
              <a:t>1</a:t>
            </a:r>
            <a:r>
              <a:rPr kumimoji="1" lang="zh-CN" altLang="en-US" dirty="0"/>
              <a:t>、外发加工付款流程待沟通</a:t>
            </a:r>
            <a:endParaRPr kumimoji="1" lang="en-US" altLang="zh-CN" dirty="0"/>
          </a:p>
          <a:p>
            <a:r>
              <a:rPr kumimoji="1" lang="en-US" altLang="zh-CN" dirty="0"/>
              <a:t>2</a:t>
            </a:r>
            <a:r>
              <a:rPr kumimoji="1" lang="zh-CN" altLang="en-US" dirty="0"/>
              <a:t>、付款审批</a:t>
            </a:r>
            <a:r>
              <a:rPr kumimoji="1" lang="en-US" altLang="zh-CN" dirty="0"/>
              <a:t>OA</a:t>
            </a:r>
            <a:r>
              <a:rPr kumimoji="1" lang="zh-CN" altLang="en-US" dirty="0"/>
              <a:t>第一节点为创建人</a:t>
            </a:r>
            <a:r>
              <a:rPr kumimoji="1" lang="en-US" altLang="zh-CN" dirty="0"/>
              <a:t>-</a:t>
            </a:r>
            <a:r>
              <a:rPr kumimoji="1" lang="zh-CN" altLang="en-US" dirty="0"/>
              <a:t>待确认</a:t>
            </a:r>
            <a:endParaRPr kumimoji="1"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dirty="0"/>
              <a:t>3</a:t>
            </a:r>
            <a:r>
              <a:rPr kumimoji="1" lang="zh-CN" altLang="en-US" dirty="0"/>
              <a:t>、货后</a:t>
            </a:r>
            <a:r>
              <a:rPr kumimoji="1" lang="en-US" altLang="zh-CN" dirty="0"/>
              <a:t>-</a:t>
            </a:r>
            <a:r>
              <a:rPr lang="zh-CN" altLang="en-US" sz="1200" b="0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承兑接收函数否需要，待出纳确认</a:t>
            </a:r>
            <a:endParaRPr lang="zh-CN" altLang="en-US" sz="1200" b="0" dirty="0"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kumimoji="1" lang="en-US" altLang="zh-CN" dirty="0"/>
              <a:t>4</a:t>
            </a:r>
            <a:r>
              <a:rPr kumimoji="1" lang="zh-CN" altLang="en-US" dirty="0"/>
              <a:t>、预付款面辅料的</a:t>
            </a:r>
            <a:r>
              <a:rPr kumimoji="1" lang="en-US" altLang="zh-CN" dirty="0"/>
              <a:t>【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辅料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千（总价）以下不用盖鲜章、提供电子档。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待确认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kumimoji="1"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kumimoji="1"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1"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OA</a:t>
            </a:r>
            <a:r>
              <a:rPr kumimoji="1"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审批界面关注点待确认、审批节点待确认</a:t>
            </a:r>
            <a:endParaRPr kumimoji="1"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kumimoji="1"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kumimoji="1"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、外发加工</a:t>
            </a:r>
            <a:r>
              <a:rPr kumimoji="1"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kumimoji="1"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月结报表（待提供）</a:t>
            </a:r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A7FC7F-5DD0-4595-B784-520C0143E3C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3"/>
          <p:cNvSpPr>
            <a:spLocks noChangeArrowheads="1"/>
          </p:cNvSpPr>
          <p:nvPr userDrawn="1"/>
        </p:nvSpPr>
        <p:spPr bwMode="auto">
          <a:xfrm>
            <a:off x="0" y="6565557"/>
            <a:ext cx="12192002" cy="292444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txBody>
          <a:bodyPr vert="horz" lIns="91440" tIns="45720" rIns="91440" bIns="45720" rtlCol="0" anchor="b">
            <a:noAutofit/>
          </a:bodyPr>
          <a:lstStyle/>
          <a:p>
            <a:pPr algn="ctr" defTabSz="685800">
              <a:lnSpc>
                <a:spcPct val="90000"/>
              </a:lnSpc>
              <a:spcBef>
                <a:spcPct val="0"/>
              </a:spcBef>
            </a:pPr>
            <a:endParaRPr lang="en-US" altLang="zh-CN" sz="1200" dirty="0">
              <a:solidFill>
                <a:schemeClr val="bg1"/>
              </a:solidFill>
              <a:latin typeface="+mj-ea"/>
              <a:ea typeface="+mj-ea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11" name="TextBox 13"/>
          <p:cNvSpPr>
            <a:spLocks noChangeArrowheads="1"/>
          </p:cNvSpPr>
          <p:nvPr userDrawn="1"/>
        </p:nvSpPr>
        <p:spPr bwMode="auto">
          <a:xfrm>
            <a:off x="-1" y="-1"/>
            <a:ext cx="12192001" cy="507625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vert="horz" lIns="91440" tIns="45720" rIns="91440" bIns="45720" rtlCol="0" anchor="b">
            <a:noAutofit/>
          </a:bodyPr>
          <a:lstStyle/>
          <a:p>
            <a:pPr algn="ctr" defTabSz="685800">
              <a:lnSpc>
                <a:spcPct val="90000"/>
              </a:lnSpc>
              <a:spcBef>
                <a:spcPct val="0"/>
              </a:spcBef>
            </a:pPr>
            <a:endParaRPr lang="en-US" altLang="zh-CN" sz="1200" dirty="0">
              <a:solidFill>
                <a:schemeClr val="bg1"/>
              </a:solidFill>
              <a:latin typeface="+mj-ea"/>
              <a:ea typeface="+mj-ea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0769" y="1011637"/>
            <a:ext cx="5702061" cy="679139"/>
          </a:xfrm>
        </p:spPr>
        <p:txBody>
          <a:bodyPr/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10" name="Rectangle 1032"/>
          <p:cNvSpPr>
            <a:spLocks noChangeArrowheads="1"/>
          </p:cNvSpPr>
          <p:nvPr userDrawn="1"/>
        </p:nvSpPr>
        <p:spPr bwMode="auto">
          <a:xfrm>
            <a:off x="199705" y="5488026"/>
            <a:ext cx="4787900" cy="838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>
              <a:defRPr/>
            </a:pPr>
            <a:endParaRPr lang="en-US" altLang="zh-CN" sz="1400" b="0" dirty="0">
              <a:solidFill>
                <a:schemeClr val="tx1">
                  <a:lumMod val="50000"/>
                  <a:lumOff val="50000"/>
                </a:schemeClr>
              </a:solidFill>
              <a:ea typeface="黑体" panose="02010609060101010101" pitchFamily="2" charset="-122"/>
              <a:cs typeface="Arial" panose="020B0604020202020204" pitchFamily="34" charset="0"/>
            </a:endParaRPr>
          </a:p>
          <a:p>
            <a:pPr>
              <a:defRPr/>
            </a:pPr>
            <a:r>
              <a:rPr lang="en-US" altLang="zh-CN" sz="1400" b="0" dirty="0">
                <a:solidFill>
                  <a:schemeClr val="tx1">
                    <a:lumMod val="50000"/>
                    <a:lumOff val="50000"/>
                  </a:schemeClr>
                </a:solidFill>
                <a:ea typeface="黑体" panose="02010609060101010101" pitchFamily="2" charset="-122"/>
                <a:cs typeface="Arial" panose="020B0604020202020204" pitchFamily="34" charset="0"/>
              </a:rPr>
              <a:t>HAND Enterprise Solutions Company Ltd.</a:t>
            </a:r>
            <a:endParaRPr lang="en-US" altLang="zh-CN" sz="1400" b="0" dirty="0">
              <a:solidFill>
                <a:schemeClr val="tx1">
                  <a:lumMod val="50000"/>
                  <a:lumOff val="50000"/>
                </a:schemeClr>
              </a:solidFill>
              <a:ea typeface="黑体" panose="02010609060101010101" pitchFamily="2" charset="-122"/>
              <a:cs typeface="Arial" panose="020B0604020202020204" pitchFamily="34" charset="0"/>
            </a:endParaRPr>
          </a:p>
          <a:p>
            <a:pPr>
              <a:defRPr/>
            </a:pPr>
            <a:r>
              <a:rPr lang="en-US" altLang="zh-CN" sz="1400" b="0" dirty="0">
                <a:solidFill>
                  <a:schemeClr val="tx1">
                    <a:lumMod val="50000"/>
                    <a:lumOff val="50000"/>
                  </a:schemeClr>
                </a:solidFill>
                <a:ea typeface="黑体" panose="02010609060101010101" pitchFamily="2" charset="-122"/>
                <a:cs typeface="Arial" panose="020B0604020202020204" pitchFamily="34" charset="0"/>
              </a:rPr>
              <a:t>www.hand-china.com</a:t>
            </a:r>
            <a:endParaRPr lang="en-US" altLang="en-US" sz="1600" b="0" dirty="0">
              <a:solidFill>
                <a:schemeClr val="tx1">
                  <a:lumMod val="50000"/>
                  <a:lumOff val="50000"/>
                </a:schemeClr>
              </a:solidFill>
              <a:latin typeface="黑体" panose="02010609060101010101" pitchFamily="2" charset="-122"/>
              <a:ea typeface="黑体" panose="02010609060101010101" pitchFamily="2" charset="-122"/>
              <a:cs typeface="Arial" panose="020B0604020202020204" pitchFamily="34" charset="0"/>
            </a:endParaRPr>
          </a:p>
        </p:txBody>
      </p:sp>
      <p:sp>
        <p:nvSpPr>
          <p:cNvPr id="12" name="Text Box 1042"/>
          <p:cNvSpPr txBox="1">
            <a:spLocks noChangeArrowheads="1"/>
          </p:cNvSpPr>
          <p:nvPr userDrawn="1"/>
        </p:nvSpPr>
        <p:spPr bwMode="auto">
          <a:xfrm>
            <a:off x="199705" y="5310878"/>
            <a:ext cx="5026260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上海汉得信息技术股份有限公司</a:t>
            </a:r>
            <a:endParaRPr kumimoji="1" lang="zh-CN" altLang="en-US" sz="20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 userDrawn="1"/>
        </p:nvCxnSpPr>
        <p:spPr bwMode="auto">
          <a:xfrm>
            <a:off x="0" y="6553200"/>
            <a:ext cx="12192000" cy="0"/>
          </a:xfrm>
          <a:prstGeom prst="line">
            <a:avLst/>
          </a:prstGeom>
          <a:solidFill>
            <a:srgbClr val="FFFF99"/>
          </a:solidFill>
          <a:ln w="952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10" name="图片 13" descr="logo.jpg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11264900" y="6596063"/>
            <a:ext cx="914400" cy="249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0327E2-17C4-431B-B5C7-D724C9A939E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TextBox 1"/>
          <p:cNvSpPr txBox="1"/>
          <p:nvPr userDrawn="1"/>
        </p:nvSpPr>
        <p:spPr>
          <a:xfrm>
            <a:off x="792480" y="2690337"/>
            <a:ext cx="10607040" cy="6975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4535" b="1" cap="all" dirty="0">
                <a:solidFill>
                  <a:schemeClr val="bg1"/>
                </a:solidFill>
                <a:latin typeface="Lato Black" panose="020F0A02020204030203" pitchFamily="34" charset="0"/>
              </a:rPr>
              <a:t>希望汉得能成为宝姿的长期合作伙伴！</a:t>
            </a:r>
            <a:endParaRPr lang="en-US" sz="4535" cap="all" dirty="0">
              <a:solidFill>
                <a:schemeClr val="bg1"/>
              </a:solidFill>
              <a:latin typeface="Lato Black" panose="020F0A02020204030203" pitchFamily="34" charset="0"/>
            </a:endParaRPr>
          </a:p>
        </p:txBody>
      </p:sp>
      <p:cxnSp>
        <p:nvCxnSpPr>
          <p:cNvPr id="8" name="Straight Connector 2"/>
          <p:cNvCxnSpPr/>
          <p:nvPr userDrawn="1"/>
        </p:nvCxnSpPr>
        <p:spPr>
          <a:xfrm>
            <a:off x="808907" y="2588824"/>
            <a:ext cx="121920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3"/>
          <p:cNvSpPr txBox="1"/>
          <p:nvPr userDrawn="1"/>
        </p:nvSpPr>
        <p:spPr>
          <a:xfrm>
            <a:off x="792480" y="3810782"/>
            <a:ext cx="10607040" cy="28732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1800" b="0" dirty="0">
                <a:solidFill>
                  <a:schemeClr val="bg1"/>
                </a:solidFill>
                <a:latin typeface="+mj-ea"/>
                <a:ea typeface="+mj-ea"/>
              </a:rPr>
              <a:t>以感恩的心服务客户！</a:t>
            </a:r>
            <a:r>
              <a:rPr lang="en-US" altLang="zh-CN" sz="1800" b="0" dirty="0">
                <a:solidFill>
                  <a:schemeClr val="bg1"/>
                </a:solidFill>
                <a:latin typeface="+mj-ea"/>
                <a:ea typeface="+mj-ea"/>
              </a:rPr>
              <a:t>Better Experience</a:t>
            </a:r>
            <a:r>
              <a:rPr lang="zh-CN" altLang="en-US" sz="1800" b="0" dirty="0">
                <a:solidFill>
                  <a:schemeClr val="bg1"/>
                </a:solidFill>
                <a:latin typeface="+mj-ea"/>
                <a:ea typeface="+mj-ea"/>
              </a:rPr>
              <a:t>！</a:t>
            </a:r>
            <a:endParaRPr lang="en-US" sz="1800" b="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grpSp>
        <p:nvGrpSpPr>
          <p:cNvPr id="10" name="Group 4"/>
          <p:cNvGrpSpPr/>
          <p:nvPr userDrawn="1"/>
        </p:nvGrpSpPr>
        <p:grpSpPr>
          <a:xfrm>
            <a:off x="914546" y="5449857"/>
            <a:ext cx="184711" cy="184711"/>
            <a:chOff x="685909" y="4075113"/>
            <a:chExt cx="150813" cy="150813"/>
          </a:xfrm>
          <a:solidFill>
            <a:srgbClr val="C00000"/>
          </a:solidFill>
        </p:grpSpPr>
        <p:sp>
          <p:nvSpPr>
            <p:cNvPr id="11" name="Oval 1125"/>
            <p:cNvSpPr>
              <a:spLocks noChangeArrowheads="1"/>
            </p:cNvSpPr>
            <p:nvPr/>
          </p:nvSpPr>
          <p:spPr bwMode="auto">
            <a:xfrm>
              <a:off x="685909" y="4075113"/>
              <a:ext cx="150813" cy="150813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12" name="Freeform 1126"/>
            <p:cNvSpPr>
              <a:spLocks noEditPoints="1"/>
            </p:cNvSpPr>
            <p:nvPr/>
          </p:nvSpPr>
          <p:spPr bwMode="auto">
            <a:xfrm>
              <a:off x="733534" y="4102100"/>
              <a:ext cx="55563" cy="98425"/>
            </a:xfrm>
            <a:custGeom>
              <a:avLst/>
              <a:gdLst>
                <a:gd name="T0" fmla="*/ 0 w 23"/>
                <a:gd name="T1" fmla="*/ 11 h 41"/>
                <a:gd name="T2" fmla="*/ 3 w 23"/>
                <a:gd name="T3" fmla="*/ 3 h 41"/>
                <a:gd name="T4" fmla="*/ 12 w 23"/>
                <a:gd name="T5" fmla="*/ 0 h 41"/>
                <a:gd name="T6" fmla="*/ 20 w 23"/>
                <a:gd name="T7" fmla="*/ 3 h 41"/>
                <a:gd name="T8" fmla="*/ 23 w 23"/>
                <a:gd name="T9" fmla="*/ 11 h 41"/>
                <a:gd name="T10" fmla="*/ 22 w 23"/>
                <a:gd name="T11" fmla="*/ 16 h 41"/>
                <a:gd name="T12" fmla="*/ 12 w 23"/>
                <a:gd name="T13" fmla="*/ 41 h 41"/>
                <a:gd name="T14" fmla="*/ 1 w 23"/>
                <a:gd name="T15" fmla="*/ 16 h 41"/>
                <a:gd name="T16" fmla="*/ 0 w 23"/>
                <a:gd name="T17" fmla="*/ 14 h 41"/>
                <a:gd name="T18" fmla="*/ 0 w 23"/>
                <a:gd name="T19" fmla="*/ 11 h 41"/>
                <a:gd name="T20" fmla="*/ 7 w 23"/>
                <a:gd name="T21" fmla="*/ 7 h 41"/>
                <a:gd name="T22" fmla="*/ 6 w 23"/>
                <a:gd name="T23" fmla="*/ 11 h 41"/>
                <a:gd name="T24" fmla="*/ 7 w 23"/>
                <a:gd name="T25" fmla="*/ 15 h 41"/>
                <a:gd name="T26" fmla="*/ 12 w 23"/>
                <a:gd name="T27" fmla="*/ 17 h 41"/>
                <a:gd name="T28" fmla="*/ 16 w 23"/>
                <a:gd name="T29" fmla="*/ 15 h 41"/>
                <a:gd name="T30" fmla="*/ 17 w 23"/>
                <a:gd name="T31" fmla="*/ 11 h 41"/>
                <a:gd name="T32" fmla="*/ 16 w 23"/>
                <a:gd name="T33" fmla="*/ 7 h 41"/>
                <a:gd name="T34" fmla="*/ 12 w 23"/>
                <a:gd name="T35" fmla="*/ 5 h 41"/>
                <a:gd name="T36" fmla="*/ 7 w 23"/>
                <a:gd name="T37" fmla="*/ 7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3" h="41">
                  <a:moveTo>
                    <a:pt x="0" y="11"/>
                  </a:moveTo>
                  <a:cubicBezTo>
                    <a:pt x="0" y="8"/>
                    <a:pt x="1" y="5"/>
                    <a:pt x="3" y="3"/>
                  </a:cubicBezTo>
                  <a:cubicBezTo>
                    <a:pt x="6" y="1"/>
                    <a:pt x="8" y="0"/>
                    <a:pt x="12" y="0"/>
                  </a:cubicBezTo>
                  <a:cubicBezTo>
                    <a:pt x="15" y="0"/>
                    <a:pt x="17" y="1"/>
                    <a:pt x="20" y="3"/>
                  </a:cubicBezTo>
                  <a:cubicBezTo>
                    <a:pt x="22" y="5"/>
                    <a:pt x="23" y="8"/>
                    <a:pt x="23" y="11"/>
                  </a:cubicBezTo>
                  <a:cubicBezTo>
                    <a:pt x="23" y="13"/>
                    <a:pt x="23" y="14"/>
                    <a:pt x="22" y="16"/>
                  </a:cubicBezTo>
                  <a:cubicBezTo>
                    <a:pt x="12" y="41"/>
                    <a:pt x="12" y="41"/>
                    <a:pt x="12" y="41"/>
                  </a:cubicBezTo>
                  <a:cubicBezTo>
                    <a:pt x="1" y="16"/>
                    <a:pt x="1" y="16"/>
                    <a:pt x="1" y="16"/>
                  </a:cubicBezTo>
                  <a:cubicBezTo>
                    <a:pt x="1" y="15"/>
                    <a:pt x="0" y="14"/>
                    <a:pt x="0" y="14"/>
                  </a:cubicBezTo>
                  <a:cubicBezTo>
                    <a:pt x="0" y="13"/>
                    <a:pt x="0" y="12"/>
                    <a:pt x="0" y="11"/>
                  </a:cubicBezTo>
                  <a:close/>
                  <a:moveTo>
                    <a:pt x="7" y="7"/>
                  </a:moveTo>
                  <a:cubicBezTo>
                    <a:pt x="6" y="8"/>
                    <a:pt x="6" y="10"/>
                    <a:pt x="6" y="11"/>
                  </a:cubicBezTo>
                  <a:cubicBezTo>
                    <a:pt x="6" y="13"/>
                    <a:pt x="6" y="14"/>
                    <a:pt x="7" y="15"/>
                  </a:cubicBezTo>
                  <a:cubicBezTo>
                    <a:pt x="9" y="16"/>
                    <a:pt x="10" y="17"/>
                    <a:pt x="12" y="17"/>
                  </a:cubicBezTo>
                  <a:cubicBezTo>
                    <a:pt x="13" y="17"/>
                    <a:pt x="14" y="16"/>
                    <a:pt x="16" y="15"/>
                  </a:cubicBezTo>
                  <a:cubicBezTo>
                    <a:pt x="17" y="14"/>
                    <a:pt x="17" y="13"/>
                    <a:pt x="17" y="11"/>
                  </a:cubicBezTo>
                  <a:cubicBezTo>
                    <a:pt x="17" y="10"/>
                    <a:pt x="17" y="8"/>
                    <a:pt x="16" y="7"/>
                  </a:cubicBezTo>
                  <a:cubicBezTo>
                    <a:pt x="14" y="6"/>
                    <a:pt x="13" y="5"/>
                    <a:pt x="12" y="5"/>
                  </a:cubicBezTo>
                  <a:cubicBezTo>
                    <a:pt x="10" y="5"/>
                    <a:pt x="9" y="6"/>
                    <a:pt x="7" y="7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</p:grpSp>
      <p:grpSp>
        <p:nvGrpSpPr>
          <p:cNvPr id="13" name="Group 15"/>
          <p:cNvGrpSpPr/>
          <p:nvPr userDrawn="1"/>
        </p:nvGrpSpPr>
        <p:grpSpPr>
          <a:xfrm>
            <a:off x="914546" y="5714439"/>
            <a:ext cx="184711" cy="184711"/>
            <a:chOff x="685909" y="4273550"/>
            <a:chExt cx="150813" cy="150813"/>
          </a:xfrm>
          <a:solidFill>
            <a:srgbClr val="C00000"/>
          </a:solidFill>
        </p:grpSpPr>
        <p:sp>
          <p:nvSpPr>
            <p:cNvPr id="14" name="Oval 1127"/>
            <p:cNvSpPr>
              <a:spLocks noChangeArrowheads="1"/>
            </p:cNvSpPr>
            <p:nvPr/>
          </p:nvSpPr>
          <p:spPr bwMode="auto">
            <a:xfrm>
              <a:off x="685909" y="4273550"/>
              <a:ext cx="150813" cy="150813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15" name="Freeform 1130"/>
            <p:cNvSpPr/>
            <p:nvPr/>
          </p:nvSpPr>
          <p:spPr bwMode="auto">
            <a:xfrm>
              <a:off x="714484" y="4302125"/>
              <a:ext cx="90488" cy="92075"/>
            </a:xfrm>
            <a:custGeom>
              <a:avLst/>
              <a:gdLst>
                <a:gd name="T0" fmla="*/ 22 w 38"/>
                <a:gd name="T1" fmla="*/ 22 h 38"/>
                <a:gd name="T2" fmla="*/ 13 w 38"/>
                <a:gd name="T3" fmla="*/ 27 h 38"/>
                <a:gd name="T4" fmla="*/ 5 w 38"/>
                <a:gd name="T5" fmla="*/ 27 h 38"/>
                <a:gd name="T6" fmla="*/ 6 w 38"/>
                <a:gd name="T7" fmla="*/ 36 h 38"/>
                <a:gd name="T8" fmla="*/ 27 w 38"/>
                <a:gd name="T9" fmla="*/ 27 h 38"/>
                <a:gd name="T10" fmla="*/ 36 w 38"/>
                <a:gd name="T11" fmla="*/ 6 h 38"/>
                <a:gd name="T12" fmla="*/ 27 w 38"/>
                <a:gd name="T13" fmla="*/ 5 h 38"/>
                <a:gd name="T14" fmla="*/ 27 w 38"/>
                <a:gd name="T15" fmla="*/ 13 h 38"/>
                <a:gd name="T16" fmla="*/ 22 w 38"/>
                <a:gd name="T17" fmla="*/ 22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8" h="38">
                  <a:moveTo>
                    <a:pt x="22" y="22"/>
                  </a:moveTo>
                  <a:cubicBezTo>
                    <a:pt x="19" y="26"/>
                    <a:pt x="15" y="29"/>
                    <a:pt x="13" y="27"/>
                  </a:cubicBezTo>
                  <a:cubicBezTo>
                    <a:pt x="11" y="25"/>
                    <a:pt x="10" y="23"/>
                    <a:pt x="5" y="27"/>
                  </a:cubicBezTo>
                  <a:cubicBezTo>
                    <a:pt x="0" y="31"/>
                    <a:pt x="4" y="34"/>
                    <a:pt x="6" y="36"/>
                  </a:cubicBezTo>
                  <a:cubicBezTo>
                    <a:pt x="8" y="38"/>
                    <a:pt x="18" y="36"/>
                    <a:pt x="27" y="27"/>
                  </a:cubicBezTo>
                  <a:cubicBezTo>
                    <a:pt x="36" y="18"/>
                    <a:pt x="38" y="8"/>
                    <a:pt x="36" y="6"/>
                  </a:cubicBezTo>
                  <a:cubicBezTo>
                    <a:pt x="33" y="4"/>
                    <a:pt x="31" y="0"/>
                    <a:pt x="27" y="5"/>
                  </a:cubicBezTo>
                  <a:cubicBezTo>
                    <a:pt x="23" y="10"/>
                    <a:pt x="25" y="11"/>
                    <a:pt x="27" y="13"/>
                  </a:cubicBezTo>
                  <a:cubicBezTo>
                    <a:pt x="29" y="15"/>
                    <a:pt x="25" y="19"/>
                    <a:pt x="22" y="22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</p:grpSp>
      <p:grpSp>
        <p:nvGrpSpPr>
          <p:cNvPr id="16" name="Group 16"/>
          <p:cNvGrpSpPr/>
          <p:nvPr userDrawn="1"/>
        </p:nvGrpSpPr>
        <p:grpSpPr>
          <a:xfrm>
            <a:off x="914546" y="5983257"/>
            <a:ext cx="184711" cy="184711"/>
            <a:chOff x="685909" y="4475163"/>
            <a:chExt cx="150813" cy="150813"/>
          </a:xfrm>
          <a:solidFill>
            <a:srgbClr val="C00000"/>
          </a:solidFill>
        </p:grpSpPr>
        <p:sp>
          <p:nvSpPr>
            <p:cNvPr id="17" name="Oval 1128"/>
            <p:cNvSpPr>
              <a:spLocks noChangeArrowheads="1"/>
            </p:cNvSpPr>
            <p:nvPr/>
          </p:nvSpPr>
          <p:spPr bwMode="auto">
            <a:xfrm>
              <a:off x="685909" y="4475163"/>
              <a:ext cx="150813" cy="150813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18" name="Freeform 1141"/>
            <p:cNvSpPr>
              <a:spLocks noEditPoints="1"/>
            </p:cNvSpPr>
            <p:nvPr/>
          </p:nvSpPr>
          <p:spPr bwMode="auto">
            <a:xfrm>
              <a:off x="724913" y="4524377"/>
              <a:ext cx="82692" cy="52386"/>
            </a:xfrm>
            <a:custGeom>
              <a:avLst/>
              <a:gdLst>
                <a:gd name="T0" fmla="*/ 532 w 543"/>
                <a:gd name="T1" fmla="*/ 91 h 344"/>
                <a:gd name="T2" fmla="*/ 532 w 543"/>
                <a:gd name="T3" fmla="*/ 91 h 344"/>
                <a:gd name="T4" fmla="*/ 297 w 543"/>
                <a:gd name="T5" fmla="*/ 211 h 344"/>
                <a:gd name="T6" fmla="*/ 284 w 543"/>
                <a:gd name="T7" fmla="*/ 217 h 344"/>
                <a:gd name="T8" fmla="*/ 271 w 543"/>
                <a:gd name="T9" fmla="*/ 217 h 344"/>
                <a:gd name="T10" fmla="*/ 257 w 543"/>
                <a:gd name="T11" fmla="*/ 217 h 344"/>
                <a:gd name="T12" fmla="*/ 244 w 543"/>
                <a:gd name="T13" fmla="*/ 211 h 344"/>
                <a:gd name="T14" fmla="*/ 11 w 543"/>
                <a:gd name="T15" fmla="*/ 91 h 344"/>
                <a:gd name="T16" fmla="*/ 4 w 543"/>
                <a:gd name="T17" fmla="*/ 89 h 344"/>
                <a:gd name="T18" fmla="*/ 0 w 543"/>
                <a:gd name="T19" fmla="*/ 91 h 344"/>
                <a:gd name="T20" fmla="*/ 0 w 543"/>
                <a:gd name="T21" fmla="*/ 93 h 344"/>
                <a:gd name="T22" fmla="*/ 0 w 543"/>
                <a:gd name="T23" fmla="*/ 99 h 344"/>
                <a:gd name="T24" fmla="*/ 0 w 543"/>
                <a:gd name="T25" fmla="*/ 317 h 344"/>
                <a:gd name="T26" fmla="*/ 0 w 543"/>
                <a:gd name="T27" fmla="*/ 321 h 344"/>
                <a:gd name="T28" fmla="*/ 2 w 543"/>
                <a:gd name="T29" fmla="*/ 327 h 344"/>
                <a:gd name="T30" fmla="*/ 9 w 543"/>
                <a:gd name="T31" fmla="*/ 334 h 344"/>
                <a:gd name="T32" fmla="*/ 21 w 543"/>
                <a:gd name="T33" fmla="*/ 342 h 344"/>
                <a:gd name="T34" fmla="*/ 24 w 543"/>
                <a:gd name="T35" fmla="*/ 344 h 344"/>
                <a:gd name="T36" fmla="*/ 30 w 543"/>
                <a:gd name="T37" fmla="*/ 344 h 344"/>
                <a:gd name="T38" fmla="*/ 513 w 543"/>
                <a:gd name="T39" fmla="*/ 344 h 344"/>
                <a:gd name="T40" fmla="*/ 517 w 543"/>
                <a:gd name="T41" fmla="*/ 344 h 344"/>
                <a:gd name="T42" fmla="*/ 522 w 543"/>
                <a:gd name="T43" fmla="*/ 342 h 344"/>
                <a:gd name="T44" fmla="*/ 534 w 543"/>
                <a:gd name="T45" fmla="*/ 334 h 344"/>
                <a:gd name="T46" fmla="*/ 539 w 543"/>
                <a:gd name="T47" fmla="*/ 327 h 344"/>
                <a:gd name="T48" fmla="*/ 541 w 543"/>
                <a:gd name="T49" fmla="*/ 321 h 344"/>
                <a:gd name="T50" fmla="*/ 543 w 543"/>
                <a:gd name="T51" fmla="*/ 317 h 344"/>
                <a:gd name="T52" fmla="*/ 543 w 543"/>
                <a:gd name="T53" fmla="*/ 99 h 344"/>
                <a:gd name="T54" fmla="*/ 543 w 543"/>
                <a:gd name="T55" fmla="*/ 93 h 344"/>
                <a:gd name="T56" fmla="*/ 541 w 543"/>
                <a:gd name="T57" fmla="*/ 91 h 344"/>
                <a:gd name="T58" fmla="*/ 537 w 543"/>
                <a:gd name="T59" fmla="*/ 89 h 344"/>
                <a:gd name="T60" fmla="*/ 532 w 543"/>
                <a:gd name="T61" fmla="*/ 91 h 344"/>
                <a:gd name="T62" fmla="*/ 19 w 543"/>
                <a:gd name="T63" fmla="*/ 31 h 344"/>
                <a:gd name="T64" fmla="*/ 19 w 543"/>
                <a:gd name="T65" fmla="*/ 31 h 344"/>
                <a:gd name="T66" fmla="*/ 244 w 543"/>
                <a:gd name="T67" fmla="*/ 153 h 344"/>
                <a:gd name="T68" fmla="*/ 257 w 543"/>
                <a:gd name="T69" fmla="*/ 156 h 344"/>
                <a:gd name="T70" fmla="*/ 271 w 543"/>
                <a:gd name="T71" fmla="*/ 158 h 344"/>
                <a:gd name="T72" fmla="*/ 286 w 543"/>
                <a:gd name="T73" fmla="*/ 156 h 344"/>
                <a:gd name="T74" fmla="*/ 297 w 543"/>
                <a:gd name="T75" fmla="*/ 153 h 344"/>
                <a:gd name="T76" fmla="*/ 524 w 543"/>
                <a:gd name="T77" fmla="*/ 31 h 344"/>
                <a:gd name="T78" fmla="*/ 530 w 543"/>
                <a:gd name="T79" fmla="*/ 29 h 344"/>
                <a:gd name="T80" fmla="*/ 535 w 543"/>
                <a:gd name="T81" fmla="*/ 24 h 344"/>
                <a:gd name="T82" fmla="*/ 539 w 543"/>
                <a:gd name="T83" fmla="*/ 18 h 344"/>
                <a:gd name="T84" fmla="*/ 541 w 543"/>
                <a:gd name="T85" fmla="*/ 14 h 344"/>
                <a:gd name="T86" fmla="*/ 541 w 543"/>
                <a:gd name="T87" fmla="*/ 10 h 344"/>
                <a:gd name="T88" fmla="*/ 539 w 543"/>
                <a:gd name="T89" fmla="*/ 4 h 344"/>
                <a:gd name="T90" fmla="*/ 535 w 543"/>
                <a:gd name="T91" fmla="*/ 0 h 344"/>
                <a:gd name="T92" fmla="*/ 524 w 543"/>
                <a:gd name="T93" fmla="*/ 0 h 344"/>
                <a:gd name="T94" fmla="*/ 17 w 543"/>
                <a:gd name="T95" fmla="*/ 0 h 344"/>
                <a:gd name="T96" fmla="*/ 8 w 543"/>
                <a:gd name="T97" fmla="*/ 0 h 344"/>
                <a:gd name="T98" fmla="*/ 2 w 543"/>
                <a:gd name="T99" fmla="*/ 4 h 344"/>
                <a:gd name="T100" fmla="*/ 0 w 543"/>
                <a:gd name="T101" fmla="*/ 10 h 344"/>
                <a:gd name="T102" fmla="*/ 0 w 543"/>
                <a:gd name="T103" fmla="*/ 14 h 344"/>
                <a:gd name="T104" fmla="*/ 4 w 543"/>
                <a:gd name="T105" fmla="*/ 18 h 344"/>
                <a:gd name="T106" fmla="*/ 6 w 543"/>
                <a:gd name="T107" fmla="*/ 24 h 344"/>
                <a:gd name="T108" fmla="*/ 11 w 543"/>
                <a:gd name="T109" fmla="*/ 29 h 344"/>
                <a:gd name="T110" fmla="*/ 19 w 543"/>
                <a:gd name="T111" fmla="*/ 31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543" h="344">
                  <a:moveTo>
                    <a:pt x="532" y="91"/>
                  </a:moveTo>
                  <a:lnTo>
                    <a:pt x="532" y="91"/>
                  </a:lnTo>
                  <a:lnTo>
                    <a:pt x="297" y="211"/>
                  </a:lnTo>
                  <a:lnTo>
                    <a:pt x="284" y="217"/>
                  </a:lnTo>
                  <a:lnTo>
                    <a:pt x="271" y="217"/>
                  </a:lnTo>
                  <a:lnTo>
                    <a:pt x="257" y="217"/>
                  </a:lnTo>
                  <a:lnTo>
                    <a:pt x="244" y="211"/>
                  </a:lnTo>
                  <a:lnTo>
                    <a:pt x="11" y="91"/>
                  </a:lnTo>
                  <a:lnTo>
                    <a:pt x="4" y="89"/>
                  </a:lnTo>
                  <a:lnTo>
                    <a:pt x="0" y="91"/>
                  </a:lnTo>
                  <a:lnTo>
                    <a:pt x="0" y="93"/>
                  </a:lnTo>
                  <a:lnTo>
                    <a:pt x="0" y="99"/>
                  </a:lnTo>
                  <a:lnTo>
                    <a:pt x="0" y="317"/>
                  </a:lnTo>
                  <a:lnTo>
                    <a:pt x="0" y="321"/>
                  </a:lnTo>
                  <a:lnTo>
                    <a:pt x="2" y="327"/>
                  </a:lnTo>
                  <a:lnTo>
                    <a:pt x="9" y="334"/>
                  </a:lnTo>
                  <a:lnTo>
                    <a:pt x="21" y="342"/>
                  </a:lnTo>
                  <a:lnTo>
                    <a:pt x="24" y="344"/>
                  </a:lnTo>
                  <a:lnTo>
                    <a:pt x="30" y="344"/>
                  </a:lnTo>
                  <a:lnTo>
                    <a:pt x="513" y="344"/>
                  </a:lnTo>
                  <a:lnTo>
                    <a:pt x="517" y="344"/>
                  </a:lnTo>
                  <a:lnTo>
                    <a:pt x="522" y="342"/>
                  </a:lnTo>
                  <a:lnTo>
                    <a:pt x="534" y="334"/>
                  </a:lnTo>
                  <a:lnTo>
                    <a:pt x="539" y="327"/>
                  </a:lnTo>
                  <a:lnTo>
                    <a:pt x="541" y="321"/>
                  </a:lnTo>
                  <a:lnTo>
                    <a:pt x="543" y="317"/>
                  </a:lnTo>
                  <a:lnTo>
                    <a:pt x="543" y="99"/>
                  </a:lnTo>
                  <a:lnTo>
                    <a:pt x="543" y="93"/>
                  </a:lnTo>
                  <a:lnTo>
                    <a:pt x="541" y="91"/>
                  </a:lnTo>
                  <a:lnTo>
                    <a:pt x="537" y="89"/>
                  </a:lnTo>
                  <a:lnTo>
                    <a:pt x="532" y="91"/>
                  </a:lnTo>
                  <a:close/>
                  <a:moveTo>
                    <a:pt x="19" y="31"/>
                  </a:moveTo>
                  <a:lnTo>
                    <a:pt x="19" y="31"/>
                  </a:lnTo>
                  <a:lnTo>
                    <a:pt x="244" y="153"/>
                  </a:lnTo>
                  <a:lnTo>
                    <a:pt x="257" y="156"/>
                  </a:lnTo>
                  <a:lnTo>
                    <a:pt x="271" y="158"/>
                  </a:lnTo>
                  <a:lnTo>
                    <a:pt x="286" y="156"/>
                  </a:lnTo>
                  <a:lnTo>
                    <a:pt x="297" y="153"/>
                  </a:lnTo>
                  <a:lnTo>
                    <a:pt x="524" y="31"/>
                  </a:lnTo>
                  <a:lnTo>
                    <a:pt x="530" y="29"/>
                  </a:lnTo>
                  <a:lnTo>
                    <a:pt x="535" y="24"/>
                  </a:lnTo>
                  <a:lnTo>
                    <a:pt x="539" y="18"/>
                  </a:lnTo>
                  <a:lnTo>
                    <a:pt x="541" y="14"/>
                  </a:lnTo>
                  <a:lnTo>
                    <a:pt x="541" y="10"/>
                  </a:lnTo>
                  <a:lnTo>
                    <a:pt x="539" y="4"/>
                  </a:lnTo>
                  <a:lnTo>
                    <a:pt x="535" y="0"/>
                  </a:lnTo>
                  <a:lnTo>
                    <a:pt x="524" y="0"/>
                  </a:lnTo>
                  <a:lnTo>
                    <a:pt x="17" y="0"/>
                  </a:lnTo>
                  <a:lnTo>
                    <a:pt x="8" y="0"/>
                  </a:lnTo>
                  <a:lnTo>
                    <a:pt x="2" y="4"/>
                  </a:lnTo>
                  <a:lnTo>
                    <a:pt x="0" y="10"/>
                  </a:lnTo>
                  <a:lnTo>
                    <a:pt x="0" y="14"/>
                  </a:lnTo>
                  <a:lnTo>
                    <a:pt x="4" y="18"/>
                  </a:lnTo>
                  <a:lnTo>
                    <a:pt x="6" y="24"/>
                  </a:lnTo>
                  <a:lnTo>
                    <a:pt x="11" y="29"/>
                  </a:lnTo>
                  <a:lnTo>
                    <a:pt x="19" y="3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</p:grpSp>
      <p:sp>
        <p:nvSpPr>
          <p:cNvPr id="19" name="TextBox 11"/>
          <p:cNvSpPr txBox="1"/>
          <p:nvPr userDrawn="1"/>
        </p:nvSpPr>
        <p:spPr>
          <a:xfrm>
            <a:off x="1235857" y="5451974"/>
            <a:ext cx="2195404" cy="1642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1065" dirty="0">
                <a:solidFill>
                  <a:schemeClr val="bg1"/>
                </a:solidFill>
                <a:latin typeface="Lato" panose="020F0502020204030203" pitchFamily="34" charset="0"/>
                <a:ea typeface="Roboto" panose="02000000000000000000" pitchFamily="2" charset="0"/>
              </a:rPr>
              <a:t>青浦区汇联路</a:t>
            </a:r>
            <a:r>
              <a:rPr lang="en-US" altLang="zh-CN" sz="1065" dirty="0">
                <a:solidFill>
                  <a:schemeClr val="bg1"/>
                </a:solidFill>
                <a:latin typeface="Lato" panose="020F0502020204030203" pitchFamily="34" charset="0"/>
                <a:ea typeface="Roboto" panose="02000000000000000000" pitchFamily="2" charset="0"/>
              </a:rPr>
              <a:t>33</a:t>
            </a:r>
            <a:r>
              <a:rPr lang="zh-CN" altLang="en-US" sz="1065" dirty="0">
                <a:solidFill>
                  <a:schemeClr val="bg1"/>
                </a:solidFill>
                <a:latin typeface="Lato" panose="020F0502020204030203" pitchFamily="34" charset="0"/>
                <a:ea typeface="Roboto" panose="02000000000000000000" pitchFamily="2" charset="0"/>
              </a:rPr>
              <a:t>号，上海，中国</a:t>
            </a:r>
            <a:endParaRPr lang="en-US" sz="1065" dirty="0">
              <a:solidFill>
                <a:schemeClr val="bg1"/>
              </a:solidFill>
              <a:latin typeface="Lato" panose="020F0502020204030203" pitchFamily="34" charset="0"/>
              <a:ea typeface="Roboto" panose="02000000000000000000" pitchFamily="2" charset="0"/>
            </a:endParaRPr>
          </a:p>
        </p:txBody>
      </p:sp>
      <p:sp>
        <p:nvSpPr>
          <p:cNvPr id="20" name="TextBox 12"/>
          <p:cNvSpPr txBox="1"/>
          <p:nvPr userDrawn="1"/>
        </p:nvSpPr>
        <p:spPr>
          <a:xfrm>
            <a:off x="1235857" y="5714440"/>
            <a:ext cx="2195404" cy="1642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65" dirty="0">
                <a:solidFill>
                  <a:schemeClr val="bg1"/>
                </a:solidFill>
                <a:latin typeface="Lato" panose="020F0502020204030203" pitchFamily="34" charset="0"/>
                <a:ea typeface="Roboto" panose="02000000000000000000" pitchFamily="2" charset="0"/>
              </a:rPr>
              <a:t>021</a:t>
            </a:r>
            <a:r>
              <a:rPr lang="en-US" altLang="zh-CN" sz="1065" dirty="0">
                <a:solidFill>
                  <a:schemeClr val="bg1"/>
                </a:solidFill>
                <a:latin typeface="Lato" panose="020F0502020204030203" pitchFamily="34" charset="0"/>
                <a:ea typeface="Roboto" panose="02000000000000000000" pitchFamily="2" charset="0"/>
              </a:rPr>
              <a:t>-6700 2300</a:t>
            </a:r>
            <a:endParaRPr lang="en-US" sz="1065" dirty="0">
              <a:solidFill>
                <a:schemeClr val="bg1"/>
              </a:solidFill>
              <a:latin typeface="Lato" panose="020F0502020204030203" pitchFamily="34" charset="0"/>
              <a:ea typeface="Roboto" panose="02000000000000000000" pitchFamily="2" charset="0"/>
            </a:endParaRPr>
          </a:p>
        </p:txBody>
      </p:sp>
      <p:sp>
        <p:nvSpPr>
          <p:cNvPr id="21" name="TextBox 13"/>
          <p:cNvSpPr txBox="1"/>
          <p:nvPr userDrawn="1"/>
        </p:nvSpPr>
        <p:spPr>
          <a:xfrm>
            <a:off x="1235857" y="5985374"/>
            <a:ext cx="2195404" cy="1642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1065" dirty="0">
                <a:solidFill>
                  <a:schemeClr val="bg1"/>
                </a:solidFill>
                <a:latin typeface="Lato" panose="020F0502020204030203" pitchFamily="34" charset="0"/>
                <a:ea typeface="Roboto" panose="02000000000000000000" pitchFamily="2" charset="0"/>
              </a:rPr>
              <a:t>sales@hand-china.com</a:t>
            </a:r>
            <a:endParaRPr lang="en-US" sz="1065" dirty="0">
              <a:solidFill>
                <a:schemeClr val="bg1"/>
              </a:solidFill>
              <a:latin typeface="Lato" panose="020F0502020204030203" pitchFamily="34" charset="0"/>
              <a:ea typeface="Roboto" panose="02000000000000000000" pitchFamily="2" charset="0"/>
            </a:endParaRPr>
          </a:p>
        </p:txBody>
      </p:sp>
      <p:sp>
        <p:nvSpPr>
          <p:cNvPr id="22" name="TextBox 14"/>
          <p:cNvSpPr txBox="1"/>
          <p:nvPr userDrawn="1"/>
        </p:nvSpPr>
        <p:spPr>
          <a:xfrm>
            <a:off x="892956" y="5022247"/>
            <a:ext cx="2538304" cy="2051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335" b="1" dirty="0">
                <a:solidFill>
                  <a:schemeClr val="bg1"/>
                </a:solidFill>
                <a:latin typeface="Lato" panose="020F0502020204030203" pitchFamily="34" charset="0"/>
                <a:ea typeface="Roboto" panose="02000000000000000000" pitchFamily="2" charset="0"/>
              </a:rPr>
              <a:t>Contact us:</a:t>
            </a:r>
            <a:endParaRPr lang="en-US" sz="1335" b="1" dirty="0">
              <a:solidFill>
                <a:schemeClr val="bg1"/>
              </a:solidFill>
              <a:latin typeface="Lato" panose="020F0502020204030203" pitchFamily="34" charset="0"/>
              <a:ea typeface="Roboto" panose="02000000000000000000" pitchFamily="2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0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5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0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5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9" grpId="0"/>
      <p:bldP spid="20" grpId="0"/>
      <p:bldP spid="21" grpId="0"/>
      <p:bldP spid="22" grpId="0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0327E2-17C4-431B-B5C7-D724C9A939E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327E2-17C4-431B-B5C7-D724C9A939E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智数部PPT-正文背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文本占位符 11"/>
          <p:cNvSpPr>
            <a:spLocks noGrp="1"/>
          </p:cNvSpPr>
          <p:nvPr>
            <p:ph type="body" sz="quarter" idx="10" hasCustomPrompt="1"/>
          </p:nvPr>
        </p:nvSpPr>
        <p:spPr>
          <a:xfrm>
            <a:off x="697140" y="295632"/>
            <a:ext cx="8301717" cy="3474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2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kumimoji="1" lang="zh-CN" altLang="en-US" dirty="0"/>
              <a:t>单击此处编辑母版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5401732" y="6240463"/>
            <a:ext cx="1388536" cy="206381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69924" y="6240463"/>
            <a:ext cx="4140201" cy="206381"/>
          </a:xfrm>
        </p:spPr>
        <p:txBody>
          <a:bodyPr/>
          <a:lstStyle/>
          <a:p>
            <a:r>
              <a:rPr lang="zh-CN" altLang="en-US"/>
              <a:t>请在插入菜单</a:t>
            </a:r>
            <a:r>
              <a:rPr lang="en-US" altLang="zh-CN"/>
              <a:t>—</a:t>
            </a:r>
            <a:r>
              <a:rPr lang="zh-CN" altLang="en-US"/>
              <a:t>页眉和页脚中修改此文本</a:t>
            </a:r>
            <a:endParaRPr lang="zh-CN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3"/>
          <p:cNvSpPr>
            <a:spLocks noChangeArrowheads="1"/>
          </p:cNvSpPr>
          <p:nvPr userDrawn="1"/>
        </p:nvSpPr>
        <p:spPr bwMode="auto">
          <a:xfrm>
            <a:off x="0" y="6565557"/>
            <a:ext cx="12192002" cy="292444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txBody>
          <a:bodyPr vert="horz" lIns="91440" tIns="45720" rIns="91440" bIns="45720" rtlCol="0" anchor="b">
            <a:noAutofit/>
          </a:bodyPr>
          <a:lstStyle/>
          <a:p>
            <a:pPr algn="ctr" defTabSz="685800">
              <a:lnSpc>
                <a:spcPct val="90000"/>
              </a:lnSpc>
              <a:spcBef>
                <a:spcPct val="0"/>
              </a:spcBef>
            </a:pPr>
            <a:endParaRPr lang="en-US" altLang="zh-CN" sz="1200" dirty="0">
              <a:solidFill>
                <a:schemeClr val="bg1"/>
              </a:solidFill>
              <a:latin typeface="+mj-ea"/>
              <a:ea typeface="+mj-ea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11" name="TextBox 13"/>
          <p:cNvSpPr>
            <a:spLocks noChangeArrowheads="1"/>
          </p:cNvSpPr>
          <p:nvPr userDrawn="1"/>
        </p:nvSpPr>
        <p:spPr bwMode="auto">
          <a:xfrm>
            <a:off x="-1" y="-1"/>
            <a:ext cx="12192001" cy="507625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vert="horz" lIns="91440" tIns="45720" rIns="91440" bIns="45720" rtlCol="0" anchor="b">
            <a:noAutofit/>
          </a:bodyPr>
          <a:lstStyle/>
          <a:p>
            <a:pPr algn="ctr" defTabSz="685800">
              <a:lnSpc>
                <a:spcPct val="90000"/>
              </a:lnSpc>
              <a:spcBef>
                <a:spcPct val="0"/>
              </a:spcBef>
            </a:pPr>
            <a:endParaRPr lang="en-US" altLang="zh-CN" sz="1200" dirty="0">
              <a:solidFill>
                <a:schemeClr val="bg1"/>
              </a:solidFill>
              <a:latin typeface="+mj-ea"/>
              <a:ea typeface="+mj-ea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0769" y="1011637"/>
            <a:ext cx="5702061" cy="679139"/>
          </a:xfrm>
        </p:spPr>
        <p:txBody>
          <a:bodyPr/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10" name="Rectangle 1032"/>
          <p:cNvSpPr>
            <a:spLocks noChangeArrowheads="1"/>
          </p:cNvSpPr>
          <p:nvPr userDrawn="1"/>
        </p:nvSpPr>
        <p:spPr bwMode="auto">
          <a:xfrm>
            <a:off x="199705" y="5488026"/>
            <a:ext cx="4787900" cy="838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>
              <a:defRPr/>
            </a:pPr>
            <a:endParaRPr lang="en-US" altLang="zh-CN" sz="1400" b="0" dirty="0">
              <a:solidFill>
                <a:schemeClr val="tx1">
                  <a:lumMod val="50000"/>
                  <a:lumOff val="50000"/>
                </a:schemeClr>
              </a:solidFill>
              <a:ea typeface="黑体" panose="02010609060101010101" pitchFamily="2" charset="-122"/>
              <a:cs typeface="Arial" panose="020B0604020202020204" pitchFamily="34" charset="0"/>
            </a:endParaRPr>
          </a:p>
          <a:p>
            <a:pPr>
              <a:defRPr/>
            </a:pPr>
            <a:r>
              <a:rPr lang="en-US" altLang="zh-CN" sz="1400" b="0" dirty="0">
                <a:solidFill>
                  <a:schemeClr val="tx1">
                    <a:lumMod val="50000"/>
                    <a:lumOff val="50000"/>
                  </a:schemeClr>
                </a:solidFill>
                <a:ea typeface="黑体" panose="02010609060101010101" pitchFamily="2" charset="-122"/>
                <a:cs typeface="Arial" panose="020B0604020202020204" pitchFamily="34" charset="0"/>
              </a:rPr>
              <a:t>HAND Enterprise Solutions Company Ltd.</a:t>
            </a:r>
            <a:endParaRPr lang="en-US" altLang="zh-CN" sz="1400" b="0" dirty="0">
              <a:solidFill>
                <a:schemeClr val="tx1">
                  <a:lumMod val="50000"/>
                  <a:lumOff val="50000"/>
                </a:schemeClr>
              </a:solidFill>
              <a:ea typeface="黑体" panose="02010609060101010101" pitchFamily="2" charset="-122"/>
              <a:cs typeface="Arial" panose="020B0604020202020204" pitchFamily="34" charset="0"/>
            </a:endParaRPr>
          </a:p>
          <a:p>
            <a:pPr>
              <a:defRPr/>
            </a:pPr>
            <a:r>
              <a:rPr lang="en-US" altLang="zh-CN" sz="1400" b="0" dirty="0">
                <a:solidFill>
                  <a:schemeClr val="tx1">
                    <a:lumMod val="50000"/>
                    <a:lumOff val="50000"/>
                  </a:schemeClr>
                </a:solidFill>
                <a:ea typeface="黑体" panose="02010609060101010101" pitchFamily="2" charset="-122"/>
                <a:cs typeface="Arial" panose="020B0604020202020204" pitchFamily="34" charset="0"/>
              </a:rPr>
              <a:t>www.hand-china.com</a:t>
            </a:r>
            <a:endParaRPr lang="en-US" altLang="en-US" sz="1600" b="0" dirty="0">
              <a:solidFill>
                <a:schemeClr val="tx1">
                  <a:lumMod val="50000"/>
                  <a:lumOff val="50000"/>
                </a:schemeClr>
              </a:solidFill>
              <a:latin typeface="黑体" panose="02010609060101010101" pitchFamily="2" charset="-122"/>
              <a:ea typeface="黑体" panose="02010609060101010101" pitchFamily="2" charset="-122"/>
              <a:cs typeface="Arial" panose="020B0604020202020204" pitchFamily="34" charset="0"/>
            </a:endParaRPr>
          </a:p>
        </p:txBody>
      </p:sp>
      <p:sp>
        <p:nvSpPr>
          <p:cNvPr id="12" name="Text Box 1042"/>
          <p:cNvSpPr txBox="1">
            <a:spLocks noChangeArrowheads="1"/>
          </p:cNvSpPr>
          <p:nvPr userDrawn="1"/>
        </p:nvSpPr>
        <p:spPr bwMode="auto">
          <a:xfrm>
            <a:off x="199705" y="5310878"/>
            <a:ext cx="5026260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上海汉得信息技术股份有限公司</a:t>
            </a:r>
            <a:endParaRPr kumimoji="1" lang="zh-CN" altLang="en-US" sz="20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 userDrawn="1"/>
        </p:nvCxnSpPr>
        <p:spPr bwMode="auto">
          <a:xfrm>
            <a:off x="0" y="6553200"/>
            <a:ext cx="12192000" cy="0"/>
          </a:xfrm>
          <a:prstGeom prst="line">
            <a:avLst/>
          </a:prstGeom>
          <a:solidFill>
            <a:srgbClr val="FFFF99"/>
          </a:solidFill>
          <a:ln w="952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10" name="图片 13" descr="logo.jpg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11264900" y="6596063"/>
            <a:ext cx="914400" cy="249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0327E2-17C4-431B-B5C7-D724C9A939E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TextBox 1"/>
          <p:cNvSpPr txBox="1"/>
          <p:nvPr userDrawn="1"/>
        </p:nvSpPr>
        <p:spPr>
          <a:xfrm>
            <a:off x="792480" y="2690337"/>
            <a:ext cx="10607040" cy="6975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4535" b="1" cap="all" dirty="0">
                <a:solidFill>
                  <a:schemeClr val="bg1"/>
                </a:solidFill>
                <a:latin typeface="Lato Black" panose="020F0A02020204030203" pitchFamily="34" charset="0"/>
              </a:rPr>
              <a:t>希望汉得能成为宝姿的长期合作伙伴！</a:t>
            </a:r>
            <a:endParaRPr lang="en-US" sz="4535" cap="all" dirty="0">
              <a:solidFill>
                <a:schemeClr val="bg1"/>
              </a:solidFill>
              <a:latin typeface="Lato Black" panose="020F0A02020204030203" pitchFamily="34" charset="0"/>
            </a:endParaRPr>
          </a:p>
        </p:txBody>
      </p:sp>
      <p:cxnSp>
        <p:nvCxnSpPr>
          <p:cNvPr id="8" name="Straight Connector 2"/>
          <p:cNvCxnSpPr/>
          <p:nvPr userDrawn="1"/>
        </p:nvCxnSpPr>
        <p:spPr>
          <a:xfrm>
            <a:off x="808907" y="2588824"/>
            <a:ext cx="121920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3"/>
          <p:cNvSpPr txBox="1"/>
          <p:nvPr userDrawn="1"/>
        </p:nvSpPr>
        <p:spPr>
          <a:xfrm>
            <a:off x="792480" y="3810782"/>
            <a:ext cx="10607040" cy="28732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1800" b="0" dirty="0">
                <a:solidFill>
                  <a:schemeClr val="bg1"/>
                </a:solidFill>
                <a:latin typeface="+mj-ea"/>
                <a:ea typeface="+mj-ea"/>
              </a:rPr>
              <a:t>以感恩的心服务客户！</a:t>
            </a:r>
            <a:r>
              <a:rPr lang="en-US" altLang="zh-CN" sz="1800" b="0" dirty="0">
                <a:solidFill>
                  <a:schemeClr val="bg1"/>
                </a:solidFill>
                <a:latin typeface="+mj-ea"/>
                <a:ea typeface="+mj-ea"/>
              </a:rPr>
              <a:t>Better Experience</a:t>
            </a:r>
            <a:r>
              <a:rPr lang="zh-CN" altLang="en-US" sz="1800" b="0" dirty="0">
                <a:solidFill>
                  <a:schemeClr val="bg1"/>
                </a:solidFill>
                <a:latin typeface="+mj-ea"/>
                <a:ea typeface="+mj-ea"/>
              </a:rPr>
              <a:t>！</a:t>
            </a:r>
            <a:endParaRPr lang="en-US" sz="1800" b="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grpSp>
        <p:nvGrpSpPr>
          <p:cNvPr id="10" name="Group 4"/>
          <p:cNvGrpSpPr/>
          <p:nvPr userDrawn="1"/>
        </p:nvGrpSpPr>
        <p:grpSpPr>
          <a:xfrm>
            <a:off x="914546" y="5449857"/>
            <a:ext cx="184711" cy="184711"/>
            <a:chOff x="685909" y="4075113"/>
            <a:chExt cx="150813" cy="150813"/>
          </a:xfrm>
          <a:solidFill>
            <a:srgbClr val="C00000"/>
          </a:solidFill>
        </p:grpSpPr>
        <p:sp>
          <p:nvSpPr>
            <p:cNvPr id="11" name="Oval 1125"/>
            <p:cNvSpPr>
              <a:spLocks noChangeArrowheads="1"/>
            </p:cNvSpPr>
            <p:nvPr/>
          </p:nvSpPr>
          <p:spPr bwMode="auto">
            <a:xfrm>
              <a:off x="685909" y="4075113"/>
              <a:ext cx="150813" cy="150813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12" name="Freeform 1126"/>
            <p:cNvSpPr>
              <a:spLocks noEditPoints="1"/>
            </p:cNvSpPr>
            <p:nvPr/>
          </p:nvSpPr>
          <p:spPr bwMode="auto">
            <a:xfrm>
              <a:off x="733534" y="4102100"/>
              <a:ext cx="55563" cy="98425"/>
            </a:xfrm>
            <a:custGeom>
              <a:avLst/>
              <a:gdLst>
                <a:gd name="T0" fmla="*/ 0 w 23"/>
                <a:gd name="T1" fmla="*/ 11 h 41"/>
                <a:gd name="T2" fmla="*/ 3 w 23"/>
                <a:gd name="T3" fmla="*/ 3 h 41"/>
                <a:gd name="T4" fmla="*/ 12 w 23"/>
                <a:gd name="T5" fmla="*/ 0 h 41"/>
                <a:gd name="T6" fmla="*/ 20 w 23"/>
                <a:gd name="T7" fmla="*/ 3 h 41"/>
                <a:gd name="T8" fmla="*/ 23 w 23"/>
                <a:gd name="T9" fmla="*/ 11 h 41"/>
                <a:gd name="T10" fmla="*/ 22 w 23"/>
                <a:gd name="T11" fmla="*/ 16 h 41"/>
                <a:gd name="T12" fmla="*/ 12 w 23"/>
                <a:gd name="T13" fmla="*/ 41 h 41"/>
                <a:gd name="T14" fmla="*/ 1 w 23"/>
                <a:gd name="T15" fmla="*/ 16 h 41"/>
                <a:gd name="T16" fmla="*/ 0 w 23"/>
                <a:gd name="T17" fmla="*/ 14 h 41"/>
                <a:gd name="T18" fmla="*/ 0 w 23"/>
                <a:gd name="T19" fmla="*/ 11 h 41"/>
                <a:gd name="T20" fmla="*/ 7 w 23"/>
                <a:gd name="T21" fmla="*/ 7 h 41"/>
                <a:gd name="T22" fmla="*/ 6 w 23"/>
                <a:gd name="T23" fmla="*/ 11 h 41"/>
                <a:gd name="T24" fmla="*/ 7 w 23"/>
                <a:gd name="T25" fmla="*/ 15 h 41"/>
                <a:gd name="T26" fmla="*/ 12 w 23"/>
                <a:gd name="T27" fmla="*/ 17 h 41"/>
                <a:gd name="T28" fmla="*/ 16 w 23"/>
                <a:gd name="T29" fmla="*/ 15 h 41"/>
                <a:gd name="T30" fmla="*/ 17 w 23"/>
                <a:gd name="T31" fmla="*/ 11 h 41"/>
                <a:gd name="T32" fmla="*/ 16 w 23"/>
                <a:gd name="T33" fmla="*/ 7 h 41"/>
                <a:gd name="T34" fmla="*/ 12 w 23"/>
                <a:gd name="T35" fmla="*/ 5 h 41"/>
                <a:gd name="T36" fmla="*/ 7 w 23"/>
                <a:gd name="T37" fmla="*/ 7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3" h="41">
                  <a:moveTo>
                    <a:pt x="0" y="11"/>
                  </a:moveTo>
                  <a:cubicBezTo>
                    <a:pt x="0" y="8"/>
                    <a:pt x="1" y="5"/>
                    <a:pt x="3" y="3"/>
                  </a:cubicBezTo>
                  <a:cubicBezTo>
                    <a:pt x="6" y="1"/>
                    <a:pt x="8" y="0"/>
                    <a:pt x="12" y="0"/>
                  </a:cubicBezTo>
                  <a:cubicBezTo>
                    <a:pt x="15" y="0"/>
                    <a:pt x="17" y="1"/>
                    <a:pt x="20" y="3"/>
                  </a:cubicBezTo>
                  <a:cubicBezTo>
                    <a:pt x="22" y="5"/>
                    <a:pt x="23" y="8"/>
                    <a:pt x="23" y="11"/>
                  </a:cubicBezTo>
                  <a:cubicBezTo>
                    <a:pt x="23" y="13"/>
                    <a:pt x="23" y="14"/>
                    <a:pt x="22" y="16"/>
                  </a:cubicBezTo>
                  <a:cubicBezTo>
                    <a:pt x="12" y="41"/>
                    <a:pt x="12" y="41"/>
                    <a:pt x="12" y="41"/>
                  </a:cubicBezTo>
                  <a:cubicBezTo>
                    <a:pt x="1" y="16"/>
                    <a:pt x="1" y="16"/>
                    <a:pt x="1" y="16"/>
                  </a:cubicBezTo>
                  <a:cubicBezTo>
                    <a:pt x="1" y="15"/>
                    <a:pt x="0" y="14"/>
                    <a:pt x="0" y="14"/>
                  </a:cubicBezTo>
                  <a:cubicBezTo>
                    <a:pt x="0" y="13"/>
                    <a:pt x="0" y="12"/>
                    <a:pt x="0" y="11"/>
                  </a:cubicBezTo>
                  <a:close/>
                  <a:moveTo>
                    <a:pt x="7" y="7"/>
                  </a:moveTo>
                  <a:cubicBezTo>
                    <a:pt x="6" y="8"/>
                    <a:pt x="6" y="10"/>
                    <a:pt x="6" y="11"/>
                  </a:cubicBezTo>
                  <a:cubicBezTo>
                    <a:pt x="6" y="13"/>
                    <a:pt x="6" y="14"/>
                    <a:pt x="7" y="15"/>
                  </a:cubicBezTo>
                  <a:cubicBezTo>
                    <a:pt x="9" y="16"/>
                    <a:pt x="10" y="17"/>
                    <a:pt x="12" y="17"/>
                  </a:cubicBezTo>
                  <a:cubicBezTo>
                    <a:pt x="13" y="17"/>
                    <a:pt x="14" y="16"/>
                    <a:pt x="16" y="15"/>
                  </a:cubicBezTo>
                  <a:cubicBezTo>
                    <a:pt x="17" y="14"/>
                    <a:pt x="17" y="13"/>
                    <a:pt x="17" y="11"/>
                  </a:cubicBezTo>
                  <a:cubicBezTo>
                    <a:pt x="17" y="10"/>
                    <a:pt x="17" y="8"/>
                    <a:pt x="16" y="7"/>
                  </a:cubicBezTo>
                  <a:cubicBezTo>
                    <a:pt x="14" y="6"/>
                    <a:pt x="13" y="5"/>
                    <a:pt x="12" y="5"/>
                  </a:cubicBezTo>
                  <a:cubicBezTo>
                    <a:pt x="10" y="5"/>
                    <a:pt x="9" y="6"/>
                    <a:pt x="7" y="7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</p:grpSp>
      <p:grpSp>
        <p:nvGrpSpPr>
          <p:cNvPr id="13" name="Group 15"/>
          <p:cNvGrpSpPr/>
          <p:nvPr userDrawn="1"/>
        </p:nvGrpSpPr>
        <p:grpSpPr>
          <a:xfrm>
            <a:off x="914546" y="5714439"/>
            <a:ext cx="184711" cy="184711"/>
            <a:chOff x="685909" y="4273550"/>
            <a:chExt cx="150813" cy="150813"/>
          </a:xfrm>
          <a:solidFill>
            <a:srgbClr val="C00000"/>
          </a:solidFill>
        </p:grpSpPr>
        <p:sp>
          <p:nvSpPr>
            <p:cNvPr id="14" name="Oval 1127"/>
            <p:cNvSpPr>
              <a:spLocks noChangeArrowheads="1"/>
            </p:cNvSpPr>
            <p:nvPr/>
          </p:nvSpPr>
          <p:spPr bwMode="auto">
            <a:xfrm>
              <a:off x="685909" y="4273550"/>
              <a:ext cx="150813" cy="150813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15" name="Freeform 1130"/>
            <p:cNvSpPr/>
            <p:nvPr/>
          </p:nvSpPr>
          <p:spPr bwMode="auto">
            <a:xfrm>
              <a:off x="714484" y="4302125"/>
              <a:ext cx="90488" cy="92075"/>
            </a:xfrm>
            <a:custGeom>
              <a:avLst/>
              <a:gdLst>
                <a:gd name="T0" fmla="*/ 22 w 38"/>
                <a:gd name="T1" fmla="*/ 22 h 38"/>
                <a:gd name="T2" fmla="*/ 13 w 38"/>
                <a:gd name="T3" fmla="*/ 27 h 38"/>
                <a:gd name="T4" fmla="*/ 5 w 38"/>
                <a:gd name="T5" fmla="*/ 27 h 38"/>
                <a:gd name="T6" fmla="*/ 6 w 38"/>
                <a:gd name="T7" fmla="*/ 36 h 38"/>
                <a:gd name="T8" fmla="*/ 27 w 38"/>
                <a:gd name="T9" fmla="*/ 27 h 38"/>
                <a:gd name="T10" fmla="*/ 36 w 38"/>
                <a:gd name="T11" fmla="*/ 6 h 38"/>
                <a:gd name="T12" fmla="*/ 27 w 38"/>
                <a:gd name="T13" fmla="*/ 5 h 38"/>
                <a:gd name="T14" fmla="*/ 27 w 38"/>
                <a:gd name="T15" fmla="*/ 13 h 38"/>
                <a:gd name="T16" fmla="*/ 22 w 38"/>
                <a:gd name="T17" fmla="*/ 22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8" h="38">
                  <a:moveTo>
                    <a:pt x="22" y="22"/>
                  </a:moveTo>
                  <a:cubicBezTo>
                    <a:pt x="19" y="26"/>
                    <a:pt x="15" y="29"/>
                    <a:pt x="13" y="27"/>
                  </a:cubicBezTo>
                  <a:cubicBezTo>
                    <a:pt x="11" y="25"/>
                    <a:pt x="10" y="23"/>
                    <a:pt x="5" y="27"/>
                  </a:cubicBezTo>
                  <a:cubicBezTo>
                    <a:pt x="0" y="31"/>
                    <a:pt x="4" y="34"/>
                    <a:pt x="6" y="36"/>
                  </a:cubicBezTo>
                  <a:cubicBezTo>
                    <a:pt x="8" y="38"/>
                    <a:pt x="18" y="36"/>
                    <a:pt x="27" y="27"/>
                  </a:cubicBezTo>
                  <a:cubicBezTo>
                    <a:pt x="36" y="18"/>
                    <a:pt x="38" y="8"/>
                    <a:pt x="36" y="6"/>
                  </a:cubicBezTo>
                  <a:cubicBezTo>
                    <a:pt x="33" y="4"/>
                    <a:pt x="31" y="0"/>
                    <a:pt x="27" y="5"/>
                  </a:cubicBezTo>
                  <a:cubicBezTo>
                    <a:pt x="23" y="10"/>
                    <a:pt x="25" y="11"/>
                    <a:pt x="27" y="13"/>
                  </a:cubicBezTo>
                  <a:cubicBezTo>
                    <a:pt x="29" y="15"/>
                    <a:pt x="25" y="19"/>
                    <a:pt x="22" y="22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</p:grpSp>
      <p:grpSp>
        <p:nvGrpSpPr>
          <p:cNvPr id="16" name="Group 16"/>
          <p:cNvGrpSpPr/>
          <p:nvPr userDrawn="1"/>
        </p:nvGrpSpPr>
        <p:grpSpPr>
          <a:xfrm>
            <a:off x="914546" y="5983257"/>
            <a:ext cx="184711" cy="184711"/>
            <a:chOff x="685909" y="4475163"/>
            <a:chExt cx="150813" cy="150813"/>
          </a:xfrm>
          <a:solidFill>
            <a:srgbClr val="C00000"/>
          </a:solidFill>
        </p:grpSpPr>
        <p:sp>
          <p:nvSpPr>
            <p:cNvPr id="17" name="Oval 1128"/>
            <p:cNvSpPr>
              <a:spLocks noChangeArrowheads="1"/>
            </p:cNvSpPr>
            <p:nvPr/>
          </p:nvSpPr>
          <p:spPr bwMode="auto">
            <a:xfrm>
              <a:off x="685909" y="4475163"/>
              <a:ext cx="150813" cy="150813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18" name="Freeform 1141"/>
            <p:cNvSpPr>
              <a:spLocks noEditPoints="1"/>
            </p:cNvSpPr>
            <p:nvPr/>
          </p:nvSpPr>
          <p:spPr bwMode="auto">
            <a:xfrm>
              <a:off x="724913" y="4524377"/>
              <a:ext cx="82692" cy="52386"/>
            </a:xfrm>
            <a:custGeom>
              <a:avLst/>
              <a:gdLst>
                <a:gd name="T0" fmla="*/ 532 w 543"/>
                <a:gd name="T1" fmla="*/ 91 h 344"/>
                <a:gd name="T2" fmla="*/ 532 w 543"/>
                <a:gd name="T3" fmla="*/ 91 h 344"/>
                <a:gd name="T4" fmla="*/ 297 w 543"/>
                <a:gd name="T5" fmla="*/ 211 h 344"/>
                <a:gd name="T6" fmla="*/ 284 w 543"/>
                <a:gd name="T7" fmla="*/ 217 h 344"/>
                <a:gd name="T8" fmla="*/ 271 w 543"/>
                <a:gd name="T9" fmla="*/ 217 h 344"/>
                <a:gd name="T10" fmla="*/ 257 w 543"/>
                <a:gd name="T11" fmla="*/ 217 h 344"/>
                <a:gd name="T12" fmla="*/ 244 w 543"/>
                <a:gd name="T13" fmla="*/ 211 h 344"/>
                <a:gd name="T14" fmla="*/ 11 w 543"/>
                <a:gd name="T15" fmla="*/ 91 h 344"/>
                <a:gd name="T16" fmla="*/ 4 w 543"/>
                <a:gd name="T17" fmla="*/ 89 h 344"/>
                <a:gd name="T18" fmla="*/ 0 w 543"/>
                <a:gd name="T19" fmla="*/ 91 h 344"/>
                <a:gd name="T20" fmla="*/ 0 w 543"/>
                <a:gd name="T21" fmla="*/ 93 h 344"/>
                <a:gd name="T22" fmla="*/ 0 w 543"/>
                <a:gd name="T23" fmla="*/ 99 h 344"/>
                <a:gd name="T24" fmla="*/ 0 w 543"/>
                <a:gd name="T25" fmla="*/ 317 h 344"/>
                <a:gd name="T26" fmla="*/ 0 w 543"/>
                <a:gd name="T27" fmla="*/ 321 h 344"/>
                <a:gd name="T28" fmla="*/ 2 w 543"/>
                <a:gd name="T29" fmla="*/ 327 h 344"/>
                <a:gd name="T30" fmla="*/ 9 w 543"/>
                <a:gd name="T31" fmla="*/ 334 h 344"/>
                <a:gd name="T32" fmla="*/ 21 w 543"/>
                <a:gd name="T33" fmla="*/ 342 h 344"/>
                <a:gd name="T34" fmla="*/ 24 w 543"/>
                <a:gd name="T35" fmla="*/ 344 h 344"/>
                <a:gd name="T36" fmla="*/ 30 w 543"/>
                <a:gd name="T37" fmla="*/ 344 h 344"/>
                <a:gd name="T38" fmla="*/ 513 w 543"/>
                <a:gd name="T39" fmla="*/ 344 h 344"/>
                <a:gd name="T40" fmla="*/ 517 w 543"/>
                <a:gd name="T41" fmla="*/ 344 h 344"/>
                <a:gd name="T42" fmla="*/ 522 w 543"/>
                <a:gd name="T43" fmla="*/ 342 h 344"/>
                <a:gd name="T44" fmla="*/ 534 w 543"/>
                <a:gd name="T45" fmla="*/ 334 h 344"/>
                <a:gd name="T46" fmla="*/ 539 w 543"/>
                <a:gd name="T47" fmla="*/ 327 h 344"/>
                <a:gd name="T48" fmla="*/ 541 w 543"/>
                <a:gd name="T49" fmla="*/ 321 h 344"/>
                <a:gd name="T50" fmla="*/ 543 w 543"/>
                <a:gd name="T51" fmla="*/ 317 h 344"/>
                <a:gd name="T52" fmla="*/ 543 w 543"/>
                <a:gd name="T53" fmla="*/ 99 h 344"/>
                <a:gd name="T54" fmla="*/ 543 w 543"/>
                <a:gd name="T55" fmla="*/ 93 h 344"/>
                <a:gd name="T56" fmla="*/ 541 w 543"/>
                <a:gd name="T57" fmla="*/ 91 h 344"/>
                <a:gd name="T58" fmla="*/ 537 w 543"/>
                <a:gd name="T59" fmla="*/ 89 h 344"/>
                <a:gd name="T60" fmla="*/ 532 w 543"/>
                <a:gd name="T61" fmla="*/ 91 h 344"/>
                <a:gd name="T62" fmla="*/ 19 w 543"/>
                <a:gd name="T63" fmla="*/ 31 h 344"/>
                <a:gd name="T64" fmla="*/ 19 w 543"/>
                <a:gd name="T65" fmla="*/ 31 h 344"/>
                <a:gd name="T66" fmla="*/ 244 w 543"/>
                <a:gd name="T67" fmla="*/ 153 h 344"/>
                <a:gd name="T68" fmla="*/ 257 w 543"/>
                <a:gd name="T69" fmla="*/ 156 h 344"/>
                <a:gd name="T70" fmla="*/ 271 w 543"/>
                <a:gd name="T71" fmla="*/ 158 h 344"/>
                <a:gd name="T72" fmla="*/ 286 w 543"/>
                <a:gd name="T73" fmla="*/ 156 h 344"/>
                <a:gd name="T74" fmla="*/ 297 w 543"/>
                <a:gd name="T75" fmla="*/ 153 h 344"/>
                <a:gd name="T76" fmla="*/ 524 w 543"/>
                <a:gd name="T77" fmla="*/ 31 h 344"/>
                <a:gd name="T78" fmla="*/ 530 w 543"/>
                <a:gd name="T79" fmla="*/ 29 h 344"/>
                <a:gd name="T80" fmla="*/ 535 w 543"/>
                <a:gd name="T81" fmla="*/ 24 h 344"/>
                <a:gd name="T82" fmla="*/ 539 w 543"/>
                <a:gd name="T83" fmla="*/ 18 h 344"/>
                <a:gd name="T84" fmla="*/ 541 w 543"/>
                <a:gd name="T85" fmla="*/ 14 h 344"/>
                <a:gd name="T86" fmla="*/ 541 w 543"/>
                <a:gd name="T87" fmla="*/ 10 h 344"/>
                <a:gd name="T88" fmla="*/ 539 w 543"/>
                <a:gd name="T89" fmla="*/ 4 h 344"/>
                <a:gd name="T90" fmla="*/ 535 w 543"/>
                <a:gd name="T91" fmla="*/ 0 h 344"/>
                <a:gd name="T92" fmla="*/ 524 w 543"/>
                <a:gd name="T93" fmla="*/ 0 h 344"/>
                <a:gd name="T94" fmla="*/ 17 w 543"/>
                <a:gd name="T95" fmla="*/ 0 h 344"/>
                <a:gd name="T96" fmla="*/ 8 w 543"/>
                <a:gd name="T97" fmla="*/ 0 h 344"/>
                <a:gd name="T98" fmla="*/ 2 w 543"/>
                <a:gd name="T99" fmla="*/ 4 h 344"/>
                <a:gd name="T100" fmla="*/ 0 w 543"/>
                <a:gd name="T101" fmla="*/ 10 h 344"/>
                <a:gd name="T102" fmla="*/ 0 w 543"/>
                <a:gd name="T103" fmla="*/ 14 h 344"/>
                <a:gd name="T104" fmla="*/ 4 w 543"/>
                <a:gd name="T105" fmla="*/ 18 h 344"/>
                <a:gd name="T106" fmla="*/ 6 w 543"/>
                <a:gd name="T107" fmla="*/ 24 h 344"/>
                <a:gd name="T108" fmla="*/ 11 w 543"/>
                <a:gd name="T109" fmla="*/ 29 h 344"/>
                <a:gd name="T110" fmla="*/ 19 w 543"/>
                <a:gd name="T111" fmla="*/ 31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543" h="344">
                  <a:moveTo>
                    <a:pt x="532" y="91"/>
                  </a:moveTo>
                  <a:lnTo>
                    <a:pt x="532" y="91"/>
                  </a:lnTo>
                  <a:lnTo>
                    <a:pt x="297" y="211"/>
                  </a:lnTo>
                  <a:lnTo>
                    <a:pt x="284" y="217"/>
                  </a:lnTo>
                  <a:lnTo>
                    <a:pt x="271" y="217"/>
                  </a:lnTo>
                  <a:lnTo>
                    <a:pt x="257" y="217"/>
                  </a:lnTo>
                  <a:lnTo>
                    <a:pt x="244" y="211"/>
                  </a:lnTo>
                  <a:lnTo>
                    <a:pt x="11" y="91"/>
                  </a:lnTo>
                  <a:lnTo>
                    <a:pt x="4" y="89"/>
                  </a:lnTo>
                  <a:lnTo>
                    <a:pt x="0" y="91"/>
                  </a:lnTo>
                  <a:lnTo>
                    <a:pt x="0" y="93"/>
                  </a:lnTo>
                  <a:lnTo>
                    <a:pt x="0" y="99"/>
                  </a:lnTo>
                  <a:lnTo>
                    <a:pt x="0" y="317"/>
                  </a:lnTo>
                  <a:lnTo>
                    <a:pt x="0" y="321"/>
                  </a:lnTo>
                  <a:lnTo>
                    <a:pt x="2" y="327"/>
                  </a:lnTo>
                  <a:lnTo>
                    <a:pt x="9" y="334"/>
                  </a:lnTo>
                  <a:lnTo>
                    <a:pt x="21" y="342"/>
                  </a:lnTo>
                  <a:lnTo>
                    <a:pt x="24" y="344"/>
                  </a:lnTo>
                  <a:lnTo>
                    <a:pt x="30" y="344"/>
                  </a:lnTo>
                  <a:lnTo>
                    <a:pt x="513" y="344"/>
                  </a:lnTo>
                  <a:lnTo>
                    <a:pt x="517" y="344"/>
                  </a:lnTo>
                  <a:lnTo>
                    <a:pt x="522" y="342"/>
                  </a:lnTo>
                  <a:lnTo>
                    <a:pt x="534" y="334"/>
                  </a:lnTo>
                  <a:lnTo>
                    <a:pt x="539" y="327"/>
                  </a:lnTo>
                  <a:lnTo>
                    <a:pt x="541" y="321"/>
                  </a:lnTo>
                  <a:lnTo>
                    <a:pt x="543" y="317"/>
                  </a:lnTo>
                  <a:lnTo>
                    <a:pt x="543" y="99"/>
                  </a:lnTo>
                  <a:lnTo>
                    <a:pt x="543" y="93"/>
                  </a:lnTo>
                  <a:lnTo>
                    <a:pt x="541" y="91"/>
                  </a:lnTo>
                  <a:lnTo>
                    <a:pt x="537" y="89"/>
                  </a:lnTo>
                  <a:lnTo>
                    <a:pt x="532" y="91"/>
                  </a:lnTo>
                  <a:close/>
                  <a:moveTo>
                    <a:pt x="19" y="31"/>
                  </a:moveTo>
                  <a:lnTo>
                    <a:pt x="19" y="31"/>
                  </a:lnTo>
                  <a:lnTo>
                    <a:pt x="244" y="153"/>
                  </a:lnTo>
                  <a:lnTo>
                    <a:pt x="257" y="156"/>
                  </a:lnTo>
                  <a:lnTo>
                    <a:pt x="271" y="158"/>
                  </a:lnTo>
                  <a:lnTo>
                    <a:pt x="286" y="156"/>
                  </a:lnTo>
                  <a:lnTo>
                    <a:pt x="297" y="153"/>
                  </a:lnTo>
                  <a:lnTo>
                    <a:pt x="524" y="31"/>
                  </a:lnTo>
                  <a:lnTo>
                    <a:pt x="530" y="29"/>
                  </a:lnTo>
                  <a:lnTo>
                    <a:pt x="535" y="24"/>
                  </a:lnTo>
                  <a:lnTo>
                    <a:pt x="539" y="18"/>
                  </a:lnTo>
                  <a:lnTo>
                    <a:pt x="541" y="14"/>
                  </a:lnTo>
                  <a:lnTo>
                    <a:pt x="541" y="10"/>
                  </a:lnTo>
                  <a:lnTo>
                    <a:pt x="539" y="4"/>
                  </a:lnTo>
                  <a:lnTo>
                    <a:pt x="535" y="0"/>
                  </a:lnTo>
                  <a:lnTo>
                    <a:pt x="524" y="0"/>
                  </a:lnTo>
                  <a:lnTo>
                    <a:pt x="17" y="0"/>
                  </a:lnTo>
                  <a:lnTo>
                    <a:pt x="8" y="0"/>
                  </a:lnTo>
                  <a:lnTo>
                    <a:pt x="2" y="4"/>
                  </a:lnTo>
                  <a:lnTo>
                    <a:pt x="0" y="10"/>
                  </a:lnTo>
                  <a:lnTo>
                    <a:pt x="0" y="14"/>
                  </a:lnTo>
                  <a:lnTo>
                    <a:pt x="4" y="18"/>
                  </a:lnTo>
                  <a:lnTo>
                    <a:pt x="6" y="24"/>
                  </a:lnTo>
                  <a:lnTo>
                    <a:pt x="11" y="29"/>
                  </a:lnTo>
                  <a:lnTo>
                    <a:pt x="19" y="3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</p:grpSp>
      <p:sp>
        <p:nvSpPr>
          <p:cNvPr id="19" name="TextBox 11"/>
          <p:cNvSpPr txBox="1"/>
          <p:nvPr userDrawn="1"/>
        </p:nvSpPr>
        <p:spPr>
          <a:xfrm>
            <a:off x="1235857" y="5451974"/>
            <a:ext cx="2195404" cy="1642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1065" dirty="0">
                <a:solidFill>
                  <a:schemeClr val="bg1"/>
                </a:solidFill>
                <a:latin typeface="Lato" panose="020F0502020204030203" pitchFamily="34" charset="0"/>
                <a:ea typeface="Roboto" panose="02000000000000000000" pitchFamily="2" charset="0"/>
              </a:rPr>
              <a:t>青浦区汇联路</a:t>
            </a:r>
            <a:r>
              <a:rPr lang="en-US" altLang="zh-CN" sz="1065" dirty="0">
                <a:solidFill>
                  <a:schemeClr val="bg1"/>
                </a:solidFill>
                <a:latin typeface="Lato" panose="020F0502020204030203" pitchFamily="34" charset="0"/>
                <a:ea typeface="Roboto" panose="02000000000000000000" pitchFamily="2" charset="0"/>
              </a:rPr>
              <a:t>33</a:t>
            </a:r>
            <a:r>
              <a:rPr lang="zh-CN" altLang="en-US" sz="1065" dirty="0">
                <a:solidFill>
                  <a:schemeClr val="bg1"/>
                </a:solidFill>
                <a:latin typeface="Lato" panose="020F0502020204030203" pitchFamily="34" charset="0"/>
                <a:ea typeface="Roboto" panose="02000000000000000000" pitchFamily="2" charset="0"/>
              </a:rPr>
              <a:t>号，上海，中国</a:t>
            </a:r>
            <a:endParaRPr lang="en-US" sz="1065" dirty="0">
              <a:solidFill>
                <a:schemeClr val="bg1"/>
              </a:solidFill>
              <a:latin typeface="Lato" panose="020F0502020204030203" pitchFamily="34" charset="0"/>
              <a:ea typeface="Roboto" panose="02000000000000000000" pitchFamily="2" charset="0"/>
            </a:endParaRPr>
          </a:p>
        </p:txBody>
      </p:sp>
      <p:sp>
        <p:nvSpPr>
          <p:cNvPr id="20" name="TextBox 12"/>
          <p:cNvSpPr txBox="1"/>
          <p:nvPr userDrawn="1"/>
        </p:nvSpPr>
        <p:spPr>
          <a:xfrm>
            <a:off x="1235857" y="5714440"/>
            <a:ext cx="2195404" cy="1642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65" dirty="0">
                <a:solidFill>
                  <a:schemeClr val="bg1"/>
                </a:solidFill>
                <a:latin typeface="Lato" panose="020F0502020204030203" pitchFamily="34" charset="0"/>
                <a:ea typeface="Roboto" panose="02000000000000000000" pitchFamily="2" charset="0"/>
              </a:rPr>
              <a:t>021</a:t>
            </a:r>
            <a:r>
              <a:rPr lang="en-US" altLang="zh-CN" sz="1065" dirty="0">
                <a:solidFill>
                  <a:schemeClr val="bg1"/>
                </a:solidFill>
                <a:latin typeface="Lato" panose="020F0502020204030203" pitchFamily="34" charset="0"/>
                <a:ea typeface="Roboto" panose="02000000000000000000" pitchFamily="2" charset="0"/>
              </a:rPr>
              <a:t>-6700 2300</a:t>
            </a:r>
            <a:endParaRPr lang="en-US" sz="1065" dirty="0">
              <a:solidFill>
                <a:schemeClr val="bg1"/>
              </a:solidFill>
              <a:latin typeface="Lato" panose="020F0502020204030203" pitchFamily="34" charset="0"/>
              <a:ea typeface="Roboto" panose="02000000000000000000" pitchFamily="2" charset="0"/>
            </a:endParaRPr>
          </a:p>
        </p:txBody>
      </p:sp>
      <p:sp>
        <p:nvSpPr>
          <p:cNvPr id="21" name="TextBox 13"/>
          <p:cNvSpPr txBox="1"/>
          <p:nvPr userDrawn="1"/>
        </p:nvSpPr>
        <p:spPr>
          <a:xfrm>
            <a:off x="1235857" y="5985374"/>
            <a:ext cx="2195404" cy="1642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1065" dirty="0">
                <a:solidFill>
                  <a:schemeClr val="bg1"/>
                </a:solidFill>
                <a:latin typeface="Lato" panose="020F0502020204030203" pitchFamily="34" charset="0"/>
                <a:ea typeface="Roboto" panose="02000000000000000000" pitchFamily="2" charset="0"/>
              </a:rPr>
              <a:t>sales@hand-china.com</a:t>
            </a:r>
            <a:endParaRPr lang="en-US" sz="1065" dirty="0">
              <a:solidFill>
                <a:schemeClr val="bg1"/>
              </a:solidFill>
              <a:latin typeface="Lato" panose="020F0502020204030203" pitchFamily="34" charset="0"/>
              <a:ea typeface="Roboto" panose="02000000000000000000" pitchFamily="2" charset="0"/>
            </a:endParaRPr>
          </a:p>
        </p:txBody>
      </p:sp>
      <p:sp>
        <p:nvSpPr>
          <p:cNvPr id="22" name="TextBox 14"/>
          <p:cNvSpPr txBox="1"/>
          <p:nvPr userDrawn="1"/>
        </p:nvSpPr>
        <p:spPr>
          <a:xfrm>
            <a:off x="892956" y="5022247"/>
            <a:ext cx="2538304" cy="2051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335" b="1" dirty="0">
                <a:solidFill>
                  <a:schemeClr val="bg1"/>
                </a:solidFill>
                <a:latin typeface="Lato" panose="020F0502020204030203" pitchFamily="34" charset="0"/>
                <a:ea typeface="Roboto" panose="02000000000000000000" pitchFamily="2" charset="0"/>
              </a:rPr>
              <a:t>Contact us:</a:t>
            </a:r>
            <a:endParaRPr lang="en-US" sz="1335" b="1" dirty="0">
              <a:solidFill>
                <a:schemeClr val="bg1"/>
              </a:solidFill>
              <a:latin typeface="Lato" panose="020F0502020204030203" pitchFamily="34" charset="0"/>
              <a:ea typeface="Roboto" panose="02000000000000000000" pitchFamily="2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0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5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0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5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9" grpId="0"/>
      <p:bldP spid="20" grpId="0"/>
      <p:bldP spid="21" grpId="0"/>
      <p:bldP spid="22" grpId="0"/>
    </p:bld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0327E2-17C4-431B-B5C7-D724C9A939E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327E2-17C4-431B-B5C7-D724C9A939E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智数部PPT-正文背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文本占位符 11"/>
          <p:cNvSpPr>
            <a:spLocks noGrp="1"/>
          </p:cNvSpPr>
          <p:nvPr>
            <p:ph type="body" sz="quarter" idx="10" hasCustomPrompt="1"/>
          </p:nvPr>
        </p:nvSpPr>
        <p:spPr>
          <a:xfrm>
            <a:off x="697140" y="295632"/>
            <a:ext cx="8301717" cy="3474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2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kumimoji="1" lang="zh-CN" altLang="en-US" dirty="0"/>
              <a:t>单击此处编辑母版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5401732" y="6240463"/>
            <a:ext cx="1388536" cy="206381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69924" y="6240463"/>
            <a:ext cx="4140201" cy="206381"/>
          </a:xfrm>
        </p:spPr>
        <p:txBody>
          <a:bodyPr/>
          <a:lstStyle/>
          <a:p>
            <a:r>
              <a:rPr lang="zh-CN" altLang="en-US"/>
              <a:t>请在插入菜单</a:t>
            </a:r>
            <a:r>
              <a:rPr lang="en-US" altLang="zh-CN"/>
              <a:t>—</a:t>
            </a:r>
            <a:r>
              <a:rPr lang="zh-CN" altLang="en-US"/>
              <a:t>页眉和页脚中修改此文本</a:t>
            </a:r>
            <a:endParaRPr lang="zh-CN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.jpeg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0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.jpeg"/><Relationship Id="rId8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0" Type="http://schemas.openxmlformats.org/officeDocument/2006/relationships/theme" Target="../theme/theme2.xml"/><Relationship Id="rId1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>
            <a:cxnSpLocks noChangeShapeType="1"/>
          </p:cNvCxnSpPr>
          <p:nvPr userDrawn="1"/>
        </p:nvCxnSpPr>
        <p:spPr bwMode="auto">
          <a:xfrm>
            <a:off x="202361" y="735977"/>
            <a:ext cx="11779250" cy="0"/>
          </a:xfrm>
          <a:prstGeom prst="line">
            <a:avLst/>
          </a:prstGeom>
          <a:noFill/>
          <a:ln w="28575" algn="ctr">
            <a:solidFill>
              <a:srgbClr val="A5002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" name="直接连接符 2"/>
          <p:cNvCxnSpPr/>
          <p:nvPr userDrawn="1"/>
        </p:nvCxnSpPr>
        <p:spPr bwMode="auto">
          <a:xfrm>
            <a:off x="0" y="6553200"/>
            <a:ext cx="12192000" cy="0"/>
          </a:xfrm>
          <a:prstGeom prst="line">
            <a:avLst/>
          </a:prstGeom>
          <a:solidFill>
            <a:srgbClr val="FFFF99"/>
          </a:solidFill>
          <a:ln w="952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5" name="图片 13" descr="logo.jpg"/>
          <p:cNvPicPr>
            <a:picLocks noChangeAspect="1"/>
          </p:cNvPicPr>
          <p:nvPr userDrawn="1"/>
        </p:nvPicPr>
        <p:blipFill>
          <a:blip r:embed="rId9"/>
          <a:srcRect/>
          <a:stretch>
            <a:fillRect/>
          </a:stretch>
        </p:blipFill>
        <p:spPr bwMode="auto">
          <a:xfrm>
            <a:off x="11264900" y="6596063"/>
            <a:ext cx="914400" cy="249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1032"/>
          <p:cNvSpPr>
            <a:spLocks noChangeArrowheads="1"/>
          </p:cNvSpPr>
          <p:nvPr userDrawn="1"/>
        </p:nvSpPr>
        <p:spPr bwMode="auto">
          <a:xfrm>
            <a:off x="3187700" y="6605587"/>
            <a:ext cx="4419600" cy="2174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000" dirty="0">
                <a:solidFill>
                  <a:prstClr val="white">
                    <a:lumMod val="50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汉得信息 </a:t>
            </a:r>
            <a:r>
              <a:rPr lang="en-US" altLang="zh-CN" sz="1000" dirty="0">
                <a:solidFill>
                  <a:prstClr val="white">
                    <a:lumMod val="50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All</a:t>
            </a:r>
            <a:r>
              <a:rPr lang="en-US" altLang="zh-CN" sz="1000" baseline="0" dirty="0">
                <a:solidFill>
                  <a:prstClr val="white">
                    <a:lumMod val="50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Copy Right Reserved ©2022 </a:t>
            </a:r>
            <a:endParaRPr lang="en-US" altLang="zh-CN" sz="1000" dirty="0">
              <a:solidFill>
                <a:prstClr val="white">
                  <a:lumMod val="50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标题占位符 6"/>
          <p:cNvSpPr>
            <a:spLocks noGrp="1"/>
          </p:cNvSpPr>
          <p:nvPr>
            <p:ph type="title"/>
          </p:nvPr>
        </p:nvSpPr>
        <p:spPr>
          <a:xfrm>
            <a:off x="268137" y="163903"/>
            <a:ext cx="11644941" cy="4905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8" name="文本占位符 7"/>
          <p:cNvSpPr>
            <a:spLocks noGrp="1"/>
          </p:cNvSpPr>
          <p:nvPr>
            <p:ph type="body" idx="1"/>
          </p:nvPr>
        </p:nvSpPr>
        <p:spPr>
          <a:xfrm>
            <a:off x="268138" y="974096"/>
            <a:ext cx="1164494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4"/>
          </p:nvPr>
        </p:nvSpPr>
        <p:spPr>
          <a:xfrm>
            <a:off x="40256" y="6583424"/>
            <a:ext cx="529087" cy="23965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0327E2-17C4-431B-B5C7-D724C9A939E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j-ea"/>
          <a:ea typeface="+mj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j-ea"/>
          <a:ea typeface="+mj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j-ea"/>
          <a:ea typeface="+mj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j-ea"/>
          <a:ea typeface="+mj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j-ea"/>
          <a:ea typeface="+mj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>
            <a:cxnSpLocks noChangeShapeType="1"/>
          </p:cNvCxnSpPr>
          <p:nvPr userDrawn="1"/>
        </p:nvCxnSpPr>
        <p:spPr bwMode="auto">
          <a:xfrm>
            <a:off x="202361" y="735977"/>
            <a:ext cx="11779250" cy="0"/>
          </a:xfrm>
          <a:prstGeom prst="line">
            <a:avLst/>
          </a:prstGeom>
          <a:noFill/>
          <a:ln w="28575" algn="ctr">
            <a:solidFill>
              <a:srgbClr val="A5002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" name="直接连接符 2"/>
          <p:cNvCxnSpPr/>
          <p:nvPr userDrawn="1"/>
        </p:nvCxnSpPr>
        <p:spPr bwMode="auto">
          <a:xfrm>
            <a:off x="0" y="6553200"/>
            <a:ext cx="12192000" cy="0"/>
          </a:xfrm>
          <a:prstGeom prst="line">
            <a:avLst/>
          </a:prstGeom>
          <a:solidFill>
            <a:srgbClr val="FFFF99"/>
          </a:solidFill>
          <a:ln w="952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5" name="图片 13" descr="logo.jpg"/>
          <p:cNvPicPr>
            <a:picLocks noChangeAspect="1"/>
          </p:cNvPicPr>
          <p:nvPr userDrawn="1"/>
        </p:nvPicPr>
        <p:blipFill>
          <a:blip r:embed="rId9"/>
          <a:srcRect/>
          <a:stretch>
            <a:fillRect/>
          </a:stretch>
        </p:blipFill>
        <p:spPr bwMode="auto">
          <a:xfrm>
            <a:off x="11264900" y="6596063"/>
            <a:ext cx="914400" cy="249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1032"/>
          <p:cNvSpPr>
            <a:spLocks noChangeArrowheads="1"/>
          </p:cNvSpPr>
          <p:nvPr userDrawn="1"/>
        </p:nvSpPr>
        <p:spPr bwMode="auto">
          <a:xfrm>
            <a:off x="3187700" y="6605587"/>
            <a:ext cx="4419600" cy="2174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000" dirty="0">
                <a:solidFill>
                  <a:prstClr val="white">
                    <a:lumMod val="50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汉得信息 </a:t>
            </a:r>
            <a:r>
              <a:rPr lang="en-US" altLang="zh-CN" sz="1000" dirty="0">
                <a:solidFill>
                  <a:prstClr val="white">
                    <a:lumMod val="50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All</a:t>
            </a:r>
            <a:r>
              <a:rPr lang="en-US" altLang="zh-CN" sz="1000" baseline="0" dirty="0">
                <a:solidFill>
                  <a:prstClr val="white">
                    <a:lumMod val="50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Copy Right Reserved ©2022 </a:t>
            </a:r>
            <a:endParaRPr lang="en-US" altLang="zh-CN" sz="1000" dirty="0">
              <a:solidFill>
                <a:prstClr val="white">
                  <a:lumMod val="50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标题占位符 6"/>
          <p:cNvSpPr>
            <a:spLocks noGrp="1"/>
          </p:cNvSpPr>
          <p:nvPr>
            <p:ph type="title"/>
          </p:nvPr>
        </p:nvSpPr>
        <p:spPr>
          <a:xfrm>
            <a:off x="268137" y="163903"/>
            <a:ext cx="11644941" cy="4905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8" name="文本占位符 7"/>
          <p:cNvSpPr>
            <a:spLocks noGrp="1"/>
          </p:cNvSpPr>
          <p:nvPr>
            <p:ph type="body" idx="1"/>
          </p:nvPr>
        </p:nvSpPr>
        <p:spPr>
          <a:xfrm>
            <a:off x="268138" y="974096"/>
            <a:ext cx="1164494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4"/>
          </p:nvPr>
        </p:nvSpPr>
        <p:spPr>
          <a:xfrm>
            <a:off x="40256" y="6583424"/>
            <a:ext cx="529087" cy="23965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0327E2-17C4-431B-B5C7-D724C9A939E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j-ea"/>
          <a:ea typeface="+mj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j-ea"/>
          <a:ea typeface="+mj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j-ea"/>
          <a:ea typeface="+mj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j-ea"/>
          <a:ea typeface="+mj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j-ea"/>
          <a:ea typeface="+mj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tags" Target="../tags/tag1.xml"/><Relationship Id="rId5" Type="http://schemas.openxmlformats.org/officeDocument/2006/relationships/slide" Target="slide16.xml"/><Relationship Id="rId4" Type="http://schemas.openxmlformats.org/officeDocument/2006/relationships/slide" Target="slide14.xml"/><Relationship Id="rId3" Type="http://schemas.openxmlformats.org/officeDocument/2006/relationships/slide" Target="slide11.xml"/><Relationship Id="rId2" Type="http://schemas.openxmlformats.org/officeDocument/2006/relationships/slide" Target="slide9.xml"/><Relationship Id="rId1" Type="http://schemas.openxmlformats.org/officeDocument/2006/relationships/slide" Target="slide6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10.xml"/><Relationship Id="rId8" Type="http://schemas.openxmlformats.org/officeDocument/2006/relationships/tags" Target="../tags/tag9.xml"/><Relationship Id="rId7" Type="http://schemas.openxmlformats.org/officeDocument/2006/relationships/tags" Target="../tags/tag8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4" Type="http://schemas.openxmlformats.org/officeDocument/2006/relationships/tags" Target="../tags/tag5.xml"/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4" Type="http://schemas.openxmlformats.org/officeDocument/2006/relationships/slideLayout" Target="../slideLayouts/slideLayout7.xml"/><Relationship Id="rId13" Type="http://schemas.openxmlformats.org/officeDocument/2006/relationships/slide" Target="slide11.xml"/><Relationship Id="rId12" Type="http://schemas.openxmlformats.org/officeDocument/2006/relationships/image" Target="../media/image5.svg"/><Relationship Id="rId11" Type="http://schemas.openxmlformats.org/officeDocument/2006/relationships/image" Target="../media/image4.png"/><Relationship Id="rId10" Type="http://schemas.openxmlformats.org/officeDocument/2006/relationships/tags" Target="../tags/tag11.xml"/><Relationship Id="rId1" Type="http://schemas.openxmlformats.org/officeDocument/2006/relationships/tags" Target="../tags/tag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13.xml"/><Relationship Id="rId2" Type="http://schemas.openxmlformats.org/officeDocument/2006/relationships/image" Target="../media/image6.png"/><Relationship Id="rId1" Type="http://schemas.openxmlformats.org/officeDocument/2006/relationships/tags" Target="../tags/tag12.xml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3" Type="http://schemas.openxmlformats.org/officeDocument/2006/relationships/slide" Target="slide3.xml"/><Relationship Id="rId2" Type="http://schemas.openxmlformats.org/officeDocument/2006/relationships/tags" Target="../tags/tag14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8.png"/><Relationship Id="rId3" Type="http://schemas.openxmlformats.org/officeDocument/2006/relationships/slide" Target="slide3.xml"/><Relationship Id="rId2" Type="http://schemas.openxmlformats.org/officeDocument/2006/relationships/tags" Target="../tags/tag15.xml"/><Relationship Id="rId1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1.png"/><Relationship Id="rId2" Type="http://schemas.openxmlformats.org/officeDocument/2006/relationships/tags" Target="../tags/tag17.xml"/><Relationship Id="rId1" Type="http://schemas.openxmlformats.org/officeDocument/2006/relationships/tags" Target="../tags/tag16.xml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6.x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slide" Target="slide3.xml"/><Relationship Id="rId3" Type="http://schemas.openxmlformats.org/officeDocument/2006/relationships/image" Target="../media/image12.png"/><Relationship Id="rId2" Type="http://schemas.openxmlformats.org/officeDocument/2006/relationships/tags" Target="../tags/tag19.xml"/><Relationship Id="rId1" Type="http://schemas.openxmlformats.org/officeDocument/2006/relationships/tags" Target="../tags/tag1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7.xml"/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8.png"/><Relationship Id="rId6" Type="http://schemas.openxmlformats.org/officeDocument/2006/relationships/slide" Target="slide3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tags" Target="../tags/tag21.xml"/><Relationship Id="rId1" Type="http://schemas.openxmlformats.org/officeDocument/2006/relationships/tags" Target="../tags/tag2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6.png"/><Relationship Id="rId2" Type="http://schemas.openxmlformats.org/officeDocument/2006/relationships/tags" Target="../tags/tag23.xml"/><Relationship Id="rId1" Type="http://schemas.openxmlformats.org/officeDocument/2006/relationships/tags" Target="../tags/tag2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3244970" y="1811102"/>
            <a:ext cx="5702061" cy="679139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4400" dirty="0"/>
              <a:t>宝姿</a:t>
            </a:r>
            <a:r>
              <a:rPr lang="en-US" altLang="zh-CN" sz="4400" dirty="0"/>
              <a:t>SRM</a:t>
            </a:r>
            <a:r>
              <a:rPr lang="zh-CN" altLang="en-US" sz="4400" dirty="0"/>
              <a:t>系统</a:t>
            </a:r>
            <a:br>
              <a:rPr lang="en-US" altLang="zh-CN" sz="4400" dirty="0"/>
            </a:br>
            <a:r>
              <a:rPr lang="zh-CN" altLang="en-US" sz="4400" dirty="0"/>
              <a:t>面辅料退换货管理</a:t>
            </a:r>
            <a:endParaRPr lang="zh-CN" altLang="en-US" sz="4400" dirty="0"/>
          </a:p>
        </p:txBody>
      </p:sp>
      <p:pic>
        <p:nvPicPr>
          <p:cNvPr id="6" name="Picture 4" descr="C:\Documents and Settings\IBM\桌面\logo.png"/>
          <p:cNvPicPr>
            <a:picLocks noChangeAspect="1" noChangeArrowheads="1"/>
          </p:cNvPicPr>
          <p:nvPr/>
        </p:nvPicPr>
        <p:blipFill>
          <a:blip r:embed="rId1" cstate="screen"/>
          <a:srcRect/>
          <a:stretch>
            <a:fillRect/>
          </a:stretch>
        </p:blipFill>
        <p:spPr bwMode="auto">
          <a:xfrm>
            <a:off x="9639300" y="5593685"/>
            <a:ext cx="2185553" cy="6261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86"/>
          <p:cNvSpPr txBox="1"/>
          <p:nvPr/>
        </p:nvSpPr>
        <p:spPr>
          <a:xfrm>
            <a:off x="6809066" y="942409"/>
            <a:ext cx="4387332" cy="50774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339725" marR="0" lvl="0" indent="-339725" defTabSz="90614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CA070"/>
              </a:buClr>
              <a:buSzPct val="80000"/>
              <a:buFont typeface="Wingdings" panose="05000000000000000000" pitchFamily="2" charset="2"/>
              <a:buChar char="n"/>
              <a:defRPr kumimoji="0" sz="2800" b="0" i="0" u="none" strike="noStrike" cap="none" spc="0" normalizeH="0" baseline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Helvetica Light" pitchFamily="50" charset="0"/>
              </a:defRPr>
            </a:lvl1pPr>
            <a:lvl2pPr marL="742950" indent="-285750">
              <a:defRPr sz="3000">
                <a:solidFill>
                  <a:srgbClr val="000000"/>
                </a:solidFill>
                <a:latin typeface="Helvetica Light" pitchFamily="50" charset="0"/>
                <a:ea typeface="Helvetica Light" pitchFamily="50" charset="0"/>
                <a:cs typeface="Helvetica Light" pitchFamily="50" charset="0"/>
              </a:defRPr>
            </a:lvl2pPr>
            <a:lvl3pPr marL="1143000" indent="-228600">
              <a:defRPr sz="3000">
                <a:solidFill>
                  <a:srgbClr val="000000"/>
                </a:solidFill>
                <a:latin typeface="Helvetica Light" pitchFamily="50" charset="0"/>
                <a:ea typeface="Helvetica Light" pitchFamily="50" charset="0"/>
                <a:cs typeface="Helvetica Light" pitchFamily="50" charset="0"/>
              </a:defRPr>
            </a:lvl3pPr>
            <a:lvl4pPr marL="1600200" indent="-228600">
              <a:defRPr sz="3000">
                <a:solidFill>
                  <a:srgbClr val="000000"/>
                </a:solidFill>
                <a:latin typeface="Helvetica Light" pitchFamily="50" charset="0"/>
                <a:ea typeface="Helvetica Light" pitchFamily="50" charset="0"/>
                <a:cs typeface="Helvetica Light" pitchFamily="50" charset="0"/>
              </a:defRPr>
            </a:lvl4pPr>
            <a:lvl5pPr marL="2057400" indent="-228600">
              <a:defRPr sz="3000">
                <a:solidFill>
                  <a:srgbClr val="000000"/>
                </a:solidFill>
                <a:latin typeface="Helvetica Light" pitchFamily="50" charset="0"/>
                <a:ea typeface="Helvetica Light" pitchFamily="50" charset="0"/>
                <a:cs typeface="Helvetica Light" pitchFamily="50" charset="0"/>
              </a:defRPr>
            </a:lvl5pPr>
            <a:lvl6pPr marL="2514600" indent="-228600" defTabSz="668655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00000"/>
                </a:solidFill>
                <a:latin typeface="Helvetica Light" pitchFamily="50" charset="0"/>
                <a:ea typeface="Helvetica Light" pitchFamily="50" charset="0"/>
                <a:cs typeface="Helvetica Light" pitchFamily="50" charset="0"/>
              </a:defRPr>
            </a:lvl6pPr>
            <a:lvl7pPr marL="2971800" indent="-228600" defTabSz="668655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00000"/>
                </a:solidFill>
                <a:latin typeface="Helvetica Light" pitchFamily="50" charset="0"/>
                <a:ea typeface="Helvetica Light" pitchFamily="50" charset="0"/>
                <a:cs typeface="Helvetica Light" pitchFamily="50" charset="0"/>
              </a:defRPr>
            </a:lvl7pPr>
            <a:lvl8pPr marL="3429000" indent="-228600" defTabSz="668655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00000"/>
                </a:solidFill>
                <a:latin typeface="Helvetica Light" pitchFamily="50" charset="0"/>
                <a:ea typeface="Helvetica Light" pitchFamily="50" charset="0"/>
                <a:cs typeface="Helvetica Light" pitchFamily="50" charset="0"/>
              </a:defRPr>
            </a:lvl8pPr>
            <a:lvl9pPr marL="3886200" indent="-228600" defTabSz="668655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00000"/>
                </a:solidFill>
                <a:latin typeface="Helvetica Light" pitchFamily="50" charset="0"/>
                <a:ea typeface="Helvetica Light" pitchFamily="50" charset="0"/>
                <a:cs typeface="Helvetica Light" pitchFamily="50" charset="0"/>
              </a:defRPr>
            </a:lvl9pPr>
          </a:lstStyle>
          <a:p>
            <a:r>
              <a:rPr lang="zh-CN" altLang="en-US" sz="3600" b="1" dirty="0">
                <a:solidFill>
                  <a:schemeClr val="tx1"/>
                </a:solidFill>
              </a:rPr>
              <a:t>蓝图介绍</a:t>
            </a:r>
            <a:endParaRPr lang="en-US" altLang="zh-CN" sz="3600" b="1" dirty="0">
              <a:solidFill>
                <a:schemeClr val="tx1"/>
              </a:solidFill>
            </a:endParaRPr>
          </a:p>
          <a:p>
            <a:endParaRPr lang="en-US" altLang="zh-CN" sz="3600" b="1" dirty="0">
              <a:solidFill>
                <a:schemeClr val="tx1"/>
              </a:solidFill>
            </a:endParaRPr>
          </a:p>
          <a:p>
            <a:r>
              <a:rPr lang="zh-CN" altLang="en-US" sz="3600" b="1" dirty="0">
                <a:solidFill>
                  <a:schemeClr val="bg2">
                    <a:lumMod val="75000"/>
                  </a:schemeClr>
                </a:solidFill>
                <a:sym typeface="+mn-ea"/>
              </a:rPr>
              <a:t>蓝图方案</a:t>
            </a:r>
            <a:endParaRPr lang="zh-CN" altLang="en-US" sz="3600" b="1" dirty="0">
              <a:solidFill>
                <a:schemeClr val="bg2">
                  <a:lumMod val="75000"/>
                </a:schemeClr>
              </a:solidFill>
            </a:endParaRPr>
          </a:p>
          <a:p>
            <a:endParaRPr lang="zh-CN" altLang="en-US" sz="36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3600" b="1" dirty="0">
                <a:solidFill>
                  <a:schemeClr val="tx1"/>
                </a:solidFill>
              </a:rPr>
              <a:t>   </a:t>
            </a:r>
            <a:endParaRPr lang="en-US" altLang="zh-CN" sz="36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zh-CN" sz="36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zh-CN" sz="36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zh-CN" sz="3600" b="1" dirty="0">
              <a:solidFill>
                <a:schemeClr val="tx1"/>
              </a:solidFill>
            </a:endParaRPr>
          </a:p>
          <a:p>
            <a:r>
              <a:rPr lang="zh-CN" altLang="en-US" sz="3600" b="1" dirty="0">
                <a:solidFill>
                  <a:schemeClr val="bg2">
                    <a:lumMod val="75000"/>
                  </a:schemeClr>
                </a:solidFill>
              </a:rPr>
              <a:t>后续工作</a:t>
            </a:r>
            <a:endParaRPr lang="zh-CN" altLang="en-US" sz="3600" b="1" dirty="0">
              <a:solidFill>
                <a:schemeClr val="bg2">
                  <a:lumMod val="75000"/>
                </a:schemeClr>
              </a:solidFill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0" y="0"/>
            <a:ext cx="6419215" cy="6573520"/>
            <a:chOff x="-1" y="0"/>
            <a:chExt cx="6698256" cy="6858000"/>
          </a:xfrm>
        </p:grpSpPr>
        <p:sp>
          <p:nvSpPr>
            <p:cNvPr id="5" name="矩形 4"/>
            <p:cNvSpPr/>
            <p:nvPr/>
          </p:nvSpPr>
          <p:spPr>
            <a:xfrm>
              <a:off x="-1" y="0"/>
              <a:ext cx="6698256" cy="6858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" name="矩形 5"/>
            <p:cNvSpPr/>
            <p:nvPr/>
          </p:nvSpPr>
          <p:spPr>
            <a:xfrm>
              <a:off x="444606" y="0"/>
              <a:ext cx="5449912" cy="561783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34400" dirty="0">
                  <a:solidFill>
                    <a:srgbClr val="333333"/>
                  </a:solidFill>
                  <a:latin typeface="Arial" panose="020B0604020202020204" pitchFamily="34" charset="0"/>
                </a:rPr>
                <a:t>c</a:t>
              </a:r>
              <a:r>
                <a:rPr lang="en-US" altLang="zh-CN" sz="6600" u="sng" dirty="0">
                  <a:solidFill>
                    <a:srgbClr val="333333"/>
                  </a:solidFill>
                  <a:latin typeface="Arial" panose="020B0604020202020204" pitchFamily="34" charset="0"/>
                </a:rPr>
                <a:t>ontents</a:t>
              </a:r>
              <a:endParaRPr lang="zh-CN" altLang="en-US" sz="6600" dirty="0"/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3029809" y="2321003"/>
              <a:ext cx="2478796" cy="11547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6600" b="1" dirty="0">
                  <a:solidFill>
                    <a:schemeClr val="bg1"/>
                  </a:solidFill>
                </a:rPr>
                <a:t>目录</a:t>
              </a:r>
              <a:endParaRPr lang="zh-CN" altLang="en-US" sz="66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50" name="灯片编号占位符 2"/>
          <p:cNvSpPr txBox="1"/>
          <p:nvPr/>
        </p:nvSpPr>
        <p:spPr>
          <a:xfrm>
            <a:off x="40256" y="6583423"/>
            <a:ext cx="455763" cy="261773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30327E2-17C4-431B-B5C7-D724C9A939E1}" type="slidenum">
              <a:rPr lang="zh-CN" altLang="en-US" smtClean="0">
                <a:solidFill>
                  <a:schemeClr val="tx2">
                    <a:lumMod val="75000"/>
                  </a:schemeClr>
                </a:solidFill>
              </a:rPr>
            </a:fld>
            <a:endParaRPr lang="zh-CN" alt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8" name="TextBox 186"/>
          <p:cNvSpPr txBox="1"/>
          <p:nvPr/>
        </p:nvSpPr>
        <p:spPr>
          <a:xfrm>
            <a:off x="6904355" y="2012315"/>
            <a:ext cx="2891790" cy="27787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339725" marR="0" lvl="0" indent="-339725" defTabSz="90614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CA070"/>
              </a:buClr>
              <a:buSzPct val="80000"/>
              <a:buFont typeface="Wingdings" panose="05000000000000000000" pitchFamily="2" charset="2"/>
              <a:buChar char="n"/>
              <a:defRPr kumimoji="0" sz="2800" b="0" i="0" u="none" strike="noStrike" cap="none" spc="0" normalizeH="0" baseline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Helvetica Light" pitchFamily="50" charset="0"/>
              </a:defRPr>
            </a:lvl1pPr>
            <a:lvl2pPr marL="742950" indent="-285750">
              <a:defRPr sz="3000">
                <a:solidFill>
                  <a:srgbClr val="000000"/>
                </a:solidFill>
                <a:latin typeface="Helvetica Light" pitchFamily="50" charset="0"/>
                <a:ea typeface="Helvetica Light" pitchFamily="50" charset="0"/>
                <a:cs typeface="Helvetica Light" pitchFamily="50" charset="0"/>
              </a:defRPr>
            </a:lvl2pPr>
            <a:lvl3pPr marL="1143000" indent="-228600">
              <a:defRPr sz="3000">
                <a:solidFill>
                  <a:srgbClr val="000000"/>
                </a:solidFill>
                <a:latin typeface="Helvetica Light" pitchFamily="50" charset="0"/>
                <a:ea typeface="Helvetica Light" pitchFamily="50" charset="0"/>
                <a:cs typeface="Helvetica Light" pitchFamily="50" charset="0"/>
              </a:defRPr>
            </a:lvl3pPr>
            <a:lvl4pPr marL="1600200" indent="-228600">
              <a:defRPr sz="3000">
                <a:solidFill>
                  <a:srgbClr val="000000"/>
                </a:solidFill>
                <a:latin typeface="Helvetica Light" pitchFamily="50" charset="0"/>
                <a:ea typeface="Helvetica Light" pitchFamily="50" charset="0"/>
                <a:cs typeface="Helvetica Light" pitchFamily="50" charset="0"/>
              </a:defRPr>
            </a:lvl4pPr>
            <a:lvl5pPr marL="2057400" indent="-228600">
              <a:defRPr sz="3000">
                <a:solidFill>
                  <a:srgbClr val="000000"/>
                </a:solidFill>
                <a:latin typeface="Helvetica Light" pitchFamily="50" charset="0"/>
                <a:ea typeface="Helvetica Light" pitchFamily="50" charset="0"/>
                <a:cs typeface="Helvetica Light" pitchFamily="50" charset="0"/>
              </a:defRPr>
            </a:lvl5pPr>
            <a:lvl6pPr marL="2514600" indent="-228600" defTabSz="668655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00000"/>
                </a:solidFill>
                <a:latin typeface="Helvetica Light" pitchFamily="50" charset="0"/>
                <a:ea typeface="Helvetica Light" pitchFamily="50" charset="0"/>
                <a:cs typeface="Helvetica Light" pitchFamily="50" charset="0"/>
              </a:defRPr>
            </a:lvl6pPr>
            <a:lvl7pPr marL="2971800" indent="-228600" defTabSz="668655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00000"/>
                </a:solidFill>
                <a:latin typeface="Helvetica Light" pitchFamily="50" charset="0"/>
                <a:ea typeface="Helvetica Light" pitchFamily="50" charset="0"/>
                <a:cs typeface="Helvetica Light" pitchFamily="50" charset="0"/>
              </a:defRPr>
            </a:lvl7pPr>
            <a:lvl8pPr marL="3429000" indent="-228600" defTabSz="668655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00000"/>
                </a:solidFill>
                <a:latin typeface="Helvetica Light" pitchFamily="50" charset="0"/>
                <a:ea typeface="Helvetica Light" pitchFamily="50" charset="0"/>
                <a:cs typeface="Helvetica Light" pitchFamily="50" charset="0"/>
              </a:defRPr>
            </a:lvl8pPr>
            <a:lvl9pPr marL="3886200" indent="-228600" defTabSz="668655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00000"/>
                </a:solidFill>
                <a:latin typeface="Helvetica Light" pitchFamily="50" charset="0"/>
                <a:ea typeface="Helvetica Light" pitchFamily="50" charset="0"/>
                <a:cs typeface="Helvetica Light" pitchFamily="50" charset="0"/>
              </a:defRPr>
            </a:lvl9pPr>
          </a:lstStyle>
          <a:p>
            <a:pPr marL="457200" lvl="1" indent="0" fontAlgn="auto">
              <a:lnSpc>
                <a:spcPct val="180000"/>
              </a:lnSpc>
              <a:spcBef>
                <a:spcPts val="1200"/>
              </a:spcBef>
              <a:buFont typeface="Wingdings" panose="05000000000000000000" charset="0"/>
              <a:buNone/>
            </a:pPr>
            <a:endParaRPr lang="zh-CN" altLang="en-US" sz="1600" b="1" dirty="0">
              <a:solidFill>
                <a:schemeClr val="bg1">
                  <a:lumMod val="65000"/>
                </a:schemeClr>
              </a:solidFill>
            </a:endParaRPr>
          </a:p>
          <a:p>
            <a:pPr lvl="1" algn="l" fontAlgn="auto">
              <a:lnSpc>
                <a:spcPct val="170000"/>
              </a:lnSpc>
              <a:spcBef>
                <a:spcPts val="1200"/>
              </a:spcBef>
              <a:buClrTx/>
              <a:buSzTx/>
              <a:buFont typeface="Wingdings" panose="05000000000000000000" charset="0"/>
              <a:buChar char="p"/>
            </a:pPr>
            <a:r>
              <a:rPr lang="zh-CN" altLang="en-US" sz="1600" b="1" dirty="0">
                <a:solidFill>
                  <a:schemeClr val="bg1">
                    <a:lumMod val="65000"/>
                  </a:schemeClr>
                </a:solidFill>
              </a:rPr>
              <a:t>采购员发起退货申请               </a:t>
            </a:r>
            <a:endParaRPr lang="zh-CN" altLang="en-US" sz="1600" b="1" dirty="0">
              <a:solidFill>
                <a:schemeClr val="bg1">
                  <a:lumMod val="65000"/>
                </a:schemeClr>
              </a:solidFill>
            </a:endParaRPr>
          </a:p>
          <a:p>
            <a:pPr lvl="1">
              <a:lnSpc>
                <a:spcPct val="170000"/>
              </a:lnSpc>
              <a:buFont typeface="Wingdings" panose="05000000000000000000" charset="0"/>
              <a:buChar char="p"/>
            </a:pPr>
            <a:r>
              <a:rPr lang="zh-CN" altLang="en-US" sz="1600" b="1" dirty="0">
                <a:solidFill>
                  <a:schemeClr val="bg1">
                    <a:lumMod val="65000"/>
                  </a:schemeClr>
                </a:solidFill>
              </a:rPr>
              <a:t>采购经理审批</a:t>
            </a:r>
            <a:endParaRPr lang="zh-CN" altLang="en-US" sz="1600" b="1" dirty="0">
              <a:solidFill>
                <a:schemeClr val="bg1">
                  <a:lumMod val="65000"/>
                </a:schemeClr>
              </a:solidFill>
            </a:endParaRPr>
          </a:p>
          <a:p>
            <a:pPr lvl="1">
              <a:lnSpc>
                <a:spcPct val="170000"/>
              </a:lnSpc>
              <a:buFont typeface="Wingdings" panose="05000000000000000000" charset="0"/>
              <a:buChar char="p"/>
            </a:pPr>
            <a:r>
              <a:rPr lang="zh-CN" altLang="en-US" sz="1600" b="1" dirty="0">
                <a:solidFill>
                  <a:schemeClr val="bg1">
                    <a:lumMod val="65000"/>
                  </a:schemeClr>
                </a:solidFill>
              </a:rPr>
              <a:t>退货冲单</a:t>
            </a:r>
            <a:endParaRPr lang="zh-CN" altLang="en-US" sz="1600" b="1" dirty="0">
              <a:solidFill>
                <a:schemeClr val="bg1">
                  <a:lumMod val="65000"/>
                </a:schemeClr>
              </a:solidFill>
            </a:endParaRPr>
          </a:p>
          <a:p>
            <a:pPr lvl="1">
              <a:lnSpc>
                <a:spcPct val="170000"/>
              </a:lnSpc>
              <a:buFont typeface="Wingdings" panose="05000000000000000000" charset="0"/>
              <a:buChar char="p"/>
            </a:pPr>
            <a:r>
              <a:rPr lang="zh-CN" altLang="en-US" sz="1600" b="1" dirty="0">
                <a:solidFill>
                  <a:schemeClr val="bg1">
                    <a:lumMod val="65000"/>
                  </a:schemeClr>
                </a:solidFill>
              </a:rPr>
              <a:t>储运部发货</a:t>
            </a:r>
            <a:endParaRPr lang="zh-CN" altLang="en-US" sz="1600" b="1" dirty="0">
              <a:solidFill>
                <a:schemeClr val="bg1">
                  <a:lumMod val="65000"/>
                </a:schemeClr>
              </a:solidFill>
            </a:endParaRPr>
          </a:p>
          <a:p>
            <a:pPr lvl="1">
              <a:lnSpc>
                <a:spcPct val="170000"/>
              </a:lnSpc>
              <a:buFont typeface="Wingdings" panose="05000000000000000000" charset="0"/>
              <a:buChar char="p"/>
            </a:pPr>
            <a:r>
              <a:rPr lang="zh-CN" altLang="en-US" sz="1600" b="1" dirty="0">
                <a:solidFill>
                  <a:schemeClr val="bg1">
                    <a:lumMod val="65000"/>
                  </a:schemeClr>
                </a:solidFill>
              </a:rPr>
              <a:t>供应商查看</a:t>
            </a:r>
            <a:endParaRPr lang="zh-CN" altLang="en-US" sz="1600" b="1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标题 2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面辅料退换货蓝图</a:t>
            </a:r>
            <a:r>
              <a:rPr lang="en-US" altLang="zh-CN"/>
              <a:t>-</a:t>
            </a:r>
            <a:r>
              <a:rPr lang="zh-CN" altLang="en-US"/>
              <a:t>进仓退货</a:t>
            </a:r>
            <a:endParaRPr lang="zh-CN" altLang="en-US"/>
          </a:p>
        </p:txBody>
      </p:sp>
      <p:sp>
        <p:nvSpPr>
          <p:cNvPr id="4" name="矩形 3">
            <a:hlinkClick r:id="rId1" action="ppaction://hlinksldjump"/>
          </p:cNvPr>
          <p:cNvSpPr/>
          <p:nvPr/>
        </p:nvSpPr>
        <p:spPr>
          <a:xfrm>
            <a:off x="2369185" y="1149985"/>
            <a:ext cx="1638935" cy="471805"/>
          </a:xfrm>
          <a:prstGeom prst="rect">
            <a:avLst/>
          </a:prstGeom>
          <a:solidFill>
            <a:srgbClr val="36CADB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Klavika Medium" panose="02000603040000020004" pitchFamily="2" charset="0"/>
                <a:ea typeface="微软雅黑" panose="020B0503020204020204" pitchFamily="34" charset="-122"/>
                <a:cs typeface="+mn-cs"/>
              </a:rPr>
              <a:t>SRM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采购员填写退货申请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矩形 1">
            <a:hlinkClick r:id="rId2" action="ppaction://hlinksldjump"/>
          </p:cNvPr>
          <p:cNvSpPr/>
          <p:nvPr/>
        </p:nvSpPr>
        <p:spPr>
          <a:xfrm>
            <a:off x="2369185" y="1983740"/>
            <a:ext cx="1638935" cy="471805"/>
          </a:xfrm>
          <a:prstGeom prst="rect">
            <a:avLst/>
          </a:prstGeom>
          <a:solidFill>
            <a:srgbClr val="36CADB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Klavika Medium" panose="02000603040000020004" pitchFamily="2" charset="0"/>
                <a:ea typeface="微软雅黑" panose="020B0503020204020204" pitchFamily="34" charset="-122"/>
                <a:cs typeface="+mn-cs"/>
              </a:rPr>
              <a:t>SRM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采购经理审批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2" name="矩形 41">
            <a:hlinkClick r:id="rId3" action="ppaction://hlinksldjump"/>
          </p:cNvPr>
          <p:cNvSpPr/>
          <p:nvPr/>
        </p:nvSpPr>
        <p:spPr>
          <a:xfrm>
            <a:off x="4598035" y="1985645"/>
            <a:ext cx="1638935" cy="47180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Klavika Medium" panose="02000603040000020004" pitchFamily="2" charset="0"/>
                <a:ea typeface="微软雅黑" panose="020B0503020204020204" pitchFamily="34" charset="-122"/>
                <a:cs typeface="+mn-cs"/>
              </a:rPr>
              <a:t>SRM→ERP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生成负数到仓单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4598035" y="2983865"/>
            <a:ext cx="1638935" cy="5810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 sz="120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Klavika Medium" panose="02000603040000020004" pitchFamily="2" charset="0"/>
                <a:ea typeface="微软雅黑" panose="020B0503020204020204" pitchFamily="34" charset="-122"/>
                <a:sym typeface="+mn-ea"/>
              </a:rPr>
              <a:t>ERP</a:t>
            </a:r>
            <a:endParaRPr lang="en-US" altLang="zh-CN" sz="1200" noProof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Klavika Medium" panose="02000603040000020004" pitchFamily="2" charset="0"/>
              <a:ea typeface="微软雅黑" panose="020B0503020204020204" pitchFamily="34" charset="-122"/>
              <a:sym typeface="+mn-ea"/>
            </a:endParaRPr>
          </a:p>
          <a:p>
            <a:pPr lv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 sz="120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Klavika Medium" panose="02000603040000020004" pitchFamily="2" charset="0"/>
                <a:ea typeface="微软雅黑" panose="020B0503020204020204" pitchFamily="34" charset="-122"/>
                <a:sym typeface="+mn-ea"/>
              </a:rPr>
              <a:t>仓库确认负数到货单并做负数进仓</a:t>
            </a:r>
            <a:endParaRPr lang="en-US" altLang="zh-CN" sz="1200" noProof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Klavika Medium" panose="02000603040000020004" pitchFamily="2" charset="0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4598035" y="3929380"/>
            <a:ext cx="1638935" cy="471805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线下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货物移交包装组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6848475" y="3928110"/>
            <a:ext cx="1638935" cy="471805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线下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货物移交储运部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7" name="矩形 46">
            <a:hlinkClick r:id="rId4" action="ppaction://hlinksldjump"/>
          </p:cNvPr>
          <p:cNvSpPr/>
          <p:nvPr/>
        </p:nvSpPr>
        <p:spPr>
          <a:xfrm>
            <a:off x="6848475" y="4726305"/>
            <a:ext cx="1638935" cy="53594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Klavika Medium" panose="02000603040000020004" pitchFamily="2" charset="0"/>
                <a:ea typeface="微软雅黑" panose="020B0503020204020204" pitchFamily="34" charset="-122"/>
                <a:cs typeface="+mn-cs"/>
              </a:rPr>
              <a:t>ERP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储运部生成走货单，货物出运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6848475" y="5582285"/>
            <a:ext cx="1638935" cy="47180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 sz="120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Klavika Medium" panose="02000603040000020004" pitchFamily="2" charset="0"/>
                <a:ea typeface="微软雅黑" panose="020B0503020204020204" pitchFamily="34" charset="-122"/>
                <a:sym typeface="+mn-ea"/>
              </a:rPr>
              <a:t>ERP→SRM</a:t>
            </a:r>
            <a:endParaRPr lang="en-US" altLang="zh-CN" sz="1200" noProof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Klavika Medium" panose="02000603040000020004" pitchFamily="2" charset="0"/>
              <a:ea typeface="微软雅黑" panose="020B0503020204020204" pitchFamily="34" charset="-122"/>
              <a:sym typeface="+mn-ea"/>
            </a:endParaRPr>
          </a:p>
          <a:p>
            <a:pPr lv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 sz="120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Klavika Medium" panose="02000603040000020004" pitchFamily="2" charset="0"/>
                <a:ea typeface="微软雅黑" panose="020B0503020204020204" pitchFamily="34" charset="-122"/>
                <a:sym typeface="+mn-ea"/>
              </a:rPr>
              <a:t>走货单回写</a:t>
            </a:r>
            <a:endParaRPr lang="en-US" altLang="zh-CN" sz="1200" noProof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Klavika Medium" panose="02000603040000020004" pitchFamily="2" charset="0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9" name="矩形 48">
            <a:hlinkClick r:id="rId5" action="ppaction://hlinksldjump"/>
          </p:cNvPr>
          <p:cNvSpPr/>
          <p:nvPr/>
        </p:nvSpPr>
        <p:spPr>
          <a:xfrm>
            <a:off x="9067800" y="5581650"/>
            <a:ext cx="1638935" cy="471805"/>
          </a:xfrm>
          <a:prstGeom prst="rect">
            <a:avLst/>
          </a:prstGeom>
          <a:solidFill>
            <a:srgbClr val="36CADB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 sz="120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Klavika Medium" panose="02000603040000020004" pitchFamily="2" charset="0"/>
                <a:ea typeface="微软雅黑" panose="020B0503020204020204" pitchFamily="34" charset="-122"/>
                <a:sym typeface="+mn-ea"/>
              </a:rPr>
              <a:t>SRM</a:t>
            </a:r>
            <a:endParaRPr lang="en-US" altLang="zh-CN" sz="1200" noProof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Klavika Medium" panose="02000603040000020004" pitchFamily="2" charset="0"/>
              <a:ea typeface="微软雅黑" panose="020B0503020204020204" pitchFamily="34" charset="-122"/>
              <a:sym typeface="+mn-ea"/>
            </a:endParaRPr>
          </a:p>
          <a:p>
            <a:pPr lv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 sz="120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Klavika Medium" panose="02000603040000020004" pitchFamily="2" charset="0"/>
                <a:ea typeface="微软雅黑" panose="020B0503020204020204" pitchFamily="34" charset="-122"/>
                <a:sym typeface="+mn-ea"/>
              </a:rPr>
              <a:t>通知供应商</a:t>
            </a:r>
            <a:endParaRPr lang="en-US" altLang="zh-CN" sz="1200" noProof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Klavika Medium" panose="02000603040000020004" pitchFamily="2" charset="0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2360930" y="5581650"/>
            <a:ext cx="1638935" cy="471805"/>
          </a:xfrm>
          <a:prstGeom prst="rect">
            <a:avLst/>
          </a:prstGeom>
          <a:solidFill>
            <a:srgbClr val="36CADB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Klavika Medium" panose="02000603040000020004" pitchFamily="2" charset="0"/>
                <a:ea typeface="微软雅黑" panose="020B0503020204020204" pitchFamily="34" charset="-122"/>
                <a:cs typeface="+mn-cs"/>
              </a:rPr>
              <a:t>SRM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通知采购员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52" name="直接箭头连接符 51"/>
          <p:cNvCxnSpPr>
            <a:stCxn id="2" idx="3"/>
            <a:endCxn id="42" idx="1"/>
          </p:cNvCxnSpPr>
          <p:nvPr/>
        </p:nvCxnSpPr>
        <p:spPr>
          <a:xfrm>
            <a:off x="4008120" y="2219960"/>
            <a:ext cx="589915" cy="1905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箭头连接符 53"/>
          <p:cNvCxnSpPr>
            <a:stCxn id="4" idx="2"/>
            <a:endCxn id="2" idx="0"/>
          </p:cNvCxnSpPr>
          <p:nvPr/>
        </p:nvCxnSpPr>
        <p:spPr>
          <a:xfrm>
            <a:off x="3188970" y="1621790"/>
            <a:ext cx="0" cy="36195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箭头连接符 54"/>
          <p:cNvCxnSpPr>
            <a:stCxn id="42" idx="2"/>
            <a:endCxn id="44" idx="0"/>
          </p:cNvCxnSpPr>
          <p:nvPr/>
        </p:nvCxnSpPr>
        <p:spPr>
          <a:xfrm>
            <a:off x="5417820" y="2457450"/>
            <a:ext cx="0" cy="526415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箭头连接符 55"/>
          <p:cNvCxnSpPr>
            <a:stCxn id="45" idx="3"/>
            <a:endCxn id="46" idx="1"/>
          </p:cNvCxnSpPr>
          <p:nvPr/>
        </p:nvCxnSpPr>
        <p:spPr>
          <a:xfrm flipV="1">
            <a:off x="6236970" y="4164330"/>
            <a:ext cx="611505" cy="127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箭头连接符 56"/>
          <p:cNvCxnSpPr>
            <a:stCxn id="44" idx="2"/>
            <a:endCxn id="45" idx="0"/>
          </p:cNvCxnSpPr>
          <p:nvPr/>
        </p:nvCxnSpPr>
        <p:spPr>
          <a:xfrm>
            <a:off x="5417820" y="3564890"/>
            <a:ext cx="0" cy="36449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箭头连接符 57"/>
          <p:cNvCxnSpPr>
            <a:stCxn id="46" idx="2"/>
            <a:endCxn id="47" idx="0"/>
          </p:cNvCxnSpPr>
          <p:nvPr/>
        </p:nvCxnSpPr>
        <p:spPr>
          <a:xfrm>
            <a:off x="7668260" y="4399915"/>
            <a:ext cx="0" cy="32639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箭头连接符 58"/>
          <p:cNvCxnSpPr>
            <a:stCxn id="47" idx="2"/>
            <a:endCxn id="48" idx="0"/>
          </p:cNvCxnSpPr>
          <p:nvPr/>
        </p:nvCxnSpPr>
        <p:spPr>
          <a:xfrm>
            <a:off x="7668260" y="5262245"/>
            <a:ext cx="0" cy="32004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箭头连接符 59"/>
          <p:cNvCxnSpPr>
            <a:stCxn id="48" idx="3"/>
            <a:endCxn id="49" idx="1"/>
          </p:cNvCxnSpPr>
          <p:nvPr/>
        </p:nvCxnSpPr>
        <p:spPr>
          <a:xfrm flipV="1">
            <a:off x="8487410" y="5817870"/>
            <a:ext cx="580390" cy="635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接箭头连接符 60"/>
          <p:cNvCxnSpPr>
            <a:stCxn id="48" idx="1"/>
            <a:endCxn id="50" idx="3"/>
          </p:cNvCxnSpPr>
          <p:nvPr/>
        </p:nvCxnSpPr>
        <p:spPr>
          <a:xfrm flipH="1" flipV="1">
            <a:off x="3999865" y="5817870"/>
            <a:ext cx="2848610" cy="635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矩形 61"/>
          <p:cNvSpPr/>
          <p:nvPr/>
        </p:nvSpPr>
        <p:spPr>
          <a:xfrm>
            <a:off x="2360930" y="3929380"/>
            <a:ext cx="1638935" cy="471805"/>
          </a:xfrm>
          <a:prstGeom prst="rect">
            <a:avLst/>
          </a:prstGeom>
          <a:solidFill>
            <a:srgbClr val="36CADB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Klavika Medium" panose="02000603040000020004" pitchFamily="2" charset="0"/>
                <a:ea typeface="微软雅黑" panose="020B0503020204020204" pitchFamily="34" charset="-122"/>
                <a:cs typeface="+mn-cs"/>
              </a:rPr>
              <a:t>SRM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通知采购员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63" name="直接箭头连接符 62"/>
          <p:cNvCxnSpPr>
            <a:stCxn id="44" idx="1"/>
            <a:endCxn id="3" idx="3"/>
          </p:cNvCxnSpPr>
          <p:nvPr/>
        </p:nvCxnSpPr>
        <p:spPr>
          <a:xfrm flipH="1" flipV="1">
            <a:off x="3999865" y="3272155"/>
            <a:ext cx="598170" cy="254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文本框 65"/>
          <p:cNvSpPr txBox="1"/>
          <p:nvPr>
            <p:custDataLst>
              <p:tags r:id="rId6"/>
            </p:custDataLst>
          </p:nvPr>
        </p:nvSpPr>
        <p:spPr>
          <a:xfrm>
            <a:off x="7077710" y="1300480"/>
            <a:ext cx="4812665" cy="162877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algn="ctr">
              <a:defRPr sz="1400">
                <a:solidFill>
                  <a:sysClr val="window" lastClr="FFFFFF"/>
                </a:solidFill>
              </a:defRPr>
            </a:lvl1pPr>
          </a:lstStyle>
          <a:p>
            <a:pPr algn="l">
              <a:lnSpc>
                <a:spcPct val="130000"/>
              </a:lnSpc>
            </a:pPr>
            <a:r>
              <a:rPr lang="zh-CN" altLang="en-US" sz="1600" b="1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进仓退货</a:t>
            </a:r>
            <a:r>
              <a:rPr lang="zh-CN" altLang="en-US" sz="1600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：货物已进仓，需仓库确认退货数量，并生成负数到货单和负数进仓单进行冲单</a:t>
            </a:r>
            <a:endParaRPr lang="zh-CN" altLang="en-US" sz="1600" spc="150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algn="l">
              <a:lnSpc>
                <a:spcPct val="130000"/>
              </a:lnSpc>
            </a:pPr>
            <a:endParaRPr lang="zh-CN" altLang="en-US" sz="1600" spc="150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algn="l">
              <a:lnSpc>
                <a:spcPct val="130000"/>
              </a:lnSpc>
            </a:pPr>
            <a:r>
              <a:rPr lang="zh-CN" altLang="en-US" sz="1600" b="1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来料退货</a:t>
            </a:r>
            <a:r>
              <a:rPr lang="zh-CN" altLang="en-US" sz="1600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：货物未进仓，直接退货，不需要生成负数到货单</a:t>
            </a:r>
            <a:endParaRPr lang="zh-CN" altLang="en-US" sz="1600" spc="150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algn="l">
              <a:lnSpc>
                <a:spcPct val="130000"/>
              </a:lnSpc>
            </a:pPr>
            <a:endParaRPr lang="zh-CN" altLang="en-US" sz="1600" spc="150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7" name="矩形 66"/>
          <p:cNvSpPr/>
          <p:nvPr/>
        </p:nvSpPr>
        <p:spPr>
          <a:xfrm>
            <a:off x="6953250" y="1421130"/>
            <a:ext cx="76200" cy="238760"/>
          </a:xfrm>
          <a:prstGeom prst="rect">
            <a:avLst/>
          </a:prstGeom>
          <a:solidFill>
            <a:srgbClr val="1727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矩形 67"/>
          <p:cNvSpPr/>
          <p:nvPr/>
        </p:nvSpPr>
        <p:spPr>
          <a:xfrm>
            <a:off x="6953250" y="2355850"/>
            <a:ext cx="76200" cy="238760"/>
          </a:xfrm>
          <a:prstGeom prst="rect">
            <a:avLst/>
          </a:prstGeom>
          <a:solidFill>
            <a:srgbClr val="1727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hlinkClick r:id="rId3" action="ppaction://hlinksldjump"/>
          </p:cNvPr>
          <p:cNvSpPr/>
          <p:nvPr/>
        </p:nvSpPr>
        <p:spPr>
          <a:xfrm>
            <a:off x="2360930" y="2978785"/>
            <a:ext cx="1638935" cy="58674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p>
            <a:pPr marL="0" marR="0" lvl="0" indent="0" algn="ctr" defTabSz="9144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Klavika Medium" panose="02000603040000020004" pitchFamily="2" charset="0"/>
                <a:ea typeface="微软雅黑" panose="020B0503020204020204" pitchFamily="34" charset="-122"/>
                <a:cs typeface="+mn-cs"/>
              </a:rPr>
              <a:t>ERP→SRM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负数进仓单关联退货申请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矩形 5">
            <a:hlinkClick r:id="rId3" action="ppaction://hlinksldjump"/>
          </p:cNvPr>
          <p:cNvSpPr/>
          <p:nvPr/>
        </p:nvSpPr>
        <p:spPr>
          <a:xfrm>
            <a:off x="267970" y="1983740"/>
            <a:ext cx="1638935" cy="47180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p>
            <a:pPr marL="0" marR="0" lvl="0" indent="0" algn="ctr" defTabSz="9144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Klavika Medium" panose="02000603040000020004" pitchFamily="2" charset="0"/>
                <a:ea typeface="微软雅黑" panose="020B0503020204020204" pitchFamily="34" charset="-122"/>
                <a:cs typeface="+mn-cs"/>
              </a:rPr>
              <a:t>SRM→ERP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生成出场条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7" name="直接箭头连接符 6"/>
          <p:cNvCxnSpPr>
            <a:stCxn id="2" idx="1"/>
            <a:endCxn id="6" idx="3"/>
          </p:cNvCxnSpPr>
          <p:nvPr/>
        </p:nvCxnSpPr>
        <p:spPr>
          <a:xfrm flipH="1">
            <a:off x="1906905" y="2219960"/>
            <a:ext cx="462280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/>
          <p:cNvCxnSpPr>
            <a:stCxn id="3" idx="2"/>
            <a:endCxn id="62" idx="0"/>
          </p:cNvCxnSpPr>
          <p:nvPr/>
        </p:nvCxnSpPr>
        <p:spPr>
          <a:xfrm>
            <a:off x="3180715" y="3565525"/>
            <a:ext cx="0" cy="363855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标题 2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面辅料退换货蓝图</a:t>
            </a:r>
            <a:r>
              <a:rPr lang="en-US" altLang="zh-CN"/>
              <a:t>-</a:t>
            </a:r>
            <a:r>
              <a:rPr lang="zh-CN" altLang="en-US"/>
              <a:t>来料退货</a:t>
            </a:r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2383790" y="1320709"/>
            <a:ext cx="1559560" cy="431800"/>
          </a:xfrm>
          <a:prstGeom prst="rect">
            <a:avLst/>
          </a:prstGeom>
          <a:solidFill>
            <a:srgbClr val="36CADB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Klavika Medium" panose="02000603040000020004" pitchFamily="2" charset="0"/>
                <a:ea typeface="微软雅黑" panose="020B0503020204020204" pitchFamily="34" charset="-122"/>
                <a:cs typeface="+mn-cs"/>
              </a:rPr>
              <a:t>SRM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采购员填写退货申请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383790" y="2154464"/>
            <a:ext cx="1559560" cy="431800"/>
          </a:xfrm>
          <a:prstGeom prst="rect">
            <a:avLst/>
          </a:prstGeom>
          <a:solidFill>
            <a:srgbClr val="36CADB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Klavika Medium" panose="02000603040000020004" pitchFamily="2" charset="0"/>
                <a:ea typeface="微软雅黑" panose="020B0503020204020204" pitchFamily="34" charset="-122"/>
                <a:cs typeface="+mn-cs"/>
              </a:rPr>
              <a:t>SRM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采购经理审批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54" name="直接箭头连接符 53"/>
          <p:cNvCxnSpPr>
            <a:stCxn id="4" idx="2"/>
            <a:endCxn id="2" idx="0"/>
          </p:cNvCxnSpPr>
          <p:nvPr/>
        </p:nvCxnSpPr>
        <p:spPr>
          <a:xfrm>
            <a:off x="3163570" y="1752509"/>
            <a:ext cx="0" cy="401955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4557395" y="5229134"/>
            <a:ext cx="1559560" cy="431800"/>
          </a:xfrm>
          <a:prstGeom prst="rect">
            <a:avLst/>
          </a:prstGeom>
          <a:solidFill>
            <a:srgbClr val="36CADB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Klavika Medium" panose="02000603040000020004" pitchFamily="2" charset="0"/>
                <a:ea typeface="微软雅黑" panose="020B0503020204020204" pitchFamily="34" charset="-122"/>
                <a:cs typeface="+mn-cs"/>
              </a:rPr>
              <a:t>SRM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通知供应商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菱形 6"/>
          <p:cNvSpPr/>
          <p:nvPr/>
        </p:nvSpPr>
        <p:spPr>
          <a:xfrm>
            <a:off x="2383790" y="3039019"/>
            <a:ext cx="1564640" cy="676910"/>
          </a:xfrm>
          <a:prstGeom prst="diamond">
            <a:avLst/>
          </a:prstGeom>
          <a:solidFill>
            <a:srgbClr val="36CADB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 sz="120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Klavika Medium" panose="02000603040000020004" pitchFamily="2" charset="0"/>
                <a:ea typeface="微软雅黑" panose="020B0503020204020204" pitchFamily="34" charset="-122"/>
                <a:sym typeface="+mn-ea"/>
              </a:rPr>
              <a:t>运输方式</a:t>
            </a:r>
            <a:endParaRPr lang="en-US" altLang="zh-CN" sz="1200" noProof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Klavika Medium" panose="02000603040000020004" pitchFamily="2" charset="0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557241" y="2154342"/>
            <a:ext cx="1559560" cy="431800"/>
          </a:xfrm>
          <a:prstGeom prst="rect">
            <a:avLst/>
          </a:prstGeom>
          <a:solidFill>
            <a:srgbClr val="36CADB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Klavika Medium" panose="02000603040000020004" pitchFamily="2" charset="0"/>
                <a:ea typeface="微软雅黑" panose="020B0503020204020204" pitchFamily="34" charset="-122"/>
                <a:cs typeface="+mn-cs"/>
              </a:rPr>
              <a:t>SRM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通知仓库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9" name="直接箭头连接符 8"/>
          <p:cNvCxnSpPr>
            <a:stCxn id="2" idx="3"/>
            <a:endCxn id="8" idx="1"/>
          </p:cNvCxnSpPr>
          <p:nvPr/>
        </p:nvCxnSpPr>
        <p:spPr>
          <a:xfrm>
            <a:off x="3943350" y="2370364"/>
            <a:ext cx="614045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流程图: 预定义过程 9"/>
          <p:cNvSpPr/>
          <p:nvPr/>
        </p:nvSpPr>
        <p:spPr>
          <a:xfrm>
            <a:off x="2351405" y="4384584"/>
            <a:ext cx="1651000" cy="432435"/>
          </a:xfrm>
          <a:prstGeom prst="flowChartPredefinedProcess">
            <a:avLst/>
          </a:prstGeom>
          <a:solidFill>
            <a:schemeClr val="bg1">
              <a:lumMod val="65000"/>
            </a:schemeClr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120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Klavika Medium" panose="02000603040000020004" pitchFamily="2" charset="0"/>
                <a:ea typeface="微软雅黑" panose="020B0503020204020204" pitchFamily="34" charset="-122"/>
                <a:sym typeface="+mn-ea"/>
              </a:rPr>
              <a:t>线下</a:t>
            </a:r>
            <a:endParaRPr lang="zh-CN" altLang="en-US" sz="1200" noProof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Klavika Medium" panose="02000603040000020004" pitchFamily="2" charset="0"/>
              <a:ea typeface="微软雅黑" panose="020B0503020204020204" pitchFamily="34" charset="-122"/>
              <a:sym typeface="+mn-ea"/>
            </a:endParaRPr>
          </a:p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120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Klavika Medium" panose="02000603040000020004" pitchFamily="2" charset="0"/>
                <a:ea typeface="微软雅黑" panose="020B0503020204020204" pitchFamily="34" charset="-122"/>
                <a:sym typeface="+mn-ea"/>
              </a:rPr>
              <a:t>包装储运流程</a:t>
            </a:r>
            <a:endParaRPr lang="zh-CN" altLang="en-US" sz="1200" noProof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Klavika Medium" panose="02000603040000020004" pitchFamily="2" charset="0"/>
              <a:ea typeface="微软雅黑" panose="020B0503020204020204" pitchFamily="34" charset="-122"/>
              <a:sym typeface="+mn-ea"/>
            </a:endParaRPr>
          </a:p>
        </p:txBody>
      </p:sp>
      <p:cxnSp>
        <p:nvCxnSpPr>
          <p:cNvPr id="11" name="直接箭头连接符 10"/>
          <p:cNvCxnSpPr>
            <a:endCxn id="7" idx="0"/>
          </p:cNvCxnSpPr>
          <p:nvPr/>
        </p:nvCxnSpPr>
        <p:spPr>
          <a:xfrm flipH="1">
            <a:off x="3166110" y="2593884"/>
            <a:ext cx="2540" cy="445135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>
            <a:stCxn id="7" idx="2"/>
            <a:endCxn id="10" idx="0"/>
          </p:cNvCxnSpPr>
          <p:nvPr/>
        </p:nvCxnSpPr>
        <p:spPr>
          <a:xfrm>
            <a:off x="3166110" y="3715929"/>
            <a:ext cx="10795" cy="668655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>
            <a:stCxn id="16" idx="3"/>
            <a:endCxn id="6" idx="1"/>
          </p:cNvCxnSpPr>
          <p:nvPr/>
        </p:nvCxnSpPr>
        <p:spPr>
          <a:xfrm>
            <a:off x="3952875" y="5445034"/>
            <a:ext cx="604520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肘形连接符 14"/>
          <p:cNvCxnSpPr>
            <a:stCxn id="7" idx="3"/>
            <a:endCxn id="6" idx="0"/>
          </p:cNvCxnSpPr>
          <p:nvPr/>
        </p:nvCxnSpPr>
        <p:spPr>
          <a:xfrm>
            <a:off x="3948430" y="3377474"/>
            <a:ext cx="1388745" cy="1851660"/>
          </a:xfrm>
          <a:prstGeom prst="bentConnector2">
            <a:avLst/>
          </a:prstGeom>
          <a:ln w="12700">
            <a:solidFill>
              <a:schemeClr val="tx1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2393315" y="5229134"/>
            <a:ext cx="1559560" cy="4318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 sz="120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Klavika Medium" panose="02000603040000020004" pitchFamily="2" charset="0"/>
                <a:ea typeface="微软雅黑" panose="020B0503020204020204" pitchFamily="34" charset="-122"/>
                <a:sym typeface="+mn-ea"/>
              </a:rPr>
              <a:t>ERP→SRM</a:t>
            </a:r>
            <a:endParaRPr lang="en-US" altLang="zh-CN" sz="1200" noProof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Klavika Medium" panose="02000603040000020004" pitchFamily="2" charset="0"/>
              <a:ea typeface="微软雅黑" panose="020B0503020204020204" pitchFamily="34" charset="-122"/>
              <a:sym typeface="+mn-ea"/>
            </a:endParaRPr>
          </a:p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 sz="120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Klavika Medium" panose="02000603040000020004" pitchFamily="2" charset="0"/>
                <a:ea typeface="微软雅黑" panose="020B0503020204020204" pitchFamily="34" charset="-122"/>
                <a:sym typeface="+mn-ea"/>
              </a:rPr>
              <a:t>走货单回写</a:t>
            </a:r>
            <a:endParaRPr lang="en-US" altLang="zh-CN" sz="1200" noProof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Klavika Medium" panose="02000603040000020004" pitchFamily="2" charset="0"/>
              <a:ea typeface="微软雅黑" panose="020B0503020204020204" pitchFamily="34" charset="-122"/>
              <a:sym typeface="+mn-ea"/>
            </a:endParaRPr>
          </a:p>
        </p:txBody>
      </p:sp>
      <p:cxnSp>
        <p:nvCxnSpPr>
          <p:cNvPr id="17" name="直接箭头连接符 16"/>
          <p:cNvCxnSpPr>
            <a:stCxn id="10" idx="2"/>
            <a:endCxn id="16" idx="0"/>
          </p:cNvCxnSpPr>
          <p:nvPr/>
        </p:nvCxnSpPr>
        <p:spPr>
          <a:xfrm flipH="1">
            <a:off x="3173095" y="4817019"/>
            <a:ext cx="3810" cy="412115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/>
          <p:cNvSpPr txBox="1"/>
          <p:nvPr/>
        </p:nvSpPr>
        <p:spPr>
          <a:xfrm>
            <a:off x="2219325" y="3800384"/>
            <a:ext cx="9956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自有物流（嘉里大通）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5337175" y="3874044"/>
            <a:ext cx="1375410" cy="8743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lvl="0" algn="l">
              <a:lnSpc>
                <a:spcPct val="120000"/>
              </a:lnSpc>
              <a:buClrTx/>
              <a:buSzTx/>
              <a:buFontTx/>
            </a:pP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第三方物流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0" algn="l">
              <a:lnSpc>
                <a:spcPct val="120000"/>
              </a:lnSpc>
              <a:buClrTx/>
              <a:buSzTx/>
              <a:buFontTx/>
            </a:pP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厂家自提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0" algn="l">
              <a:lnSpc>
                <a:spcPct val="120000"/>
              </a:lnSpc>
              <a:buClrTx/>
              <a:buSzTx/>
              <a:buFontTx/>
            </a:pP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厂家指定物流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4" name="圆角矩形 2"/>
          <p:cNvSpPr/>
          <p:nvPr>
            <p:custDataLst>
              <p:tags r:id="rId1"/>
            </p:custDataLst>
          </p:nvPr>
        </p:nvSpPr>
        <p:spPr>
          <a:xfrm>
            <a:off x="6778030" y="1097280"/>
            <a:ext cx="4854602" cy="2474932"/>
          </a:xfrm>
          <a:prstGeom prst="roundRect">
            <a:avLst>
              <a:gd name="adj" fmla="val 8416"/>
            </a:avLst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zh-CN" altLang="en-US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249215" y="1168321"/>
            <a:ext cx="4102903" cy="515733"/>
          </a:xfrm>
          <a:prstGeom prst="rect">
            <a:avLst/>
          </a:prstGeom>
          <a:noFill/>
        </p:spPr>
        <p:txBody>
          <a:bodyPr wrap="square" anchor="b" anchorCtr="0"/>
          <a:lstStyle>
            <a:defPPr>
              <a:defRPr lang="zh-CN"/>
            </a:defPPr>
            <a:lvl1pPr algn="ctr">
              <a:defRPr>
                <a:solidFill>
                  <a:sysClr val="window" lastClr="FFFFFF"/>
                </a:solidFill>
              </a:defRPr>
            </a:lvl1pPr>
          </a:lstStyle>
          <a:p>
            <a:pPr algn="l">
              <a:lnSpc>
                <a:spcPct val="140000"/>
              </a:lnSpc>
            </a:pPr>
            <a:r>
              <a:rPr lang="zh-CN" altLang="en-US" sz="2000" b="1" spc="3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退货流程线上化</a:t>
            </a:r>
            <a:endParaRPr lang="zh-CN" altLang="en-US" sz="2000" b="1" spc="300" dirty="0">
              <a:solidFill>
                <a:sysClr val="windowText" lastClr="000000">
                  <a:lumMod val="75000"/>
                  <a:lumOff val="25000"/>
                </a:sys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9" name="文本框 18"/>
          <p:cNvSpPr txBox="1"/>
          <p:nvPr>
            <p:custDataLst>
              <p:tags r:id="rId3"/>
            </p:custDataLst>
          </p:nvPr>
        </p:nvSpPr>
        <p:spPr>
          <a:xfrm>
            <a:off x="7249357" y="1673207"/>
            <a:ext cx="4246298" cy="1740858"/>
          </a:xfrm>
          <a:prstGeom prst="rect">
            <a:avLst/>
          </a:prstGeom>
        </p:spPr>
        <p:txBody>
          <a:bodyPr wrap="square"/>
          <a:lstStyle>
            <a:defPPr>
              <a:defRPr lang="zh-CN"/>
            </a:defPPr>
            <a:lvl1pPr algn="ctr">
              <a:defRPr sz="1400">
                <a:solidFill>
                  <a:sysClr val="window" lastClr="FFFFFF"/>
                </a:solidFill>
              </a:defRPr>
            </a:lvl1pPr>
          </a:lstStyle>
          <a:p>
            <a:pPr algn="l">
              <a:lnSpc>
                <a:spcPct val="140000"/>
              </a:lnSpc>
            </a:pPr>
            <a:r>
              <a:rPr lang="en-US" altLang="zh-CN" spc="150" dirty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1</a:t>
            </a:r>
            <a:r>
              <a:rPr lang="zh-CN" altLang="en-US" spc="150" dirty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、采购员在</a:t>
            </a:r>
            <a:r>
              <a:rPr lang="en-US" altLang="zh-CN" spc="150" dirty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SRM</a:t>
            </a:r>
            <a:r>
              <a:rPr lang="zh-CN" altLang="en-US" spc="150" dirty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中统一填写退货申请单据，取消手写联系单；</a:t>
            </a:r>
            <a:endParaRPr lang="zh-CN" altLang="en-US" spc="150" dirty="0">
              <a:solidFill>
                <a:sysClr val="windowText" lastClr="000000">
                  <a:lumMod val="65000"/>
                  <a:lumOff val="35000"/>
                </a:sys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algn="l">
              <a:lnSpc>
                <a:spcPct val="140000"/>
              </a:lnSpc>
            </a:pPr>
            <a:r>
              <a:rPr lang="en-US" altLang="zh-CN" spc="150" dirty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2</a:t>
            </a:r>
            <a:r>
              <a:rPr lang="zh-CN" altLang="en-US" spc="150" dirty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、采购经理审批线上化，统一管理标准，留存历史数据；</a:t>
            </a:r>
            <a:endParaRPr lang="zh-CN" altLang="en-US" spc="150" dirty="0">
              <a:solidFill>
                <a:sysClr val="windowText" lastClr="000000">
                  <a:lumMod val="65000"/>
                  <a:lumOff val="35000"/>
                </a:sys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algn="l">
              <a:lnSpc>
                <a:spcPct val="140000"/>
              </a:lnSpc>
            </a:pPr>
            <a:r>
              <a:rPr lang="en-US" altLang="zh-CN" spc="150" dirty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3</a:t>
            </a:r>
            <a:r>
              <a:rPr lang="zh-CN" altLang="en-US" spc="150" dirty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、退货自动冲单，减轻工作量，退货信息集成，提升效率。</a:t>
            </a:r>
            <a:endParaRPr lang="zh-CN" altLang="en-US" spc="150" dirty="0">
              <a:solidFill>
                <a:sysClr val="windowText" lastClr="000000">
                  <a:lumMod val="65000"/>
                  <a:lumOff val="35000"/>
                </a:sys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3" name="椭圆 22"/>
          <p:cNvSpPr/>
          <p:nvPr>
            <p:custDataLst>
              <p:tags r:id="rId4"/>
            </p:custDataLst>
          </p:nvPr>
        </p:nvSpPr>
        <p:spPr>
          <a:xfrm>
            <a:off x="6423519" y="1717652"/>
            <a:ext cx="709380" cy="709380"/>
          </a:xfrm>
          <a:prstGeom prst="ellipse">
            <a:avLst/>
          </a:prstGeom>
          <a:solidFill>
            <a:srgbClr val="8590C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zh-CN" altLang="en-US">
              <a:solidFill>
                <a:sysClr val="window" lastClr="FFFFFF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4" name="圆角矩形 2"/>
          <p:cNvSpPr/>
          <p:nvPr>
            <p:custDataLst>
              <p:tags r:id="rId5"/>
            </p:custDataLst>
          </p:nvPr>
        </p:nvSpPr>
        <p:spPr>
          <a:xfrm>
            <a:off x="6778205" y="3708796"/>
            <a:ext cx="4854530" cy="2372210"/>
          </a:xfrm>
          <a:prstGeom prst="roundRect">
            <a:avLst>
              <a:gd name="adj" fmla="val 8416"/>
            </a:avLst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zh-CN" altLang="en-US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5" name="文本框 24"/>
          <p:cNvSpPr txBox="1"/>
          <p:nvPr>
            <p:custDataLst>
              <p:tags r:id="rId6"/>
            </p:custDataLst>
          </p:nvPr>
        </p:nvSpPr>
        <p:spPr>
          <a:xfrm>
            <a:off x="7154234" y="3779565"/>
            <a:ext cx="4102903" cy="515733"/>
          </a:xfrm>
          <a:prstGeom prst="rect">
            <a:avLst/>
          </a:prstGeom>
          <a:noFill/>
        </p:spPr>
        <p:txBody>
          <a:bodyPr wrap="square" anchor="b" anchorCtr="0">
            <a:normAutofit lnSpcReduction="10000"/>
          </a:bodyPr>
          <a:lstStyle>
            <a:defPPr>
              <a:defRPr lang="zh-CN"/>
            </a:defPPr>
            <a:lvl1pPr algn="ctr">
              <a:defRPr>
                <a:solidFill>
                  <a:sysClr val="window" lastClr="FFFFFF"/>
                </a:solidFill>
              </a:defRPr>
            </a:lvl1pPr>
          </a:lstStyle>
          <a:p>
            <a:pPr algn="l">
              <a:lnSpc>
                <a:spcPct val="140000"/>
              </a:lnSpc>
            </a:pPr>
            <a:r>
              <a:rPr lang="zh-CN" altLang="en-US" sz="2000" b="1" spc="3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退货进度跟踪</a:t>
            </a:r>
            <a:endParaRPr lang="zh-CN" altLang="en-US" sz="2000" b="1" spc="300" dirty="0">
              <a:solidFill>
                <a:sysClr val="windowText" lastClr="000000">
                  <a:lumMod val="75000"/>
                  <a:lumOff val="25000"/>
                </a:sys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6" name="文本框 25"/>
          <p:cNvSpPr txBox="1"/>
          <p:nvPr>
            <p:custDataLst>
              <p:tags r:id="rId7"/>
            </p:custDataLst>
          </p:nvPr>
        </p:nvSpPr>
        <p:spPr>
          <a:xfrm>
            <a:off x="7175265" y="4405905"/>
            <a:ext cx="4218280" cy="1642483"/>
          </a:xfrm>
          <a:prstGeom prst="rect">
            <a:avLst/>
          </a:prstGeom>
        </p:spPr>
        <p:txBody>
          <a:bodyPr wrap="square">
            <a:normAutofit fontScale="90000"/>
          </a:bodyPr>
          <a:lstStyle>
            <a:defPPr>
              <a:defRPr lang="zh-CN"/>
            </a:defPPr>
            <a:lvl1pPr algn="ctr">
              <a:defRPr sz="1400">
                <a:solidFill>
                  <a:sysClr val="window" lastClr="FFFFFF"/>
                </a:solidFill>
              </a:defRPr>
            </a:lvl1pPr>
          </a:lstStyle>
          <a:p>
            <a:pPr algn="l">
              <a:lnSpc>
                <a:spcPct val="140000"/>
              </a:lnSpc>
            </a:pPr>
            <a:r>
              <a:rPr lang="en-US" altLang="zh-CN" sz="1600" spc="150" dirty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1</a:t>
            </a:r>
            <a:r>
              <a:rPr lang="zh-CN" altLang="en-US" sz="1600" spc="150" dirty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、系统自动推送退货进度至采购员；</a:t>
            </a:r>
            <a:endParaRPr lang="zh-CN" altLang="en-US" sz="1600" spc="150" dirty="0">
              <a:solidFill>
                <a:sysClr val="windowText" lastClr="000000">
                  <a:lumMod val="65000"/>
                  <a:lumOff val="35000"/>
                </a:sys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algn="l">
              <a:lnSpc>
                <a:spcPct val="140000"/>
              </a:lnSpc>
            </a:pPr>
            <a:r>
              <a:rPr lang="en-US" altLang="zh-CN" sz="1600" spc="150" dirty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2</a:t>
            </a:r>
            <a:r>
              <a:rPr lang="zh-CN" altLang="en-US" sz="1600" spc="150" dirty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、货物出运后系统通知供应商退货及物流信息；</a:t>
            </a:r>
            <a:endParaRPr lang="zh-CN" altLang="en-US" sz="1600" spc="150" dirty="0">
              <a:solidFill>
                <a:sysClr val="windowText" lastClr="000000">
                  <a:lumMod val="65000"/>
                  <a:lumOff val="35000"/>
                </a:sys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algn="l">
              <a:lnSpc>
                <a:spcPct val="140000"/>
              </a:lnSpc>
            </a:pPr>
            <a:r>
              <a:rPr lang="en-US" altLang="zh-CN" sz="1600" spc="150" dirty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3</a:t>
            </a:r>
            <a:r>
              <a:rPr lang="zh-CN" altLang="en-US" sz="1600" spc="150" dirty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、采购员可随时查询当前退货状态，或统计退货历史。</a:t>
            </a:r>
            <a:endParaRPr lang="zh-CN" sz="1600" spc="150" dirty="0">
              <a:solidFill>
                <a:sysClr val="windowText" lastClr="000000">
                  <a:lumMod val="65000"/>
                  <a:lumOff val="35000"/>
                </a:sys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algn="l">
              <a:lnSpc>
                <a:spcPct val="140000"/>
              </a:lnSpc>
            </a:pPr>
            <a:endParaRPr lang="zh-CN" sz="1600" spc="150" dirty="0">
              <a:solidFill>
                <a:sysClr val="windowText" lastClr="000000">
                  <a:lumMod val="65000"/>
                  <a:lumOff val="35000"/>
                </a:sys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7" name="椭圆 26"/>
          <p:cNvSpPr/>
          <p:nvPr>
            <p:custDataLst>
              <p:tags r:id="rId8"/>
            </p:custDataLst>
          </p:nvPr>
        </p:nvSpPr>
        <p:spPr>
          <a:xfrm>
            <a:off x="11278042" y="4058055"/>
            <a:ext cx="709380" cy="709380"/>
          </a:xfrm>
          <a:prstGeom prst="ellipse">
            <a:avLst/>
          </a:prstGeom>
          <a:solidFill>
            <a:srgbClr val="8EAADC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zh-CN" altLang="en-US">
              <a:solidFill>
                <a:sysClr val="window" lastClr="FFFFFF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8" name="KSO_Shape"/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1448744" y="4222411"/>
            <a:ext cx="367977" cy="380665"/>
          </a:xfrm>
          <a:custGeom>
            <a:avLst/>
            <a:gdLst>
              <a:gd name="T0" fmla="*/ 2147483646 w 90"/>
              <a:gd name="T1" fmla="*/ 2147483646 h 93"/>
              <a:gd name="T2" fmla="*/ 2147483646 w 90"/>
              <a:gd name="T3" fmla="*/ 2147483646 h 93"/>
              <a:gd name="T4" fmla="*/ 2147483646 w 90"/>
              <a:gd name="T5" fmla="*/ 2147483646 h 93"/>
              <a:gd name="T6" fmla="*/ 2147483646 w 90"/>
              <a:gd name="T7" fmla="*/ 2147483646 h 93"/>
              <a:gd name="T8" fmla="*/ 2147483646 w 90"/>
              <a:gd name="T9" fmla="*/ 2147483646 h 93"/>
              <a:gd name="T10" fmla="*/ 0 w 90"/>
              <a:gd name="T11" fmla="*/ 2147483646 h 93"/>
              <a:gd name="T12" fmla="*/ 0 w 90"/>
              <a:gd name="T13" fmla="*/ 2147483646 h 93"/>
              <a:gd name="T14" fmla="*/ 2147483646 w 90"/>
              <a:gd name="T15" fmla="*/ 2147483646 h 93"/>
              <a:gd name="T16" fmla="*/ 2147483646 w 90"/>
              <a:gd name="T17" fmla="*/ 2147483646 h 93"/>
              <a:gd name="T18" fmla="*/ 2147483646 w 90"/>
              <a:gd name="T19" fmla="*/ 2147483646 h 93"/>
              <a:gd name="T20" fmla="*/ 2147483646 w 90"/>
              <a:gd name="T21" fmla="*/ 2147483646 h 93"/>
              <a:gd name="T22" fmla="*/ 2147483646 w 90"/>
              <a:gd name="T23" fmla="*/ 2147483646 h 93"/>
              <a:gd name="T24" fmla="*/ 2147483646 w 90"/>
              <a:gd name="T25" fmla="*/ 2147483646 h 93"/>
              <a:gd name="T26" fmla="*/ 2147483646 w 90"/>
              <a:gd name="T27" fmla="*/ 2147483646 h 93"/>
              <a:gd name="T28" fmla="*/ 2147483646 w 90"/>
              <a:gd name="T29" fmla="*/ 2147483646 h 93"/>
              <a:gd name="T30" fmla="*/ 2147483646 w 90"/>
              <a:gd name="T31" fmla="*/ 2147483646 h 93"/>
              <a:gd name="T32" fmla="*/ 2147483646 w 90"/>
              <a:gd name="T33" fmla="*/ 2147483646 h 93"/>
              <a:gd name="T34" fmla="*/ 2147483646 w 90"/>
              <a:gd name="T35" fmla="*/ 2147483646 h 93"/>
              <a:gd name="T36" fmla="*/ 2147483646 w 90"/>
              <a:gd name="T37" fmla="*/ 2147483646 h 93"/>
              <a:gd name="T38" fmla="*/ 2147483646 w 90"/>
              <a:gd name="T39" fmla="*/ 2147483646 h 93"/>
              <a:gd name="T40" fmla="*/ 2147483646 w 90"/>
              <a:gd name="T41" fmla="*/ 2147483646 h 93"/>
              <a:gd name="T42" fmla="*/ 2147483646 w 90"/>
              <a:gd name="T43" fmla="*/ 2147483646 h 93"/>
              <a:gd name="T44" fmla="*/ 2147483646 w 90"/>
              <a:gd name="T45" fmla="*/ 2147483646 h 93"/>
              <a:gd name="T46" fmla="*/ 2147483646 w 90"/>
              <a:gd name="T47" fmla="*/ 2147483646 h 93"/>
              <a:gd name="T48" fmla="*/ 2147483646 w 90"/>
              <a:gd name="T49" fmla="*/ 2147483646 h 93"/>
              <a:gd name="T50" fmla="*/ 2147483646 w 90"/>
              <a:gd name="T51" fmla="*/ 2147483646 h 93"/>
              <a:gd name="T52" fmla="*/ 2147483646 w 90"/>
              <a:gd name="T53" fmla="*/ 2147483646 h 93"/>
              <a:gd name="T54" fmla="*/ 2147483646 w 90"/>
              <a:gd name="T55" fmla="*/ 2147483646 h 93"/>
              <a:gd name="T56" fmla="*/ 2147483646 w 90"/>
              <a:gd name="T57" fmla="*/ 2147483646 h 93"/>
              <a:gd name="T58" fmla="*/ 2147483646 w 90"/>
              <a:gd name="T59" fmla="*/ 2147483646 h 93"/>
              <a:gd name="T60" fmla="*/ 2147483646 w 90"/>
              <a:gd name="T61" fmla="*/ 2147483646 h 93"/>
              <a:gd name="T62" fmla="*/ 2147483646 w 90"/>
              <a:gd name="T63" fmla="*/ 2147483646 h 93"/>
              <a:gd name="T64" fmla="*/ 2147483646 w 90"/>
              <a:gd name="T65" fmla="*/ 2147483646 h 93"/>
              <a:gd name="T66" fmla="*/ 2147483646 w 90"/>
              <a:gd name="T67" fmla="*/ 2147483646 h 93"/>
              <a:gd name="T68" fmla="*/ 2147483646 w 90"/>
              <a:gd name="T69" fmla="*/ 2147483646 h 93"/>
              <a:gd name="T70" fmla="*/ 2147483646 w 90"/>
              <a:gd name="T71" fmla="*/ 2147483646 h 93"/>
              <a:gd name="T72" fmla="*/ 2147483646 w 90"/>
              <a:gd name="T73" fmla="*/ 2147483646 h 93"/>
              <a:gd name="T74" fmla="*/ 2147483646 w 90"/>
              <a:gd name="T75" fmla="*/ 2147483646 h 93"/>
              <a:gd name="T76" fmla="*/ 2147483646 w 90"/>
              <a:gd name="T77" fmla="*/ 2147483646 h 93"/>
              <a:gd name="T78" fmla="*/ 2147483646 w 90"/>
              <a:gd name="T79" fmla="*/ 2147483646 h 93"/>
              <a:gd name="T80" fmla="*/ 2147483646 w 90"/>
              <a:gd name="T81" fmla="*/ 2147483646 h 93"/>
              <a:gd name="T82" fmla="*/ 2147483646 w 90"/>
              <a:gd name="T83" fmla="*/ 2147483646 h 93"/>
              <a:gd name="T84" fmla="*/ 2147483646 w 90"/>
              <a:gd name="T85" fmla="*/ 2147483646 h 93"/>
              <a:gd name="T86" fmla="*/ 2147483646 w 90"/>
              <a:gd name="T87" fmla="*/ 2147483646 h 93"/>
              <a:gd name="T88" fmla="*/ 2147483646 w 90"/>
              <a:gd name="T89" fmla="*/ 2147483646 h 93"/>
              <a:gd name="T90" fmla="*/ 2147483646 w 90"/>
              <a:gd name="T91" fmla="*/ 2147483646 h 93"/>
              <a:gd name="T92" fmla="*/ 2147483646 w 90"/>
              <a:gd name="T93" fmla="*/ 2147483646 h 93"/>
              <a:gd name="T94" fmla="*/ 2147483646 w 90"/>
              <a:gd name="T95" fmla="*/ 2147483646 h 93"/>
              <a:gd name="T96" fmla="*/ 2147483646 w 90"/>
              <a:gd name="T97" fmla="*/ 2147483646 h 93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0" t="0" r="r" b="b"/>
            <a:pathLst>
              <a:path w="90" h="93">
                <a:moveTo>
                  <a:pt x="86" y="38"/>
                </a:moveTo>
                <a:cubicBezTo>
                  <a:pt x="88" y="40"/>
                  <a:pt x="90" y="43"/>
                  <a:pt x="90" y="46"/>
                </a:cubicBezTo>
                <a:cubicBezTo>
                  <a:pt x="90" y="83"/>
                  <a:pt x="90" y="83"/>
                  <a:pt x="90" y="83"/>
                </a:cubicBezTo>
                <a:cubicBezTo>
                  <a:pt x="90" y="88"/>
                  <a:pt x="86" y="93"/>
                  <a:pt x="81" y="93"/>
                </a:cubicBezTo>
                <a:cubicBezTo>
                  <a:pt x="9" y="93"/>
                  <a:pt x="9" y="93"/>
                  <a:pt x="9" y="93"/>
                </a:cubicBezTo>
                <a:cubicBezTo>
                  <a:pt x="4" y="93"/>
                  <a:pt x="0" y="88"/>
                  <a:pt x="0" y="83"/>
                </a:cubicBezTo>
                <a:cubicBezTo>
                  <a:pt x="0" y="46"/>
                  <a:pt x="0" y="46"/>
                  <a:pt x="0" y="46"/>
                </a:cubicBezTo>
                <a:cubicBezTo>
                  <a:pt x="0" y="44"/>
                  <a:pt x="1" y="41"/>
                  <a:pt x="2" y="40"/>
                </a:cubicBezTo>
                <a:cubicBezTo>
                  <a:pt x="2" y="40"/>
                  <a:pt x="2" y="40"/>
                  <a:pt x="2" y="40"/>
                </a:cubicBezTo>
                <a:cubicBezTo>
                  <a:pt x="2" y="40"/>
                  <a:pt x="2" y="40"/>
                  <a:pt x="2" y="40"/>
                </a:cubicBezTo>
                <a:cubicBezTo>
                  <a:pt x="2" y="39"/>
                  <a:pt x="2" y="39"/>
                  <a:pt x="3" y="39"/>
                </a:cubicBezTo>
                <a:cubicBezTo>
                  <a:pt x="39" y="3"/>
                  <a:pt x="39" y="3"/>
                  <a:pt x="39" y="3"/>
                </a:cubicBezTo>
                <a:cubicBezTo>
                  <a:pt x="43" y="0"/>
                  <a:pt x="46" y="0"/>
                  <a:pt x="50" y="3"/>
                </a:cubicBezTo>
                <a:cubicBezTo>
                  <a:pt x="86" y="38"/>
                  <a:pt x="86" y="38"/>
                  <a:pt x="86" y="38"/>
                </a:cubicBezTo>
                <a:close/>
                <a:moveTo>
                  <a:pt x="15" y="30"/>
                </a:moveTo>
                <a:cubicBezTo>
                  <a:pt x="15" y="52"/>
                  <a:pt x="15" y="52"/>
                  <a:pt x="15" y="52"/>
                </a:cubicBezTo>
                <a:cubicBezTo>
                  <a:pt x="45" y="75"/>
                  <a:pt x="45" y="75"/>
                  <a:pt x="45" y="75"/>
                </a:cubicBezTo>
                <a:cubicBezTo>
                  <a:pt x="72" y="54"/>
                  <a:pt x="72" y="54"/>
                  <a:pt x="72" y="54"/>
                </a:cubicBezTo>
                <a:cubicBezTo>
                  <a:pt x="72" y="30"/>
                  <a:pt x="72" y="30"/>
                  <a:pt x="72" y="30"/>
                </a:cubicBezTo>
                <a:cubicBezTo>
                  <a:pt x="15" y="30"/>
                  <a:pt x="15" y="30"/>
                  <a:pt x="15" y="30"/>
                </a:cubicBezTo>
                <a:close/>
                <a:moveTo>
                  <a:pt x="25" y="35"/>
                </a:moveTo>
                <a:cubicBezTo>
                  <a:pt x="25" y="39"/>
                  <a:pt x="25" y="39"/>
                  <a:pt x="25" y="39"/>
                </a:cubicBezTo>
                <a:cubicBezTo>
                  <a:pt x="63" y="39"/>
                  <a:pt x="63" y="39"/>
                  <a:pt x="63" y="39"/>
                </a:cubicBezTo>
                <a:cubicBezTo>
                  <a:pt x="63" y="35"/>
                  <a:pt x="63" y="35"/>
                  <a:pt x="63" y="35"/>
                </a:cubicBezTo>
                <a:cubicBezTo>
                  <a:pt x="25" y="35"/>
                  <a:pt x="25" y="35"/>
                  <a:pt x="25" y="35"/>
                </a:cubicBezTo>
                <a:close/>
                <a:moveTo>
                  <a:pt x="25" y="51"/>
                </a:moveTo>
                <a:cubicBezTo>
                  <a:pt x="25" y="55"/>
                  <a:pt x="25" y="55"/>
                  <a:pt x="25" y="55"/>
                </a:cubicBezTo>
                <a:cubicBezTo>
                  <a:pt x="63" y="55"/>
                  <a:pt x="63" y="55"/>
                  <a:pt x="63" y="55"/>
                </a:cubicBezTo>
                <a:cubicBezTo>
                  <a:pt x="63" y="51"/>
                  <a:pt x="63" y="51"/>
                  <a:pt x="63" y="51"/>
                </a:cubicBezTo>
                <a:cubicBezTo>
                  <a:pt x="25" y="51"/>
                  <a:pt x="25" y="51"/>
                  <a:pt x="25" y="51"/>
                </a:cubicBezTo>
                <a:close/>
                <a:moveTo>
                  <a:pt x="25" y="43"/>
                </a:moveTo>
                <a:cubicBezTo>
                  <a:pt x="25" y="47"/>
                  <a:pt x="25" y="47"/>
                  <a:pt x="25" y="47"/>
                </a:cubicBezTo>
                <a:cubicBezTo>
                  <a:pt x="63" y="47"/>
                  <a:pt x="63" y="47"/>
                  <a:pt x="63" y="47"/>
                </a:cubicBezTo>
                <a:cubicBezTo>
                  <a:pt x="63" y="43"/>
                  <a:pt x="63" y="43"/>
                  <a:pt x="63" y="43"/>
                </a:cubicBezTo>
                <a:cubicBezTo>
                  <a:pt x="25" y="43"/>
                  <a:pt x="25" y="43"/>
                  <a:pt x="25" y="43"/>
                </a:cubicBezTo>
                <a:close/>
                <a:moveTo>
                  <a:pt x="10" y="87"/>
                </a:moveTo>
                <a:cubicBezTo>
                  <a:pt x="28" y="69"/>
                  <a:pt x="28" y="69"/>
                  <a:pt x="28" y="69"/>
                </a:cubicBezTo>
                <a:cubicBezTo>
                  <a:pt x="28" y="69"/>
                  <a:pt x="28" y="68"/>
                  <a:pt x="28" y="67"/>
                </a:cubicBezTo>
                <a:cubicBezTo>
                  <a:pt x="27" y="66"/>
                  <a:pt x="26" y="66"/>
                  <a:pt x="25" y="67"/>
                </a:cubicBezTo>
                <a:cubicBezTo>
                  <a:pt x="7" y="84"/>
                  <a:pt x="7" y="84"/>
                  <a:pt x="7" y="84"/>
                </a:cubicBezTo>
                <a:cubicBezTo>
                  <a:pt x="6" y="85"/>
                  <a:pt x="6" y="86"/>
                  <a:pt x="7" y="87"/>
                </a:cubicBezTo>
                <a:cubicBezTo>
                  <a:pt x="8" y="87"/>
                  <a:pt x="9" y="87"/>
                  <a:pt x="10" y="87"/>
                </a:cubicBezTo>
                <a:close/>
                <a:moveTo>
                  <a:pt x="84" y="84"/>
                </a:moveTo>
                <a:cubicBezTo>
                  <a:pt x="66" y="67"/>
                  <a:pt x="66" y="67"/>
                  <a:pt x="66" y="67"/>
                </a:cubicBezTo>
                <a:cubicBezTo>
                  <a:pt x="65" y="66"/>
                  <a:pt x="64" y="66"/>
                  <a:pt x="63" y="67"/>
                </a:cubicBezTo>
                <a:cubicBezTo>
                  <a:pt x="62" y="68"/>
                  <a:pt x="62" y="69"/>
                  <a:pt x="63" y="69"/>
                </a:cubicBezTo>
                <a:cubicBezTo>
                  <a:pt x="81" y="87"/>
                  <a:pt x="81" y="87"/>
                  <a:pt x="81" y="87"/>
                </a:cubicBezTo>
                <a:cubicBezTo>
                  <a:pt x="82" y="87"/>
                  <a:pt x="83" y="87"/>
                  <a:pt x="84" y="87"/>
                </a:cubicBezTo>
                <a:cubicBezTo>
                  <a:pt x="85" y="86"/>
                  <a:pt x="85" y="85"/>
                  <a:pt x="84" y="84"/>
                </a:cubicBezTo>
                <a:close/>
              </a:path>
            </a:pathLst>
          </a:custGeom>
          <a:solidFill>
            <a:sysClr val="window" lastClr="FFFFFF"/>
          </a:solidFill>
          <a:ln>
            <a:noFill/>
          </a:ln>
        </p:spPr>
        <p:txBody>
          <a:bodyPr/>
          <a:lstStyle/>
          <a:p>
            <a:endParaRPr lang="zh-CN" altLang="en-US">
              <a:solidFill>
                <a:sysClr val="window" lastClr="FFFFFF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30" name="图形 4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526339" y="1882009"/>
            <a:ext cx="503735" cy="395086"/>
          </a:xfrm>
          <a:prstGeom prst="rect">
            <a:avLst/>
          </a:prstGeom>
        </p:spPr>
      </p:pic>
      <p:sp>
        <p:nvSpPr>
          <p:cNvPr id="3" name="矩形 2">
            <a:hlinkClick r:id="rId13" action="ppaction://hlinksldjump"/>
          </p:cNvPr>
          <p:cNvSpPr/>
          <p:nvPr/>
        </p:nvSpPr>
        <p:spPr>
          <a:xfrm>
            <a:off x="280035" y="2134235"/>
            <a:ext cx="1638935" cy="47180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p>
            <a:pPr marL="0" marR="0" lvl="0" indent="0" algn="ctr" defTabSz="9144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Klavika Medium" panose="02000603040000020004" pitchFamily="2" charset="0"/>
                <a:ea typeface="微软雅黑" panose="020B0503020204020204" pitchFamily="34" charset="-122"/>
                <a:cs typeface="+mn-cs"/>
              </a:rPr>
              <a:t>SRM→ERP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生成出场条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5" name="直接箭头连接符 4"/>
          <p:cNvCxnSpPr>
            <a:stCxn id="2" idx="1"/>
            <a:endCxn id="3" idx="3"/>
          </p:cNvCxnSpPr>
          <p:nvPr/>
        </p:nvCxnSpPr>
        <p:spPr>
          <a:xfrm flipH="1">
            <a:off x="1918970" y="2370455"/>
            <a:ext cx="464820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86"/>
          <p:cNvSpPr txBox="1"/>
          <p:nvPr/>
        </p:nvSpPr>
        <p:spPr>
          <a:xfrm>
            <a:off x="6809066" y="942409"/>
            <a:ext cx="4387332" cy="50774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339725" marR="0" lvl="0" indent="-339725" defTabSz="90614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CA070"/>
              </a:buClr>
              <a:buSzPct val="80000"/>
              <a:buFont typeface="Wingdings" panose="05000000000000000000" pitchFamily="2" charset="2"/>
              <a:buChar char="n"/>
              <a:defRPr kumimoji="0" sz="2800" b="0" i="0" u="none" strike="noStrike" cap="none" spc="0" normalizeH="0" baseline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Helvetica Light" pitchFamily="50" charset="0"/>
              </a:defRPr>
            </a:lvl1pPr>
            <a:lvl2pPr marL="742950" indent="-285750">
              <a:defRPr sz="3000">
                <a:solidFill>
                  <a:srgbClr val="000000"/>
                </a:solidFill>
                <a:latin typeface="Helvetica Light" pitchFamily="50" charset="0"/>
                <a:ea typeface="Helvetica Light" pitchFamily="50" charset="0"/>
                <a:cs typeface="Helvetica Light" pitchFamily="50" charset="0"/>
              </a:defRPr>
            </a:lvl2pPr>
            <a:lvl3pPr marL="1143000" indent="-228600">
              <a:defRPr sz="3000">
                <a:solidFill>
                  <a:srgbClr val="000000"/>
                </a:solidFill>
                <a:latin typeface="Helvetica Light" pitchFamily="50" charset="0"/>
                <a:ea typeface="Helvetica Light" pitchFamily="50" charset="0"/>
                <a:cs typeface="Helvetica Light" pitchFamily="50" charset="0"/>
              </a:defRPr>
            </a:lvl3pPr>
            <a:lvl4pPr marL="1600200" indent="-228600">
              <a:defRPr sz="3000">
                <a:solidFill>
                  <a:srgbClr val="000000"/>
                </a:solidFill>
                <a:latin typeface="Helvetica Light" pitchFamily="50" charset="0"/>
                <a:ea typeface="Helvetica Light" pitchFamily="50" charset="0"/>
                <a:cs typeface="Helvetica Light" pitchFamily="50" charset="0"/>
              </a:defRPr>
            </a:lvl4pPr>
            <a:lvl5pPr marL="2057400" indent="-228600">
              <a:defRPr sz="3000">
                <a:solidFill>
                  <a:srgbClr val="000000"/>
                </a:solidFill>
                <a:latin typeface="Helvetica Light" pitchFamily="50" charset="0"/>
                <a:ea typeface="Helvetica Light" pitchFamily="50" charset="0"/>
                <a:cs typeface="Helvetica Light" pitchFamily="50" charset="0"/>
              </a:defRPr>
            </a:lvl5pPr>
            <a:lvl6pPr marL="2514600" indent="-228600" defTabSz="668655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00000"/>
                </a:solidFill>
                <a:latin typeface="Helvetica Light" pitchFamily="50" charset="0"/>
                <a:ea typeface="Helvetica Light" pitchFamily="50" charset="0"/>
                <a:cs typeface="Helvetica Light" pitchFamily="50" charset="0"/>
              </a:defRPr>
            </a:lvl6pPr>
            <a:lvl7pPr marL="2971800" indent="-228600" defTabSz="668655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00000"/>
                </a:solidFill>
                <a:latin typeface="Helvetica Light" pitchFamily="50" charset="0"/>
                <a:ea typeface="Helvetica Light" pitchFamily="50" charset="0"/>
                <a:cs typeface="Helvetica Light" pitchFamily="50" charset="0"/>
              </a:defRPr>
            </a:lvl7pPr>
            <a:lvl8pPr marL="3429000" indent="-228600" defTabSz="668655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00000"/>
                </a:solidFill>
                <a:latin typeface="Helvetica Light" pitchFamily="50" charset="0"/>
                <a:ea typeface="Helvetica Light" pitchFamily="50" charset="0"/>
                <a:cs typeface="Helvetica Light" pitchFamily="50" charset="0"/>
              </a:defRPr>
            </a:lvl8pPr>
            <a:lvl9pPr marL="3886200" indent="-228600" defTabSz="668655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00000"/>
                </a:solidFill>
                <a:latin typeface="Helvetica Light" pitchFamily="50" charset="0"/>
                <a:ea typeface="Helvetica Light" pitchFamily="50" charset="0"/>
                <a:cs typeface="Helvetica Light" pitchFamily="50" charset="0"/>
              </a:defRPr>
            </a:lvl9pPr>
          </a:lstStyle>
          <a:p>
            <a:r>
              <a:rPr lang="zh-CN" altLang="en-US" sz="3600" b="1" dirty="0">
                <a:solidFill>
                  <a:schemeClr val="bg2">
                    <a:lumMod val="75000"/>
                  </a:schemeClr>
                </a:solidFill>
              </a:rPr>
              <a:t>蓝图介绍</a:t>
            </a:r>
            <a:endParaRPr lang="en-US" altLang="zh-CN" sz="3600" b="1" dirty="0">
              <a:solidFill>
                <a:schemeClr val="bg2">
                  <a:lumMod val="75000"/>
                </a:schemeClr>
              </a:solidFill>
            </a:endParaRPr>
          </a:p>
          <a:p>
            <a:endParaRPr lang="en-US" altLang="zh-CN" sz="3600" b="1" dirty="0">
              <a:solidFill>
                <a:schemeClr val="tx1"/>
              </a:solidFill>
            </a:endParaRPr>
          </a:p>
          <a:p>
            <a:r>
              <a:rPr lang="zh-CN" altLang="en-US" sz="3600" b="1" dirty="0">
                <a:solidFill>
                  <a:schemeClr val="tx1"/>
                </a:solidFill>
                <a:sym typeface="+mn-ea"/>
              </a:rPr>
              <a:t>蓝图方案</a:t>
            </a:r>
            <a:endParaRPr lang="zh-CN" altLang="en-US" sz="3600" b="1" dirty="0">
              <a:solidFill>
                <a:schemeClr val="tx1"/>
              </a:solidFill>
            </a:endParaRPr>
          </a:p>
          <a:p>
            <a:endParaRPr lang="zh-CN" altLang="en-US" sz="36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3600" b="1" dirty="0">
                <a:solidFill>
                  <a:schemeClr val="tx1"/>
                </a:solidFill>
              </a:rPr>
              <a:t>   </a:t>
            </a:r>
            <a:endParaRPr lang="en-US" altLang="zh-CN" sz="36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zh-CN" sz="36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zh-CN" sz="36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zh-CN" sz="36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zh-CN" altLang="en-US" sz="3600" b="1" dirty="0">
                <a:solidFill>
                  <a:schemeClr val="bg2">
                    <a:lumMod val="75000"/>
                  </a:schemeClr>
                </a:solidFill>
              </a:rPr>
              <a:t>后续工作</a:t>
            </a:r>
            <a:endParaRPr lang="zh-CN" altLang="en-US" sz="3600" b="1" dirty="0">
              <a:solidFill>
                <a:schemeClr val="bg2">
                  <a:lumMod val="75000"/>
                </a:schemeClr>
              </a:solidFill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0" y="0"/>
            <a:ext cx="6419215" cy="6573520"/>
            <a:chOff x="-1" y="0"/>
            <a:chExt cx="6698256" cy="6858000"/>
          </a:xfrm>
        </p:grpSpPr>
        <p:sp>
          <p:nvSpPr>
            <p:cNvPr id="5" name="矩形 4"/>
            <p:cNvSpPr/>
            <p:nvPr/>
          </p:nvSpPr>
          <p:spPr>
            <a:xfrm>
              <a:off x="-1" y="0"/>
              <a:ext cx="6698256" cy="6858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" name="矩形 5"/>
            <p:cNvSpPr/>
            <p:nvPr/>
          </p:nvSpPr>
          <p:spPr>
            <a:xfrm>
              <a:off x="444606" y="0"/>
              <a:ext cx="5449912" cy="561783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34400" dirty="0">
                  <a:solidFill>
                    <a:srgbClr val="333333"/>
                  </a:solidFill>
                  <a:latin typeface="Arial" panose="020B0604020202020204" pitchFamily="34" charset="0"/>
                </a:rPr>
                <a:t>c</a:t>
              </a:r>
              <a:r>
                <a:rPr lang="en-US" altLang="zh-CN" sz="6600" u="sng" dirty="0">
                  <a:solidFill>
                    <a:srgbClr val="333333"/>
                  </a:solidFill>
                  <a:latin typeface="Arial" panose="020B0604020202020204" pitchFamily="34" charset="0"/>
                </a:rPr>
                <a:t>ontents</a:t>
              </a:r>
              <a:endParaRPr lang="zh-CN" altLang="en-US" sz="6600" dirty="0"/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3029809" y="2321003"/>
              <a:ext cx="2478796" cy="11547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6600" b="1" dirty="0">
                  <a:solidFill>
                    <a:schemeClr val="bg1"/>
                  </a:solidFill>
                </a:rPr>
                <a:t>目录</a:t>
              </a:r>
              <a:endParaRPr lang="zh-CN" altLang="en-US" sz="66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50" name="灯片编号占位符 2"/>
          <p:cNvSpPr txBox="1"/>
          <p:nvPr/>
        </p:nvSpPr>
        <p:spPr>
          <a:xfrm>
            <a:off x="40256" y="6583423"/>
            <a:ext cx="455763" cy="261773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30327E2-17C4-431B-B5C7-D724C9A939E1}" type="slidenum">
              <a:rPr lang="zh-CN" altLang="en-US" smtClean="0">
                <a:solidFill>
                  <a:schemeClr val="tx2">
                    <a:lumMod val="75000"/>
                  </a:schemeClr>
                </a:solidFill>
              </a:rPr>
            </a:fld>
            <a:endParaRPr lang="zh-CN" alt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" name="TextBox 186"/>
          <p:cNvSpPr txBox="1"/>
          <p:nvPr/>
        </p:nvSpPr>
        <p:spPr>
          <a:xfrm>
            <a:off x="6809105" y="2012315"/>
            <a:ext cx="2891790" cy="27787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339725" marR="0" lvl="0" indent="-339725" defTabSz="90614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CA070"/>
              </a:buClr>
              <a:buSzPct val="80000"/>
              <a:buFont typeface="Wingdings" panose="05000000000000000000" pitchFamily="2" charset="2"/>
              <a:buChar char="n"/>
              <a:defRPr kumimoji="0" sz="2800" b="0" i="0" u="none" strike="noStrike" cap="none" spc="0" normalizeH="0" baseline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Helvetica Light" pitchFamily="50" charset="0"/>
              </a:defRPr>
            </a:lvl1pPr>
            <a:lvl2pPr marL="742950" indent="-285750">
              <a:defRPr sz="3000">
                <a:solidFill>
                  <a:srgbClr val="000000"/>
                </a:solidFill>
                <a:latin typeface="Helvetica Light" pitchFamily="50" charset="0"/>
                <a:ea typeface="Helvetica Light" pitchFamily="50" charset="0"/>
                <a:cs typeface="Helvetica Light" pitchFamily="50" charset="0"/>
              </a:defRPr>
            </a:lvl2pPr>
            <a:lvl3pPr marL="1143000" indent="-228600">
              <a:defRPr sz="3000">
                <a:solidFill>
                  <a:srgbClr val="000000"/>
                </a:solidFill>
                <a:latin typeface="Helvetica Light" pitchFamily="50" charset="0"/>
                <a:ea typeface="Helvetica Light" pitchFamily="50" charset="0"/>
                <a:cs typeface="Helvetica Light" pitchFamily="50" charset="0"/>
              </a:defRPr>
            </a:lvl3pPr>
            <a:lvl4pPr marL="1600200" indent="-228600">
              <a:defRPr sz="3000">
                <a:solidFill>
                  <a:srgbClr val="000000"/>
                </a:solidFill>
                <a:latin typeface="Helvetica Light" pitchFamily="50" charset="0"/>
                <a:ea typeface="Helvetica Light" pitchFamily="50" charset="0"/>
                <a:cs typeface="Helvetica Light" pitchFamily="50" charset="0"/>
              </a:defRPr>
            </a:lvl4pPr>
            <a:lvl5pPr marL="2057400" indent="-228600">
              <a:defRPr sz="3000">
                <a:solidFill>
                  <a:srgbClr val="000000"/>
                </a:solidFill>
                <a:latin typeface="Helvetica Light" pitchFamily="50" charset="0"/>
                <a:ea typeface="Helvetica Light" pitchFamily="50" charset="0"/>
                <a:cs typeface="Helvetica Light" pitchFamily="50" charset="0"/>
              </a:defRPr>
            </a:lvl5pPr>
            <a:lvl6pPr marL="2514600" indent="-228600" defTabSz="668655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00000"/>
                </a:solidFill>
                <a:latin typeface="Helvetica Light" pitchFamily="50" charset="0"/>
                <a:ea typeface="Helvetica Light" pitchFamily="50" charset="0"/>
                <a:cs typeface="Helvetica Light" pitchFamily="50" charset="0"/>
              </a:defRPr>
            </a:lvl6pPr>
            <a:lvl7pPr marL="2971800" indent="-228600" defTabSz="668655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00000"/>
                </a:solidFill>
                <a:latin typeface="Helvetica Light" pitchFamily="50" charset="0"/>
                <a:ea typeface="Helvetica Light" pitchFamily="50" charset="0"/>
                <a:cs typeface="Helvetica Light" pitchFamily="50" charset="0"/>
              </a:defRPr>
            </a:lvl7pPr>
            <a:lvl8pPr marL="3429000" indent="-228600" defTabSz="668655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00000"/>
                </a:solidFill>
                <a:latin typeface="Helvetica Light" pitchFamily="50" charset="0"/>
                <a:ea typeface="Helvetica Light" pitchFamily="50" charset="0"/>
                <a:cs typeface="Helvetica Light" pitchFamily="50" charset="0"/>
              </a:defRPr>
            </a:lvl8pPr>
            <a:lvl9pPr marL="3886200" indent="-228600" defTabSz="668655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00000"/>
                </a:solidFill>
                <a:latin typeface="Helvetica Light" pitchFamily="50" charset="0"/>
                <a:ea typeface="Helvetica Light" pitchFamily="50" charset="0"/>
                <a:cs typeface="Helvetica Light" pitchFamily="50" charset="0"/>
              </a:defRPr>
            </a:lvl9pPr>
          </a:lstStyle>
          <a:p>
            <a:pPr marL="457200" lvl="1" indent="0" fontAlgn="auto">
              <a:lnSpc>
                <a:spcPct val="180000"/>
              </a:lnSpc>
              <a:spcBef>
                <a:spcPts val="1200"/>
              </a:spcBef>
              <a:buFont typeface="Wingdings" panose="05000000000000000000" charset="0"/>
              <a:buNone/>
            </a:pPr>
            <a:endParaRPr lang="zh-CN" altLang="en-US" sz="1600" b="1" dirty="0">
              <a:solidFill>
                <a:schemeClr val="bg1">
                  <a:lumMod val="65000"/>
                </a:schemeClr>
              </a:solidFill>
            </a:endParaRPr>
          </a:p>
          <a:p>
            <a:pPr lvl="1" fontAlgn="auto">
              <a:lnSpc>
                <a:spcPct val="170000"/>
              </a:lnSpc>
              <a:spcBef>
                <a:spcPts val="1200"/>
              </a:spcBef>
              <a:buFont typeface="Wingdings" panose="05000000000000000000" charset="0"/>
              <a:buChar char="p"/>
            </a:pPr>
            <a:r>
              <a:rPr lang="zh-CN" altLang="en-US" sz="1600" b="1" dirty="0">
                <a:solidFill>
                  <a:schemeClr val="tx1"/>
                </a:solidFill>
              </a:rPr>
              <a:t>采购员发起退货申请</a:t>
            </a:r>
            <a:r>
              <a:rPr lang="en-US" altLang="zh-CN" sz="1600" b="1" dirty="0">
                <a:solidFill>
                  <a:schemeClr val="tx1"/>
                </a:solidFill>
              </a:rPr>
              <a:t> </a:t>
            </a:r>
            <a:r>
              <a:rPr lang="en-US" altLang="zh-CN" sz="1600" b="1" dirty="0">
                <a:solidFill>
                  <a:schemeClr val="bg1">
                    <a:lumMod val="65000"/>
                  </a:schemeClr>
                </a:solidFill>
              </a:rPr>
              <a:t>              </a:t>
            </a:r>
            <a:endParaRPr lang="zh-CN" altLang="en-US" sz="1600" b="1" dirty="0">
              <a:solidFill>
                <a:schemeClr val="bg1">
                  <a:lumMod val="65000"/>
                </a:schemeClr>
              </a:solidFill>
            </a:endParaRPr>
          </a:p>
          <a:p>
            <a:pPr lvl="1">
              <a:lnSpc>
                <a:spcPct val="170000"/>
              </a:lnSpc>
              <a:buFont typeface="Wingdings" panose="05000000000000000000" charset="0"/>
              <a:buChar char="p"/>
            </a:pPr>
            <a:r>
              <a:rPr lang="zh-CN" altLang="en-US" sz="1600" b="1" dirty="0">
                <a:solidFill>
                  <a:schemeClr val="bg1">
                    <a:lumMod val="65000"/>
                  </a:schemeClr>
                </a:solidFill>
              </a:rPr>
              <a:t>采购经理审批</a:t>
            </a:r>
            <a:endParaRPr lang="zh-CN" altLang="en-US" sz="1600" b="1" dirty="0">
              <a:solidFill>
                <a:schemeClr val="bg1">
                  <a:lumMod val="65000"/>
                </a:schemeClr>
              </a:solidFill>
            </a:endParaRPr>
          </a:p>
          <a:p>
            <a:pPr lvl="1">
              <a:lnSpc>
                <a:spcPct val="170000"/>
              </a:lnSpc>
              <a:buFont typeface="Wingdings" panose="05000000000000000000" charset="0"/>
              <a:buChar char="p"/>
            </a:pPr>
            <a:r>
              <a:rPr lang="zh-CN" altLang="en-US" sz="1600" b="1" dirty="0">
                <a:solidFill>
                  <a:schemeClr val="bg1">
                    <a:lumMod val="65000"/>
                  </a:schemeClr>
                </a:solidFill>
              </a:rPr>
              <a:t>退货冲单</a:t>
            </a:r>
            <a:endParaRPr lang="zh-CN" altLang="en-US" sz="1600" b="1" dirty="0">
              <a:solidFill>
                <a:schemeClr val="bg1">
                  <a:lumMod val="65000"/>
                </a:schemeClr>
              </a:solidFill>
            </a:endParaRPr>
          </a:p>
          <a:p>
            <a:pPr lvl="1">
              <a:lnSpc>
                <a:spcPct val="170000"/>
              </a:lnSpc>
              <a:buFont typeface="Wingdings" panose="05000000000000000000" charset="0"/>
              <a:buChar char="p"/>
            </a:pPr>
            <a:r>
              <a:rPr lang="zh-CN" altLang="en-US" sz="1600" b="1" dirty="0">
                <a:solidFill>
                  <a:schemeClr val="bg1">
                    <a:lumMod val="65000"/>
                  </a:schemeClr>
                </a:solidFill>
              </a:rPr>
              <a:t>储运部发货</a:t>
            </a:r>
            <a:endParaRPr lang="zh-CN" altLang="en-US" sz="1600" b="1" dirty="0">
              <a:solidFill>
                <a:schemeClr val="bg1">
                  <a:lumMod val="65000"/>
                </a:schemeClr>
              </a:solidFill>
            </a:endParaRPr>
          </a:p>
          <a:p>
            <a:pPr lvl="1">
              <a:lnSpc>
                <a:spcPct val="170000"/>
              </a:lnSpc>
              <a:buFont typeface="Wingdings" panose="05000000000000000000" charset="0"/>
              <a:buChar char="p"/>
            </a:pPr>
            <a:r>
              <a:rPr lang="zh-CN" altLang="en-US" sz="1600" b="1" dirty="0">
                <a:solidFill>
                  <a:schemeClr val="bg1">
                    <a:lumMod val="65000"/>
                  </a:schemeClr>
                </a:solidFill>
              </a:rPr>
              <a:t>供应商查看</a:t>
            </a:r>
            <a:endParaRPr lang="zh-CN" altLang="en-US" sz="1600" b="1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退货申请界面</a:t>
            </a:r>
            <a:r>
              <a:rPr lang="en-US" altLang="zh-CN"/>
              <a:t>-</a:t>
            </a:r>
            <a:r>
              <a:rPr lang="zh-CN" altLang="en-US"/>
              <a:t>基础信息</a:t>
            </a:r>
            <a:r>
              <a:rPr lang="en-US" altLang="zh-CN"/>
              <a:t> </a:t>
            </a:r>
            <a:endParaRPr lang="en-US" altLang="zh-CN"/>
          </a:p>
        </p:txBody>
      </p:sp>
      <p:graphicFrame>
        <p:nvGraphicFramePr>
          <p:cNvPr id="9" name="表格 8"/>
          <p:cNvGraphicFramePr/>
          <p:nvPr>
            <p:custDataLst>
              <p:tags r:id="rId1"/>
            </p:custDataLst>
          </p:nvPr>
        </p:nvGraphicFramePr>
        <p:xfrm>
          <a:off x="457517" y="4968875"/>
          <a:ext cx="8640000" cy="1320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0000"/>
                <a:gridCol w="1440000"/>
                <a:gridCol w="1260000"/>
                <a:gridCol w="1260000"/>
                <a:gridCol w="1080000"/>
                <a:gridCol w="1080000"/>
                <a:gridCol w="1080000"/>
              </a:tblGrid>
              <a:tr h="36576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12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收货人/提货人</a:t>
                      </a:r>
                      <a:endParaRPr lang="en-US" altLang="en-US" sz="12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供方联系方式</a:t>
                      </a:r>
                      <a:endParaRPr lang="en-US" altLang="en-US" sz="12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供方收货地址</a:t>
                      </a:r>
                      <a:endParaRPr lang="en-US" altLang="en-US" sz="12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2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运输</a:t>
                      </a:r>
                      <a:r>
                        <a:rPr lang="en-US" sz="12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单号</a:t>
                      </a:r>
                      <a:endParaRPr lang="en-US" altLang="en-US" sz="12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付款方式</a:t>
                      </a:r>
                      <a:endParaRPr lang="en-US" altLang="en-US" sz="12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车牌号</a:t>
                      </a:r>
                      <a:endParaRPr lang="en-US" altLang="en-US" sz="12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114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厂家自提</a:t>
                      </a:r>
                      <a:endParaRPr lang="en-US" altLang="en-US" sz="12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√</a:t>
                      </a:r>
                      <a:endParaRPr lang="en-US" altLang="en-US" sz="12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√</a:t>
                      </a:r>
                      <a:endParaRPr lang="en-US" altLang="en-US" sz="12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</a:t>
                      </a:r>
                      <a:endParaRPr lang="en-US" altLang="en-US" sz="12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</a:t>
                      </a:r>
                      <a:endParaRPr lang="en-US" altLang="en-US" sz="12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</a:t>
                      </a:r>
                      <a:endParaRPr lang="en-US" altLang="en-US" sz="12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√</a:t>
                      </a:r>
                      <a:endParaRPr lang="en-US" altLang="en-US" sz="12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</a:tr>
              <a:tr h="2413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自有物流</a:t>
                      </a:r>
                      <a:endParaRPr lang="en-US" altLang="en-US" sz="12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√</a:t>
                      </a:r>
                      <a:endParaRPr lang="en-US" altLang="en-US" sz="12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√</a:t>
                      </a:r>
                      <a:endParaRPr lang="en-US" altLang="en-US" sz="12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√</a:t>
                      </a:r>
                      <a:endParaRPr lang="en-US" altLang="en-US" sz="12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</a:t>
                      </a:r>
                      <a:endParaRPr lang="en-US" altLang="en-US" sz="12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√</a:t>
                      </a:r>
                      <a:endParaRPr lang="en-US" altLang="en-US" sz="12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</a:t>
                      </a:r>
                      <a:endParaRPr lang="en-US" altLang="en-US" sz="12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第三方物流</a:t>
                      </a:r>
                      <a:endParaRPr lang="en-US" altLang="en-US" sz="12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√</a:t>
                      </a:r>
                      <a:endParaRPr lang="en-US" altLang="en-US" sz="12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√</a:t>
                      </a:r>
                      <a:endParaRPr lang="en-US" altLang="en-US" sz="12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√</a:t>
                      </a:r>
                      <a:endParaRPr lang="en-US" altLang="en-US" sz="12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√</a:t>
                      </a:r>
                      <a:endParaRPr lang="en-US" altLang="en-US" sz="12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√</a:t>
                      </a:r>
                      <a:endParaRPr lang="en-US" altLang="en-US" sz="12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</a:t>
                      </a:r>
                      <a:endParaRPr lang="en-US" altLang="en-US" sz="12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厂家指定物流</a:t>
                      </a:r>
                      <a:endParaRPr lang="en-US" altLang="en-US" sz="12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√</a:t>
                      </a:r>
                      <a:endParaRPr lang="en-US" altLang="en-US" sz="12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√</a:t>
                      </a:r>
                      <a:endParaRPr lang="en-US" altLang="en-US" sz="12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√</a:t>
                      </a:r>
                      <a:endParaRPr lang="en-US" altLang="en-US" sz="12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√</a:t>
                      </a:r>
                      <a:endParaRPr lang="en-US" altLang="en-US" sz="12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√</a:t>
                      </a:r>
                      <a:endParaRPr lang="en-US" altLang="en-US" sz="12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12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980" y="876300"/>
            <a:ext cx="10381615" cy="375539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38" name="文本框 37"/>
          <p:cNvSpPr txBox="1"/>
          <p:nvPr>
            <p:custDataLst>
              <p:tags r:id="rId3"/>
            </p:custDataLst>
          </p:nvPr>
        </p:nvSpPr>
        <p:spPr>
          <a:xfrm>
            <a:off x="9230995" y="4873625"/>
            <a:ext cx="2604770" cy="14928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algn="ctr">
              <a:defRPr sz="1400">
                <a:solidFill>
                  <a:sysClr val="window" lastClr="FFFFFF"/>
                </a:solidFill>
              </a:defRPr>
            </a:lvl1pPr>
          </a:lstStyle>
          <a:p>
            <a:pPr algn="l">
              <a:lnSpc>
                <a:spcPct val="130000"/>
              </a:lnSpc>
            </a:pPr>
            <a:r>
              <a:rPr lang="zh-CN" altLang="en-US" b="1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关键业务点：</a:t>
            </a:r>
            <a:endParaRPr lang="en-US" spc="150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marL="228600" indent="-228600" algn="l">
              <a:lnSpc>
                <a:spcPct val="130000"/>
              </a:lnSpc>
              <a:buAutoNum type="arabicPeriod"/>
            </a:pPr>
            <a:r>
              <a:rPr lang="zh-CN" altLang="en-US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采购员根据运输方式需提供不同信息；</a:t>
            </a:r>
            <a:endParaRPr lang="zh-CN" altLang="en-US" spc="150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marL="228600" indent="-228600" algn="l">
              <a:lnSpc>
                <a:spcPct val="130000"/>
              </a:lnSpc>
              <a:buAutoNum type="arabicPeriod"/>
            </a:pPr>
            <a:r>
              <a:rPr lang="zh-CN" altLang="en-US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收货人、联系方式、收货地址可变更。</a:t>
            </a:r>
            <a:endParaRPr lang="zh-CN" altLang="en-US" spc="150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退货申请界面</a:t>
            </a:r>
            <a:r>
              <a:rPr lang="en-US" altLang="zh-CN"/>
              <a:t>-</a:t>
            </a:r>
            <a:r>
              <a:rPr lang="zh-CN" altLang="en-US"/>
              <a:t>退货信息</a:t>
            </a:r>
            <a:endParaRPr lang="en-US" altLang="zh-CN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745" y="810260"/>
            <a:ext cx="9245600" cy="4024630"/>
          </a:xfrm>
          <a:prstGeom prst="rect">
            <a:avLst/>
          </a:prstGeom>
        </p:spPr>
      </p:pic>
      <p:sp>
        <p:nvSpPr>
          <p:cNvPr id="38" name="文本框 37"/>
          <p:cNvSpPr txBox="1"/>
          <p:nvPr>
            <p:custDataLst>
              <p:tags r:id="rId2"/>
            </p:custDataLst>
          </p:nvPr>
        </p:nvSpPr>
        <p:spPr>
          <a:xfrm>
            <a:off x="306070" y="4972050"/>
            <a:ext cx="10968355" cy="1809750"/>
          </a:xfrm>
          <a:prstGeom prst="rect">
            <a:avLst/>
          </a:prstGeom>
        </p:spPr>
        <p:txBody>
          <a:bodyPr wrap="square"/>
          <a:lstStyle>
            <a:defPPr>
              <a:defRPr lang="zh-CN"/>
            </a:defPPr>
            <a:lvl1pPr algn="ctr">
              <a:defRPr sz="1400">
                <a:solidFill>
                  <a:sysClr val="window" lastClr="FFFFFF"/>
                </a:solidFill>
              </a:defRPr>
            </a:lvl1pPr>
          </a:lstStyle>
          <a:p>
            <a:pPr algn="l">
              <a:lnSpc>
                <a:spcPct val="130000"/>
              </a:lnSpc>
            </a:pPr>
            <a:r>
              <a:rPr lang="zh-CN" altLang="en-US" b="1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关键业务点：</a:t>
            </a:r>
            <a:endParaRPr lang="en-US" b="1" spc="150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marL="228600" indent="-228600" algn="l">
              <a:lnSpc>
                <a:spcPct val="130000"/>
              </a:lnSpc>
              <a:buAutoNum type="arabicPeriod"/>
            </a:pPr>
            <a:r>
              <a:rPr lang="zh-CN" altLang="en-US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选择到货单：采购员可根据供应商、采购单号、物料、到仓日期选择到货单行；</a:t>
            </a:r>
            <a:endParaRPr lang="zh-CN" altLang="en-US" spc="150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marL="228600" indent="-228600" algn="l">
              <a:lnSpc>
                <a:spcPct val="130000"/>
              </a:lnSpc>
              <a:buAutoNum type="arabicPeriod"/>
            </a:pPr>
            <a:r>
              <a:rPr lang="zh-CN" altLang="en-US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关联单据：根据到货单自动关联采购单、进仓单（已进仓），自动带出物料、尺码、色号、单位、参考杠位等信息；</a:t>
            </a:r>
            <a:endParaRPr lang="zh-CN" altLang="en-US" spc="150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marL="228600" indent="-228600" algn="l">
              <a:lnSpc>
                <a:spcPct val="130000"/>
              </a:lnSpc>
              <a:buAutoNum type="arabicPeriod"/>
            </a:pPr>
            <a:r>
              <a:rPr lang="zh-CN" altLang="en-US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外观检验</a:t>
            </a:r>
            <a:r>
              <a:rPr lang="en-US" altLang="zh-CN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&amp;</a:t>
            </a:r>
            <a:r>
              <a:rPr lang="zh-CN" altLang="en-US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理化测试：（</a:t>
            </a:r>
            <a:r>
              <a:rPr lang="en-US" altLang="zh-CN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1</a:t>
            </a:r>
            <a:r>
              <a:rPr lang="zh-CN" altLang="en-US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）选择到货单物料行时，自动匹配外观检验报告，查询并显示次品数量和次品率；</a:t>
            </a:r>
            <a:endParaRPr lang="zh-CN" altLang="en-US" spc="150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indent="0" algn="l">
              <a:lnSpc>
                <a:spcPct val="130000"/>
              </a:lnSpc>
              <a:buNone/>
            </a:pPr>
            <a:r>
              <a:rPr lang="en-US" altLang="zh-CN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    </a:t>
            </a:r>
            <a:r>
              <a:rPr lang="zh-CN" altLang="en-US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 </a:t>
            </a:r>
            <a:r>
              <a:rPr lang="en-US" altLang="zh-CN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                          </a:t>
            </a:r>
            <a:r>
              <a:rPr lang="zh-CN" altLang="en-US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（</a:t>
            </a:r>
            <a:r>
              <a:rPr lang="en-US" altLang="zh-CN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2</a:t>
            </a:r>
            <a:r>
              <a:rPr lang="zh-CN" altLang="en-US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）选择到货单后，自动关联最新的外观检验报告及理化测试报告，点击单号可跳转至报告页面。</a:t>
            </a:r>
            <a:endParaRPr lang="zh-CN" altLang="en-US" spc="150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marL="228600" indent="-228600" algn="l">
              <a:lnSpc>
                <a:spcPct val="160000"/>
              </a:lnSpc>
              <a:buAutoNum type="arabicPeriod"/>
            </a:pPr>
            <a:endParaRPr lang="zh-CN" altLang="en-US" spc="150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2" name="图片 1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5845" y="5800090"/>
            <a:ext cx="986155" cy="70167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3070" y="1417320"/>
            <a:ext cx="2803525" cy="74231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86"/>
          <p:cNvSpPr txBox="1"/>
          <p:nvPr/>
        </p:nvSpPr>
        <p:spPr>
          <a:xfrm>
            <a:off x="6809066" y="942409"/>
            <a:ext cx="4387332" cy="50774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339725" marR="0" lvl="0" indent="-339725" defTabSz="90614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CA070"/>
              </a:buClr>
              <a:buSzPct val="80000"/>
              <a:buFont typeface="Wingdings" panose="05000000000000000000" pitchFamily="2" charset="2"/>
              <a:buChar char="n"/>
              <a:defRPr kumimoji="0" sz="2800" b="0" i="0" u="none" strike="noStrike" cap="none" spc="0" normalizeH="0" baseline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Helvetica Light" pitchFamily="50" charset="0"/>
              </a:defRPr>
            </a:lvl1pPr>
            <a:lvl2pPr marL="742950" indent="-285750">
              <a:defRPr sz="3000">
                <a:solidFill>
                  <a:srgbClr val="000000"/>
                </a:solidFill>
                <a:latin typeface="Helvetica Light" pitchFamily="50" charset="0"/>
                <a:ea typeface="Helvetica Light" pitchFamily="50" charset="0"/>
                <a:cs typeface="Helvetica Light" pitchFamily="50" charset="0"/>
              </a:defRPr>
            </a:lvl2pPr>
            <a:lvl3pPr marL="1143000" indent="-228600">
              <a:defRPr sz="3000">
                <a:solidFill>
                  <a:srgbClr val="000000"/>
                </a:solidFill>
                <a:latin typeface="Helvetica Light" pitchFamily="50" charset="0"/>
                <a:ea typeface="Helvetica Light" pitchFamily="50" charset="0"/>
                <a:cs typeface="Helvetica Light" pitchFamily="50" charset="0"/>
              </a:defRPr>
            </a:lvl3pPr>
            <a:lvl4pPr marL="1600200" indent="-228600">
              <a:defRPr sz="3000">
                <a:solidFill>
                  <a:srgbClr val="000000"/>
                </a:solidFill>
                <a:latin typeface="Helvetica Light" pitchFamily="50" charset="0"/>
                <a:ea typeface="Helvetica Light" pitchFamily="50" charset="0"/>
                <a:cs typeface="Helvetica Light" pitchFamily="50" charset="0"/>
              </a:defRPr>
            </a:lvl4pPr>
            <a:lvl5pPr marL="2057400" indent="-228600">
              <a:defRPr sz="3000">
                <a:solidFill>
                  <a:srgbClr val="000000"/>
                </a:solidFill>
                <a:latin typeface="Helvetica Light" pitchFamily="50" charset="0"/>
                <a:ea typeface="Helvetica Light" pitchFamily="50" charset="0"/>
                <a:cs typeface="Helvetica Light" pitchFamily="50" charset="0"/>
              </a:defRPr>
            </a:lvl5pPr>
            <a:lvl6pPr marL="2514600" indent="-228600" defTabSz="668655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00000"/>
                </a:solidFill>
                <a:latin typeface="Helvetica Light" pitchFamily="50" charset="0"/>
                <a:ea typeface="Helvetica Light" pitchFamily="50" charset="0"/>
                <a:cs typeface="Helvetica Light" pitchFamily="50" charset="0"/>
              </a:defRPr>
            </a:lvl6pPr>
            <a:lvl7pPr marL="2971800" indent="-228600" defTabSz="668655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00000"/>
                </a:solidFill>
                <a:latin typeface="Helvetica Light" pitchFamily="50" charset="0"/>
                <a:ea typeface="Helvetica Light" pitchFamily="50" charset="0"/>
                <a:cs typeface="Helvetica Light" pitchFamily="50" charset="0"/>
              </a:defRPr>
            </a:lvl7pPr>
            <a:lvl8pPr marL="3429000" indent="-228600" defTabSz="668655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00000"/>
                </a:solidFill>
                <a:latin typeface="Helvetica Light" pitchFamily="50" charset="0"/>
                <a:ea typeface="Helvetica Light" pitchFamily="50" charset="0"/>
                <a:cs typeface="Helvetica Light" pitchFamily="50" charset="0"/>
              </a:defRPr>
            </a:lvl8pPr>
            <a:lvl9pPr marL="3886200" indent="-228600" defTabSz="668655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00000"/>
                </a:solidFill>
                <a:latin typeface="Helvetica Light" pitchFamily="50" charset="0"/>
                <a:ea typeface="Helvetica Light" pitchFamily="50" charset="0"/>
                <a:cs typeface="Helvetica Light" pitchFamily="50" charset="0"/>
              </a:defRPr>
            </a:lvl9pPr>
          </a:lstStyle>
          <a:p>
            <a:r>
              <a:rPr lang="zh-CN" altLang="en-US" sz="3600" b="1" dirty="0">
                <a:solidFill>
                  <a:schemeClr val="bg2">
                    <a:lumMod val="75000"/>
                  </a:schemeClr>
                </a:solidFill>
              </a:rPr>
              <a:t>蓝图介绍</a:t>
            </a:r>
            <a:endParaRPr lang="en-US" altLang="zh-CN" sz="3600" b="1" dirty="0">
              <a:solidFill>
                <a:schemeClr val="bg2">
                  <a:lumMod val="75000"/>
                </a:schemeClr>
              </a:solidFill>
            </a:endParaRPr>
          </a:p>
          <a:p>
            <a:endParaRPr lang="en-US" altLang="zh-CN" sz="3600" b="1" dirty="0">
              <a:solidFill>
                <a:schemeClr val="tx1"/>
              </a:solidFill>
            </a:endParaRPr>
          </a:p>
          <a:p>
            <a:r>
              <a:rPr lang="zh-CN" altLang="en-US" sz="3600" b="1" dirty="0">
                <a:solidFill>
                  <a:schemeClr val="tx1"/>
                </a:solidFill>
                <a:sym typeface="+mn-ea"/>
              </a:rPr>
              <a:t>蓝图方案</a:t>
            </a:r>
            <a:endParaRPr lang="zh-CN" altLang="en-US" sz="3600" b="1" dirty="0">
              <a:solidFill>
                <a:schemeClr val="tx1"/>
              </a:solidFill>
            </a:endParaRPr>
          </a:p>
          <a:p>
            <a:endParaRPr lang="zh-CN" altLang="en-US" sz="36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3600" b="1" dirty="0">
                <a:solidFill>
                  <a:schemeClr val="tx1"/>
                </a:solidFill>
              </a:rPr>
              <a:t>   </a:t>
            </a:r>
            <a:endParaRPr lang="en-US" altLang="zh-CN" sz="36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zh-CN" sz="36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zh-CN" sz="36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zh-CN" sz="3600" b="1" dirty="0">
              <a:solidFill>
                <a:schemeClr val="tx1"/>
              </a:solidFill>
            </a:endParaRPr>
          </a:p>
          <a:p>
            <a:r>
              <a:rPr lang="zh-CN" altLang="en-US" sz="3600" b="1" dirty="0">
                <a:solidFill>
                  <a:schemeClr val="bg2">
                    <a:lumMod val="75000"/>
                  </a:schemeClr>
                </a:solidFill>
              </a:rPr>
              <a:t>后续工作</a:t>
            </a:r>
            <a:endParaRPr lang="zh-CN" altLang="en-US" sz="3600" b="1" dirty="0">
              <a:solidFill>
                <a:schemeClr val="bg2">
                  <a:lumMod val="75000"/>
                </a:schemeClr>
              </a:solidFill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0" y="0"/>
            <a:ext cx="6419215" cy="6573520"/>
            <a:chOff x="-1" y="0"/>
            <a:chExt cx="6698256" cy="6858000"/>
          </a:xfrm>
        </p:grpSpPr>
        <p:sp>
          <p:nvSpPr>
            <p:cNvPr id="5" name="矩形 4"/>
            <p:cNvSpPr/>
            <p:nvPr/>
          </p:nvSpPr>
          <p:spPr>
            <a:xfrm>
              <a:off x="-1" y="0"/>
              <a:ext cx="6698256" cy="6858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" name="矩形 5"/>
            <p:cNvSpPr/>
            <p:nvPr/>
          </p:nvSpPr>
          <p:spPr>
            <a:xfrm>
              <a:off x="444606" y="0"/>
              <a:ext cx="5449912" cy="561783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34400" dirty="0">
                  <a:solidFill>
                    <a:srgbClr val="333333"/>
                  </a:solidFill>
                  <a:latin typeface="Arial" panose="020B0604020202020204" pitchFamily="34" charset="0"/>
                </a:rPr>
                <a:t>c</a:t>
              </a:r>
              <a:r>
                <a:rPr lang="en-US" altLang="zh-CN" sz="6600" u="sng" dirty="0">
                  <a:solidFill>
                    <a:srgbClr val="333333"/>
                  </a:solidFill>
                  <a:latin typeface="Arial" panose="020B0604020202020204" pitchFamily="34" charset="0"/>
                </a:rPr>
                <a:t>ontents</a:t>
              </a:r>
              <a:endParaRPr lang="zh-CN" altLang="en-US" sz="6600" dirty="0"/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3029809" y="2321003"/>
              <a:ext cx="2478796" cy="11547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6600" b="1" dirty="0">
                  <a:solidFill>
                    <a:schemeClr val="bg1"/>
                  </a:solidFill>
                </a:rPr>
                <a:t>目录</a:t>
              </a:r>
              <a:endParaRPr lang="zh-CN" altLang="en-US" sz="66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50" name="灯片编号占位符 2"/>
          <p:cNvSpPr txBox="1"/>
          <p:nvPr/>
        </p:nvSpPr>
        <p:spPr>
          <a:xfrm>
            <a:off x="40256" y="6583423"/>
            <a:ext cx="455763" cy="261773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30327E2-17C4-431B-B5C7-D724C9A939E1}" type="slidenum">
              <a:rPr lang="zh-CN" altLang="en-US" smtClean="0">
                <a:solidFill>
                  <a:schemeClr val="tx2">
                    <a:lumMod val="75000"/>
                  </a:schemeClr>
                </a:solidFill>
              </a:rPr>
            </a:fld>
            <a:endParaRPr lang="zh-CN" alt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8" name="TextBox 186"/>
          <p:cNvSpPr txBox="1"/>
          <p:nvPr/>
        </p:nvSpPr>
        <p:spPr>
          <a:xfrm>
            <a:off x="6809105" y="2012315"/>
            <a:ext cx="2891790" cy="27787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339725" marR="0" lvl="0" indent="-339725" defTabSz="90614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CA070"/>
              </a:buClr>
              <a:buSzPct val="80000"/>
              <a:buFont typeface="Wingdings" panose="05000000000000000000" pitchFamily="2" charset="2"/>
              <a:buChar char="n"/>
              <a:defRPr kumimoji="0" sz="2800" b="0" i="0" u="none" strike="noStrike" cap="none" spc="0" normalizeH="0" baseline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Helvetica Light" pitchFamily="50" charset="0"/>
              </a:defRPr>
            </a:lvl1pPr>
            <a:lvl2pPr marL="742950" indent="-285750">
              <a:defRPr sz="3000">
                <a:solidFill>
                  <a:srgbClr val="000000"/>
                </a:solidFill>
                <a:latin typeface="Helvetica Light" pitchFamily="50" charset="0"/>
                <a:ea typeface="Helvetica Light" pitchFamily="50" charset="0"/>
                <a:cs typeface="Helvetica Light" pitchFamily="50" charset="0"/>
              </a:defRPr>
            </a:lvl2pPr>
            <a:lvl3pPr marL="1143000" indent="-228600">
              <a:defRPr sz="3000">
                <a:solidFill>
                  <a:srgbClr val="000000"/>
                </a:solidFill>
                <a:latin typeface="Helvetica Light" pitchFamily="50" charset="0"/>
                <a:ea typeface="Helvetica Light" pitchFamily="50" charset="0"/>
                <a:cs typeface="Helvetica Light" pitchFamily="50" charset="0"/>
              </a:defRPr>
            </a:lvl3pPr>
            <a:lvl4pPr marL="1600200" indent="-228600">
              <a:defRPr sz="3000">
                <a:solidFill>
                  <a:srgbClr val="000000"/>
                </a:solidFill>
                <a:latin typeface="Helvetica Light" pitchFamily="50" charset="0"/>
                <a:ea typeface="Helvetica Light" pitchFamily="50" charset="0"/>
                <a:cs typeface="Helvetica Light" pitchFamily="50" charset="0"/>
              </a:defRPr>
            </a:lvl4pPr>
            <a:lvl5pPr marL="2057400" indent="-228600">
              <a:defRPr sz="3000">
                <a:solidFill>
                  <a:srgbClr val="000000"/>
                </a:solidFill>
                <a:latin typeface="Helvetica Light" pitchFamily="50" charset="0"/>
                <a:ea typeface="Helvetica Light" pitchFamily="50" charset="0"/>
                <a:cs typeface="Helvetica Light" pitchFamily="50" charset="0"/>
              </a:defRPr>
            </a:lvl5pPr>
            <a:lvl6pPr marL="2514600" indent="-228600" defTabSz="668655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00000"/>
                </a:solidFill>
                <a:latin typeface="Helvetica Light" pitchFamily="50" charset="0"/>
                <a:ea typeface="Helvetica Light" pitchFamily="50" charset="0"/>
                <a:cs typeface="Helvetica Light" pitchFamily="50" charset="0"/>
              </a:defRPr>
            </a:lvl6pPr>
            <a:lvl7pPr marL="2971800" indent="-228600" defTabSz="668655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00000"/>
                </a:solidFill>
                <a:latin typeface="Helvetica Light" pitchFamily="50" charset="0"/>
                <a:ea typeface="Helvetica Light" pitchFamily="50" charset="0"/>
                <a:cs typeface="Helvetica Light" pitchFamily="50" charset="0"/>
              </a:defRPr>
            </a:lvl7pPr>
            <a:lvl8pPr marL="3429000" indent="-228600" defTabSz="668655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00000"/>
                </a:solidFill>
                <a:latin typeface="Helvetica Light" pitchFamily="50" charset="0"/>
                <a:ea typeface="Helvetica Light" pitchFamily="50" charset="0"/>
                <a:cs typeface="Helvetica Light" pitchFamily="50" charset="0"/>
              </a:defRPr>
            </a:lvl8pPr>
            <a:lvl9pPr marL="3886200" indent="-228600" defTabSz="668655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00000"/>
                </a:solidFill>
                <a:latin typeface="Helvetica Light" pitchFamily="50" charset="0"/>
                <a:ea typeface="Helvetica Light" pitchFamily="50" charset="0"/>
                <a:cs typeface="Helvetica Light" pitchFamily="50" charset="0"/>
              </a:defRPr>
            </a:lvl9pPr>
          </a:lstStyle>
          <a:p>
            <a:pPr marL="457200" lvl="1" indent="0" fontAlgn="auto">
              <a:lnSpc>
                <a:spcPct val="180000"/>
              </a:lnSpc>
              <a:spcBef>
                <a:spcPts val="1200"/>
              </a:spcBef>
              <a:buFont typeface="Wingdings" panose="05000000000000000000" charset="0"/>
              <a:buNone/>
            </a:pPr>
            <a:endParaRPr lang="zh-CN" altLang="en-US" sz="1600" b="1" dirty="0">
              <a:solidFill>
                <a:schemeClr val="bg1">
                  <a:lumMod val="65000"/>
                </a:schemeClr>
              </a:solidFill>
            </a:endParaRPr>
          </a:p>
          <a:p>
            <a:pPr lvl="1" algn="l" fontAlgn="auto">
              <a:lnSpc>
                <a:spcPct val="170000"/>
              </a:lnSpc>
              <a:spcBef>
                <a:spcPts val="1200"/>
              </a:spcBef>
              <a:buClrTx/>
              <a:buSzTx/>
              <a:buFont typeface="Wingdings" panose="05000000000000000000" charset="0"/>
              <a:buChar char="p"/>
            </a:pPr>
            <a:r>
              <a:rPr lang="zh-CN" altLang="en-US" sz="1600" b="1" dirty="0">
                <a:solidFill>
                  <a:schemeClr val="bg1">
                    <a:lumMod val="65000"/>
                  </a:schemeClr>
                </a:solidFill>
              </a:rPr>
              <a:t>采购员发起退货申请               </a:t>
            </a:r>
            <a:endParaRPr lang="zh-CN" altLang="en-US" sz="1600" b="1" dirty="0">
              <a:solidFill>
                <a:schemeClr val="bg1">
                  <a:lumMod val="65000"/>
                </a:schemeClr>
              </a:solidFill>
            </a:endParaRPr>
          </a:p>
          <a:p>
            <a:pPr lvl="1" algn="l" fontAlgn="auto">
              <a:lnSpc>
                <a:spcPct val="170000"/>
              </a:lnSpc>
              <a:spcBef>
                <a:spcPts val="0"/>
              </a:spcBef>
              <a:buClrTx/>
              <a:buSzTx/>
              <a:buFont typeface="Wingdings" panose="05000000000000000000" charset="0"/>
              <a:buChar char="p"/>
            </a:pPr>
            <a:r>
              <a:rPr lang="zh-CN" altLang="en-US" sz="1600" b="1" dirty="0">
                <a:solidFill>
                  <a:schemeClr val="tx1"/>
                </a:solidFill>
              </a:rPr>
              <a:t>采购经理审批</a:t>
            </a:r>
            <a:endParaRPr lang="zh-CN" altLang="en-US" sz="1600" b="1" dirty="0">
              <a:solidFill>
                <a:schemeClr val="tx1"/>
              </a:solidFill>
            </a:endParaRPr>
          </a:p>
          <a:p>
            <a:pPr lvl="1">
              <a:lnSpc>
                <a:spcPct val="170000"/>
              </a:lnSpc>
              <a:buFont typeface="Wingdings" panose="05000000000000000000" charset="0"/>
              <a:buChar char="p"/>
            </a:pPr>
            <a:r>
              <a:rPr lang="zh-CN" altLang="en-US" sz="1600" b="1" dirty="0">
                <a:solidFill>
                  <a:schemeClr val="bg1">
                    <a:lumMod val="65000"/>
                  </a:schemeClr>
                </a:solidFill>
              </a:rPr>
              <a:t>退货冲单</a:t>
            </a:r>
            <a:endParaRPr lang="zh-CN" altLang="en-US" sz="1600" b="1" dirty="0">
              <a:solidFill>
                <a:schemeClr val="bg1">
                  <a:lumMod val="65000"/>
                </a:schemeClr>
              </a:solidFill>
            </a:endParaRPr>
          </a:p>
          <a:p>
            <a:pPr lvl="1">
              <a:lnSpc>
                <a:spcPct val="170000"/>
              </a:lnSpc>
              <a:buFont typeface="Wingdings" panose="05000000000000000000" charset="0"/>
              <a:buChar char="p"/>
            </a:pPr>
            <a:r>
              <a:rPr lang="zh-CN" altLang="en-US" sz="1600" b="1" dirty="0">
                <a:solidFill>
                  <a:schemeClr val="bg1">
                    <a:lumMod val="65000"/>
                  </a:schemeClr>
                </a:solidFill>
              </a:rPr>
              <a:t>储运部发货</a:t>
            </a:r>
            <a:endParaRPr lang="zh-CN" altLang="en-US" sz="1600" b="1" dirty="0">
              <a:solidFill>
                <a:schemeClr val="bg1">
                  <a:lumMod val="65000"/>
                </a:schemeClr>
              </a:solidFill>
            </a:endParaRPr>
          </a:p>
          <a:p>
            <a:pPr lvl="1">
              <a:lnSpc>
                <a:spcPct val="170000"/>
              </a:lnSpc>
              <a:buFont typeface="Wingdings" panose="05000000000000000000" charset="0"/>
              <a:buChar char="p"/>
            </a:pPr>
            <a:r>
              <a:rPr lang="zh-CN" altLang="en-US" sz="1600" b="1" dirty="0">
                <a:solidFill>
                  <a:schemeClr val="bg1">
                    <a:lumMod val="65000"/>
                  </a:schemeClr>
                </a:solidFill>
              </a:rPr>
              <a:t>供应商查看</a:t>
            </a:r>
            <a:endParaRPr lang="zh-CN" altLang="en-US" sz="1600" b="1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采购经理审批界面</a:t>
            </a:r>
            <a:endParaRPr lang="en-US" altLang="zh-CN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7205" y="1576705"/>
            <a:ext cx="10495915" cy="4201795"/>
          </a:xfrm>
          <a:prstGeom prst="rect">
            <a:avLst/>
          </a:prstGeom>
        </p:spPr>
      </p:pic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577215" y="992505"/>
            <a:ext cx="4812665" cy="4133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algn="ctr">
              <a:defRPr sz="1400">
                <a:solidFill>
                  <a:sysClr val="window" lastClr="FFFFFF"/>
                </a:solidFill>
              </a:defRPr>
            </a:lvl1pPr>
          </a:lstStyle>
          <a:p>
            <a:pPr algn="l">
              <a:lnSpc>
                <a:spcPct val="130000"/>
              </a:lnSpc>
            </a:pPr>
            <a:r>
              <a:rPr lang="zh-CN" altLang="en-US" sz="1600" b="1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采购经理在</a:t>
            </a:r>
            <a:r>
              <a:rPr lang="en-US" altLang="zh-CN" sz="1600" b="1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&lt;</a:t>
            </a:r>
            <a:r>
              <a:rPr lang="zh-CN" altLang="en-US" sz="1600" b="1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工作流</a:t>
            </a:r>
            <a:r>
              <a:rPr lang="en-US" altLang="zh-CN" sz="1600" b="1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-</a:t>
            </a:r>
            <a:r>
              <a:rPr lang="zh-CN" altLang="en-US" sz="1600" b="1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我的待办事项</a:t>
            </a:r>
            <a:r>
              <a:rPr lang="en-US" altLang="zh-CN" sz="1600" b="1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&gt;</a:t>
            </a:r>
            <a:r>
              <a:rPr lang="zh-CN" altLang="en-US" sz="1600" b="1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进行审批</a:t>
            </a:r>
            <a:endParaRPr lang="zh-CN" altLang="en-US" sz="1600" b="1" spc="150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97205" y="1118235"/>
            <a:ext cx="76200" cy="238760"/>
          </a:xfrm>
          <a:prstGeom prst="rect">
            <a:avLst/>
          </a:prstGeom>
          <a:solidFill>
            <a:srgbClr val="1727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5845" y="5800090"/>
            <a:ext cx="986155" cy="7016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86"/>
          <p:cNvSpPr txBox="1"/>
          <p:nvPr/>
        </p:nvSpPr>
        <p:spPr>
          <a:xfrm>
            <a:off x="6809066" y="942409"/>
            <a:ext cx="4387332" cy="50774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339725" marR="0" lvl="0" indent="-339725" defTabSz="90614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CA070"/>
              </a:buClr>
              <a:buSzPct val="80000"/>
              <a:buFont typeface="Wingdings" panose="05000000000000000000" pitchFamily="2" charset="2"/>
              <a:buChar char="n"/>
              <a:defRPr kumimoji="0" sz="2800" b="0" i="0" u="none" strike="noStrike" cap="none" spc="0" normalizeH="0" baseline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Helvetica Light" pitchFamily="50" charset="0"/>
              </a:defRPr>
            </a:lvl1pPr>
            <a:lvl2pPr marL="742950" indent="-285750">
              <a:defRPr sz="3000">
                <a:solidFill>
                  <a:srgbClr val="000000"/>
                </a:solidFill>
                <a:latin typeface="Helvetica Light" pitchFamily="50" charset="0"/>
                <a:ea typeface="Helvetica Light" pitchFamily="50" charset="0"/>
                <a:cs typeface="Helvetica Light" pitchFamily="50" charset="0"/>
              </a:defRPr>
            </a:lvl2pPr>
            <a:lvl3pPr marL="1143000" indent="-228600">
              <a:defRPr sz="3000">
                <a:solidFill>
                  <a:srgbClr val="000000"/>
                </a:solidFill>
                <a:latin typeface="Helvetica Light" pitchFamily="50" charset="0"/>
                <a:ea typeface="Helvetica Light" pitchFamily="50" charset="0"/>
                <a:cs typeface="Helvetica Light" pitchFamily="50" charset="0"/>
              </a:defRPr>
            </a:lvl3pPr>
            <a:lvl4pPr marL="1600200" indent="-228600">
              <a:defRPr sz="3000">
                <a:solidFill>
                  <a:srgbClr val="000000"/>
                </a:solidFill>
                <a:latin typeface="Helvetica Light" pitchFamily="50" charset="0"/>
                <a:ea typeface="Helvetica Light" pitchFamily="50" charset="0"/>
                <a:cs typeface="Helvetica Light" pitchFamily="50" charset="0"/>
              </a:defRPr>
            </a:lvl4pPr>
            <a:lvl5pPr marL="2057400" indent="-228600">
              <a:defRPr sz="3000">
                <a:solidFill>
                  <a:srgbClr val="000000"/>
                </a:solidFill>
                <a:latin typeface="Helvetica Light" pitchFamily="50" charset="0"/>
                <a:ea typeface="Helvetica Light" pitchFamily="50" charset="0"/>
                <a:cs typeface="Helvetica Light" pitchFamily="50" charset="0"/>
              </a:defRPr>
            </a:lvl5pPr>
            <a:lvl6pPr marL="2514600" indent="-228600" defTabSz="668655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00000"/>
                </a:solidFill>
                <a:latin typeface="Helvetica Light" pitchFamily="50" charset="0"/>
                <a:ea typeface="Helvetica Light" pitchFamily="50" charset="0"/>
                <a:cs typeface="Helvetica Light" pitchFamily="50" charset="0"/>
              </a:defRPr>
            </a:lvl6pPr>
            <a:lvl7pPr marL="2971800" indent="-228600" defTabSz="668655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00000"/>
                </a:solidFill>
                <a:latin typeface="Helvetica Light" pitchFamily="50" charset="0"/>
                <a:ea typeface="Helvetica Light" pitchFamily="50" charset="0"/>
                <a:cs typeface="Helvetica Light" pitchFamily="50" charset="0"/>
              </a:defRPr>
            </a:lvl7pPr>
            <a:lvl8pPr marL="3429000" indent="-228600" defTabSz="668655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00000"/>
                </a:solidFill>
                <a:latin typeface="Helvetica Light" pitchFamily="50" charset="0"/>
                <a:ea typeface="Helvetica Light" pitchFamily="50" charset="0"/>
                <a:cs typeface="Helvetica Light" pitchFamily="50" charset="0"/>
              </a:defRPr>
            </a:lvl8pPr>
            <a:lvl9pPr marL="3886200" indent="-228600" defTabSz="668655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00000"/>
                </a:solidFill>
                <a:latin typeface="Helvetica Light" pitchFamily="50" charset="0"/>
                <a:ea typeface="Helvetica Light" pitchFamily="50" charset="0"/>
                <a:cs typeface="Helvetica Light" pitchFamily="50" charset="0"/>
              </a:defRPr>
            </a:lvl9pPr>
          </a:lstStyle>
          <a:p>
            <a:r>
              <a:rPr lang="zh-CN" altLang="en-US" sz="3600" b="1" dirty="0">
                <a:solidFill>
                  <a:schemeClr val="bg2">
                    <a:lumMod val="75000"/>
                  </a:schemeClr>
                </a:solidFill>
              </a:rPr>
              <a:t>蓝图介绍</a:t>
            </a:r>
            <a:endParaRPr lang="en-US" altLang="zh-CN" sz="3600" b="1" dirty="0">
              <a:solidFill>
                <a:schemeClr val="bg2">
                  <a:lumMod val="75000"/>
                </a:schemeClr>
              </a:solidFill>
            </a:endParaRPr>
          </a:p>
          <a:p>
            <a:endParaRPr lang="en-US" altLang="zh-CN" sz="3600" b="1" dirty="0">
              <a:solidFill>
                <a:schemeClr val="tx1"/>
              </a:solidFill>
            </a:endParaRPr>
          </a:p>
          <a:p>
            <a:r>
              <a:rPr lang="zh-CN" altLang="en-US" sz="3600" b="1" dirty="0">
                <a:solidFill>
                  <a:schemeClr val="tx1"/>
                </a:solidFill>
                <a:sym typeface="+mn-ea"/>
              </a:rPr>
              <a:t>蓝图方案</a:t>
            </a:r>
            <a:endParaRPr lang="zh-CN" altLang="en-US" sz="3600" b="1" dirty="0">
              <a:solidFill>
                <a:schemeClr val="tx1"/>
              </a:solidFill>
            </a:endParaRPr>
          </a:p>
          <a:p>
            <a:endParaRPr lang="zh-CN" altLang="en-US" sz="36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3600" b="1" dirty="0">
                <a:solidFill>
                  <a:schemeClr val="tx1"/>
                </a:solidFill>
              </a:rPr>
              <a:t>   </a:t>
            </a:r>
            <a:endParaRPr lang="en-US" altLang="zh-CN" sz="36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zh-CN" sz="36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zh-CN" sz="36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zh-CN" sz="3600" b="1" dirty="0">
              <a:solidFill>
                <a:schemeClr val="tx1"/>
              </a:solidFill>
            </a:endParaRPr>
          </a:p>
          <a:p>
            <a:r>
              <a:rPr lang="zh-CN" altLang="en-US" sz="3600" b="1" dirty="0">
                <a:solidFill>
                  <a:schemeClr val="bg2">
                    <a:lumMod val="75000"/>
                  </a:schemeClr>
                </a:solidFill>
              </a:rPr>
              <a:t>后续工作</a:t>
            </a:r>
            <a:endParaRPr lang="zh-CN" altLang="en-US" sz="3600" b="1" dirty="0">
              <a:solidFill>
                <a:schemeClr val="bg2">
                  <a:lumMod val="75000"/>
                </a:schemeClr>
              </a:solidFill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0" y="0"/>
            <a:ext cx="6419215" cy="6573520"/>
            <a:chOff x="-1" y="0"/>
            <a:chExt cx="6698256" cy="6858000"/>
          </a:xfrm>
        </p:grpSpPr>
        <p:sp>
          <p:nvSpPr>
            <p:cNvPr id="5" name="矩形 4"/>
            <p:cNvSpPr/>
            <p:nvPr/>
          </p:nvSpPr>
          <p:spPr>
            <a:xfrm>
              <a:off x="-1" y="0"/>
              <a:ext cx="6698256" cy="6858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" name="矩形 5"/>
            <p:cNvSpPr/>
            <p:nvPr/>
          </p:nvSpPr>
          <p:spPr>
            <a:xfrm>
              <a:off x="444606" y="0"/>
              <a:ext cx="5449912" cy="561783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34400" dirty="0">
                  <a:solidFill>
                    <a:srgbClr val="333333"/>
                  </a:solidFill>
                  <a:latin typeface="Arial" panose="020B0604020202020204" pitchFamily="34" charset="0"/>
                </a:rPr>
                <a:t>c</a:t>
              </a:r>
              <a:r>
                <a:rPr lang="en-US" altLang="zh-CN" sz="6600" u="sng" dirty="0">
                  <a:solidFill>
                    <a:srgbClr val="333333"/>
                  </a:solidFill>
                  <a:latin typeface="Arial" panose="020B0604020202020204" pitchFamily="34" charset="0"/>
                </a:rPr>
                <a:t>ontents</a:t>
              </a:r>
              <a:endParaRPr lang="zh-CN" altLang="en-US" sz="6600" dirty="0"/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3029809" y="2321003"/>
              <a:ext cx="2478796" cy="11547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6600" b="1" dirty="0">
                  <a:solidFill>
                    <a:schemeClr val="bg1"/>
                  </a:solidFill>
                </a:rPr>
                <a:t>目录</a:t>
              </a:r>
              <a:endParaRPr lang="zh-CN" altLang="en-US" sz="66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50" name="灯片编号占位符 2"/>
          <p:cNvSpPr txBox="1"/>
          <p:nvPr/>
        </p:nvSpPr>
        <p:spPr>
          <a:xfrm>
            <a:off x="40256" y="6583423"/>
            <a:ext cx="455763" cy="261773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30327E2-17C4-431B-B5C7-D724C9A939E1}" type="slidenum">
              <a:rPr lang="zh-CN" altLang="en-US" smtClean="0">
                <a:solidFill>
                  <a:schemeClr val="tx2">
                    <a:lumMod val="75000"/>
                  </a:schemeClr>
                </a:solidFill>
              </a:rPr>
            </a:fld>
            <a:endParaRPr lang="zh-CN" alt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8" name="TextBox 186"/>
          <p:cNvSpPr txBox="1"/>
          <p:nvPr/>
        </p:nvSpPr>
        <p:spPr>
          <a:xfrm>
            <a:off x="6809105" y="2012315"/>
            <a:ext cx="2891790" cy="27787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339725" marR="0" lvl="0" indent="-339725" defTabSz="90614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CA070"/>
              </a:buClr>
              <a:buSzPct val="80000"/>
              <a:buFont typeface="Wingdings" panose="05000000000000000000" pitchFamily="2" charset="2"/>
              <a:buChar char="n"/>
              <a:defRPr kumimoji="0" sz="2800" b="0" i="0" u="none" strike="noStrike" cap="none" spc="0" normalizeH="0" baseline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Helvetica Light" pitchFamily="50" charset="0"/>
              </a:defRPr>
            </a:lvl1pPr>
            <a:lvl2pPr marL="742950" indent="-285750">
              <a:defRPr sz="3000">
                <a:solidFill>
                  <a:srgbClr val="000000"/>
                </a:solidFill>
                <a:latin typeface="Helvetica Light" pitchFamily="50" charset="0"/>
                <a:ea typeface="Helvetica Light" pitchFamily="50" charset="0"/>
                <a:cs typeface="Helvetica Light" pitchFamily="50" charset="0"/>
              </a:defRPr>
            </a:lvl2pPr>
            <a:lvl3pPr marL="1143000" indent="-228600">
              <a:defRPr sz="3000">
                <a:solidFill>
                  <a:srgbClr val="000000"/>
                </a:solidFill>
                <a:latin typeface="Helvetica Light" pitchFamily="50" charset="0"/>
                <a:ea typeface="Helvetica Light" pitchFamily="50" charset="0"/>
                <a:cs typeface="Helvetica Light" pitchFamily="50" charset="0"/>
              </a:defRPr>
            </a:lvl3pPr>
            <a:lvl4pPr marL="1600200" indent="-228600">
              <a:defRPr sz="3000">
                <a:solidFill>
                  <a:srgbClr val="000000"/>
                </a:solidFill>
                <a:latin typeface="Helvetica Light" pitchFamily="50" charset="0"/>
                <a:ea typeface="Helvetica Light" pitchFamily="50" charset="0"/>
                <a:cs typeface="Helvetica Light" pitchFamily="50" charset="0"/>
              </a:defRPr>
            </a:lvl4pPr>
            <a:lvl5pPr marL="2057400" indent="-228600">
              <a:defRPr sz="3000">
                <a:solidFill>
                  <a:srgbClr val="000000"/>
                </a:solidFill>
                <a:latin typeface="Helvetica Light" pitchFamily="50" charset="0"/>
                <a:ea typeface="Helvetica Light" pitchFamily="50" charset="0"/>
                <a:cs typeface="Helvetica Light" pitchFamily="50" charset="0"/>
              </a:defRPr>
            </a:lvl5pPr>
            <a:lvl6pPr marL="2514600" indent="-228600" defTabSz="668655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00000"/>
                </a:solidFill>
                <a:latin typeface="Helvetica Light" pitchFamily="50" charset="0"/>
                <a:ea typeface="Helvetica Light" pitchFamily="50" charset="0"/>
                <a:cs typeface="Helvetica Light" pitchFamily="50" charset="0"/>
              </a:defRPr>
            </a:lvl6pPr>
            <a:lvl7pPr marL="2971800" indent="-228600" defTabSz="668655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00000"/>
                </a:solidFill>
                <a:latin typeface="Helvetica Light" pitchFamily="50" charset="0"/>
                <a:ea typeface="Helvetica Light" pitchFamily="50" charset="0"/>
                <a:cs typeface="Helvetica Light" pitchFamily="50" charset="0"/>
              </a:defRPr>
            </a:lvl7pPr>
            <a:lvl8pPr marL="3429000" indent="-228600" defTabSz="668655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00000"/>
                </a:solidFill>
                <a:latin typeface="Helvetica Light" pitchFamily="50" charset="0"/>
                <a:ea typeface="Helvetica Light" pitchFamily="50" charset="0"/>
                <a:cs typeface="Helvetica Light" pitchFamily="50" charset="0"/>
              </a:defRPr>
            </a:lvl8pPr>
            <a:lvl9pPr marL="3886200" indent="-228600" defTabSz="668655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00000"/>
                </a:solidFill>
                <a:latin typeface="Helvetica Light" pitchFamily="50" charset="0"/>
                <a:ea typeface="Helvetica Light" pitchFamily="50" charset="0"/>
                <a:cs typeface="Helvetica Light" pitchFamily="50" charset="0"/>
              </a:defRPr>
            </a:lvl9pPr>
          </a:lstStyle>
          <a:p>
            <a:pPr marL="457200" lvl="1" indent="0" fontAlgn="auto">
              <a:lnSpc>
                <a:spcPct val="180000"/>
              </a:lnSpc>
              <a:spcBef>
                <a:spcPts val="1200"/>
              </a:spcBef>
              <a:buFont typeface="Wingdings" panose="05000000000000000000" charset="0"/>
              <a:buNone/>
            </a:pPr>
            <a:endParaRPr lang="zh-CN" altLang="en-US" sz="1600" b="1" dirty="0">
              <a:solidFill>
                <a:schemeClr val="bg1">
                  <a:lumMod val="65000"/>
                </a:schemeClr>
              </a:solidFill>
            </a:endParaRPr>
          </a:p>
          <a:p>
            <a:pPr lvl="1" algn="l" fontAlgn="auto">
              <a:lnSpc>
                <a:spcPct val="170000"/>
              </a:lnSpc>
              <a:spcBef>
                <a:spcPts val="1200"/>
              </a:spcBef>
              <a:buClrTx/>
              <a:buSzTx/>
              <a:buFont typeface="Wingdings" panose="05000000000000000000" charset="0"/>
              <a:buChar char="p"/>
            </a:pPr>
            <a:r>
              <a:rPr lang="zh-CN" altLang="en-US" sz="1600" b="1" dirty="0">
                <a:solidFill>
                  <a:schemeClr val="bg1">
                    <a:lumMod val="65000"/>
                  </a:schemeClr>
                </a:solidFill>
              </a:rPr>
              <a:t>采购员发起退货申请               </a:t>
            </a:r>
            <a:endParaRPr lang="zh-CN" altLang="en-US" sz="1600" b="1" dirty="0">
              <a:solidFill>
                <a:schemeClr val="bg1">
                  <a:lumMod val="65000"/>
                </a:schemeClr>
              </a:solidFill>
            </a:endParaRPr>
          </a:p>
          <a:p>
            <a:pPr lvl="1" algn="l" fontAlgn="auto">
              <a:lnSpc>
                <a:spcPct val="170000"/>
              </a:lnSpc>
              <a:spcBef>
                <a:spcPts val="0"/>
              </a:spcBef>
              <a:buClrTx/>
              <a:buSzTx/>
              <a:buFont typeface="Wingdings" panose="05000000000000000000" charset="0"/>
              <a:buChar char="p"/>
            </a:pPr>
            <a:r>
              <a:rPr lang="zh-CN" altLang="en-US" sz="1600" b="1" dirty="0">
                <a:solidFill>
                  <a:schemeClr val="bg1">
                    <a:lumMod val="65000"/>
                  </a:schemeClr>
                </a:solidFill>
              </a:rPr>
              <a:t>采购经理审批</a:t>
            </a:r>
            <a:endParaRPr lang="zh-CN" altLang="en-US" sz="1600" b="1" dirty="0">
              <a:solidFill>
                <a:schemeClr val="bg1">
                  <a:lumMod val="65000"/>
                </a:schemeClr>
              </a:solidFill>
            </a:endParaRPr>
          </a:p>
          <a:p>
            <a:pPr lvl="1" algn="l">
              <a:lnSpc>
                <a:spcPct val="170000"/>
              </a:lnSpc>
              <a:spcBef>
                <a:spcPts val="0"/>
              </a:spcBef>
              <a:buClrTx/>
              <a:buSzTx/>
              <a:buFont typeface="Wingdings" panose="05000000000000000000" charset="0"/>
              <a:buChar char="p"/>
            </a:pPr>
            <a:r>
              <a:rPr lang="zh-CN" altLang="en-US" sz="1600" b="1" dirty="0">
                <a:solidFill>
                  <a:schemeClr val="tx1"/>
                </a:solidFill>
              </a:rPr>
              <a:t>退货冲单</a:t>
            </a:r>
            <a:endParaRPr lang="zh-CN" altLang="en-US" sz="1600" b="1" dirty="0">
              <a:solidFill>
                <a:schemeClr val="tx1"/>
              </a:solidFill>
            </a:endParaRPr>
          </a:p>
          <a:p>
            <a:pPr lvl="1">
              <a:lnSpc>
                <a:spcPct val="170000"/>
              </a:lnSpc>
              <a:buFont typeface="Wingdings" panose="05000000000000000000" charset="0"/>
              <a:buChar char="p"/>
            </a:pPr>
            <a:r>
              <a:rPr lang="zh-CN" altLang="en-US" sz="1600" b="1" dirty="0">
                <a:solidFill>
                  <a:schemeClr val="bg1">
                    <a:lumMod val="65000"/>
                  </a:schemeClr>
                </a:solidFill>
              </a:rPr>
              <a:t>储运部发货</a:t>
            </a:r>
            <a:endParaRPr lang="zh-CN" altLang="en-US" sz="1600" b="1" dirty="0">
              <a:solidFill>
                <a:schemeClr val="bg1">
                  <a:lumMod val="65000"/>
                </a:schemeClr>
              </a:solidFill>
            </a:endParaRPr>
          </a:p>
          <a:p>
            <a:pPr lvl="1">
              <a:lnSpc>
                <a:spcPct val="170000"/>
              </a:lnSpc>
              <a:buFont typeface="Wingdings" panose="05000000000000000000" charset="0"/>
              <a:buChar char="p"/>
            </a:pPr>
            <a:r>
              <a:rPr lang="zh-CN" altLang="en-US" sz="1600" b="1" dirty="0">
                <a:solidFill>
                  <a:schemeClr val="bg1">
                    <a:lumMod val="65000"/>
                  </a:schemeClr>
                </a:solidFill>
              </a:rPr>
              <a:t>供应商查看</a:t>
            </a:r>
            <a:endParaRPr lang="zh-CN" altLang="en-US" sz="1600" b="1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退货冲单</a:t>
            </a:r>
            <a:r>
              <a:rPr lang="en-US" altLang="zh-CN"/>
              <a:t>-</a:t>
            </a:r>
            <a:r>
              <a:rPr lang="zh-CN" altLang="en-US"/>
              <a:t>负数到货单</a:t>
            </a:r>
            <a:endParaRPr lang="zh-CN" altLang="en-US"/>
          </a:p>
        </p:txBody>
      </p:sp>
      <p:sp>
        <p:nvSpPr>
          <p:cNvPr id="38" name="文本框 37"/>
          <p:cNvSpPr txBox="1"/>
          <p:nvPr>
            <p:custDataLst>
              <p:tags r:id="rId1"/>
            </p:custDataLst>
          </p:nvPr>
        </p:nvSpPr>
        <p:spPr>
          <a:xfrm>
            <a:off x="497205" y="4173220"/>
            <a:ext cx="9761855" cy="1725930"/>
          </a:xfrm>
          <a:prstGeom prst="rect">
            <a:avLst/>
          </a:prstGeom>
        </p:spPr>
        <p:txBody>
          <a:bodyPr wrap="square"/>
          <a:lstStyle>
            <a:defPPr>
              <a:defRPr lang="zh-CN"/>
            </a:defPPr>
            <a:lvl1pPr algn="ctr">
              <a:defRPr sz="1400">
                <a:solidFill>
                  <a:sysClr val="window" lastClr="FFFFFF"/>
                </a:solidFill>
              </a:defRPr>
            </a:lvl1pPr>
          </a:lstStyle>
          <a:p>
            <a:pPr algn="l">
              <a:lnSpc>
                <a:spcPct val="130000"/>
              </a:lnSpc>
            </a:pPr>
            <a:r>
              <a:rPr lang="zh-CN" altLang="en-US" sz="1600" b="1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关键业务点：</a:t>
            </a:r>
            <a:endParaRPr lang="en-US" sz="1600" b="1" spc="150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marL="228600" indent="-228600" algn="l" fontAlgn="auto">
              <a:lnSpc>
                <a:spcPct val="130000"/>
              </a:lnSpc>
              <a:spcAft>
                <a:spcPts val="600"/>
              </a:spcAft>
              <a:buAutoNum type="arabicPeriod"/>
            </a:pPr>
            <a:r>
              <a:rPr sz="1600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来料退货在采购经理审批通过后，</a:t>
            </a:r>
            <a:r>
              <a:rPr lang="zh-CN" sz="1600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通知仓库，由仓库删除到货单</a:t>
            </a:r>
            <a:r>
              <a:rPr sz="1600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；</a:t>
            </a:r>
            <a:endParaRPr sz="1600" spc="150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marL="228600" indent="-228600" algn="l" fontAlgn="auto">
              <a:lnSpc>
                <a:spcPct val="130000"/>
              </a:lnSpc>
              <a:spcAft>
                <a:spcPts val="600"/>
              </a:spcAft>
              <a:buAutoNum type="arabicPeriod"/>
            </a:pPr>
            <a:r>
              <a:rPr sz="1600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进仓退货</a:t>
            </a:r>
            <a:r>
              <a:rPr lang="zh-CN" sz="1600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审批通过后</a:t>
            </a:r>
            <a:r>
              <a:rPr sz="1600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，</a:t>
            </a:r>
            <a:r>
              <a:rPr lang="en-US" sz="1600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SRM</a:t>
            </a:r>
            <a:r>
              <a:rPr lang="zh-CN" altLang="en-US" sz="1600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导入退货信息至</a:t>
            </a:r>
            <a:r>
              <a:rPr lang="en-US" altLang="zh-CN" sz="1600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ERP</a:t>
            </a:r>
            <a:r>
              <a:rPr lang="zh-CN" altLang="en-US" sz="1600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，</a:t>
            </a:r>
            <a:r>
              <a:rPr sz="1600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生成类型为“</a:t>
            </a:r>
            <a:r>
              <a:rPr sz="1600" b="1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退货单</a:t>
            </a:r>
            <a:r>
              <a:rPr sz="1600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”的负数到货单</a:t>
            </a:r>
            <a:r>
              <a:rPr lang="zh-CN" sz="1600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，</a:t>
            </a:r>
            <a:r>
              <a:rPr sz="1600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负数到仓单</a:t>
            </a:r>
            <a:r>
              <a:rPr lang="zh-CN" sz="1600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由仓库核对退货数量并进行确认</a:t>
            </a:r>
            <a:r>
              <a:rPr sz="1600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；</a:t>
            </a:r>
            <a:endParaRPr sz="1600" spc="150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0" name="文本框 9"/>
          <p:cNvSpPr txBox="1"/>
          <p:nvPr>
            <p:custDataLst>
              <p:tags r:id="rId2"/>
            </p:custDataLst>
          </p:nvPr>
        </p:nvSpPr>
        <p:spPr>
          <a:xfrm>
            <a:off x="563880" y="1078865"/>
            <a:ext cx="5995670" cy="4133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algn="ctr">
              <a:defRPr sz="1400">
                <a:solidFill>
                  <a:sysClr val="window" lastClr="FFFFFF"/>
                </a:solidFill>
              </a:defRPr>
            </a:lvl1pPr>
          </a:lstStyle>
          <a:p>
            <a:pPr algn="l">
              <a:lnSpc>
                <a:spcPct val="130000"/>
              </a:lnSpc>
            </a:pPr>
            <a:r>
              <a:rPr lang="zh-CN" sz="1600" b="1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退货信息导入</a:t>
            </a:r>
            <a:r>
              <a:rPr lang="en-US" altLang="zh-CN" sz="1600" b="1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ERP</a:t>
            </a:r>
            <a:r>
              <a:rPr lang="zh-CN" altLang="en-US" sz="1600" b="1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，自动生成负数到货单</a:t>
            </a:r>
            <a:endParaRPr lang="zh-CN" altLang="en-US" sz="1600" b="1" spc="150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497205" y="1175385"/>
            <a:ext cx="76200" cy="238760"/>
          </a:xfrm>
          <a:prstGeom prst="rect">
            <a:avLst/>
          </a:prstGeom>
          <a:solidFill>
            <a:srgbClr val="1727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10" descr="947be66848b1f1f5ba0a73e6ccee4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205" y="1782445"/>
            <a:ext cx="11120120" cy="1967865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3258820" y="2365375"/>
            <a:ext cx="728345" cy="13525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5485765" y="2378075"/>
            <a:ext cx="619125" cy="11811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4275455" y="3216275"/>
            <a:ext cx="619125" cy="11811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7621905" y="2380615"/>
            <a:ext cx="619125" cy="11811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1108710" y="2219325"/>
            <a:ext cx="366395" cy="126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退货冲单</a:t>
            </a:r>
            <a:r>
              <a:rPr lang="en-US" altLang="zh-CN"/>
              <a:t>-</a:t>
            </a:r>
            <a:r>
              <a:rPr lang="zh-CN" altLang="en-US"/>
              <a:t>负数进仓单</a:t>
            </a:r>
            <a:endParaRPr lang="zh-CN" altLang="en-US"/>
          </a:p>
        </p:txBody>
      </p:sp>
      <p:sp>
        <p:nvSpPr>
          <p:cNvPr id="38" name="文本框 37"/>
          <p:cNvSpPr txBox="1"/>
          <p:nvPr>
            <p:custDataLst>
              <p:tags r:id="rId1"/>
            </p:custDataLst>
          </p:nvPr>
        </p:nvSpPr>
        <p:spPr>
          <a:xfrm>
            <a:off x="497205" y="4451350"/>
            <a:ext cx="8756015" cy="1887855"/>
          </a:xfrm>
          <a:prstGeom prst="rect">
            <a:avLst/>
          </a:prstGeom>
        </p:spPr>
        <p:txBody>
          <a:bodyPr wrap="square"/>
          <a:lstStyle>
            <a:defPPr>
              <a:defRPr lang="zh-CN"/>
            </a:defPPr>
            <a:lvl1pPr algn="ctr">
              <a:defRPr sz="1400">
                <a:solidFill>
                  <a:sysClr val="window" lastClr="FFFFFF"/>
                </a:solidFill>
              </a:defRPr>
            </a:lvl1pPr>
          </a:lstStyle>
          <a:p>
            <a:pPr algn="l" fontAlgn="auto">
              <a:lnSpc>
                <a:spcPct val="160000"/>
              </a:lnSpc>
              <a:spcAft>
                <a:spcPts val="600"/>
              </a:spcAft>
            </a:pPr>
            <a:r>
              <a:rPr lang="zh-CN" altLang="en-US" sz="1600" b="1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关键业务点：</a:t>
            </a:r>
            <a:endParaRPr lang="en-US" sz="1600" b="1" spc="150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marL="228600" indent="-228600" algn="l" fontAlgn="auto">
              <a:lnSpc>
                <a:spcPct val="130000"/>
              </a:lnSpc>
              <a:spcAft>
                <a:spcPts val="600"/>
              </a:spcAft>
              <a:buAutoNum type="arabicPeriod"/>
            </a:pPr>
            <a:r>
              <a:rPr lang="zh-CN" sz="1600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仓库根据负数到货单做负数进仓</a:t>
            </a:r>
            <a:r>
              <a:rPr sz="1600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；</a:t>
            </a:r>
            <a:endParaRPr sz="1600" spc="150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indent="0" algn="l" fontAlgn="auto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600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2</a:t>
            </a:r>
            <a:r>
              <a:rPr lang="zh-CN" altLang="en-US" sz="1600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、</a:t>
            </a:r>
            <a:r>
              <a:rPr sz="1600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负数进仓单</a:t>
            </a:r>
            <a:r>
              <a:rPr lang="zh-CN" sz="1600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确认后，通过原有进仓单接口返回至</a:t>
            </a:r>
            <a:r>
              <a:rPr lang="en-US" altLang="zh-CN" sz="1600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SRM</a:t>
            </a:r>
            <a:r>
              <a:rPr lang="zh-CN" altLang="en-US" sz="1600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并关联到退货申请</a:t>
            </a:r>
            <a:r>
              <a:rPr lang="zh-CN" sz="1600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；</a:t>
            </a:r>
            <a:endParaRPr sz="1600" spc="150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indent="0" algn="l" fontAlgn="auto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altLang="zh-CN" sz="1600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3</a:t>
            </a:r>
            <a:r>
              <a:rPr lang="zh-CN" altLang="en-US" sz="1600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、进仓单关联后，通知采购员退货进度为</a:t>
            </a:r>
            <a:r>
              <a:rPr lang="en-US" altLang="zh-CN" sz="1600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“</a:t>
            </a:r>
            <a:r>
              <a:rPr lang="zh-CN" altLang="en-US" sz="1600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仓库已确认</a:t>
            </a:r>
            <a:r>
              <a:rPr lang="en-US" altLang="zh-CN" sz="1600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”</a:t>
            </a:r>
            <a:r>
              <a:rPr lang="zh-CN" altLang="en-US" sz="1600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。</a:t>
            </a:r>
            <a:endParaRPr lang="zh-CN" altLang="en-US" sz="1600" spc="150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0" name="文本框 9"/>
          <p:cNvSpPr txBox="1"/>
          <p:nvPr>
            <p:custDataLst>
              <p:tags r:id="rId2"/>
            </p:custDataLst>
          </p:nvPr>
        </p:nvSpPr>
        <p:spPr>
          <a:xfrm>
            <a:off x="563880" y="935990"/>
            <a:ext cx="6513195" cy="4133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algn="ctr">
              <a:defRPr sz="1400">
                <a:solidFill>
                  <a:sysClr val="window" lastClr="FFFFFF"/>
                </a:solidFill>
              </a:defRPr>
            </a:lvl1pPr>
          </a:lstStyle>
          <a:p>
            <a:pPr algn="l">
              <a:lnSpc>
                <a:spcPct val="130000"/>
              </a:lnSpc>
            </a:pPr>
            <a:r>
              <a:rPr lang="zh-CN" altLang="en-US" sz="1600" b="1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仓库做负数进仓</a:t>
            </a:r>
            <a:endParaRPr lang="zh-CN" altLang="en-US" sz="1600" b="1" spc="150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497205" y="1061085"/>
            <a:ext cx="76200" cy="238760"/>
          </a:xfrm>
          <a:prstGeom prst="rect">
            <a:avLst/>
          </a:prstGeom>
          <a:solidFill>
            <a:srgbClr val="1727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8" descr="ac3b2b67328d39199bf7bcce22a236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205" y="1605915"/>
            <a:ext cx="10789920" cy="2688590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3193415" y="2190750"/>
            <a:ext cx="619125" cy="11811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5339715" y="2190750"/>
            <a:ext cx="619125" cy="11811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7403465" y="2190750"/>
            <a:ext cx="619125" cy="11811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3535680" y="3257550"/>
            <a:ext cx="619125" cy="11811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1004570" y="2012950"/>
            <a:ext cx="360000" cy="11811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>
            <a:hlinkClick r:id="rId4" action="ppaction://hlinksldjump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05845" y="5800090"/>
            <a:ext cx="986155" cy="70167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86"/>
          <p:cNvSpPr txBox="1"/>
          <p:nvPr/>
        </p:nvSpPr>
        <p:spPr>
          <a:xfrm>
            <a:off x="6809066" y="942409"/>
            <a:ext cx="4387332" cy="50774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339725" marR="0" lvl="0" indent="-339725" defTabSz="90614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CA070"/>
              </a:buClr>
              <a:buSzPct val="80000"/>
              <a:buFont typeface="Wingdings" panose="05000000000000000000" pitchFamily="2" charset="2"/>
              <a:buChar char="n"/>
              <a:defRPr kumimoji="0" sz="2800" b="0" i="0" u="none" strike="noStrike" cap="none" spc="0" normalizeH="0" baseline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Helvetica Light" pitchFamily="50" charset="0"/>
              </a:defRPr>
            </a:lvl1pPr>
            <a:lvl2pPr marL="742950" indent="-285750">
              <a:defRPr sz="3000">
                <a:solidFill>
                  <a:srgbClr val="000000"/>
                </a:solidFill>
                <a:latin typeface="Helvetica Light" pitchFamily="50" charset="0"/>
                <a:ea typeface="Helvetica Light" pitchFamily="50" charset="0"/>
                <a:cs typeface="Helvetica Light" pitchFamily="50" charset="0"/>
              </a:defRPr>
            </a:lvl2pPr>
            <a:lvl3pPr marL="1143000" indent="-228600">
              <a:defRPr sz="3000">
                <a:solidFill>
                  <a:srgbClr val="000000"/>
                </a:solidFill>
                <a:latin typeface="Helvetica Light" pitchFamily="50" charset="0"/>
                <a:ea typeface="Helvetica Light" pitchFamily="50" charset="0"/>
                <a:cs typeface="Helvetica Light" pitchFamily="50" charset="0"/>
              </a:defRPr>
            </a:lvl3pPr>
            <a:lvl4pPr marL="1600200" indent="-228600">
              <a:defRPr sz="3000">
                <a:solidFill>
                  <a:srgbClr val="000000"/>
                </a:solidFill>
                <a:latin typeface="Helvetica Light" pitchFamily="50" charset="0"/>
                <a:ea typeface="Helvetica Light" pitchFamily="50" charset="0"/>
                <a:cs typeface="Helvetica Light" pitchFamily="50" charset="0"/>
              </a:defRPr>
            </a:lvl4pPr>
            <a:lvl5pPr marL="2057400" indent="-228600">
              <a:defRPr sz="3000">
                <a:solidFill>
                  <a:srgbClr val="000000"/>
                </a:solidFill>
                <a:latin typeface="Helvetica Light" pitchFamily="50" charset="0"/>
                <a:ea typeface="Helvetica Light" pitchFamily="50" charset="0"/>
                <a:cs typeface="Helvetica Light" pitchFamily="50" charset="0"/>
              </a:defRPr>
            </a:lvl5pPr>
            <a:lvl6pPr marL="2514600" indent="-228600" defTabSz="668655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00000"/>
                </a:solidFill>
                <a:latin typeface="Helvetica Light" pitchFamily="50" charset="0"/>
                <a:ea typeface="Helvetica Light" pitchFamily="50" charset="0"/>
                <a:cs typeface="Helvetica Light" pitchFamily="50" charset="0"/>
              </a:defRPr>
            </a:lvl6pPr>
            <a:lvl7pPr marL="2971800" indent="-228600" defTabSz="668655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00000"/>
                </a:solidFill>
                <a:latin typeface="Helvetica Light" pitchFamily="50" charset="0"/>
                <a:ea typeface="Helvetica Light" pitchFamily="50" charset="0"/>
                <a:cs typeface="Helvetica Light" pitchFamily="50" charset="0"/>
              </a:defRPr>
            </a:lvl7pPr>
            <a:lvl8pPr marL="3429000" indent="-228600" defTabSz="668655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00000"/>
                </a:solidFill>
                <a:latin typeface="Helvetica Light" pitchFamily="50" charset="0"/>
                <a:ea typeface="Helvetica Light" pitchFamily="50" charset="0"/>
                <a:cs typeface="Helvetica Light" pitchFamily="50" charset="0"/>
              </a:defRPr>
            </a:lvl8pPr>
            <a:lvl9pPr marL="3886200" indent="-228600" defTabSz="668655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00000"/>
                </a:solidFill>
                <a:latin typeface="Helvetica Light" pitchFamily="50" charset="0"/>
                <a:ea typeface="Helvetica Light" pitchFamily="50" charset="0"/>
                <a:cs typeface="Helvetica Light" pitchFamily="50" charset="0"/>
              </a:defRPr>
            </a:lvl9pPr>
          </a:lstStyle>
          <a:p>
            <a:r>
              <a:rPr lang="zh-CN" altLang="en-US" sz="3600" b="1" dirty="0">
                <a:solidFill>
                  <a:schemeClr val="bg2">
                    <a:lumMod val="75000"/>
                  </a:schemeClr>
                </a:solidFill>
              </a:rPr>
              <a:t>蓝图介绍</a:t>
            </a:r>
            <a:endParaRPr lang="en-US" altLang="zh-CN" sz="3600" b="1" dirty="0">
              <a:solidFill>
                <a:schemeClr val="bg2">
                  <a:lumMod val="75000"/>
                </a:schemeClr>
              </a:solidFill>
            </a:endParaRPr>
          </a:p>
          <a:p>
            <a:endParaRPr lang="en-US" altLang="zh-CN" sz="3600" b="1" dirty="0">
              <a:solidFill>
                <a:schemeClr val="tx1"/>
              </a:solidFill>
            </a:endParaRPr>
          </a:p>
          <a:p>
            <a:r>
              <a:rPr lang="zh-CN" altLang="en-US" sz="3600" b="1" dirty="0">
                <a:solidFill>
                  <a:schemeClr val="tx1"/>
                </a:solidFill>
                <a:sym typeface="+mn-ea"/>
              </a:rPr>
              <a:t>蓝图方案</a:t>
            </a:r>
            <a:endParaRPr lang="zh-CN" altLang="en-US" sz="3600" b="1" dirty="0">
              <a:solidFill>
                <a:schemeClr val="tx1"/>
              </a:solidFill>
            </a:endParaRPr>
          </a:p>
          <a:p>
            <a:endParaRPr lang="zh-CN" altLang="en-US" sz="36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3600" b="1" dirty="0">
                <a:solidFill>
                  <a:schemeClr val="tx1"/>
                </a:solidFill>
              </a:rPr>
              <a:t>   </a:t>
            </a:r>
            <a:endParaRPr lang="en-US" altLang="zh-CN" sz="36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zh-CN" sz="36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zh-CN" sz="36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zh-CN" sz="3600" b="1" dirty="0">
              <a:solidFill>
                <a:schemeClr val="tx1"/>
              </a:solidFill>
            </a:endParaRPr>
          </a:p>
          <a:p>
            <a:r>
              <a:rPr lang="zh-CN" altLang="en-US" sz="3600" b="1" dirty="0">
                <a:solidFill>
                  <a:schemeClr val="bg2">
                    <a:lumMod val="75000"/>
                  </a:schemeClr>
                </a:solidFill>
              </a:rPr>
              <a:t>后续工作</a:t>
            </a:r>
            <a:endParaRPr lang="zh-CN" altLang="en-US" sz="3600" b="1" dirty="0">
              <a:solidFill>
                <a:schemeClr val="bg2">
                  <a:lumMod val="75000"/>
                </a:schemeClr>
              </a:solidFill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0" y="0"/>
            <a:ext cx="6419215" cy="6573520"/>
            <a:chOff x="-1" y="0"/>
            <a:chExt cx="6698256" cy="6858000"/>
          </a:xfrm>
        </p:grpSpPr>
        <p:sp>
          <p:nvSpPr>
            <p:cNvPr id="5" name="矩形 4"/>
            <p:cNvSpPr/>
            <p:nvPr/>
          </p:nvSpPr>
          <p:spPr>
            <a:xfrm>
              <a:off x="-1" y="0"/>
              <a:ext cx="6698256" cy="6858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" name="矩形 5"/>
            <p:cNvSpPr/>
            <p:nvPr/>
          </p:nvSpPr>
          <p:spPr>
            <a:xfrm>
              <a:off x="444606" y="0"/>
              <a:ext cx="5449912" cy="561783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34400" dirty="0">
                  <a:solidFill>
                    <a:srgbClr val="333333"/>
                  </a:solidFill>
                  <a:latin typeface="Arial" panose="020B0604020202020204" pitchFamily="34" charset="0"/>
                </a:rPr>
                <a:t>c</a:t>
              </a:r>
              <a:r>
                <a:rPr lang="en-US" altLang="zh-CN" sz="6600" u="sng" dirty="0">
                  <a:solidFill>
                    <a:srgbClr val="333333"/>
                  </a:solidFill>
                  <a:latin typeface="Arial" panose="020B0604020202020204" pitchFamily="34" charset="0"/>
                </a:rPr>
                <a:t>ontents</a:t>
              </a:r>
              <a:endParaRPr lang="zh-CN" altLang="en-US" sz="6600" dirty="0"/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3029809" y="2321003"/>
              <a:ext cx="2478796" cy="11547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6600" b="1" dirty="0">
                  <a:solidFill>
                    <a:schemeClr val="bg1"/>
                  </a:solidFill>
                </a:rPr>
                <a:t>目录</a:t>
              </a:r>
              <a:endParaRPr lang="zh-CN" altLang="en-US" sz="66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50" name="灯片编号占位符 2"/>
          <p:cNvSpPr txBox="1"/>
          <p:nvPr/>
        </p:nvSpPr>
        <p:spPr>
          <a:xfrm>
            <a:off x="40256" y="6583423"/>
            <a:ext cx="455763" cy="261773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30327E2-17C4-431B-B5C7-D724C9A939E1}" type="slidenum">
              <a:rPr lang="zh-CN" altLang="en-US" smtClean="0">
                <a:solidFill>
                  <a:schemeClr val="tx2">
                    <a:lumMod val="75000"/>
                  </a:schemeClr>
                </a:solidFill>
              </a:rPr>
            </a:fld>
            <a:endParaRPr lang="zh-CN" alt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8" name="TextBox 186"/>
          <p:cNvSpPr txBox="1"/>
          <p:nvPr/>
        </p:nvSpPr>
        <p:spPr>
          <a:xfrm>
            <a:off x="6809105" y="2012315"/>
            <a:ext cx="2891790" cy="27787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339725" marR="0" lvl="0" indent="-339725" defTabSz="90614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CA070"/>
              </a:buClr>
              <a:buSzPct val="80000"/>
              <a:buFont typeface="Wingdings" panose="05000000000000000000" pitchFamily="2" charset="2"/>
              <a:buChar char="n"/>
              <a:defRPr kumimoji="0" sz="2800" b="0" i="0" u="none" strike="noStrike" cap="none" spc="0" normalizeH="0" baseline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Helvetica Light" pitchFamily="50" charset="0"/>
              </a:defRPr>
            </a:lvl1pPr>
            <a:lvl2pPr marL="742950" indent="-285750">
              <a:defRPr sz="3000">
                <a:solidFill>
                  <a:srgbClr val="000000"/>
                </a:solidFill>
                <a:latin typeface="Helvetica Light" pitchFamily="50" charset="0"/>
                <a:ea typeface="Helvetica Light" pitchFamily="50" charset="0"/>
                <a:cs typeface="Helvetica Light" pitchFamily="50" charset="0"/>
              </a:defRPr>
            </a:lvl2pPr>
            <a:lvl3pPr marL="1143000" indent="-228600">
              <a:defRPr sz="3000">
                <a:solidFill>
                  <a:srgbClr val="000000"/>
                </a:solidFill>
                <a:latin typeface="Helvetica Light" pitchFamily="50" charset="0"/>
                <a:ea typeface="Helvetica Light" pitchFamily="50" charset="0"/>
                <a:cs typeface="Helvetica Light" pitchFamily="50" charset="0"/>
              </a:defRPr>
            </a:lvl3pPr>
            <a:lvl4pPr marL="1600200" indent="-228600">
              <a:defRPr sz="3000">
                <a:solidFill>
                  <a:srgbClr val="000000"/>
                </a:solidFill>
                <a:latin typeface="Helvetica Light" pitchFamily="50" charset="0"/>
                <a:ea typeface="Helvetica Light" pitchFamily="50" charset="0"/>
                <a:cs typeface="Helvetica Light" pitchFamily="50" charset="0"/>
              </a:defRPr>
            </a:lvl4pPr>
            <a:lvl5pPr marL="2057400" indent="-228600">
              <a:defRPr sz="3000">
                <a:solidFill>
                  <a:srgbClr val="000000"/>
                </a:solidFill>
                <a:latin typeface="Helvetica Light" pitchFamily="50" charset="0"/>
                <a:ea typeface="Helvetica Light" pitchFamily="50" charset="0"/>
                <a:cs typeface="Helvetica Light" pitchFamily="50" charset="0"/>
              </a:defRPr>
            </a:lvl5pPr>
            <a:lvl6pPr marL="2514600" indent="-228600" defTabSz="668655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00000"/>
                </a:solidFill>
                <a:latin typeface="Helvetica Light" pitchFamily="50" charset="0"/>
                <a:ea typeface="Helvetica Light" pitchFamily="50" charset="0"/>
                <a:cs typeface="Helvetica Light" pitchFamily="50" charset="0"/>
              </a:defRPr>
            </a:lvl6pPr>
            <a:lvl7pPr marL="2971800" indent="-228600" defTabSz="668655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00000"/>
                </a:solidFill>
                <a:latin typeface="Helvetica Light" pitchFamily="50" charset="0"/>
                <a:ea typeface="Helvetica Light" pitchFamily="50" charset="0"/>
                <a:cs typeface="Helvetica Light" pitchFamily="50" charset="0"/>
              </a:defRPr>
            </a:lvl7pPr>
            <a:lvl8pPr marL="3429000" indent="-228600" defTabSz="668655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00000"/>
                </a:solidFill>
                <a:latin typeface="Helvetica Light" pitchFamily="50" charset="0"/>
                <a:ea typeface="Helvetica Light" pitchFamily="50" charset="0"/>
                <a:cs typeface="Helvetica Light" pitchFamily="50" charset="0"/>
              </a:defRPr>
            </a:lvl8pPr>
            <a:lvl9pPr marL="3886200" indent="-228600" defTabSz="668655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00000"/>
                </a:solidFill>
                <a:latin typeface="Helvetica Light" pitchFamily="50" charset="0"/>
                <a:ea typeface="Helvetica Light" pitchFamily="50" charset="0"/>
                <a:cs typeface="Helvetica Light" pitchFamily="50" charset="0"/>
              </a:defRPr>
            </a:lvl9pPr>
          </a:lstStyle>
          <a:p>
            <a:pPr marL="457200" lvl="1" indent="0" fontAlgn="auto">
              <a:lnSpc>
                <a:spcPct val="180000"/>
              </a:lnSpc>
              <a:spcBef>
                <a:spcPts val="1200"/>
              </a:spcBef>
              <a:buFont typeface="Wingdings" panose="05000000000000000000" charset="0"/>
              <a:buNone/>
            </a:pPr>
            <a:endParaRPr lang="zh-CN" altLang="en-US" sz="1600" b="1" dirty="0">
              <a:solidFill>
                <a:schemeClr val="bg1">
                  <a:lumMod val="65000"/>
                </a:schemeClr>
              </a:solidFill>
            </a:endParaRPr>
          </a:p>
          <a:p>
            <a:pPr lvl="1" algn="l" fontAlgn="auto">
              <a:lnSpc>
                <a:spcPct val="170000"/>
              </a:lnSpc>
              <a:spcBef>
                <a:spcPts val="1200"/>
              </a:spcBef>
              <a:buClrTx/>
              <a:buSzTx/>
              <a:buFont typeface="Wingdings" panose="05000000000000000000" charset="0"/>
              <a:buChar char="p"/>
            </a:pPr>
            <a:r>
              <a:rPr lang="zh-CN" altLang="en-US" sz="1600" b="1" dirty="0">
                <a:solidFill>
                  <a:schemeClr val="bg1">
                    <a:lumMod val="65000"/>
                  </a:schemeClr>
                </a:solidFill>
              </a:rPr>
              <a:t>采购员发起退货申请               </a:t>
            </a:r>
            <a:endParaRPr lang="zh-CN" altLang="en-US" sz="1600" b="1" dirty="0">
              <a:solidFill>
                <a:schemeClr val="bg1">
                  <a:lumMod val="65000"/>
                </a:schemeClr>
              </a:solidFill>
            </a:endParaRPr>
          </a:p>
          <a:p>
            <a:pPr lvl="1" algn="l" fontAlgn="auto">
              <a:lnSpc>
                <a:spcPct val="170000"/>
              </a:lnSpc>
              <a:spcBef>
                <a:spcPts val="0"/>
              </a:spcBef>
              <a:buClrTx/>
              <a:buSzTx/>
              <a:buFont typeface="Wingdings" panose="05000000000000000000" charset="0"/>
              <a:buChar char="p"/>
            </a:pPr>
            <a:r>
              <a:rPr lang="zh-CN" altLang="en-US" sz="1600" b="1" dirty="0">
                <a:solidFill>
                  <a:schemeClr val="bg1">
                    <a:lumMod val="65000"/>
                  </a:schemeClr>
                </a:solidFill>
              </a:rPr>
              <a:t>采购经理审批</a:t>
            </a:r>
            <a:endParaRPr lang="zh-CN" altLang="en-US" sz="1600" b="1" dirty="0">
              <a:solidFill>
                <a:schemeClr val="bg1">
                  <a:lumMod val="65000"/>
                </a:schemeClr>
              </a:solidFill>
            </a:endParaRPr>
          </a:p>
          <a:p>
            <a:pPr lvl="1" algn="l">
              <a:lnSpc>
                <a:spcPct val="170000"/>
              </a:lnSpc>
              <a:spcBef>
                <a:spcPts val="0"/>
              </a:spcBef>
              <a:buClrTx/>
              <a:buSzTx/>
              <a:buFont typeface="Wingdings" panose="05000000000000000000" charset="0"/>
              <a:buChar char="p"/>
            </a:pPr>
            <a:r>
              <a:rPr lang="zh-CN" altLang="en-US" sz="1600" b="1" dirty="0">
                <a:solidFill>
                  <a:schemeClr val="bg1">
                    <a:lumMod val="65000"/>
                  </a:schemeClr>
                </a:solidFill>
              </a:rPr>
              <a:t>退货冲单</a:t>
            </a:r>
            <a:endParaRPr lang="zh-CN" altLang="en-US" sz="1600" b="1" dirty="0">
              <a:solidFill>
                <a:schemeClr val="bg1">
                  <a:lumMod val="65000"/>
                </a:schemeClr>
              </a:solidFill>
            </a:endParaRPr>
          </a:p>
          <a:p>
            <a:pPr lvl="1" algn="l">
              <a:lnSpc>
                <a:spcPct val="170000"/>
              </a:lnSpc>
              <a:spcBef>
                <a:spcPts val="0"/>
              </a:spcBef>
              <a:buClrTx/>
              <a:buSzTx/>
              <a:buFont typeface="Wingdings" panose="05000000000000000000" charset="0"/>
              <a:buChar char="p"/>
            </a:pPr>
            <a:r>
              <a:rPr lang="zh-CN" altLang="en-US" sz="1600" b="1" dirty="0">
                <a:solidFill>
                  <a:schemeClr val="tx1"/>
                </a:solidFill>
              </a:rPr>
              <a:t>储运部发货</a:t>
            </a:r>
            <a:endParaRPr lang="zh-CN" altLang="en-US" sz="1600" b="1" dirty="0">
              <a:solidFill>
                <a:schemeClr val="tx1"/>
              </a:solidFill>
            </a:endParaRPr>
          </a:p>
          <a:p>
            <a:pPr lvl="1">
              <a:lnSpc>
                <a:spcPct val="170000"/>
              </a:lnSpc>
              <a:buFont typeface="Wingdings" panose="05000000000000000000" charset="0"/>
              <a:buChar char="p"/>
            </a:pPr>
            <a:r>
              <a:rPr lang="zh-CN" altLang="en-US" sz="1600" b="1" dirty="0">
                <a:solidFill>
                  <a:schemeClr val="bg1">
                    <a:lumMod val="65000"/>
                  </a:schemeClr>
                </a:solidFill>
              </a:rPr>
              <a:t>供应商查看</a:t>
            </a:r>
            <a:endParaRPr lang="zh-CN" altLang="en-US" sz="1600" b="1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储运部生成走货单</a:t>
            </a:r>
            <a:endParaRPr lang="zh-CN" altLang="en-US"/>
          </a:p>
        </p:txBody>
      </p:sp>
      <p:sp>
        <p:nvSpPr>
          <p:cNvPr id="38" name="文本框 37"/>
          <p:cNvSpPr txBox="1"/>
          <p:nvPr>
            <p:custDataLst>
              <p:tags r:id="rId1"/>
            </p:custDataLst>
          </p:nvPr>
        </p:nvSpPr>
        <p:spPr>
          <a:xfrm>
            <a:off x="706755" y="4918075"/>
            <a:ext cx="10169525" cy="1355725"/>
          </a:xfrm>
          <a:prstGeom prst="rect">
            <a:avLst/>
          </a:prstGeom>
        </p:spPr>
        <p:txBody>
          <a:bodyPr wrap="square"/>
          <a:lstStyle>
            <a:defPPr>
              <a:defRPr lang="zh-CN"/>
            </a:defPPr>
            <a:lvl1pPr algn="ctr">
              <a:defRPr sz="1400">
                <a:solidFill>
                  <a:sysClr val="window" lastClr="FFFFFF"/>
                </a:solidFill>
              </a:defRPr>
            </a:lvl1pPr>
          </a:lstStyle>
          <a:p>
            <a:pPr algn="l" fontAlgn="auto">
              <a:lnSpc>
                <a:spcPct val="160000"/>
              </a:lnSpc>
              <a:spcAft>
                <a:spcPts val="600"/>
              </a:spcAft>
            </a:pPr>
            <a:r>
              <a:rPr lang="zh-CN" altLang="en-US" b="1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关键业务点：</a:t>
            </a:r>
            <a:endParaRPr lang="en-US" b="1" spc="150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marL="228600" indent="-228600" algn="l" fontAlgn="auto">
              <a:lnSpc>
                <a:spcPct val="130000"/>
              </a:lnSpc>
              <a:spcAft>
                <a:spcPts val="600"/>
              </a:spcAft>
              <a:buAutoNum type="arabicPeriod"/>
            </a:pPr>
            <a:r>
              <a:rPr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储运部收到退货货物后，在PRIM系统中引用负数进仓单生成走货单，打印走货报表，随货物出运</a:t>
            </a:r>
            <a:r>
              <a:rPr lang="zh-CN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；</a:t>
            </a:r>
            <a:endParaRPr spc="150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marL="228600" indent="-228600" algn="l" fontAlgn="auto">
              <a:lnSpc>
                <a:spcPct val="130000"/>
              </a:lnSpc>
              <a:spcAft>
                <a:spcPts val="600"/>
              </a:spcAft>
              <a:buAutoNum type="arabicPeriod"/>
            </a:pPr>
            <a:r>
              <a:rPr lang="en-US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PRIM</a:t>
            </a:r>
            <a:r>
              <a:rPr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传递走货单</a:t>
            </a:r>
            <a:r>
              <a:rPr lang="zh-CN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号</a:t>
            </a:r>
            <a:r>
              <a:rPr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至SRM，由SRM自动匹配关联至退货申请单，关联成功后，通知供应商退货货物已在出运中</a:t>
            </a:r>
            <a:r>
              <a:rPr lang="zh-CN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；</a:t>
            </a:r>
            <a:endParaRPr lang="zh-CN" spc="150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marL="228600" indent="-228600" algn="l" fontAlgn="auto">
              <a:lnSpc>
                <a:spcPct val="130000"/>
              </a:lnSpc>
              <a:spcAft>
                <a:spcPts val="600"/>
              </a:spcAft>
              <a:buAutoNum type="arabicPeriod"/>
            </a:pPr>
            <a:r>
              <a:rPr lang="zh-CN" altLang="en-US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通知采购员退货进度为</a:t>
            </a:r>
            <a:r>
              <a:rPr lang="en-US" altLang="zh-CN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“</a:t>
            </a:r>
            <a:r>
              <a:rPr lang="zh-CN" altLang="en-US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退货货物出运</a:t>
            </a:r>
            <a:r>
              <a:rPr lang="en-US" altLang="zh-CN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”</a:t>
            </a:r>
            <a:r>
              <a:rPr lang="zh-CN" altLang="en-US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。</a:t>
            </a:r>
            <a:endParaRPr lang="zh-CN" altLang="en-US" spc="150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0" name="文本框 9"/>
          <p:cNvSpPr txBox="1"/>
          <p:nvPr>
            <p:custDataLst>
              <p:tags r:id="rId2"/>
            </p:custDataLst>
          </p:nvPr>
        </p:nvSpPr>
        <p:spPr>
          <a:xfrm>
            <a:off x="773430" y="974090"/>
            <a:ext cx="6513195" cy="4133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algn="ctr">
              <a:defRPr sz="1400">
                <a:solidFill>
                  <a:sysClr val="window" lastClr="FFFFFF"/>
                </a:solidFill>
              </a:defRPr>
            </a:lvl1pPr>
          </a:lstStyle>
          <a:p>
            <a:pPr algn="l">
              <a:lnSpc>
                <a:spcPct val="130000"/>
              </a:lnSpc>
            </a:pPr>
            <a:r>
              <a:rPr lang="zh-CN" altLang="en-US" sz="1600" b="1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储运部生成走货单并确认后，接口传至</a:t>
            </a:r>
            <a:r>
              <a:rPr lang="en-US" altLang="zh-CN" sz="1600" b="1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SRM</a:t>
            </a:r>
            <a:r>
              <a:rPr lang="zh-CN" altLang="en-US" sz="1600" b="1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匹配退货单</a:t>
            </a:r>
            <a:endParaRPr lang="zh-CN" altLang="en-US" sz="1600" b="1" spc="150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706755" y="1099185"/>
            <a:ext cx="76200" cy="238760"/>
          </a:xfrm>
          <a:prstGeom prst="rect">
            <a:avLst/>
          </a:prstGeom>
          <a:solidFill>
            <a:srgbClr val="1727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 descr="走货单-储运部"/>
          <p:cNvPicPr>
            <a:picLocks noChangeAspect="1"/>
          </p:cNvPicPr>
          <p:nvPr/>
        </p:nvPicPr>
        <p:blipFill>
          <a:blip r:embed="rId3"/>
          <a:srcRect t="6480" b="62980"/>
          <a:stretch>
            <a:fillRect/>
          </a:stretch>
        </p:blipFill>
        <p:spPr>
          <a:xfrm>
            <a:off x="773430" y="1600200"/>
            <a:ext cx="9685020" cy="2061845"/>
          </a:xfrm>
          <a:prstGeom prst="rect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</p:pic>
      <p:grpSp>
        <p:nvGrpSpPr>
          <p:cNvPr id="14" name="组合 13"/>
          <p:cNvGrpSpPr/>
          <p:nvPr/>
        </p:nvGrpSpPr>
        <p:grpSpPr>
          <a:xfrm>
            <a:off x="307340" y="3924300"/>
            <a:ext cx="11104880" cy="792480"/>
            <a:chOff x="154" y="6150"/>
            <a:chExt cx="17488" cy="1248"/>
          </a:xfrm>
        </p:grpSpPr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4" y="6150"/>
              <a:ext cx="15312" cy="1249"/>
            </a:xfrm>
            <a:prstGeom prst="rect">
              <a:avLst/>
            </a:prstGeom>
          </p:spPr>
        </p:pic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5386" y="6215"/>
              <a:ext cx="2257" cy="1179"/>
            </a:xfrm>
            <a:prstGeom prst="rect">
              <a:avLst/>
            </a:prstGeom>
          </p:spPr>
        </p:pic>
      </p:grpSp>
      <p:sp>
        <p:nvSpPr>
          <p:cNvPr id="47" name="圆角矩形 46"/>
          <p:cNvSpPr/>
          <p:nvPr/>
        </p:nvSpPr>
        <p:spPr>
          <a:xfrm>
            <a:off x="9347835" y="3924300"/>
            <a:ext cx="631190" cy="809625"/>
          </a:xfrm>
          <a:prstGeom prst="roundRect">
            <a:avLst/>
          </a:prstGeom>
          <a:noFill/>
          <a:ln w="127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下箭头 15"/>
          <p:cNvSpPr/>
          <p:nvPr/>
        </p:nvSpPr>
        <p:spPr>
          <a:xfrm>
            <a:off x="9538335" y="3528695"/>
            <a:ext cx="250825" cy="316865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>
            <a:hlinkClick r:id="rId6" action="ppaction://hlinksldjump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205845" y="5800090"/>
            <a:ext cx="986155" cy="70167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86"/>
          <p:cNvSpPr txBox="1"/>
          <p:nvPr/>
        </p:nvSpPr>
        <p:spPr>
          <a:xfrm>
            <a:off x="6809066" y="942409"/>
            <a:ext cx="4387332" cy="50774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339725" marR="0" lvl="0" indent="-339725" defTabSz="90614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CA070"/>
              </a:buClr>
              <a:buSzPct val="80000"/>
              <a:buFont typeface="Wingdings" panose="05000000000000000000" pitchFamily="2" charset="2"/>
              <a:buChar char="n"/>
              <a:defRPr kumimoji="0" sz="2800" b="0" i="0" u="none" strike="noStrike" cap="none" spc="0" normalizeH="0" baseline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Helvetica Light" pitchFamily="50" charset="0"/>
              </a:defRPr>
            </a:lvl1pPr>
            <a:lvl2pPr marL="742950" indent="-285750">
              <a:defRPr sz="3000">
                <a:solidFill>
                  <a:srgbClr val="000000"/>
                </a:solidFill>
                <a:latin typeface="Helvetica Light" pitchFamily="50" charset="0"/>
                <a:ea typeface="Helvetica Light" pitchFamily="50" charset="0"/>
                <a:cs typeface="Helvetica Light" pitchFamily="50" charset="0"/>
              </a:defRPr>
            </a:lvl2pPr>
            <a:lvl3pPr marL="1143000" indent="-228600">
              <a:defRPr sz="3000">
                <a:solidFill>
                  <a:srgbClr val="000000"/>
                </a:solidFill>
                <a:latin typeface="Helvetica Light" pitchFamily="50" charset="0"/>
                <a:ea typeface="Helvetica Light" pitchFamily="50" charset="0"/>
                <a:cs typeface="Helvetica Light" pitchFamily="50" charset="0"/>
              </a:defRPr>
            </a:lvl3pPr>
            <a:lvl4pPr marL="1600200" indent="-228600">
              <a:defRPr sz="3000">
                <a:solidFill>
                  <a:srgbClr val="000000"/>
                </a:solidFill>
                <a:latin typeface="Helvetica Light" pitchFamily="50" charset="0"/>
                <a:ea typeface="Helvetica Light" pitchFamily="50" charset="0"/>
                <a:cs typeface="Helvetica Light" pitchFamily="50" charset="0"/>
              </a:defRPr>
            </a:lvl4pPr>
            <a:lvl5pPr marL="2057400" indent="-228600">
              <a:defRPr sz="3000">
                <a:solidFill>
                  <a:srgbClr val="000000"/>
                </a:solidFill>
                <a:latin typeface="Helvetica Light" pitchFamily="50" charset="0"/>
                <a:ea typeface="Helvetica Light" pitchFamily="50" charset="0"/>
                <a:cs typeface="Helvetica Light" pitchFamily="50" charset="0"/>
              </a:defRPr>
            </a:lvl5pPr>
            <a:lvl6pPr marL="2514600" indent="-228600" defTabSz="668655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00000"/>
                </a:solidFill>
                <a:latin typeface="Helvetica Light" pitchFamily="50" charset="0"/>
                <a:ea typeface="Helvetica Light" pitchFamily="50" charset="0"/>
                <a:cs typeface="Helvetica Light" pitchFamily="50" charset="0"/>
              </a:defRPr>
            </a:lvl6pPr>
            <a:lvl7pPr marL="2971800" indent="-228600" defTabSz="668655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00000"/>
                </a:solidFill>
                <a:latin typeface="Helvetica Light" pitchFamily="50" charset="0"/>
                <a:ea typeface="Helvetica Light" pitchFamily="50" charset="0"/>
                <a:cs typeface="Helvetica Light" pitchFamily="50" charset="0"/>
              </a:defRPr>
            </a:lvl7pPr>
            <a:lvl8pPr marL="3429000" indent="-228600" defTabSz="668655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00000"/>
                </a:solidFill>
                <a:latin typeface="Helvetica Light" pitchFamily="50" charset="0"/>
                <a:ea typeface="Helvetica Light" pitchFamily="50" charset="0"/>
                <a:cs typeface="Helvetica Light" pitchFamily="50" charset="0"/>
              </a:defRPr>
            </a:lvl8pPr>
            <a:lvl9pPr marL="3886200" indent="-228600" defTabSz="668655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00000"/>
                </a:solidFill>
                <a:latin typeface="Helvetica Light" pitchFamily="50" charset="0"/>
                <a:ea typeface="Helvetica Light" pitchFamily="50" charset="0"/>
                <a:cs typeface="Helvetica Light" pitchFamily="50" charset="0"/>
              </a:defRPr>
            </a:lvl9pPr>
          </a:lstStyle>
          <a:p>
            <a:r>
              <a:rPr lang="zh-CN" altLang="en-US" sz="3600" b="1" dirty="0">
                <a:solidFill>
                  <a:schemeClr val="bg2">
                    <a:lumMod val="75000"/>
                  </a:schemeClr>
                </a:solidFill>
              </a:rPr>
              <a:t>蓝图介绍</a:t>
            </a:r>
            <a:endParaRPr lang="en-US" altLang="zh-CN" sz="3600" b="1" dirty="0">
              <a:solidFill>
                <a:schemeClr val="bg2">
                  <a:lumMod val="75000"/>
                </a:schemeClr>
              </a:solidFill>
            </a:endParaRPr>
          </a:p>
          <a:p>
            <a:endParaRPr lang="en-US" altLang="zh-CN" sz="3600" b="1" dirty="0">
              <a:solidFill>
                <a:schemeClr val="tx1"/>
              </a:solidFill>
            </a:endParaRPr>
          </a:p>
          <a:p>
            <a:r>
              <a:rPr lang="zh-CN" altLang="en-US" sz="3600" b="1" dirty="0">
                <a:solidFill>
                  <a:schemeClr val="tx1"/>
                </a:solidFill>
                <a:sym typeface="+mn-ea"/>
              </a:rPr>
              <a:t>蓝图方案</a:t>
            </a:r>
            <a:endParaRPr lang="zh-CN" altLang="en-US" sz="3600" b="1" dirty="0">
              <a:solidFill>
                <a:schemeClr val="tx1"/>
              </a:solidFill>
            </a:endParaRPr>
          </a:p>
          <a:p>
            <a:endParaRPr lang="zh-CN" altLang="en-US" sz="36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3600" b="1" dirty="0">
                <a:solidFill>
                  <a:schemeClr val="tx1"/>
                </a:solidFill>
              </a:rPr>
              <a:t>   </a:t>
            </a:r>
            <a:endParaRPr lang="en-US" altLang="zh-CN" sz="36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zh-CN" sz="36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zh-CN" sz="36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zh-CN" sz="3600" b="1" dirty="0">
              <a:solidFill>
                <a:schemeClr val="tx1"/>
              </a:solidFill>
            </a:endParaRPr>
          </a:p>
          <a:p>
            <a:r>
              <a:rPr lang="zh-CN" altLang="en-US" sz="3600" b="1" dirty="0">
                <a:solidFill>
                  <a:schemeClr val="bg2">
                    <a:lumMod val="75000"/>
                  </a:schemeClr>
                </a:solidFill>
              </a:rPr>
              <a:t>后续工作</a:t>
            </a:r>
            <a:endParaRPr lang="zh-CN" altLang="en-US" sz="3600" b="1" dirty="0">
              <a:solidFill>
                <a:schemeClr val="bg2">
                  <a:lumMod val="75000"/>
                </a:schemeClr>
              </a:solidFill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0" y="0"/>
            <a:ext cx="6419215" cy="6573520"/>
            <a:chOff x="-1" y="0"/>
            <a:chExt cx="6698256" cy="6858000"/>
          </a:xfrm>
        </p:grpSpPr>
        <p:sp>
          <p:nvSpPr>
            <p:cNvPr id="5" name="矩形 4"/>
            <p:cNvSpPr/>
            <p:nvPr/>
          </p:nvSpPr>
          <p:spPr>
            <a:xfrm>
              <a:off x="-1" y="0"/>
              <a:ext cx="6698256" cy="6858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" name="矩形 5"/>
            <p:cNvSpPr/>
            <p:nvPr/>
          </p:nvSpPr>
          <p:spPr>
            <a:xfrm>
              <a:off x="444606" y="0"/>
              <a:ext cx="5449912" cy="561783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34400" dirty="0">
                  <a:solidFill>
                    <a:srgbClr val="333333"/>
                  </a:solidFill>
                  <a:latin typeface="Arial" panose="020B0604020202020204" pitchFamily="34" charset="0"/>
                </a:rPr>
                <a:t>c</a:t>
              </a:r>
              <a:r>
                <a:rPr lang="en-US" altLang="zh-CN" sz="6600" u="sng" dirty="0">
                  <a:solidFill>
                    <a:srgbClr val="333333"/>
                  </a:solidFill>
                  <a:latin typeface="Arial" panose="020B0604020202020204" pitchFamily="34" charset="0"/>
                </a:rPr>
                <a:t>ontents</a:t>
              </a:r>
              <a:endParaRPr lang="zh-CN" altLang="en-US" sz="6600" dirty="0"/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3029809" y="2321003"/>
              <a:ext cx="2478796" cy="11547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6600" b="1" dirty="0">
                  <a:solidFill>
                    <a:schemeClr val="bg1"/>
                  </a:solidFill>
                </a:rPr>
                <a:t>目录</a:t>
              </a:r>
              <a:endParaRPr lang="zh-CN" altLang="en-US" sz="66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50" name="灯片编号占位符 2"/>
          <p:cNvSpPr txBox="1"/>
          <p:nvPr/>
        </p:nvSpPr>
        <p:spPr>
          <a:xfrm>
            <a:off x="40256" y="6583423"/>
            <a:ext cx="455763" cy="261773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30327E2-17C4-431B-B5C7-D724C9A939E1}" type="slidenum">
              <a:rPr lang="zh-CN" altLang="en-US" smtClean="0">
                <a:solidFill>
                  <a:schemeClr val="tx2">
                    <a:lumMod val="75000"/>
                  </a:schemeClr>
                </a:solidFill>
              </a:rPr>
            </a:fld>
            <a:endParaRPr lang="zh-CN" alt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8" name="TextBox 186"/>
          <p:cNvSpPr txBox="1"/>
          <p:nvPr/>
        </p:nvSpPr>
        <p:spPr>
          <a:xfrm>
            <a:off x="6809105" y="2012315"/>
            <a:ext cx="2891790" cy="27787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339725" marR="0" lvl="0" indent="-339725" defTabSz="90614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CA070"/>
              </a:buClr>
              <a:buSzPct val="80000"/>
              <a:buFont typeface="Wingdings" panose="05000000000000000000" pitchFamily="2" charset="2"/>
              <a:buChar char="n"/>
              <a:defRPr kumimoji="0" sz="2800" b="0" i="0" u="none" strike="noStrike" cap="none" spc="0" normalizeH="0" baseline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Helvetica Light" pitchFamily="50" charset="0"/>
              </a:defRPr>
            </a:lvl1pPr>
            <a:lvl2pPr marL="742950" indent="-285750">
              <a:defRPr sz="3000">
                <a:solidFill>
                  <a:srgbClr val="000000"/>
                </a:solidFill>
                <a:latin typeface="Helvetica Light" pitchFamily="50" charset="0"/>
                <a:ea typeface="Helvetica Light" pitchFamily="50" charset="0"/>
                <a:cs typeface="Helvetica Light" pitchFamily="50" charset="0"/>
              </a:defRPr>
            </a:lvl2pPr>
            <a:lvl3pPr marL="1143000" indent="-228600">
              <a:defRPr sz="3000">
                <a:solidFill>
                  <a:srgbClr val="000000"/>
                </a:solidFill>
                <a:latin typeface="Helvetica Light" pitchFamily="50" charset="0"/>
                <a:ea typeface="Helvetica Light" pitchFamily="50" charset="0"/>
                <a:cs typeface="Helvetica Light" pitchFamily="50" charset="0"/>
              </a:defRPr>
            </a:lvl3pPr>
            <a:lvl4pPr marL="1600200" indent="-228600">
              <a:defRPr sz="3000">
                <a:solidFill>
                  <a:srgbClr val="000000"/>
                </a:solidFill>
                <a:latin typeface="Helvetica Light" pitchFamily="50" charset="0"/>
                <a:ea typeface="Helvetica Light" pitchFamily="50" charset="0"/>
                <a:cs typeface="Helvetica Light" pitchFamily="50" charset="0"/>
              </a:defRPr>
            </a:lvl4pPr>
            <a:lvl5pPr marL="2057400" indent="-228600">
              <a:defRPr sz="3000">
                <a:solidFill>
                  <a:srgbClr val="000000"/>
                </a:solidFill>
                <a:latin typeface="Helvetica Light" pitchFamily="50" charset="0"/>
                <a:ea typeface="Helvetica Light" pitchFamily="50" charset="0"/>
                <a:cs typeface="Helvetica Light" pitchFamily="50" charset="0"/>
              </a:defRPr>
            </a:lvl5pPr>
            <a:lvl6pPr marL="2514600" indent="-228600" defTabSz="668655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00000"/>
                </a:solidFill>
                <a:latin typeface="Helvetica Light" pitchFamily="50" charset="0"/>
                <a:ea typeface="Helvetica Light" pitchFamily="50" charset="0"/>
                <a:cs typeface="Helvetica Light" pitchFamily="50" charset="0"/>
              </a:defRPr>
            </a:lvl6pPr>
            <a:lvl7pPr marL="2971800" indent="-228600" defTabSz="668655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00000"/>
                </a:solidFill>
                <a:latin typeface="Helvetica Light" pitchFamily="50" charset="0"/>
                <a:ea typeface="Helvetica Light" pitchFamily="50" charset="0"/>
                <a:cs typeface="Helvetica Light" pitchFamily="50" charset="0"/>
              </a:defRPr>
            </a:lvl7pPr>
            <a:lvl8pPr marL="3429000" indent="-228600" defTabSz="668655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00000"/>
                </a:solidFill>
                <a:latin typeface="Helvetica Light" pitchFamily="50" charset="0"/>
                <a:ea typeface="Helvetica Light" pitchFamily="50" charset="0"/>
                <a:cs typeface="Helvetica Light" pitchFamily="50" charset="0"/>
              </a:defRPr>
            </a:lvl8pPr>
            <a:lvl9pPr marL="3886200" indent="-228600" defTabSz="668655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00000"/>
                </a:solidFill>
                <a:latin typeface="Helvetica Light" pitchFamily="50" charset="0"/>
                <a:ea typeface="Helvetica Light" pitchFamily="50" charset="0"/>
                <a:cs typeface="Helvetica Light" pitchFamily="50" charset="0"/>
              </a:defRPr>
            </a:lvl9pPr>
          </a:lstStyle>
          <a:p>
            <a:pPr marL="457200" lvl="1" indent="0" fontAlgn="auto">
              <a:lnSpc>
                <a:spcPct val="180000"/>
              </a:lnSpc>
              <a:spcBef>
                <a:spcPts val="1200"/>
              </a:spcBef>
              <a:buFont typeface="Wingdings" panose="05000000000000000000" charset="0"/>
              <a:buNone/>
            </a:pPr>
            <a:endParaRPr lang="zh-CN" altLang="en-US" sz="1600" b="1" dirty="0">
              <a:solidFill>
                <a:schemeClr val="bg1">
                  <a:lumMod val="65000"/>
                </a:schemeClr>
              </a:solidFill>
            </a:endParaRPr>
          </a:p>
          <a:p>
            <a:pPr lvl="1" algn="l" fontAlgn="auto">
              <a:lnSpc>
                <a:spcPct val="170000"/>
              </a:lnSpc>
              <a:spcBef>
                <a:spcPts val="1200"/>
              </a:spcBef>
              <a:buClrTx/>
              <a:buSzTx/>
              <a:buFont typeface="Wingdings" panose="05000000000000000000" charset="0"/>
              <a:buChar char="p"/>
            </a:pPr>
            <a:r>
              <a:rPr lang="zh-CN" altLang="en-US" sz="1600" b="1" dirty="0">
                <a:solidFill>
                  <a:schemeClr val="bg1">
                    <a:lumMod val="65000"/>
                  </a:schemeClr>
                </a:solidFill>
              </a:rPr>
              <a:t>采购员发起退货申请               </a:t>
            </a:r>
            <a:endParaRPr lang="zh-CN" altLang="en-US" sz="1600" b="1" dirty="0">
              <a:solidFill>
                <a:schemeClr val="bg1">
                  <a:lumMod val="65000"/>
                </a:schemeClr>
              </a:solidFill>
            </a:endParaRPr>
          </a:p>
          <a:p>
            <a:pPr lvl="1" algn="l" fontAlgn="auto">
              <a:lnSpc>
                <a:spcPct val="170000"/>
              </a:lnSpc>
              <a:spcBef>
                <a:spcPts val="0"/>
              </a:spcBef>
              <a:buClrTx/>
              <a:buSzTx/>
              <a:buFont typeface="Wingdings" panose="05000000000000000000" charset="0"/>
              <a:buChar char="p"/>
            </a:pPr>
            <a:r>
              <a:rPr lang="zh-CN" altLang="en-US" sz="1600" b="1" dirty="0">
                <a:solidFill>
                  <a:schemeClr val="bg1">
                    <a:lumMod val="65000"/>
                  </a:schemeClr>
                </a:solidFill>
              </a:rPr>
              <a:t>采购经理审批</a:t>
            </a:r>
            <a:endParaRPr lang="zh-CN" altLang="en-US" sz="1600" b="1" dirty="0">
              <a:solidFill>
                <a:schemeClr val="bg1">
                  <a:lumMod val="65000"/>
                </a:schemeClr>
              </a:solidFill>
            </a:endParaRPr>
          </a:p>
          <a:p>
            <a:pPr lvl="1" algn="l">
              <a:lnSpc>
                <a:spcPct val="170000"/>
              </a:lnSpc>
              <a:spcBef>
                <a:spcPts val="0"/>
              </a:spcBef>
              <a:buClrTx/>
              <a:buSzTx/>
              <a:buFont typeface="Wingdings" panose="05000000000000000000" charset="0"/>
              <a:buChar char="p"/>
            </a:pPr>
            <a:r>
              <a:rPr lang="zh-CN" altLang="en-US" sz="1600" b="1" dirty="0">
                <a:solidFill>
                  <a:schemeClr val="bg1">
                    <a:lumMod val="65000"/>
                  </a:schemeClr>
                </a:solidFill>
              </a:rPr>
              <a:t>退货冲单</a:t>
            </a:r>
            <a:endParaRPr lang="zh-CN" altLang="en-US" sz="1600" b="1" dirty="0">
              <a:solidFill>
                <a:schemeClr val="bg1">
                  <a:lumMod val="65000"/>
                </a:schemeClr>
              </a:solidFill>
            </a:endParaRPr>
          </a:p>
          <a:p>
            <a:pPr lvl="1" algn="l">
              <a:lnSpc>
                <a:spcPct val="170000"/>
              </a:lnSpc>
              <a:spcBef>
                <a:spcPts val="0"/>
              </a:spcBef>
              <a:buClrTx/>
              <a:buSzTx/>
              <a:buFont typeface="Wingdings" panose="05000000000000000000" charset="0"/>
              <a:buChar char="p"/>
            </a:pPr>
            <a:r>
              <a:rPr lang="zh-CN" altLang="en-US" sz="1600" b="1" dirty="0">
                <a:solidFill>
                  <a:schemeClr val="bg1">
                    <a:lumMod val="65000"/>
                  </a:schemeClr>
                </a:solidFill>
              </a:rPr>
              <a:t>储运部发货</a:t>
            </a:r>
            <a:endParaRPr lang="zh-CN" altLang="en-US" sz="1600" b="1" dirty="0">
              <a:solidFill>
                <a:schemeClr val="bg1">
                  <a:lumMod val="65000"/>
                </a:schemeClr>
              </a:solidFill>
            </a:endParaRPr>
          </a:p>
          <a:p>
            <a:pPr lvl="1" algn="l">
              <a:lnSpc>
                <a:spcPct val="170000"/>
              </a:lnSpc>
              <a:spcBef>
                <a:spcPts val="0"/>
              </a:spcBef>
              <a:buClrTx/>
              <a:buSzTx/>
              <a:buFont typeface="Wingdings" panose="05000000000000000000" charset="0"/>
              <a:buChar char="p"/>
            </a:pPr>
            <a:r>
              <a:rPr lang="zh-CN" altLang="en-US" sz="1600" b="1" dirty="0">
                <a:solidFill>
                  <a:schemeClr val="tx1"/>
                </a:solidFill>
              </a:rPr>
              <a:t>供应商查看</a:t>
            </a:r>
            <a:endParaRPr lang="zh-CN" altLang="en-US" sz="16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供应商查看退货单</a:t>
            </a:r>
            <a:endParaRPr lang="zh-CN" altLang="en-US"/>
          </a:p>
        </p:txBody>
      </p:sp>
      <p:sp>
        <p:nvSpPr>
          <p:cNvPr id="38" name="文本框 37"/>
          <p:cNvSpPr txBox="1"/>
          <p:nvPr>
            <p:custDataLst>
              <p:tags r:id="rId1"/>
            </p:custDataLst>
          </p:nvPr>
        </p:nvSpPr>
        <p:spPr>
          <a:xfrm>
            <a:off x="9420860" y="1884045"/>
            <a:ext cx="2682875" cy="3783330"/>
          </a:xfrm>
          <a:prstGeom prst="rect">
            <a:avLst/>
          </a:prstGeom>
        </p:spPr>
        <p:txBody>
          <a:bodyPr wrap="square"/>
          <a:lstStyle>
            <a:defPPr>
              <a:defRPr lang="zh-CN"/>
            </a:defPPr>
            <a:lvl1pPr algn="ctr">
              <a:defRPr sz="1400">
                <a:solidFill>
                  <a:sysClr val="window" lastClr="FFFFFF"/>
                </a:solidFill>
              </a:defRPr>
            </a:lvl1pPr>
          </a:lstStyle>
          <a:p>
            <a:pPr algn="l" fontAlgn="auto">
              <a:lnSpc>
                <a:spcPct val="160000"/>
              </a:lnSpc>
              <a:spcAft>
                <a:spcPts val="600"/>
              </a:spcAft>
            </a:pPr>
            <a:r>
              <a:rPr lang="zh-CN" altLang="en-US" b="1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关键业务点：</a:t>
            </a:r>
            <a:endParaRPr lang="en-US" b="1" spc="150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marL="228600" indent="-228600" algn="l" fontAlgn="auto">
              <a:lnSpc>
                <a:spcPct val="130000"/>
              </a:lnSpc>
              <a:spcAft>
                <a:spcPts val="600"/>
              </a:spcAft>
              <a:buAutoNum type="arabicPeriod"/>
            </a:pPr>
            <a:r>
              <a:rPr lang="zh-CN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供应商可收到邮件提醒；</a:t>
            </a:r>
            <a:endParaRPr lang="zh-CN" spc="150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marL="228600" indent="-228600" algn="l" fontAlgn="auto">
              <a:lnSpc>
                <a:spcPct val="130000"/>
              </a:lnSpc>
              <a:spcAft>
                <a:spcPts val="600"/>
              </a:spcAft>
              <a:buAutoNum type="arabicPeriod"/>
            </a:pPr>
            <a:r>
              <a:rPr lang="zh-CN" altLang="en-US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同时供应商可登录系统查询历史退货单；</a:t>
            </a:r>
            <a:endParaRPr lang="zh-CN" altLang="en-US" spc="150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marL="228600" indent="-228600" algn="l" fontAlgn="auto">
              <a:lnSpc>
                <a:spcPct val="130000"/>
              </a:lnSpc>
              <a:spcAft>
                <a:spcPts val="600"/>
              </a:spcAft>
              <a:buAutoNum type="arabicPeriod"/>
            </a:pPr>
            <a:r>
              <a:rPr lang="zh-CN" altLang="en-US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根据退货单可跳转至采购单明细页面，及允许供应商查看的外观检验报告页面。</a:t>
            </a:r>
            <a:endParaRPr lang="en-US" altLang="zh-CN" spc="150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0" name="文本框 9"/>
          <p:cNvSpPr txBox="1"/>
          <p:nvPr>
            <p:custDataLst>
              <p:tags r:id="rId2"/>
            </p:custDataLst>
          </p:nvPr>
        </p:nvSpPr>
        <p:spPr>
          <a:xfrm>
            <a:off x="360680" y="935990"/>
            <a:ext cx="6513195" cy="4133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algn="ctr">
              <a:defRPr sz="1400">
                <a:solidFill>
                  <a:sysClr val="window" lastClr="FFFFFF"/>
                </a:solidFill>
              </a:defRPr>
            </a:lvl1pPr>
          </a:lstStyle>
          <a:p>
            <a:pPr algn="l">
              <a:lnSpc>
                <a:spcPct val="130000"/>
              </a:lnSpc>
            </a:pPr>
            <a:r>
              <a:rPr lang="zh-CN" altLang="en-US" sz="1600" b="1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供应商可查看已出运的退货单</a:t>
            </a:r>
            <a:endParaRPr lang="zh-CN" altLang="en-US" sz="1600" b="1" spc="150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94005" y="1032510"/>
            <a:ext cx="76200" cy="238760"/>
          </a:xfrm>
          <a:prstGeom prst="rect">
            <a:avLst/>
          </a:prstGeom>
          <a:solidFill>
            <a:srgbClr val="1727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005" y="1543685"/>
            <a:ext cx="8928735" cy="442595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86"/>
          <p:cNvSpPr txBox="1"/>
          <p:nvPr/>
        </p:nvSpPr>
        <p:spPr>
          <a:xfrm>
            <a:off x="6809066" y="942409"/>
            <a:ext cx="4387332" cy="50774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339725" marR="0" lvl="0" indent="-339725" defTabSz="90614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CA070"/>
              </a:buClr>
              <a:buSzPct val="80000"/>
              <a:buFont typeface="Wingdings" panose="05000000000000000000" pitchFamily="2" charset="2"/>
              <a:buChar char="n"/>
              <a:defRPr kumimoji="0" sz="2800" b="0" i="0" u="none" strike="noStrike" cap="none" spc="0" normalizeH="0" baseline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Helvetica Light" pitchFamily="50" charset="0"/>
              </a:defRPr>
            </a:lvl1pPr>
            <a:lvl2pPr marL="742950" indent="-285750">
              <a:defRPr sz="3000">
                <a:solidFill>
                  <a:srgbClr val="000000"/>
                </a:solidFill>
                <a:latin typeface="Helvetica Light" pitchFamily="50" charset="0"/>
                <a:ea typeface="Helvetica Light" pitchFamily="50" charset="0"/>
                <a:cs typeface="Helvetica Light" pitchFamily="50" charset="0"/>
              </a:defRPr>
            </a:lvl2pPr>
            <a:lvl3pPr marL="1143000" indent="-228600">
              <a:defRPr sz="3000">
                <a:solidFill>
                  <a:srgbClr val="000000"/>
                </a:solidFill>
                <a:latin typeface="Helvetica Light" pitchFamily="50" charset="0"/>
                <a:ea typeface="Helvetica Light" pitchFamily="50" charset="0"/>
                <a:cs typeface="Helvetica Light" pitchFamily="50" charset="0"/>
              </a:defRPr>
            </a:lvl3pPr>
            <a:lvl4pPr marL="1600200" indent="-228600">
              <a:defRPr sz="3000">
                <a:solidFill>
                  <a:srgbClr val="000000"/>
                </a:solidFill>
                <a:latin typeface="Helvetica Light" pitchFamily="50" charset="0"/>
                <a:ea typeface="Helvetica Light" pitchFamily="50" charset="0"/>
                <a:cs typeface="Helvetica Light" pitchFamily="50" charset="0"/>
              </a:defRPr>
            </a:lvl4pPr>
            <a:lvl5pPr marL="2057400" indent="-228600">
              <a:defRPr sz="3000">
                <a:solidFill>
                  <a:srgbClr val="000000"/>
                </a:solidFill>
                <a:latin typeface="Helvetica Light" pitchFamily="50" charset="0"/>
                <a:ea typeface="Helvetica Light" pitchFamily="50" charset="0"/>
                <a:cs typeface="Helvetica Light" pitchFamily="50" charset="0"/>
              </a:defRPr>
            </a:lvl5pPr>
            <a:lvl6pPr marL="2514600" indent="-228600" defTabSz="668655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00000"/>
                </a:solidFill>
                <a:latin typeface="Helvetica Light" pitchFamily="50" charset="0"/>
                <a:ea typeface="Helvetica Light" pitchFamily="50" charset="0"/>
                <a:cs typeface="Helvetica Light" pitchFamily="50" charset="0"/>
              </a:defRPr>
            </a:lvl6pPr>
            <a:lvl7pPr marL="2971800" indent="-228600" defTabSz="668655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00000"/>
                </a:solidFill>
                <a:latin typeface="Helvetica Light" pitchFamily="50" charset="0"/>
                <a:ea typeface="Helvetica Light" pitchFamily="50" charset="0"/>
                <a:cs typeface="Helvetica Light" pitchFamily="50" charset="0"/>
              </a:defRPr>
            </a:lvl7pPr>
            <a:lvl8pPr marL="3429000" indent="-228600" defTabSz="668655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00000"/>
                </a:solidFill>
                <a:latin typeface="Helvetica Light" pitchFamily="50" charset="0"/>
                <a:ea typeface="Helvetica Light" pitchFamily="50" charset="0"/>
                <a:cs typeface="Helvetica Light" pitchFamily="50" charset="0"/>
              </a:defRPr>
            </a:lvl8pPr>
            <a:lvl9pPr marL="3886200" indent="-228600" defTabSz="668655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00000"/>
                </a:solidFill>
                <a:latin typeface="Helvetica Light" pitchFamily="50" charset="0"/>
                <a:ea typeface="Helvetica Light" pitchFamily="50" charset="0"/>
                <a:cs typeface="Helvetica Light" pitchFamily="50" charset="0"/>
              </a:defRPr>
            </a:lvl9pPr>
          </a:lstStyle>
          <a:p>
            <a:r>
              <a:rPr lang="zh-CN" altLang="en-US" sz="3600" b="1" dirty="0">
                <a:solidFill>
                  <a:schemeClr val="bg2">
                    <a:lumMod val="75000"/>
                  </a:schemeClr>
                </a:solidFill>
              </a:rPr>
              <a:t>蓝图介绍</a:t>
            </a:r>
            <a:endParaRPr lang="en-US" altLang="zh-CN" sz="3600" b="1" dirty="0">
              <a:solidFill>
                <a:schemeClr val="bg2">
                  <a:lumMod val="75000"/>
                </a:schemeClr>
              </a:solidFill>
            </a:endParaRPr>
          </a:p>
          <a:p>
            <a:endParaRPr lang="en-US" altLang="zh-CN" sz="3600" b="1" dirty="0">
              <a:solidFill>
                <a:schemeClr val="tx1"/>
              </a:solidFill>
            </a:endParaRPr>
          </a:p>
          <a:p>
            <a:r>
              <a:rPr lang="zh-CN" altLang="en-US" sz="3600" b="1" dirty="0">
                <a:solidFill>
                  <a:schemeClr val="bg2">
                    <a:lumMod val="75000"/>
                  </a:schemeClr>
                </a:solidFill>
                <a:sym typeface="+mn-ea"/>
              </a:rPr>
              <a:t>蓝图方案</a:t>
            </a:r>
            <a:endParaRPr lang="zh-CN" altLang="en-US" sz="3600" b="1" dirty="0">
              <a:solidFill>
                <a:schemeClr val="bg2">
                  <a:lumMod val="75000"/>
                </a:schemeClr>
              </a:solidFill>
            </a:endParaRPr>
          </a:p>
          <a:p>
            <a:endParaRPr lang="zh-CN" altLang="en-US" sz="36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3600" b="1" dirty="0">
                <a:solidFill>
                  <a:schemeClr val="tx1"/>
                </a:solidFill>
              </a:rPr>
              <a:t>   </a:t>
            </a:r>
            <a:endParaRPr lang="en-US" altLang="zh-CN" sz="36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zh-CN" sz="36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zh-CN" sz="36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zh-CN" sz="3600" b="1" dirty="0">
              <a:solidFill>
                <a:schemeClr val="tx1"/>
              </a:solidFill>
            </a:endParaRPr>
          </a:p>
          <a:p>
            <a:r>
              <a:rPr lang="zh-CN" altLang="en-US" sz="3600" b="1" dirty="0">
                <a:solidFill>
                  <a:schemeClr val="tx1"/>
                </a:solidFill>
              </a:rPr>
              <a:t>后续工作</a:t>
            </a:r>
            <a:endParaRPr lang="zh-CN" altLang="en-US" sz="3600" b="1" dirty="0">
              <a:solidFill>
                <a:schemeClr val="tx1"/>
              </a:solidFill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0" y="0"/>
            <a:ext cx="6419215" cy="6573520"/>
            <a:chOff x="-1" y="0"/>
            <a:chExt cx="6698256" cy="6858000"/>
          </a:xfrm>
        </p:grpSpPr>
        <p:sp>
          <p:nvSpPr>
            <p:cNvPr id="5" name="矩形 4"/>
            <p:cNvSpPr/>
            <p:nvPr/>
          </p:nvSpPr>
          <p:spPr>
            <a:xfrm>
              <a:off x="-1" y="0"/>
              <a:ext cx="6698256" cy="6858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" name="矩形 5"/>
            <p:cNvSpPr/>
            <p:nvPr/>
          </p:nvSpPr>
          <p:spPr>
            <a:xfrm>
              <a:off x="444606" y="0"/>
              <a:ext cx="5449912" cy="561783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34400" dirty="0">
                  <a:solidFill>
                    <a:srgbClr val="333333"/>
                  </a:solidFill>
                  <a:latin typeface="Arial" panose="020B0604020202020204" pitchFamily="34" charset="0"/>
                </a:rPr>
                <a:t>c</a:t>
              </a:r>
              <a:r>
                <a:rPr lang="en-US" altLang="zh-CN" sz="6600" u="sng" dirty="0">
                  <a:solidFill>
                    <a:srgbClr val="333333"/>
                  </a:solidFill>
                  <a:latin typeface="Arial" panose="020B0604020202020204" pitchFamily="34" charset="0"/>
                </a:rPr>
                <a:t>ontents</a:t>
              </a:r>
              <a:endParaRPr lang="zh-CN" altLang="en-US" sz="6600" dirty="0"/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3029809" y="2321003"/>
              <a:ext cx="2478796" cy="11547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6600" b="1" dirty="0">
                  <a:solidFill>
                    <a:schemeClr val="bg1"/>
                  </a:solidFill>
                </a:rPr>
                <a:t>目录</a:t>
              </a:r>
              <a:endParaRPr lang="zh-CN" altLang="en-US" sz="66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50" name="灯片编号占位符 2"/>
          <p:cNvSpPr txBox="1"/>
          <p:nvPr/>
        </p:nvSpPr>
        <p:spPr>
          <a:xfrm>
            <a:off x="40256" y="6583423"/>
            <a:ext cx="455763" cy="261773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30327E2-17C4-431B-B5C7-D724C9A939E1}" type="slidenum">
              <a:rPr lang="zh-CN" altLang="en-US" smtClean="0">
                <a:solidFill>
                  <a:schemeClr val="tx2">
                    <a:lumMod val="75000"/>
                  </a:schemeClr>
                </a:solidFill>
              </a:rPr>
            </a:fld>
            <a:endParaRPr lang="zh-CN" alt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8" name="TextBox 186"/>
          <p:cNvSpPr txBox="1"/>
          <p:nvPr/>
        </p:nvSpPr>
        <p:spPr>
          <a:xfrm>
            <a:off x="6809105" y="2012315"/>
            <a:ext cx="2891790" cy="27787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339725" marR="0" lvl="0" indent="-339725" defTabSz="90614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CA070"/>
              </a:buClr>
              <a:buSzPct val="80000"/>
              <a:buFont typeface="Wingdings" panose="05000000000000000000" pitchFamily="2" charset="2"/>
              <a:buChar char="n"/>
              <a:defRPr kumimoji="0" sz="2800" b="0" i="0" u="none" strike="noStrike" cap="none" spc="0" normalizeH="0" baseline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Helvetica Light" pitchFamily="50" charset="0"/>
              </a:defRPr>
            </a:lvl1pPr>
            <a:lvl2pPr marL="742950" indent="-285750">
              <a:defRPr sz="3000">
                <a:solidFill>
                  <a:srgbClr val="000000"/>
                </a:solidFill>
                <a:latin typeface="Helvetica Light" pitchFamily="50" charset="0"/>
                <a:ea typeface="Helvetica Light" pitchFamily="50" charset="0"/>
                <a:cs typeface="Helvetica Light" pitchFamily="50" charset="0"/>
              </a:defRPr>
            </a:lvl2pPr>
            <a:lvl3pPr marL="1143000" indent="-228600">
              <a:defRPr sz="3000">
                <a:solidFill>
                  <a:srgbClr val="000000"/>
                </a:solidFill>
                <a:latin typeface="Helvetica Light" pitchFamily="50" charset="0"/>
                <a:ea typeface="Helvetica Light" pitchFamily="50" charset="0"/>
                <a:cs typeface="Helvetica Light" pitchFamily="50" charset="0"/>
              </a:defRPr>
            </a:lvl3pPr>
            <a:lvl4pPr marL="1600200" indent="-228600">
              <a:defRPr sz="3000">
                <a:solidFill>
                  <a:srgbClr val="000000"/>
                </a:solidFill>
                <a:latin typeface="Helvetica Light" pitchFamily="50" charset="0"/>
                <a:ea typeface="Helvetica Light" pitchFamily="50" charset="0"/>
                <a:cs typeface="Helvetica Light" pitchFamily="50" charset="0"/>
              </a:defRPr>
            </a:lvl4pPr>
            <a:lvl5pPr marL="2057400" indent="-228600">
              <a:defRPr sz="3000">
                <a:solidFill>
                  <a:srgbClr val="000000"/>
                </a:solidFill>
                <a:latin typeface="Helvetica Light" pitchFamily="50" charset="0"/>
                <a:ea typeface="Helvetica Light" pitchFamily="50" charset="0"/>
                <a:cs typeface="Helvetica Light" pitchFamily="50" charset="0"/>
              </a:defRPr>
            </a:lvl5pPr>
            <a:lvl6pPr marL="2514600" indent="-228600" defTabSz="668655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00000"/>
                </a:solidFill>
                <a:latin typeface="Helvetica Light" pitchFamily="50" charset="0"/>
                <a:ea typeface="Helvetica Light" pitchFamily="50" charset="0"/>
                <a:cs typeface="Helvetica Light" pitchFamily="50" charset="0"/>
              </a:defRPr>
            </a:lvl6pPr>
            <a:lvl7pPr marL="2971800" indent="-228600" defTabSz="668655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00000"/>
                </a:solidFill>
                <a:latin typeface="Helvetica Light" pitchFamily="50" charset="0"/>
                <a:ea typeface="Helvetica Light" pitchFamily="50" charset="0"/>
                <a:cs typeface="Helvetica Light" pitchFamily="50" charset="0"/>
              </a:defRPr>
            </a:lvl7pPr>
            <a:lvl8pPr marL="3429000" indent="-228600" defTabSz="668655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00000"/>
                </a:solidFill>
                <a:latin typeface="Helvetica Light" pitchFamily="50" charset="0"/>
                <a:ea typeface="Helvetica Light" pitchFamily="50" charset="0"/>
                <a:cs typeface="Helvetica Light" pitchFamily="50" charset="0"/>
              </a:defRPr>
            </a:lvl8pPr>
            <a:lvl9pPr marL="3886200" indent="-228600" defTabSz="668655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00000"/>
                </a:solidFill>
                <a:latin typeface="Helvetica Light" pitchFamily="50" charset="0"/>
                <a:ea typeface="Helvetica Light" pitchFamily="50" charset="0"/>
                <a:cs typeface="Helvetica Light" pitchFamily="50" charset="0"/>
              </a:defRPr>
            </a:lvl9pPr>
          </a:lstStyle>
          <a:p>
            <a:pPr marL="457200" lvl="1" indent="0" fontAlgn="auto">
              <a:lnSpc>
                <a:spcPct val="180000"/>
              </a:lnSpc>
              <a:spcBef>
                <a:spcPts val="1200"/>
              </a:spcBef>
              <a:buFont typeface="Wingdings" panose="05000000000000000000" charset="0"/>
              <a:buNone/>
            </a:pPr>
            <a:endParaRPr lang="zh-CN" altLang="en-US" sz="1600" b="1" dirty="0">
              <a:solidFill>
                <a:schemeClr val="bg1">
                  <a:lumMod val="65000"/>
                </a:schemeClr>
              </a:solidFill>
            </a:endParaRPr>
          </a:p>
          <a:p>
            <a:pPr lvl="1" algn="l" fontAlgn="auto">
              <a:lnSpc>
                <a:spcPct val="170000"/>
              </a:lnSpc>
              <a:spcBef>
                <a:spcPts val="1200"/>
              </a:spcBef>
              <a:buClrTx/>
              <a:buSzTx/>
              <a:buFont typeface="Wingdings" panose="05000000000000000000" charset="0"/>
              <a:buChar char="p"/>
            </a:pPr>
            <a:r>
              <a:rPr lang="zh-CN" altLang="en-US" sz="1600" b="1" dirty="0">
                <a:solidFill>
                  <a:schemeClr val="bg1">
                    <a:lumMod val="65000"/>
                  </a:schemeClr>
                </a:solidFill>
              </a:rPr>
              <a:t>采购员发起退货申请               </a:t>
            </a:r>
            <a:endParaRPr lang="zh-CN" altLang="en-US" sz="1600" b="1" dirty="0">
              <a:solidFill>
                <a:schemeClr val="bg1">
                  <a:lumMod val="65000"/>
                </a:schemeClr>
              </a:solidFill>
            </a:endParaRPr>
          </a:p>
          <a:p>
            <a:pPr lvl="1" algn="l" fontAlgn="auto">
              <a:lnSpc>
                <a:spcPct val="170000"/>
              </a:lnSpc>
              <a:spcBef>
                <a:spcPts val="0"/>
              </a:spcBef>
              <a:buClrTx/>
              <a:buSzTx/>
              <a:buFont typeface="Wingdings" panose="05000000000000000000" charset="0"/>
              <a:buChar char="p"/>
            </a:pPr>
            <a:r>
              <a:rPr lang="zh-CN" altLang="en-US" sz="1600" b="1" dirty="0">
                <a:solidFill>
                  <a:schemeClr val="bg1">
                    <a:lumMod val="65000"/>
                  </a:schemeClr>
                </a:solidFill>
              </a:rPr>
              <a:t>采购经理审批</a:t>
            </a:r>
            <a:endParaRPr lang="zh-CN" altLang="en-US" sz="1600" b="1" dirty="0">
              <a:solidFill>
                <a:schemeClr val="bg1">
                  <a:lumMod val="65000"/>
                </a:schemeClr>
              </a:solidFill>
            </a:endParaRPr>
          </a:p>
          <a:p>
            <a:pPr lvl="1" algn="l">
              <a:lnSpc>
                <a:spcPct val="170000"/>
              </a:lnSpc>
              <a:spcBef>
                <a:spcPts val="0"/>
              </a:spcBef>
              <a:buClrTx/>
              <a:buSzTx/>
              <a:buFont typeface="Wingdings" panose="05000000000000000000" charset="0"/>
              <a:buChar char="p"/>
            </a:pPr>
            <a:r>
              <a:rPr lang="zh-CN" altLang="en-US" sz="1600" b="1" dirty="0">
                <a:solidFill>
                  <a:schemeClr val="bg1">
                    <a:lumMod val="65000"/>
                  </a:schemeClr>
                </a:solidFill>
              </a:rPr>
              <a:t>退货冲单</a:t>
            </a:r>
            <a:endParaRPr lang="zh-CN" altLang="en-US" sz="1600" b="1" dirty="0">
              <a:solidFill>
                <a:schemeClr val="bg1">
                  <a:lumMod val="65000"/>
                </a:schemeClr>
              </a:solidFill>
            </a:endParaRPr>
          </a:p>
          <a:p>
            <a:pPr lvl="1" algn="l">
              <a:lnSpc>
                <a:spcPct val="170000"/>
              </a:lnSpc>
              <a:spcBef>
                <a:spcPts val="0"/>
              </a:spcBef>
              <a:buClrTx/>
              <a:buSzTx/>
              <a:buFont typeface="Wingdings" panose="05000000000000000000" charset="0"/>
              <a:buChar char="p"/>
            </a:pPr>
            <a:r>
              <a:rPr lang="zh-CN" altLang="en-US" sz="1600" b="1" dirty="0">
                <a:solidFill>
                  <a:schemeClr val="bg1">
                    <a:lumMod val="65000"/>
                  </a:schemeClr>
                </a:solidFill>
              </a:rPr>
              <a:t>储运部发货</a:t>
            </a:r>
            <a:endParaRPr lang="zh-CN" altLang="en-US" sz="1600" b="1" dirty="0">
              <a:solidFill>
                <a:schemeClr val="bg1">
                  <a:lumMod val="65000"/>
                </a:schemeClr>
              </a:solidFill>
            </a:endParaRPr>
          </a:p>
          <a:p>
            <a:pPr lvl="1" algn="l">
              <a:lnSpc>
                <a:spcPct val="170000"/>
              </a:lnSpc>
              <a:spcBef>
                <a:spcPts val="0"/>
              </a:spcBef>
              <a:buClrTx/>
              <a:buSzTx/>
              <a:buFont typeface="Wingdings" panose="05000000000000000000" charset="0"/>
              <a:buChar char="p"/>
            </a:pPr>
            <a:r>
              <a:rPr lang="zh-CN" altLang="en-US" sz="1600" b="1" dirty="0">
                <a:solidFill>
                  <a:schemeClr val="tx1"/>
                </a:solidFill>
              </a:rPr>
              <a:t>供应商查看</a:t>
            </a:r>
            <a:endParaRPr lang="zh-CN" altLang="en-US" sz="16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接口计划</a:t>
            </a:r>
            <a:endParaRPr lang="zh-CN" altLang="en-US"/>
          </a:p>
        </p:txBody>
      </p:sp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1417955" y="1231900"/>
          <a:ext cx="9345295" cy="432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1405"/>
                <a:gridCol w="2811145"/>
                <a:gridCol w="2912745"/>
              </a:tblGrid>
              <a:tr h="50292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zh-CN" altLang="en-US"/>
                        <a:t>接口描述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zh-CN" altLang="en-US"/>
                        <a:t>接口方向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zh-CN" altLang="en-US"/>
                        <a:t>接口实效</a:t>
                      </a:r>
                      <a:endParaRPr lang="zh-CN" altLang="en-US"/>
                    </a:p>
                  </a:txBody>
                  <a:tcPr/>
                </a:tc>
              </a:tr>
              <a:tr h="992505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600" dirty="0"/>
                        <a:t>SRM同步</a:t>
                      </a:r>
                      <a:r>
                        <a:rPr lang="zh-CN" altLang="en-US" sz="1600" b="1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退货申请单</a:t>
                      </a:r>
                      <a:r>
                        <a:rPr lang="zh-CN" altLang="en-US" sz="1600" dirty="0"/>
                        <a:t>至ERP，ERP生成负数到货单，并通过现有到货单接口回传单号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600"/>
                        <a:t>SRM-ERP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600"/>
                        <a:t>中间表（</a:t>
                      </a:r>
                      <a:r>
                        <a:rPr lang="en-US" altLang="zh-CN" sz="1600"/>
                        <a:t>3</a:t>
                      </a:r>
                      <a:r>
                        <a:rPr lang="zh-CN" altLang="en-US" sz="1600"/>
                        <a:t>小时）</a:t>
                      </a:r>
                      <a:endParaRPr lang="zh-CN" altLang="en-US" sz="1600"/>
                    </a:p>
                  </a:txBody>
                  <a:tcPr/>
                </a:tc>
              </a:tr>
              <a:tr h="131826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600" dirty="0"/>
                        <a:t>ERP</a:t>
                      </a:r>
                      <a:r>
                        <a:rPr lang="zh-CN" altLang="en-US" sz="1600" dirty="0"/>
                        <a:t>同步</a:t>
                      </a:r>
                      <a:r>
                        <a:rPr lang="zh-CN" altLang="en-US" sz="1600" b="1" dirty="0">
                          <a:solidFill>
                            <a:srgbClr val="C00000"/>
                          </a:solidFill>
                        </a:rPr>
                        <a:t>走货单</a:t>
                      </a:r>
                      <a:r>
                        <a:rPr lang="zh-CN" altLang="en-US" sz="1600" dirty="0"/>
                        <a:t>单号、关联进仓单、走货单确认时间等信息至</a:t>
                      </a:r>
                      <a:r>
                        <a:rPr lang="en-US" altLang="zh-CN" sz="1600" dirty="0"/>
                        <a:t>SRM</a:t>
                      </a:r>
                      <a:r>
                        <a:rPr lang="zh-CN" altLang="en-US" sz="1600" dirty="0"/>
                        <a:t>，</a:t>
                      </a:r>
                      <a:r>
                        <a:rPr lang="en-US" altLang="zh-CN" sz="1600" dirty="0"/>
                        <a:t>SRM</a:t>
                      </a:r>
                      <a:r>
                        <a:rPr lang="zh-CN" altLang="en-US" sz="1600" dirty="0"/>
                        <a:t>进行关联至退货申请单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600"/>
                        <a:t>ERP</a:t>
                      </a:r>
                      <a:r>
                        <a:rPr lang="zh-CN" altLang="en-US" sz="1600"/>
                        <a:t>-SRM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600" dirty="0"/>
                        <a:t>中间表（</a:t>
                      </a:r>
                      <a:r>
                        <a:rPr lang="en-US" altLang="zh-CN" sz="1600" dirty="0"/>
                        <a:t>3</a:t>
                      </a:r>
                      <a:r>
                        <a:rPr lang="zh-CN" altLang="en-US" sz="1600" dirty="0"/>
                        <a:t>小时）</a:t>
                      </a:r>
                      <a:endParaRPr lang="zh-CN" altLang="en-US" sz="1600" dirty="0"/>
                    </a:p>
                  </a:txBody>
                  <a:tcPr/>
                </a:tc>
              </a:tr>
              <a:tr h="1318260">
                <a:tc>
                  <a:txBody>
                    <a:bodyPr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600" dirty="0"/>
                        <a:t>SRM</a:t>
                      </a:r>
                      <a:r>
                        <a:rPr lang="zh-CN" altLang="en-US" sz="1600" dirty="0"/>
                        <a:t>传递退货物料及物流信息至</a:t>
                      </a:r>
                      <a:r>
                        <a:rPr lang="en-US" altLang="zh-CN" sz="1600" dirty="0"/>
                        <a:t>ERP</a:t>
                      </a:r>
                      <a:r>
                        <a:rPr lang="zh-CN" altLang="en-US" sz="1600" dirty="0"/>
                        <a:t>，</a:t>
                      </a:r>
                      <a:r>
                        <a:rPr lang="en-US" altLang="zh-CN" sz="1600" dirty="0"/>
                        <a:t>ERP</a:t>
                      </a:r>
                      <a:r>
                        <a:rPr lang="zh-CN" altLang="en-US" sz="1600" dirty="0"/>
                        <a:t>生成出场条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600"/>
                        <a:t>SRM-ERP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600" dirty="0"/>
                        <a:t>中间表（</a:t>
                      </a:r>
                      <a:r>
                        <a:rPr lang="en-US" altLang="zh-CN" sz="1600" dirty="0"/>
                        <a:t>3</a:t>
                      </a:r>
                      <a:r>
                        <a:rPr lang="zh-CN" altLang="en-US" sz="1600" dirty="0"/>
                        <a:t>小时）</a:t>
                      </a:r>
                      <a:endParaRPr lang="zh-CN" altLang="en-US" sz="16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结束</a:t>
            </a:r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3810000" y="2828926"/>
            <a:ext cx="4572000" cy="1106805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 eaLnBrk="1" hangingPunct="1">
              <a:buFont typeface="Arial" panose="020B0604020202020204" pitchFamily="34" charset="0"/>
              <a:buNone/>
              <a:defRPr/>
            </a:pPr>
            <a:r>
              <a:rPr lang="en-US" altLang="zh-CN" sz="6600" dirty="0">
                <a:latin typeface="+mj-ea"/>
                <a:ea typeface="+mj-ea"/>
              </a:rPr>
              <a:t>Thank You!</a:t>
            </a:r>
            <a:endParaRPr lang="en-US" altLang="zh-CN" sz="6600" dirty="0">
              <a:latin typeface="+mj-ea"/>
              <a:ea typeface="+mj-ea"/>
            </a:endParaRPr>
          </a:p>
        </p:txBody>
      </p:sp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KSO_WM_TEMPLATE_CATEGORY" val="diagram"/>
  <p:tag name="KSO_WM_TEMPLATE_INDEX" val="20170847"/>
  <p:tag name="KSO_WM_TAG_VERSION" val="1.0"/>
  <p:tag name="KSO_WM_BEAUTIFY_FLAG" val="#wm#"/>
  <p:tag name="KSO_WM_UNIT_TYPE" val="l_h_f"/>
  <p:tag name="KSO_WM_UNIT_INDEX" val="1_2_1"/>
  <p:tag name="KSO_WM_UNIT_LAYERLEVEL" val="1_1_1"/>
  <p:tag name="KSO_WM_UNIT_VALUE" val="85"/>
  <p:tag name="KSO_WM_UNIT_HIGHLIGHT" val="0"/>
  <p:tag name="KSO_WM_UNIT_COMPATIBLE" val="0"/>
  <p:tag name="KSO_WM_DIAGRAM_GROUP_CODE" val="l1-1"/>
  <p:tag name="KSO_WM_UNIT_ID" val="diagram20170847_2*l_h_f*1_2_1"/>
  <p:tag name="KSO_WM_UNIT_NOCLEAR" val="0"/>
  <p:tag name="KSO_WM_UNIT_DIAGRAM_ISNUMVISUAL" val="0"/>
  <p:tag name="KSO_WM_UNIT_DIAGRAM_ISREFERUNIT" val="0"/>
  <p:tag name="KSO_WM_UNIT_PRESET_TEXT" val="单击此处添加文本具体内容，简明扼要的阐述您的观点。根据需要可酌情增减文字，以便观者准确的理解您传达的思想。"/>
  <p:tag name="KSO_WM_UNIT_TEXT_FILL_FORE_SCHEMECOLOR_INDEX" val="13"/>
  <p:tag name="KSO_WM_UNIT_TEXT_FILL_TYPE" val="1"/>
</p:tagLst>
</file>

<file path=ppt/tags/tag2.xml><?xml version="1.0" encoding="utf-8"?>
<p:tagLst xmlns:p="http://schemas.openxmlformats.org/presentationml/2006/main">
  <p:tag name="KSO_WM_TEMPLATE_CATEGORY" val="diagram"/>
  <p:tag name="KSO_WM_TEMPLATE_INDEX" val="20170847"/>
  <p:tag name="KSO_WM_TAG_VERSION" val="1.0"/>
  <p:tag name="KSO_WM_BEAUTIFY_FLAG" val="#wm#"/>
  <p:tag name="KSO_WM_UNIT_TYPE" val="l_h_i"/>
  <p:tag name="KSO_WM_UNIT_INDEX" val="1_1_1"/>
  <p:tag name="KSO_WM_UNIT_ID" val="diagram20170847_2*l_h_i*1_1_1"/>
  <p:tag name="KSO_WM_UNIT_LAYERLEVEL" val="1_1_1"/>
  <p:tag name="KSO_WM_DIAGRAM_GROUP_CODE" val="l1-1"/>
  <p:tag name="KSO_WM_UNIT_HIGHLIGHT" val="0"/>
  <p:tag name="KSO_WM_UNIT_COMPATIBLE" val="0"/>
  <p:tag name="KSO_WM_UNIT_DIAGRAM_ISNUMVISUAL" val="0"/>
  <p:tag name="KSO_WM_UNIT_DIAGRAM_ISREFERUNIT" val="0"/>
  <p:tag name="KSO_WM_UNIT_FILL_FORE_SCHEMECOLOR_INDEX" val="14"/>
  <p:tag name="KSO_WM_UNIT_FILL_TYPE" val="1"/>
  <p:tag name="KSO_WM_UNIT_TEXT_FILL_FORE_SCHEMECOLOR_INDEX" val="13"/>
  <p:tag name="KSO_WM_UNIT_TEXT_FILL_TYPE" val="1"/>
</p:tagLst>
</file>

<file path=ppt/tags/tag3.xml><?xml version="1.0" encoding="utf-8"?>
<p:tagLst xmlns:p="http://schemas.openxmlformats.org/presentationml/2006/main">
  <p:tag name="KSO_WM_TEMPLATE_CATEGORY" val="diagram"/>
  <p:tag name="KSO_WM_TEMPLATE_INDEX" val="20170847"/>
  <p:tag name="KSO_WM_TAG_VERSION" val="1.0"/>
  <p:tag name="KSO_WM_BEAUTIFY_FLAG" val="#wm#"/>
  <p:tag name="KSO_WM_UNIT_TYPE" val="l_h_a"/>
  <p:tag name="KSO_WM_UNIT_INDEX" val="1_1_1"/>
  <p:tag name="KSO_WM_UNIT_LAYERLEVEL" val="1_1_1"/>
  <p:tag name="KSO_WM_UNIT_VALUE" val="34"/>
  <p:tag name="KSO_WM_UNIT_HIGHLIGHT" val="0"/>
  <p:tag name="KSO_WM_UNIT_COMPATIBLE" val="0"/>
  <p:tag name="KSO_WM_DIAGRAM_GROUP_CODE" val="l1-1"/>
  <p:tag name="KSO_WM_UNIT_ID" val="diagram20170847_2*l_h_a*1_1_1"/>
  <p:tag name="KSO_WM_UNIT_ISCONTENTSTITLE" val="0"/>
  <p:tag name="KSO_WM_UNIT_NOCLEAR" val="0"/>
  <p:tag name="KSO_WM_UNIT_DIAGRAM_ISNUMVISUAL" val="0"/>
  <p:tag name="KSO_WM_UNIT_DIAGRAM_ISREFERUNIT" val="0"/>
  <p:tag name="KSO_WM_UNIT_PRESET_TEXT" val="单击此处添加标题"/>
  <p:tag name="KSO_WM_UNIT_TEXT_FILL_FORE_SCHEMECOLOR_INDEX" val="13"/>
  <p:tag name="KSO_WM_UNIT_TEXT_FILL_TYPE" val="1"/>
</p:tagLst>
</file>

<file path=ppt/tags/tag4.xml><?xml version="1.0" encoding="utf-8"?>
<p:tagLst xmlns:p="http://schemas.openxmlformats.org/presentationml/2006/main">
  <p:tag name="KSO_WM_TEMPLATE_CATEGORY" val="diagram"/>
  <p:tag name="KSO_WM_TEMPLATE_INDEX" val="20170847"/>
  <p:tag name="KSO_WM_TAG_VERSION" val="1.0"/>
  <p:tag name="KSO_WM_BEAUTIFY_FLAG" val="#wm#"/>
  <p:tag name="KSO_WM_UNIT_TYPE" val="l_h_f"/>
  <p:tag name="KSO_WM_UNIT_INDEX" val="1_1_1"/>
  <p:tag name="KSO_WM_UNIT_LAYERLEVEL" val="1_1_1"/>
  <p:tag name="KSO_WM_UNIT_VALUE" val="85"/>
  <p:tag name="KSO_WM_UNIT_HIGHLIGHT" val="0"/>
  <p:tag name="KSO_WM_UNIT_COMPATIBLE" val="0"/>
  <p:tag name="KSO_WM_DIAGRAM_GROUP_CODE" val="l1-1"/>
  <p:tag name="KSO_WM_UNIT_ID" val="diagram20170847_2*l_h_f*1_1_1"/>
  <p:tag name="KSO_WM_UNIT_NOCLEAR" val="0"/>
  <p:tag name="KSO_WM_UNIT_DIAGRAM_ISNUMVISUAL" val="0"/>
  <p:tag name="KSO_WM_UNIT_DIAGRAM_ISREFERUNIT" val="0"/>
  <p:tag name="KSO_WM_UNIT_PRESET_TEXT" val="单击此处添加文本具体内容，简明扼要的阐述您的观点。根据需要可酌情增减文字，以便观者准确的理解您传达的思想。"/>
  <p:tag name="KSO_WM_UNIT_TEXT_FILL_FORE_SCHEMECOLOR_INDEX" val="13"/>
  <p:tag name="KSO_WM_UNIT_TEXT_FILL_TYPE" val="1"/>
</p:tagLst>
</file>

<file path=ppt/tags/tag5.xml><?xml version="1.0" encoding="utf-8"?>
<p:tagLst xmlns:p="http://schemas.openxmlformats.org/presentationml/2006/main">
  <p:tag name="KSO_WM_TEMPLATE_CATEGORY" val="diagram"/>
  <p:tag name="KSO_WM_TEMPLATE_INDEX" val="20170847"/>
  <p:tag name="KSO_WM_TAG_VERSION" val="1.0"/>
  <p:tag name="KSO_WM_BEAUTIFY_FLAG" val="#wm#"/>
  <p:tag name="KSO_WM_UNIT_TYPE" val="l_h_i"/>
  <p:tag name="KSO_WM_UNIT_INDEX" val="1_1_2"/>
  <p:tag name="KSO_WM_UNIT_ID" val="diagram20170847_2*l_h_i*1_1_2"/>
  <p:tag name="KSO_WM_UNIT_LAYERLEVEL" val="1_1_1"/>
  <p:tag name="KSO_WM_DIAGRAM_GROUP_CODE" val="l1-1"/>
  <p:tag name="KSO_WM_UNIT_HIGHLIGHT" val="0"/>
  <p:tag name="KSO_WM_UNIT_COMPATIBLE" val="0"/>
  <p:tag name="KSO_WM_UNIT_DIAGRAM_ISNUMVISUAL" val="0"/>
  <p:tag name="KSO_WM_UNIT_DIAGRAM_ISREFERUNIT" val="0"/>
  <p:tag name="KSO_WM_UNIT_FILL_FORE_SCHEMECOLOR_INDEX" val="5"/>
  <p:tag name="KSO_WM_UNIT_FILL_TYPE" val="1"/>
  <p:tag name="KSO_WM_UNIT_TEXT_FILL_FORE_SCHEMECOLOR_INDEX" val="14"/>
  <p:tag name="KSO_WM_UNIT_TEXT_FILL_TYPE" val="1"/>
</p:tagLst>
</file>

<file path=ppt/tags/tag6.xml><?xml version="1.0" encoding="utf-8"?>
<p:tagLst xmlns:p="http://schemas.openxmlformats.org/presentationml/2006/main">
  <p:tag name="KSO_WM_TEMPLATE_CATEGORY" val="diagram"/>
  <p:tag name="KSO_WM_TEMPLATE_INDEX" val="20170847"/>
  <p:tag name="KSO_WM_TAG_VERSION" val="1.0"/>
  <p:tag name="KSO_WM_BEAUTIFY_FLAG" val="#wm#"/>
  <p:tag name="KSO_WM_UNIT_TYPE" val="l_h_i"/>
  <p:tag name="KSO_WM_UNIT_INDEX" val="1_2_3"/>
  <p:tag name="KSO_WM_UNIT_ID" val="diagram20170847_2*l_h_i*1_2_3"/>
  <p:tag name="KSO_WM_UNIT_LAYERLEVEL" val="1_1_1"/>
  <p:tag name="KSO_WM_DIAGRAM_GROUP_CODE" val="l1-1"/>
  <p:tag name="KSO_WM_UNIT_HIGHLIGHT" val="0"/>
  <p:tag name="KSO_WM_UNIT_COMPATIBLE" val="0"/>
  <p:tag name="KSO_WM_UNIT_DIAGRAM_ISNUMVISUAL" val="0"/>
  <p:tag name="KSO_WM_UNIT_DIAGRAM_ISREFERUNIT" val="0"/>
  <p:tag name="KSO_WM_UNIT_FILL_FORE_SCHEMECOLOR_INDEX" val="14"/>
  <p:tag name="KSO_WM_UNIT_FILL_TYPE" val="1"/>
  <p:tag name="KSO_WM_UNIT_TEXT_FILL_FORE_SCHEMECOLOR_INDEX" val="13"/>
  <p:tag name="KSO_WM_UNIT_TEXT_FILL_TYPE" val="1"/>
</p:tagLst>
</file>

<file path=ppt/tags/tag7.xml><?xml version="1.0" encoding="utf-8"?>
<p:tagLst xmlns:p="http://schemas.openxmlformats.org/presentationml/2006/main">
  <p:tag name="KSO_WM_TEMPLATE_CATEGORY" val="diagram"/>
  <p:tag name="KSO_WM_TEMPLATE_INDEX" val="20170847"/>
  <p:tag name="KSO_WM_TAG_VERSION" val="1.0"/>
  <p:tag name="KSO_WM_BEAUTIFY_FLAG" val="#wm#"/>
  <p:tag name="KSO_WM_UNIT_TYPE" val="l_h_a"/>
  <p:tag name="KSO_WM_UNIT_INDEX" val="1_2_1"/>
  <p:tag name="KSO_WM_UNIT_LAYERLEVEL" val="1_1_1"/>
  <p:tag name="KSO_WM_UNIT_VALUE" val="34"/>
  <p:tag name="KSO_WM_UNIT_HIGHLIGHT" val="0"/>
  <p:tag name="KSO_WM_UNIT_COMPATIBLE" val="0"/>
  <p:tag name="KSO_WM_DIAGRAM_GROUP_CODE" val="l1-1"/>
  <p:tag name="KSO_WM_UNIT_ID" val="diagram20170847_2*l_h_a*1_2_1"/>
  <p:tag name="KSO_WM_UNIT_ISCONTENTSTITLE" val="0"/>
  <p:tag name="KSO_WM_UNIT_NOCLEAR" val="0"/>
  <p:tag name="KSO_WM_UNIT_DIAGRAM_ISNUMVISUAL" val="0"/>
  <p:tag name="KSO_WM_UNIT_DIAGRAM_ISREFERUNIT" val="0"/>
  <p:tag name="KSO_WM_UNIT_PRESET_TEXT" val="单击此处添加标题"/>
  <p:tag name="KSO_WM_UNIT_TEXT_FILL_FORE_SCHEMECOLOR_INDEX" val="13"/>
  <p:tag name="KSO_WM_UNIT_TEXT_FILL_TYPE" val="1"/>
</p:tagLst>
</file>

<file path=ppt/tags/tag8.xml><?xml version="1.0" encoding="utf-8"?>
<p:tagLst xmlns:p="http://schemas.openxmlformats.org/presentationml/2006/main">
  <p:tag name="KSO_WM_TEMPLATE_CATEGORY" val="diagram"/>
  <p:tag name="KSO_WM_TEMPLATE_INDEX" val="20170847"/>
  <p:tag name="KSO_WM_TAG_VERSION" val="1.0"/>
  <p:tag name="KSO_WM_BEAUTIFY_FLAG" val="#wm#"/>
  <p:tag name="KSO_WM_UNIT_TYPE" val="l_h_f"/>
  <p:tag name="KSO_WM_UNIT_INDEX" val="1_2_1"/>
  <p:tag name="KSO_WM_UNIT_LAYERLEVEL" val="1_1_1"/>
  <p:tag name="KSO_WM_UNIT_VALUE" val="85"/>
  <p:tag name="KSO_WM_UNIT_HIGHLIGHT" val="0"/>
  <p:tag name="KSO_WM_UNIT_COMPATIBLE" val="0"/>
  <p:tag name="KSO_WM_DIAGRAM_GROUP_CODE" val="l1-1"/>
  <p:tag name="KSO_WM_UNIT_ID" val="diagram20170847_2*l_h_f*1_2_1"/>
  <p:tag name="KSO_WM_UNIT_NOCLEAR" val="0"/>
  <p:tag name="KSO_WM_UNIT_DIAGRAM_ISNUMVISUAL" val="0"/>
  <p:tag name="KSO_WM_UNIT_DIAGRAM_ISREFERUNIT" val="0"/>
  <p:tag name="KSO_WM_UNIT_PRESET_TEXT" val="单击此处添加文本具体内容，简明扼要的阐述您的观点。根据需要可酌情增减文字，以便观者准确的理解您传达的思想。"/>
  <p:tag name="KSO_WM_UNIT_TEXT_FILL_FORE_SCHEMECOLOR_INDEX" val="13"/>
  <p:tag name="KSO_WM_UNIT_TEXT_FILL_TYPE" val="1"/>
</p:tagLst>
</file>

<file path=ppt/tags/tag9.xml><?xml version="1.0" encoding="utf-8"?>
<p:tagLst xmlns:p="http://schemas.openxmlformats.org/presentationml/2006/main">
  <p:tag name="KSO_WM_TEMPLATE_CATEGORY" val="diagram"/>
  <p:tag name="KSO_WM_TEMPLATE_INDEX" val="20170847"/>
  <p:tag name="KSO_WM_TAG_VERSION" val="1.0"/>
  <p:tag name="KSO_WM_BEAUTIFY_FLAG" val="#wm#"/>
  <p:tag name="KSO_WM_UNIT_TYPE" val="l_h_i"/>
  <p:tag name="KSO_WM_UNIT_INDEX" val="1_2_1"/>
  <p:tag name="KSO_WM_UNIT_ID" val="diagram20170847_2*l_h_i*1_2_1"/>
  <p:tag name="KSO_WM_UNIT_LAYERLEVEL" val="1_1_1"/>
  <p:tag name="KSO_WM_DIAGRAM_GROUP_CODE" val="l1-1"/>
  <p:tag name="KSO_WM_UNIT_HIGHLIGHT" val="0"/>
  <p:tag name="KSO_WM_UNIT_COMPATIBLE" val="0"/>
  <p:tag name="KSO_WM_UNIT_DIAGRAM_ISNUMVISUAL" val="0"/>
  <p:tag name="KSO_WM_UNIT_DIAGRAM_ISREFERUNIT" val="0"/>
  <p:tag name="KSO_WM_UNIT_FILL_FORE_SCHEMECOLOR_INDEX" val="6"/>
  <p:tag name="KSO_WM_UNIT_FILL_TYPE" val="1"/>
  <p:tag name="KSO_WM_UNIT_TEXT_FILL_FORE_SCHEMECOLOR_INDEX" val="14"/>
  <p:tag name="KSO_WM_UNIT_TEXT_FILL_TYPE" val="1"/>
</p:tagLst>
</file>

<file path=ppt/tags/tag10.xml><?xml version="1.0" encoding="utf-8"?>
<p:tagLst xmlns:p="http://schemas.openxmlformats.org/presentationml/2006/main">
  <p:tag name="KSO_WM_TEMPLATE_CATEGORY" val="diagram"/>
  <p:tag name="KSO_WM_TEMPLATE_INDEX" val="20170847"/>
  <p:tag name="KSO_WM_TAG_VERSION" val="1.0"/>
  <p:tag name="KSO_WM_BEAUTIFY_FLAG" val="#wm#"/>
  <p:tag name="KSO_WM_UNIT_TYPE" val="l_h_x"/>
  <p:tag name="KSO_WM_UNIT_INDEX" val="1_2_1"/>
  <p:tag name="KSO_WM_UNIT_ID" val="diagram20170847_2*l_h_x*1_2_1"/>
  <p:tag name="KSO_WM_UNIT_LAYERLEVEL" val="1_1_1"/>
  <p:tag name="KSO_WM_DIAGRAM_GROUP_CODE" val="l1-1"/>
  <p:tag name="KSO_WM_UNIT_HIGHLIGHT" val="0"/>
  <p:tag name="KSO_WM_UNIT_COMPATIBLE" val="0"/>
  <p:tag name="KSO_WM_UNIT_DIAGRAM_ISNUMVISUAL" val="0"/>
  <p:tag name="KSO_WM_UNIT_DIAGRAM_ISREFERUNIT" val="0"/>
  <p:tag name="KSO_WM_UNIT_VALUE" val="96*93"/>
  <p:tag name="KSO_WM_UNIT_FILL_FORE_SCHEMECOLOR_INDEX" val="14"/>
  <p:tag name="KSO_WM_UNIT_FILL_TYPE" val="1"/>
  <p:tag name="KSO_WM_UNIT_TEXT_FILL_FORE_SCHEMECOLOR_INDEX" val="14"/>
  <p:tag name="KSO_WM_UNIT_TEXT_FILL_TYPE" val="1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170847_2*l_h_x*1_1_1"/>
  <p:tag name="KSO_WM_TEMPLATE_CATEGORY" val="diagram"/>
  <p:tag name="KSO_WM_TEMPLATE_INDEX" val="20170847"/>
  <p:tag name="KSO_WM_UNIT_LAYERLEVEL" val="1_1_1"/>
  <p:tag name="KSO_WM_TAG_VERSION" val="1.0"/>
  <p:tag name="KSO_WM_BEAUTIFY_FLAG" val="#wm#"/>
  <p:tag name="KSO_WM_UNIT_VALUE" val="100*127"/>
  <p:tag name="KSO_WM_UNIT_TYPE" val="l_h_x"/>
  <p:tag name="KSO_WM_UNIT_INDEX" val="1_1_1"/>
</p:tagLst>
</file>

<file path=ppt/tags/tag12.xml><?xml version="1.0" encoding="utf-8"?>
<p:tagLst xmlns:p="http://schemas.openxmlformats.org/presentationml/2006/main">
  <p:tag name="KSO_WM_UNIT_TABLE_BEAUTIFY" val="smartTable{0b4a3009-f526-4bb3-b876-e6a31e433204}"/>
</p:tagLst>
</file>

<file path=ppt/tags/tag13.xml><?xml version="1.0" encoding="utf-8"?>
<p:tagLst xmlns:p="http://schemas.openxmlformats.org/presentationml/2006/main">
  <p:tag name="KSO_WM_TEMPLATE_CATEGORY" val="diagram"/>
  <p:tag name="KSO_WM_TEMPLATE_INDEX" val="20170847"/>
  <p:tag name="KSO_WM_TAG_VERSION" val="1.0"/>
  <p:tag name="KSO_WM_BEAUTIFY_FLAG" val="#wm#"/>
  <p:tag name="KSO_WM_UNIT_TYPE" val="l_h_f"/>
  <p:tag name="KSO_WM_UNIT_INDEX" val="1_2_1"/>
  <p:tag name="KSO_WM_UNIT_LAYERLEVEL" val="1_1_1"/>
  <p:tag name="KSO_WM_UNIT_VALUE" val="85"/>
  <p:tag name="KSO_WM_UNIT_HIGHLIGHT" val="0"/>
  <p:tag name="KSO_WM_UNIT_COMPATIBLE" val="0"/>
  <p:tag name="KSO_WM_DIAGRAM_GROUP_CODE" val="l1-1"/>
  <p:tag name="KSO_WM_UNIT_ID" val="diagram20170847_2*l_h_f*1_2_1"/>
  <p:tag name="KSO_WM_UNIT_NOCLEAR" val="0"/>
  <p:tag name="KSO_WM_UNIT_DIAGRAM_ISNUMVISUAL" val="0"/>
  <p:tag name="KSO_WM_UNIT_DIAGRAM_ISREFERUNIT" val="0"/>
  <p:tag name="KSO_WM_UNIT_PRESET_TEXT" val="单击此处添加文本具体内容，简明扼要的阐述您的观点。根据需要可酌情增减文字，以便观者准确的理解您传达的思想。"/>
  <p:tag name="KSO_WM_UNIT_TEXT_FILL_FORE_SCHEMECOLOR_INDEX" val="13"/>
  <p:tag name="KSO_WM_UNIT_TEXT_FILL_TYPE" val="1"/>
</p:tagLst>
</file>

<file path=ppt/tags/tag14.xml><?xml version="1.0" encoding="utf-8"?>
<p:tagLst xmlns:p="http://schemas.openxmlformats.org/presentationml/2006/main">
  <p:tag name="KSO_WM_TEMPLATE_CATEGORY" val="diagram"/>
  <p:tag name="KSO_WM_TEMPLATE_INDEX" val="20170847"/>
  <p:tag name="KSO_WM_TAG_VERSION" val="1.0"/>
  <p:tag name="KSO_WM_BEAUTIFY_FLAG" val="#wm#"/>
  <p:tag name="KSO_WM_UNIT_TYPE" val="l_h_f"/>
  <p:tag name="KSO_WM_UNIT_INDEX" val="1_2_1"/>
  <p:tag name="KSO_WM_UNIT_LAYERLEVEL" val="1_1_1"/>
  <p:tag name="KSO_WM_UNIT_VALUE" val="85"/>
  <p:tag name="KSO_WM_UNIT_HIGHLIGHT" val="0"/>
  <p:tag name="KSO_WM_UNIT_COMPATIBLE" val="0"/>
  <p:tag name="KSO_WM_DIAGRAM_GROUP_CODE" val="l1-1"/>
  <p:tag name="KSO_WM_UNIT_ID" val="diagram20170847_2*l_h_f*1_2_1"/>
  <p:tag name="KSO_WM_UNIT_NOCLEAR" val="0"/>
  <p:tag name="KSO_WM_UNIT_DIAGRAM_ISNUMVISUAL" val="0"/>
  <p:tag name="KSO_WM_UNIT_DIAGRAM_ISREFERUNIT" val="0"/>
  <p:tag name="KSO_WM_UNIT_PRESET_TEXT" val="单击此处添加文本具体内容，简明扼要的阐述您的观点。根据需要可酌情增减文字，以便观者准确的理解您传达的思想。"/>
  <p:tag name="KSO_WM_UNIT_TEXT_FILL_FORE_SCHEMECOLOR_INDEX" val="13"/>
  <p:tag name="KSO_WM_UNIT_TEXT_FILL_TYPE" val="1"/>
</p:tagLst>
</file>

<file path=ppt/tags/tag15.xml><?xml version="1.0" encoding="utf-8"?>
<p:tagLst xmlns:p="http://schemas.openxmlformats.org/presentationml/2006/main">
  <p:tag name="KSO_WM_TEMPLATE_CATEGORY" val="diagram"/>
  <p:tag name="KSO_WM_TEMPLATE_INDEX" val="20170847"/>
  <p:tag name="KSO_WM_TAG_VERSION" val="1.0"/>
  <p:tag name="KSO_WM_BEAUTIFY_FLAG" val="#wm#"/>
  <p:tag name="KSO_WM_UNIT_TYPE" val="l_h_f"/>
  <p:tag name="KSO_WM_UNIT_INDEX" val="1_2_1"/>
  <p:tag name="KSO_WM_UNIT_LAYERLEVEL" val="1_1_1"/>
  <p:tag name="KSO_WM_UNIT_VALUE" val="85"/>
  <p:tag name="KSO_WM_UNIT_HIGHLIGHT" val="0"/>
  <p:tag name="KSO_WM_UNIT_COMPATIBLE" val="0"/>
  <p:tag name="KSO_WM_DIAGRAM_GROUP_CODE" val="l1-1"/>
  <p:tag name="KSO_WM_UNIT_ID" val="diagram20170847_2*l_h_f*1_2_1"/>
  <p:tag name="KSO_WM_UNIT_NOCLEAR" val="0"/>
  <p:tag name="KSO_WM_UNIT_DIAGRAM_ISNUMVISUAL" val="0"/>
  <p:tag name="KSO_WM_UNIT_DIAGRAM_ISREFERUNIT" val="0"/>
  <p:tag name="KSO_WM_UNIT_PRESET_TEXT" val="单击此处添加文本具体内容，简明扼要的阐述您的观点。根据需要可酌情增减文字，以便观者准确的理解您传达的思想。"/>
  <p:tag name="KSO_WM_UNIT_TEXT_FILL_FORE_SCHEMECOLOR_INDEX" val="13"/>
  <p:tag name="KSO_WM_UNIT_TEXT_FILL_TYPE" val="1"/>
</p:tagLst>
</file>

<file path=ppt/tags/tag16.xml><?xml version="1.0" encoding="utf-8"?>
<p:tagLst xmlns:p="http://schemas.openxmlformats.org/presentationml/2006/main">
  <p:tag name="KSO_WM_TEMPLATE_CATEGORY" val="diagram"/>
  <p:tag name="KSO_WM_TEMPLATE_INDEX" val="20170847"/>
  <p:tag name="KSO_WM_TAG_VERSION" val="1.0"/>
  <p:tag name="KSO_WM_BEAUTIFY_FLAG" val="#wm#"/>
  <p:tag name="KSO_WM_UNIT_TYPE" val="l_h_f"/>
  <p:tag name="KSO_WM_UNIT_INDEX" val="1_2_1"/>
  <p:tag name="KSO_WM_UNIT_LAYERLEVEL" val="1_1_1"/>
  <p:tag name="KSO_WM_UNIT_VALUE" val="85"/>
  <p:tag name="KSO_WM_UNIT_HIGHLIGHT" val="0"/>
  <p:tag name="KSO_WM_UNIT_COMPATIBLE" val="0"/>
  <p:tag name="KSO_WM_DIAGRAM_GROUP_CODE" val="l1-1"/>
  <p:tag name="KSO_WM_UNIT_ID" val="diagram20170847_2*l_h_f*1_2_1"/>
  <p:tag name="KSO_WM_UNIT_NOCLEAR" val="0"/>
  <p:tag name="KSO_WM_UNIT_DIAGRAM_ISNUMVISUAL" val="0"/>
  <p:tag name="KSO_WM_UNIT_DIAGRAM_ISREFERUNIT" val="0"/>
  <p:tag name="KSO_WM_UNIT_PRESET_TEXT" val="单击此处添加文本具体内容，简明扼要的阐述您的观点。根据需要可酌情增减文字，以便观者准确的理解您传达的思想。"/>
  <p:tag name="KSO_WM_UNIT_TEXT_FILL_FORE_SCHEMECOLOR_INDEX" val="13"/>
  <p:tag name="KSO_WM_UNIT_TEXT_FILL_TYPE" val="1"/>
</p:tagLst>
</file>

<file path=ppt/tags/tag17.xml><?xml version="1.0" encoding="utf-8"?>
<p:tagLst xmlns:p="http://schemas.openxmlformats.org/presentationml/2006/main">
  <p:tag name="KSO_WM_TEMPLATE_CATEGORY" val="diagram"/>
  <p:tag name="KSO_WM_TEMPLATE_INDEX" val="20170847"/>
  <p:tag name="KSO_WM_TAG_VERSION" val="1.0"/>
  <p:tag name="KSO_WM_BEAUTIFY_FLAG" val="#wm#"/>
  <p:tag name="KSO_WM_UNIT_TYPE" val="l_h_f"/>
  <p:tag name="KSO_WM_UNIT_INDEX" val="1_2_1"/>
  <p:tag name="KSO_WM_UNIT_LAYERLEVEL" val="1_1_1"/>
  <p:tag name="KSO_WM_UNIT_VALUE" val="85"/>
  <p:tag name="KSO_WM_UNIT_HIGHLIGHT" val="0"/>
  <p:tag name="KSO_WM_UNIT_COMPATIBLE" val="0"/>
  <p:tag name="KSO_WM_DIAGRAM_GROUP_CODE" val="l1-1"/>
  <p:tag name="KSO_WM_UNIT_ID" val="diagram20170847_2*l_h_f*1_2_1"/>
  <p:tag name="KSO_WM_UNIT_NOCLEAR" val="0"/>
  <p:tag name="KSO_WM_UNIT_DIAGRAM_ISNUMVISUAL" val="0"/>
  <p:tag name="KSO_WM_UNIT_DIAGRAM_ISREFERUNIT" val="0"/>
  <p:tag name="KSO_WM_UNIT_PRESET_TEXT" val="单击此处添加文本具体内容，简明扼要的阐述您的观点。根据需要可酌情增减文字，以便观者准确的理解您传达的思想。"/>
  <p:tag name="KSO_WM_UNIT_TEXT_FILL_FORE_SCHEMECOLOR_INDEX" val="13"/>
  <p:tag name="KSO_WM_UNIT_TEXT_FILL_TYPE" val="1"/>
</p:tagLst>
</file>

<file path=ppt/tags/tag18.xml><?xml version="1.0" encoding="utf-8"?>
<p:tagLst xmlns:p="http://schemas.openxmlformats.org/presentationml/2006/main">
  <p:tag name="KSO_WM_TEMPLATE_CATEGORY" val="diagram"/>
  <p:tag name="KSO_WM_TEMPLATE_INDEX" val="20170847"/>
  <p:tag name="KSO_WM_TAG_VERSION" val="1.0"/>
  <p:tag name="KSO_WM_BEAUTIFY_FLAG" val="#wm#"/>
  <p:tag name="KSO_WM_UNIT_TYPE" val="l_h_f"/>
  <p:tag name="KSO_WM_UNIT_INDEX" val="1_2_1"/>
  <p:tag name="KSO_WM_UNIT_LAYERLEVEL" val="1_1_1"/>
  <p:tag name="KSO_WM_UNIT_VALUE" val="85"/>
  <p:tag name="KSO_WM_UNIT_HIGHLIGHT" val="0"/>
  <p:tag name="KSO_WM_UNIT_COMPATIBLE" val="0"/>
  <p:tag name="KSO_WM_DIAGRAM_GROUP_CODE" val="l1-1"/>
  <p:tag name="KSO_WM_UNIT_ID" val="diagram20170847_2*l_h_f*1_2_1"/>
  <p:tag name="KSO_WM_UNIT_NOCLEAR" val="0"/>
  <p:tag name="KSO_WM_UNIT_DIAGRAM_ISNUMVISUAL" val="0"/>
  <p:tag name="KSO_WM_UNIT_DIAGRAM_ISREFERUNIT" val="0"/>
  <p:tag name="KSO_WM_UNIT_PRESET_TEXT" val="单击此处添加文本具体内容，简明扼要的阐述您的观点。根据需要可酌情增减文字，以便观者准确的理解您传达的思想。"/>
  <p:tag name="KSO_WM_UNIT_TEXT_FILL_FORE_SCHEMECOLOR_INDEX" val="13"/>
  <p:tag name="KSO_WM_UNIT_TEXT_FILL_TYPE" val="1"/>
</p:tagLst>
</file>

<file path=ppt/tags/tag19.xml><?xml version="1.0" encoding="utf-8"?>
<p:tagLst xmlns:p="http://schemas.openxmlformats.org/presentationml/2006/main">
  <p:tag name="KSO_WM_TEMPLATE_CATEGORY" val="diagram"/>
  <p:tag name="KSO_WM_TEMPLATE_INDEX" val="20170847"/>
  <p:tag name="KSO_WM_TAG_VERSION" val="1.0"/>
  <p:tag name="KSO_WM_BEAUTIFY_FLAG" val="#wm#"/>
  <p:tag name="KSO_WM_UNIT_TYPE" val="l_h_f"/>
  <p:tag name="KSO_WM_UNIT_INDEX" val="1_2_1"/>
  <p:tag name="KSO_WM_UNIT_LAYERLEVEL" val="1_1_1"/>
  <p:tag name="KSO_WM_UNIT_VALUE" val="85"/>
  <p:tag name="KSO_WM_UNIT_HIGHLIGHT" val="0"/>
  <p:tag name="KSO_WM_UNIT_COMPATIBLE" val="0"/>
  <p:tag name="KSO_WM_DIAGRAM_GROUP_CODE" val="l1-1"/>
  <p:tag name="KSO_WM_UNIT_ID" val="diagram20170847_2*l_h_f*1_2_1"/>
  <p:tag name="KSO_WM_UNIT_NOCLEAR" val="0"/>
  <p:tag name="KSO_WM_UNIT_DIAGRAM_ISNUMVISUAL" val="0"/>
  <p:tag name="KSO_WM_UNIT_DIAGRAM_ISREFERUNIT" val="0"/>
  <p:tag name="KSO_WM_UNIT_PRESET_TEXT" val="单击此处添加文本具体内容，简明扼要的阐述您的观点。根据需要可酌情增减文字，以便观者准确的理解您传达的思想。"/>
  <p:tag name="KSO_WM_UNIT_TEXT_FILL_FORE_SCHEMECOLOR_INDEX" val="13"/>
  <p:tag name="KSO_WM_UNIT_TEXT_FILL_TYPE" val="1"/>
</p:tagLst>
</file>

<file path=ppt/tags/tag20.xml><?xml version="1.0" encoding="utf-8"?>
<p:tagLst xmlns:p="http://schemas.openxmlformats.org/presentationml/2006/main">
  <p:tag name="KSO_WM_TEMPLATE_CATEGORY" val="diagram"/>
  <p:tag name="KSO_WM_TEMPLATE_INDEX" val="20170847"/>
  <p:tag name="KSO_WM_TAG_VERSION" val="1.0"/>
  <p:tag name="KSO_WM_BEAUTIFY_FLAG" val="#wm#"/>
  <p:tag name="KSO_WM_UNIT_TYPE" val="l_h_f"/>
  <p:tag name="KSO_WM_UNIT_INDEX" val="1_2_1"/>
  <p:tag name="KSO_WM_UNIT_LAYERLEVEL" val="1_1_1"/>
  <p:tag name="KSO_WM_UNIT_VALUE" val="85"/>
  <p:tag name="KSO_WM_UNIT_HIGHLIGHT" val="0"/>
  <p:tag name="KSO_WM_UNIT_COMPATIBLE" val="0"/>
  <p:tag name="KSO_WM_DIAGRAM_GROUP_CODE" val="l1-1"/>
  <p:tag name="KSO_WM_UNIT_ID" val="diagram20170847_2*l_h_f*1_2_1"/>
  <p:tag name="KSO_WM_UNIT_NOCLEAR" val="0"/>
  <p:tag name="KSO_WM_UNIT_DIAGRAM_ISNUMVISUAL" val="0"/>
  <p:tag name="KSO_WM_UNIT_DIAGRAM_ISREFERUNIT" val="0"/>
  <p:tag name="KSO_WM_UNIT_PRESET_TEXT" val="单击此处添加文本具体内容，简明扼要的阐述您的观点。根据需要可酌情增减文字，以便观者准确的理解您传达的思想。"/>
  <p:tag name="KSO_WM_UNIT_TEXT_FILL_FORE_SCHEMECOLOR_INDEX" val="13"/>
  <p:tag name="KSO_WM_UNIT_TEXT_FILL_TYPE" val="1"/>
</p:tagLst>
</file>

<file path=ppt/tags/tag21.xml><?xml version="1.0" encoding="utf-8"?>
<p:tagLst xmlns:p="http://schemas.openxmlformats.org/presentationml/2006/main">
  <p:tag name="KSO_WM_TEMPLATE_CATEGORY" val="diagram"/>
  <p:tag name="KSO_WM_TEMPLATE_INDEX" val="20170847"/>
  <p:tag name="KSO_WM_TAG_VERSION" val="1.0"/>
  <p:tag name="KSO_WM_BEAUTIFY_FLAG" val="#wm#"/>
  <p:tag name="KSO_WM_UNIT_TYPE" val="l_h_f"/>
  <p:tag name="KSO_WM_UNIT_INDEX" val="1_2_1"/>
  <p:tag name="KSO_WM_UNIT_LAYERLEVEL" val="1_1_1"/>
  <p:tag name="KSO_WM_UNIT_VALUE" val="85"/>
  <p:tag name="KSO_WM_UNIT_HIGHLIGHT" val="0"/>
  <p:tag name="KSO_WM_UNIT_COMPATIBLE" val="0"/>
  <p:tag name="KSO_WM_DIAGRAM_GROUP_CODE" val="l1-1"/>
  <p:tag name="KSO_WM_UNIT_ID" val="diagram20170847_2*l_h_f*1_2_1"/>
  <p:tag name="KSO_WM_UNIT_NOCLEAR" val="0"/>
  <p:tag name="KSO_WM_UNIT_DIAGRAM_ISNUMVISUAL" val="0"/>
  <p:tag name="KSO_WM_UNIT_DIAGRAM_ISREFERUNIT" val="0"/>
  <p:tag name="KSO_WM_UNIT_PRESET_TEXT" val="单击此处添加文本具体内容，简明扼要的阐述您的观点。根据需要可酌情增减文字，以便观者准确的理解您传达的思想。"/>
  <p:tag name="KSO_WM_UNIT_TEXT_FILL_FORE_SCHEMECOLOR_INDEX" val="13"/>
  <p:tag name="KSO_WM_UNIT_TEXT_FILL_TYPE" val="1"/>
</p:tagLst>
</file>

<file path=ppt/tags/tag22.xml><?xml version="1.0" encoding="utf-8"?>
<p:tagLst xmlns:p="http://schemas.openxmlformats.org/presentationml/2006/main">
  <p:tag name="KSO_WM_TEMPLATE_CATEGORY" val="diagram"/>
  <p:tag name="KSO_WM_TEMPLATE_INDEX" val="20170847"/>
  <p:tag name="KSO_WM_TAG_VERSION" val="1.0"/>
  <p:tag name="KSO_WM_BEAUTIFY_FLAG" val="#wm#"/>
  <p:tag name="KSO_WM_UNIT_TYPE" val="l_h_f"/>
  <p:tag name="KSO_WM_UNIT_INDEX" val="1_2_1"/>
  <p:tag name="KSO_WM_UNIT_LAYERLEVEL" val="1_1_1"/>
  <p:tag name="KSO_WM_UNIT_VALUE" val="85"/>
  <p:tag name="KSO_WM_UNIT_HIGHLIGHT" val="0"/>
  <p:tag name="KSO_WM_UNIT_COMPATIBLE" val="0"/>
  <p:tag name="KSO_WM_DIAGRAM_GROUP_CODE" val="l1-1"/>
  <p:tag name="KSO_WM_UNIT_ID" val="diagram20170847_2*l_h_f*1_2_1"/>
  <p:tag name="KSO_WM_UNIT_NOCLEAR" val="0"/>
  <p:tag name="KSO_WM_UNIT_DIAGRAM_ISNUMVISUAL" val="0"/>
  <p:tag name="KSO_WM_UNIT_DIAGRAM_ISREFERUNIT" val="0"/>
  <p:tag name="KSO_WM_UNIT_PRESET_TEXT" val="单击此处添加文本具体内容，简明扼要的阐述您的观点。根据需要可酌情增减文字，以便观者准确的理解您传达的思想。"/>
  <p:tag name="KSO_WM_UNIT_TEXT_FILL_FORE_SCHEMECOLOR_INDEX" val="13"/>
  <p:tag name="KSO_WM_UNIT_TEXT_FILL_TYPE" val="1"/>
</p:tagLst>
</file>

<file path=ppt/tags/tag23.xml><?xml version="1.0" encoding="utf-8"?>
<p:tagLst xmlns:p="http://schemas.openxmlformats.org/presentationml/2006/main">
  <p:tag name="KSO_WM_TEMPLATE_CATEGORY" val="diagram"/>
  <p:tag name="KSO_WM_TEMPLATE_INDEX" val="20170847"/>
  <p:tag name="KSO_WM_TAG_VERSION" val="1.0"/>
  <p:tag name="KSO_WM_BEAUTIFY_FLAG" val="#wm#"/>
  <p:tag name="KSO_WM_UNIT_TYPE" val="l_h_f"/>
  <p:tag name="KSO_WM_UNIT_INDEX" val="1_2_1"/>
  <p:tag name="KSO_WM_UNIT_LAYERLEVEL" val="1_1_1"/>
  <p:tag name="KSO_WM_UNIT_VALUE" val="85"/>
  <p:tag name="KSO_WM_UNIT_HIGHLIGHT" val="0"/>
  <p:tag name="KSO_WM_UNIT_COMPATIBLE" val="0"/>
  <p:tag name="KSO_WM_DIAGRAM_GROUP_CODE" val="l1-1"/>
  <p:tag name="KSO_WM_UNIT_ID" val="diagram20170847_2*l_h_f*1_2_1"/>
  <p:tag name="KSO_WM_UNIT_NOCLEAR" val="0"/>
  <p:tag name="KSO_WM_UNIT_DIAGRAM_ISNUMVISUAL" val="0"/>
  <p:tag name="KSO_WM_UNIT_DIAGRAM_ISREFERUNIT" val="0"/>
  <p:tag name="KSO_WM_UNIT_PRESET_TEXT" val="单击此处添加文本具体内容，简明扼要的阐述您的观点。根据需要可酌情增减文字，以便观者准确的理解您传达的思想。"/>
  <p:tag name="KSO_WM_UNIT_TEXT_FILL_FORE_SCHEMECOLOR_INDEX" val="13"/>
  <p:tag name="KSO_WM_UNIT_TEXT_FILL_TYPE" val="1"/>
</p:tagLst>
</file>

<file path=ppt/tags/tag24.xml><?xml version="1.0" encoding="utf-8"?>
<p:tagLst xmlns:p="http://schemas.openxmlformats.org/presentationml/2006/main">
  <p:tag name="KSO_WM_UNIT_TABLE_BEAUTIFY" val="smartTable{8a24dd6a-5062-4834-a1b3-2cbfb8560384}"/>
</p:tagLst>
</file>

<file path=ppt/tags/tag25.xml><?xml version="1.0" encoding="utf-8"?>
<p:tagLst xmlns:p="http://schemas.openxmlformats.org/presentationml/2006/main">
  <p:tag name="KSO_WPP_MARK_KEY" val="99f25d22-d721-41a7-8e3d-5dfcf0047e78"/>
  <p:tag name="COMMONDATA" val="eyJoZGlkIjoiMjZjMGNkYzRlM2U5NWMwODQxYTYyZmFjYmRiYzRkMWEifQ=="/>
</p:tagLst>
</file>

<file path=ppt/theme/theme1.xml><?xml version="1.0" encoding="utf-8"?>
<a:theme xmlns:a="http://schemas.openxmlformats.org/drawingml/2006/main" name="2_Office 主题">
  <a:themeElements>
    <a:clrScheme name="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B0F0"/>
      </a:hlink>
      <a:folHlink>
        <a:srgbClr val="00B0F0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  <a:extLst>
      <a:ext uri="{D81B5157-A7B6-4480-A006-42BB1BC3E7BB}">
        <wpsdc:hlinkScheme xmlns:wpsdc="http://www.wps.cn/officeDocument/2017/drawingmlCustomData" underline="false"/>
      </a:ext>
    </a:extLst>
  </a:themeElements>
  <a:objectDefaults>
    <a:lnDef>
      <a:spPr>
        <a:ln w="28575">
          <a:solidFill>
            <a:schemeClr val="tx1">
              <a:lumMod val="75000"/>
              <a:lumOff val="25000"/>
            </a:schemeClr>
          </a:solidFill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">
  <a:themeElements>
    <a:clrScheme name="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B0F0"/>
      </a:hlink>
      <a:folHlink>
        <a:srgbClr val="00B0F0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  <a:extLst>
      <a:ext uri="{D81B5157-A7B6-4480-A006-42BB1BC3E7BB}">
        <wpsdc:hlinkScheme xmlns:wpsdc="http://www.wps.cn/officeDocument/2017/drawingmlCustomData" underline="false"/>
      </a:ext>
    </a:extLst>
  </a:themeElements>
  <a:objectDefaults>
    <a:lnDef>
      <a:spPr>
        <a:ln w="28575">
          <a:solidFill>
            <a:schemeClr val="tx1">
              <a:lumMod val="75000"/>
              <a:lumOff val="25000"/>
            </a:schemeClr>
          </a:solidFill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2049</Words>
  <Application>WPS 演示</Application>
  <PresentationFormat>宽屏</PresentationFormat>
  <Paragraphs>396</Paragraphs>
  <Slides>19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19</vt:i4>
      </vt:variant>
    </vt:vector>
  </HeadingPairs>
  <TitlesOfParts>
    <vt:vector size="37" baseType="lpstr">
      <vt:lpstr>Arial</vt:lpstr>
      <vt:lpstr>宋体</vt:lpstr>
      <vt:lpstr>Wingdings</vt:lpstr>
      <vt:lpstr>微软雅黑</vt:lpstr>
      <vt:lpstr>黑体</vt:lpstr>
      <vt:lpstr>Lato Black</vt:lpstr>
      <vt:lpstr>Segoe Print</vt:lpstr>
      <vt:lpstr>Lato</vt:lpstr>
      <vt:lpstr>Roboto</vt:lpstr>
      <vt:lpstr>Helvetica Light</vt:lpstr>
      <vt:lpstr>Wingdings</vt:lpstr>
      <vt:lpstr>Klavika Medium</vt:lpstr>
      <vt:lpstr>Arial Black</vt:lpstr>
      <vt:lpstr>Arial Unicode MS</vt:lpstr>
      <vt:lpstr>Calibri</vt:lpstr>
      <vt:lpstr>Times New Roman</vt:lpstr>
      <vt:lpstr>2_Office 主题</vt:lpstr>
      <vt:lpstr>1_Office 主题</vt:lpstr>
      <vt:lpstr>宝姿SRM系统 面辅料退换货管理</vt:lpstr>
      <vt:lpstr>PowerPoint 演示文稿</vt:lpstr>
      <vt:lpstr>面辅料退换货蓝图-进仓退货</vt:lpstr>
      <vt:lpstr>面辅料退换货蓝图-来料退货</vt:lpstr>
      <vt:lpstr>PowerPoint 演示文稿</vt:lpstr>
      <vt:lpstr>退货申请界面-基础信息 </vt:lpstr>
      <vt:lpstr>退货申请界面-退货信息</vt:lpstr>
      <vt:lpstr>PowerPoint 演示文稿</vt:lpstr>
      <vt:lpstr>采购经理审批界面</vt:lpstr>
      <vt:lpstr>PowerPoint 演示文稿</vt:lpstr>
      <vt:lpstr>退货冲单-负数到货单</vt:lpstr>
      <vt:lpstr>退货冲单-负数进仓单</vt:lpstr>
      <vt:lpstr>PowerPoint 演示文稿</vt:lpstr>
      <vt:lpstr>储运部生成走货单</vt:lpstr>
      <vt:lpstr>PowerPoint 演示文稿</vt:lpstr>
      <vt:lpstr>供应商查看退货单</vt:lpstr>
      <vt:lpstr>PowerPoint 演示文稿</vt:lpstr>
      <vt:lpstr>接口计划</vt:lpstr>
      <vt:lpstr>结束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天津于家堡集团整体规划</dc:title>
  <dc:creator>HAND</dc:creator>
  <dc:subject>HAND - Internet Product Center</dc:subject>
  <cp:lastModifiedBy>周丹</cp:lastModifiedBy>
  <cp:revision>1499</cp:revision>
  <dcterms:created xsi:type="dcterms:W3CDTF">2022-11-30T03:09:00Z</dcterms:created>
  <dcterms:modified xsi:type="dcterms:W3CDTF">2022-12-16T08:16:36Z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0x01010042BF25B8D0CF3E498A12B8CF17257F30</vt:lpwstr>
  </property>
  <property fmtid="{D5CDD505-2E9C-101B-9397-08002B2CF9AE}" pid="3" name="ItemRetentionFormula">
    <vt:lpwstr/>
  </property>
  <property fmtid="{D5CDD505-2E9C-101B-9397-08002B2CF9AE}" pid="4" name="_dlc_policyId">
    <vt:lpwstr/>
  </property>
  <property fmtid="{D5CDD505-2E9C-101B-9397-08002B2CF9AE}" pid="5" name="KSOProductBuildVer">
    <vt:lpwstr>2052-11.1.0.12763</vt:lpwstr>
  </property>
  <property fmtid="{D5CDD505-2E9C-101B-9397-08002B2CF9AE}" pid="6" name="ICV">
    <vt:lpwstr>FAF67C83A533974FD0727D63EF32D483</vt:lpwstr>
  </property>
</Properties>
</file>