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0"/>
  </p:handoutMasterIdLst>
  <p:sldIdLst>
    <p:sldId id="394" r:id="rId3"/>
    <p:sldId id="669" r:id="rId5"/>
    <p:sldId id="448" r:id="rId6"/>
    <p:sldId id="670" r:id="rId7"/>
    <p:sldId id="671" r:id="rId8"/>
    <p:sldId id="672" r:id="rId9"/>
    <p:sldId id="447" r:id="rId10"/>
    <p:sldId id="673" r:id="rId11"/>
    <p:sldId id="674" r:id="rId12"/>
    <p:sldId id="396" r:id="rId13"/>
    <p:sldId id="665" r:id="rId14"/>
    <p:sldId id="668" r:id="rId15"/>
    <p:sldId id="667" r:id="rId16"/>
    <p:sldId id="548" r:id="rId17"/>
    <p:sldId id="458" r:id="rId18"/>
    <p:sldId id="534" r:id="rId19"/>
    <p:sldId id="262" r:id="rId20"/>
    <p:sldId id="274" r:id="rId21"/>
    <p:sldId id="437" r:id="rId22"/>
    <p:sldId id="319" r:id="rId23"/>
    <p:sldId id="403" r:id="rId24"/>
    <p:sldId id="545" r:id="rId25"/>
    <p:sldId id="611" r:id="rId26"/>
    <p:sldId id="546" r:id="rId27"/>
    <p:sldId id="552" r:id="rId28"/>
    <p:sldId id="330" r:id="rId29"/>
    <p:sldId id="461" r:id="rId30"/>
    <p:sldId id="462" r:id="rId31"/>
    <p:sldId id="463" r:id="rId32"/>
    <p:sldId id="438" r:id="rId33"/>
    <p:sldId id="535" r:id="rId34"/>
    <p:sldId id="544" r:id="rId35"/>
    <p:sldId id="543" r:id="rId36"/>
    <p:sldId id="610" r:id="rId37"/>
    <p:sldId id="536" r:id="rId38"/>
    <p:sldId id="443" r:id="rId39"/>
    <p:sldId id="444" r:id="rId40"/>
    <p:sldId id="445" r:id="rId41"/>
    <p:sldId id="537" r:id="rId42"/>
    <p:sldId id="265" r:id="rId43"/>
    <p:sldId id="457" r:id="rId44"/>
    <p:sldId id="346" r:id="rId45"/>
    <p:sldId id="398" r:id="rId46"/>
    <p:sldId id="456" r:id="rId47"/>
    <p:sldId id="506" r:id="rId48"/>
    <p:sldId id="460" r:id="rId49"/>
    <p:sldId id="435" r:id="rId50"/>
    <p:sldId id="333" r:id="rId51"/>
    <p:sldId id="507" r:id="rId52"/>
    <p:sldId id="336" r:id="rId53"/>
    <p:sldId id="334" r:id="rId54"/>
    <p:sldId id="538" r:id="rId55"/>
    <p:sldId id="266" r:id="rId56"/>
    <p:sldId id="411" r:id="rId57"/>
    <p:sldId id="278" r:id="rId58"/>
    <p:sldId id="337" r:id="rId59"/>
    <p:sldId id="436" r:id="rId60"/>
    <p:sldId id="338" r:id="rId61"/>
    <p:sldId id="339" r:id="rId62"/>
    <p:sldId id="455" r:id="rId63"/>
    <p:sldId id="402" r:id="rId64"/>
    <p:sldId id="539" r:id="rId65"/>
    <p:sldId id="459" r:id="rId66"/>
    <p:sldId id="303" r:id="rId67"/>
    <p:sldId id="540" r:id="rId68"/>
    <p:sldId id="405" r:id="rId69"/>
    <p:sldId id="406" r:id="rId70"/>
    <p:sldId id="407" r:id="rId71"/>
    <p:sldId id="541" r:id="rId72"/>
    <p:sldId id="275" r:id="rId73"/>
    <p:sldId id="304" r:id="rId74"/>
    <p:sldId id="345" r:id="rId75"/>
    <p:sldId id="439" r:id="rId76"/>
    <p:sldId id="549" r:id="rId77"/>
    <p:sldId id="550" r:id="rId78"/>
    <p:sldId id="551"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E4BC"/>
    <a:srgbClr val="5B9BD5"/>
    <a:srgbClr val="BDD7EE"/>
    <a:srgbClr val="EAEFF7"/>
    <a:srgbClr val="BCA07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commentAuthors" Target="commentAuthors.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85FFD14-4E37-4F69-9A75-EEF1740C2232}" type="doc">
      <dgm:prSet loTypeId="urn:microsoft.com/office/officeart/2005/8/layout/chart3#2" loCatId="cycle" qsTypeId="urn:microsoft.com/office/officeart/2005/8/quickstyle/3d5#2" qsCatId="3D" csTypeId="urn:microsoft.com/office/officeart/2005/8/colors/colorful2#2" csCatId="colorful" phldr="1"/>
      <dgm:spPr/>
    </dgm:pt>
    <dgm:pt modelId="{285E9ECD-E009-4597-A897-355E5E3965DB}">
      <dgm:prSet phldrT="[文本]"/>
      <dgm:spPr/>
      <dgm:t>
        <a:bodyPr/>
        <a:lstStyle/>
        <a:p>
          <a:r>
            <a:rPr lang="zh-CN" altLang="en-US" dirty="0" smtClean="0"/>
            <a:t>定制</a:t>
          </a:r>
          <a:endParaRPr lang="zh-CN" altLang="en-US" dirty="0"/>
        </a:p>
      </dgm:t>
    </dgm:pt>
    <dgm:pt modelId="{9DF7EE86-1719-4332-B944-7C49220B01A5}" cxnId="{79AF3631-6BEB-46F7-A781-0723070C2B3F}" type="parTrans">
      <dgm:prSet/>
      <dgm:spPr/>
      <dgm:t>
        <a:bodyPr/>
        <a:lstStyle/>
        <a:p>
          <a:endParaRPr lang="zh-CN" altLang="en-US"/>
        </a:p>
      </dgm:t>
    </dgm:pt>
    <dgm:pt modelId="{F9FD76B2-B3D0-4B61-86C8-B888C537D2ED}" cxnId="{79AF3631-6BEB-46F7-A781-0723070C2B3F}" type="sibTrans">
      <dgm:prSet/>
      <dgm:spPr/>
      <dgm:t>
        <a:bodyPr/>
        <a:lstStyle/>
        <a:p>
          <a:endParaRPr lang="zh-CN" altLang="en-US"/>
        </a:p>
      </dgm:t>
    </dgm:pt>
    <dgm:pt modelId="{D981209C-F747-41AA-B60A-2A31FDAE982A}">
      <dgm:prSet phldrT="[文本]"/>
      <dgm:spPr/>
      <dgm:t>
        <a:bodyPr/>
        <a:lstStyle/>
        <a:p>
          <a:r>
            <a:rPr lang="zh-CN" altLang="en-US" dirty="0" smtClean="0"/>
            <a:t>接口</a:t>
          </a:r>
          <a:endParaRPr lang="zh-CN" altLang="en-US" dirty="0"/>
        </a:p>
      </dgm:t>
    </dgm:pt>
    <dgm:pt modelId="{AFD8D581-6145-4358-9C0A-AF01089E85F5}" cxnId="{01488188-ED5A-4279-9391-D5F1488993F1}" type="parTrans">
      <dgm:prSet/>
      <dgm:spPr/>
      <dgm:t>
        <a:bodyPr/>
        <a:lstStyle/>
        <a:p>
          <a:endParaRPr lang="zh-CN" altLang="en-US"/>
        </a:p>
      </dgm:t>
    </dgm:pt>
    <dgm:pt modelId="{E991AE69-2ED1-48A8-8A79-0CCAA13CC1D5}" cxnId="{01488188-ED5A-4279-9391-D5F1488993F1}" type="sibTrans">
      <dgm:prSet/>
      <dgm:spPr/>
      <dgm:t>
        <a:bodyPr/>
        <a:lstStyle/>
        <a:p>
          <a:endParaRPr lang="zh-CN" altLang="en-US"/>
        </a:p>
      </dgm:t>
    </dgm:pt>
    <dgm:pt modelId="{4F019D1C-8A9D-4840-9EB9-90E16E90D5DF}">
      <dgm:prSet phldrT="[文本]"/>
      <dgm:spPr/>
      <dgm:t>
        <a:bodyPr/>
        <a:lstStyle/>
        <a:p>
          <a:r>
            <a:rPr lang="zh-CN" altLang="en-US" dirty="0" smtClean="0"/>
            <a:t>调整</a:t>
          </a:r>
          <a:endParaRPr lang="zh-CN" altLang="en-US" dirty="0"/>
        </a:p>
      </dgm:t>
    </dgm:pt>
    <dgm:pt modelId="{CDB94FDE-AC13-4CBF-BB51-62A13EAB49CD}" cxnId="{9DF6ABDE-10B2-4D2E-BC93-7F6738EB9DCF}" type="parTrans">
      <dgm:prSet/>
      <dgm:spPr/>
      <dgm:t>
        <a:bodyPr/>
        <a:lstStyle/>
        <a:p>
          <a:endParaRPr lang="zh-CN" altLang="en-US"/>
        </a:p>
      </dgm:t>
    </dgm:pt>
    <dgm:pt modelId="{9975E5D1-C35C-45E5-AB75-451BF63E5246}" cxnId="{9DF6ABDE-10B2-4D2E-BC93-7F6738EB9DCF}" type="sibTrans">
      <dgm:prSet/>
      <dgm:spPr/>
      <dgm:t>
        <a:bodyPr/>
        <a:lstStyle/>
        <a:p>
          <a:endParaRPr lang="zh-CN" altLang="en-US"/>
        </a:p>
      </dgm:t>
    </dgm:pt>
    <dgm:pt modelId="{AAABD752-4ECD-48EA-B610-E36A3885BA18}" type="pres">
      <dgm:prSet presAssocID="{185FFD14-4E37-4F69-9A75-EEF1740C2232}" presName="compositeShape" presStyleCnt="0">
        <dgm:presLayoutVars>
          <dgm:chMax val="7"/>
          <dgm:dir/>
          <dgm:resizeHandles val="exact"/>
        </dgm:presLayoutVars>
      </dgm:prSet>
      <dgm:spPr/>
    </dgm:pt>
    <dgm:pt modelId="{E7548241-EF21-4171-ACDE-AB7BBA4166EB}" type="pres">
      <dgm:prSet presAssocID="{185FFD14-4E37-4F69-9A75-EEF1740C2232}" presName="wedge1" presStyleLbl="node1" presStyleIdx="0" presStyleCnt="3"/>
      <dgm:spPr/>
      <dgm:t>
        <a:bodyPr/>
        <a:lstStyle/>
        <a:p>
          <a:endParaRPr lang="zh-CN" altLang="en-US"/>
        </a:p>
      </dgm:t>
    </dgm:pt>
    <dgm:pt modelId="{3DB7A3AA-07F5-4B2E-9DF2-489B420CA521}" type="pres">
      <dgm:prSet presAssocID="{185FFD14-4E37-4F69-9A75-EEF1740C2232}" presName="wedge1Tx" presStyleLbl="node1" presStyleIdx="0" presStyleCnt="3">
        <dgm:presLayoutVars>
          <dgm:chMax val="0"/>
          <dgm:chPref val="0"/>
          <dgm:bulletEnabled val="1"/>
        </dgm:presLayoutVars>
      </dgm:prSet>
      <dgm:spPr/>
      <dgm:t>
        <a:bodyPr/>
        <a:lstStyle/>
        <a:p>
          <a:endParaRPr lang="zh-CN" altLang="en-US"/>
        </a:p>
      </dgm:t>
    </dgm:pt>
    <dgm:pt modelId="{2553F357-E584-4764-8C18-8281F9A54B3F}" type="pres">
      <dgm:prSet presAssocID="{185FFD14-4E37-4F69-9A75-EEF1740C2232}" presName="wedge2" presStyleLbl="node1" presStyleIdx="1" presStyleCnt="3"/>
      <dgm:spPr/>
      <dgm:t>
        <a:bodyPr/>
        <a:lstStyle/>
        <a:p>
          <a:endParaRPr lang="zh-CN" altLang="en-US"/>
        </a:p>
      </dgm:t>
    </dgm:pt>
    <dgm:pt modelId="{B14BD64D-BF6D-4F65-8B20-C893621CBFCB}" type="pres">
      <dgm:prSet presAssocID="{185FFD14-4E37-4F69-9A75-EEF1740C2232}" presName="wedge2Tx" presStyleLbl="node1" presStyleIdx="1" presStyleCnt="3">
        <dgm:presLayoutVars>
          <dgm:chMax val="0"/>
          <dgm:chPref val="0"/>
          <dgm:bulletEnabled val="1"/>
        </dgm:presLayoutVars>
      </dgm:prSet>
      <dgm:spPr/>
      <dgm:t>
        <a:bodyPr/>
        <a:lstStyle/>
        <a:p>
          <a:endParaRPr lang="zh-CN" altLang="en-US"/>
        </a:p>
      </dgm:t>
    </dgm:pt>
    <dgm:pt modelId="{4C0E079D-590A-4F2C-B4CC-E24F87C96A42}" type="pres">
      <dgm:prSet presAssocID="{185FFD14-4E37-4F69-9A75-EEF1740C2232}" presName="wedge3" presStyleLbl="node1" presStyleIdx="2" presStyleCnt="3"/>
      <dgm:spPr/>
      <dgm:t>
        <a:bodyPr/>
        <a:lstStyle/>
        <a:p>
          <a:endParaRPr lang="zh-CN" altLang="en-US"/>
        </a:p>
      </dgm:t>
    </dgm:pt>
    <dgm:pt modelId="{9AC51E6C-5EBF-46BB-AE9B-A91677AD4969}" type="pres">
      <dgm:prSet presAssocID="{185FFD14-4E37-4F69-9A75-EEF1740C2232}" presName="wedge3Tx" presStyleLbl="node1" presStyleIdx="2" presStyleCnt="3">
        <dgm:presLayoutVars>
          <dgm:chMax val="0"/>
          <dgm:chPref val="0"/>
          <dgm:bulletEnabled val="1"/>
        </dgm:presLayoutVars>
      </dgm:prSet>
      <dgm:spPr/>
      <dgm:t>
        <a:bodyPr/>
        <a:lstStyle/>
        <a:p>
          <a:endParaRPr lang="zh-CN" altLang="en-US"/>
        </a:p>
      </dgm:t>
    </dgm:pt>
  </dgm:ptLst>
  <dgm:cxnLst>
    <dgm:cxn modelId="{DD14416D-6608-44DC-9FEC-6A2314D02629}" type="presOf" srcId="{285E9ECD-E009-4597-A897-355E5E3965DB}" destId="{E7548241-EF21-4171-ACDE-AB7BBA4166EB}" srcOrd="0" destOrd="0" presId="urn:microsoft.com/office/officeart/2005/8/layout/chart3#2"/>
    <dgm:cxn modelId="{79AF3631-6BEB-46F7-A781-0723070C2B3F}" srcId="{185FFD14-4E37-4F69-9A75-EEF1740C2232}" destId="{285E9ECD-E009-4597-A897-355E5E3965DB}" srcOrd="0" destOrd="0" parTransId="{9DF7EE86-1719-4332-B944-7C49220B01A5}" sibTransId="{F9FD76B2-B3D0-4B61-86C8-B888C537D2ED}"/>
    <dgm:cxn modelId="{74A7280F-D0AC-4C31-95A3-4D214D6D5632}" type="presOf" srcId="{4F019D1C-8A9D-4840-9EB9-90E16E90D5DF}" destId="{4C0E079D-590A-4F2C-B4CC-E24F87C96A42}" srcOrd="0" destOrd="0" presId="urn:microsoft.com/office/officeart/2005/8/layout/chart3#2"/>
    <dgm:cxn modelId="{B7F2A8D3-5519-4495-AB46-88101488E323}" type="presOf" srcId="{D981209C-F747-41AA-B60A-2A31FDAE982A}" destId="{2553F357-E584-4764-8C18-8281F9A54B3F}" srcOrd="0" destOrd="0" presId="urn:microsoft.com/office/officeart/2005/8/layout/chart3#2"/>
    <dgm:cxn modelId="{CDE17332-BAB7-46B5-BAAE-DEBB1747B4D9}" type="presOf" srcId="{185FFD14-4E37-4F69-9A75-EEF1740C2232}" destId="{AAABD752-4ECD-48EA-B610-E36A3885BA18}" srcOrd="0" destOrd="0" presId="urn:microsoft.com/office/officeart/2005/8/layout/chart3#2"/>
    <dgm:cxn modelId="{01488188-ED5A-4279-9391-D5F1488993F1}" srcId="{185FFD14-4E37-4F69-9A75-EEF1740C2232}" destId="{D981209C-F747-41AA-B60A-2A31FDAE982A}" srcOrd="1" destOrd="0" parTransId="{AFD8D581-6145-4358-9C0A-AF01089E85F5}" sibTransId="{E991AE69-2ED1-48A8-8A79-0CCAA13CC1D5}"/>
    <dgm:cxn modelId="{65C8DD33-94AE-410B-922B-A95DF9EDED18}" type="presOf" srcId="{285E9ECD-E009-4597-A897-355E5E3965DB}" destId="{3DB7A3AA-07F5-4B2E-9DF2-489B420CA521}" srcOrd="1" destOrd="0" presId="urn:microsoft.com/office/officeart/2005/8/layout/chart3#2"/>
    <dgm:cxn modelId="{34B5BD69-90A9-42ED-91D2-7D9046B394C7}" type="presOf" srcId="{4F019D1C-8A9D-4840-9EB9-90E16E90D5DF}" destId="{9AC51E6C-5EBF-46BB-AE9B-A91677AD4969}" srcOrd="1" destOrd="0" presId="urn:microsoft.com/office/officeart/2005/8/layout/chart3#2"/>
    <dgm:cxn modelId="{9DF6ABDE-10B2-4D2E-BC93-7F6738EB9DCF}" srcId="{185FFD14-4E37-4F69-9A75-EEF1740C2232}" destId="{4F019D1C-8A9D-4840-9EB9-90E16E90D5DF}" srcOrd="2" destOrd="0" parTransId="{CDB94FDE-AC13-4CBF-BB51-62A13EAB49CD}" sibTransId="{9975E5D1-C35C-45E5-AB75-451BF63E5246}"/>
    <dgm:cxn modelId="{5397BA7F-6C0D-4230-A3FA-28EDD784FF80}" type="presOf" srcId="{D981209C-F747-41AA-B60A-2A31FDAE982A}" destId="{B14BD64D-BF6D-4F65-8B20-C893621CBFCB}" srcOrd="1" destOrd="0" presId="urn:microsoft.com/office/officeart/2005/8/layout/chart3#2"/>
    <dgm:cxn modelId="{E38C7905-E092-41F2-BF99-047368AB41C7}" type="presParOf" srcId="{AAABD752-4ECD-48EA-B610-E36A3885BA18}" destId="{E7548241-EF21-4171-ACDE-AB7BBA4166EB}" srcOrd="0" destOrd="0" presId="urn:microsoft.com/office/officeart/2005/8/layout/chart3#2"/>
    <dgm:cxn modelId="{51CF6082-140C-44C0-A77A-B34B94ECBC74}" type="presParOf" srcId="{AAABD752-4ECD-48EA-B610-E36A3885BA18}" destId="{3DB7A3AA-07F5-4B2E-9DF2-489B420CA521}" srcOrd="1" destOrd="0" presId="urn:microsoft.com/office/officeart/2005/8/layout/chart3#2"/>
    <dgm:cxn modelId="{71F2EFAF-5A29-4131-BAA4-3968A3534B5F}" type="presParOf" srcId="{AAABD752-4ECD-48EA-B610-E36A3885BA18}" destId="{2553F357-E584-4764-8C18-8281F9A54B3F}" srcOrd="2" destOrd="0" presId="urn:microsoft.com/office/officeart/2005/8/layout/chart3#2"/>
    <dgm:cxn modelId="{F2B90DA8-B3AD-40C3-8D80-2079589D1796}" type="presParOf" srcId="{AAABD752-4ECD-48EA-B610-E36A3885BA18}" destId="{B14BD64D-BF6D-4F65-8B20-C893621CBFCB}" srcOrd="3" destOrd="0" presId="urn:microsoft.com/office/officeart/2005/8/layout/chart3#2"/>
    <dgm:cxn modelId="{0E7DA817-93A9-4EF1-BB95-19F639CCDBEC}" type="presParOf" srcId="{AAABD752-4ECD-48EA-B610-E36A3885BA18}" destId="{4C0E079D-590A-4F2C-B4CC-E24F87C96A42}" srcOrd="4" destOrd="0" presId="urn:microsoft.com/office/officeart/2005/8/layout/chart3#2"/>
    <dgm:cxn modelId="{14845BFB-5C31-4581-8015-72C607944B11}" type="presParOf" srcId="{AAABD752-4ECD-48EA-B610-E36A3885BA18}" destId="{9AC51E6C-5EBF-46BB-AE9B-A91677AD4969}" srcOrd="5" destOrd="0" presId="urn:microsoft.com/office/officeart/2005/8/layout/chart3#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48241-EF21-4171-ACDE-AB7BBA4166EB}">
      <dsp:nvSpPr>
        <dsp:cNvPr id="0" name=""/>
        <dsp:cNvSpPr/>
      </dsp:nvSpPr>
      <dsp:spPr>
        <a:xfrm>
          <a:off x="856554" y="160676"/>
          <a:ext cx="1999533" cy="1999533"/>
        </a:xfrm>
        <a:prstGeom prst="pie">
          <a:avLst>
            <a:gd name="adj1" fmla="val 16200000"/>
            <a:gd name="adj2" fmla="val 1800000"/>
          </a:avLst>
        </a:prstGeom>
        <a:solidFill>
          <a:schemeClr val="accent2">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t>定制</a:t>
          </a:r>
          <a:endParaRPr lang="zh-CN" altLang="en-US" sz="2400" kern="1200" dirty="0"/>
        </a:p>
      </dsp:txBody>
      <dsp:txXfrm>
        <a:off x="1943681" y="529638"/>
        <a:ext cx="678413" cy="666511"/>
      </dsp:txXfrm>
    </dsp:sp>
    <dsp:sp modelId="{2553F357-E584-4764-8C18-8281F9A54B3F}">
      <dsp:nvSpPr>
        <dsp:cNvPr id="0" name=""/>
        <dsp:cNvSpPr/>
      </dsp:nvSpPr>
      <dsp:spPr>
        <a:xfrm>
          <a:off x="753483" y="220186"/>
          <a:ext cx="1999533" cy="1999533"/>
        </a:xfrm>
        <a:prstGeom prst="pie">
          <a:avLst>
            <a:gd name="adj1" fmla="val 1800000"/>
            <a:gd name="adj2" fmla="val 9000000"/>
          </a:avLst>
        </a:prstGeom>
        <a:solidFill>
          <a:schemeClr val="accent2">
            <a:hueOff val="-727682"/>
            <a:satOff val="-41964"/>
            <a:lumOff val="4314"/>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t>接口</a:t>
          </a:r>
          <a:endParaRPr lang="zh-CN" altLang="en-US" sz="2400" kern="1200" dirty="0"/>
        </a:p>
      </dsp:txBody>
      <dsp:txXfrm>
        <a:off x="1300974" y="1481797"/>
        <a:ext cx="904550" cy="618903"/>
      </dsp:txXfrm>
    </dsp:sp>
    <dsp:sp modelId="{4C0E079D-590A-4F2C-B4CC-E24F87C96A42}">
      <dsp:nvSpPr>
        <dsp:cNvPr id="0" name=""/>
        <dsp:cNvSpPr/>
      </dsp:nvSpPr>
      <dsp:spPr>
        <a:xfrm>
          <a:off x="753483" y="220186"/>
          <a:ext cx="1999533" cy="1999533"/>
        </a:xfrm>
        <a:prstGeom prst="pie">
          <a:avLst>
            <a:gd name="adj1" fmla="val 9000000"/>
            <a:gd name="adj2" fmla="val 16200000"/>
          </a:avLst>
        </a:prstGeom>
        <a:solidFill>
          <a:schemeClr val="accent2">
            <a:hueOff val="-1455363"/>
            <a:satOff val="-83928"/>
            <a:lumOff val="8628"/>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zh-CN" altLang="en-US" sz="2400" kern="1200" dirty="0" smtClean="0"/>
            <a:t>调整</a:t>
          </a:r>
          <a:endParaRPr lang="zh-CN" altLang="en-US" sz="2400" kern="1200" dirty="0"/>
        </a:p>
      </dsp:txBody>
      <dsp:txXfrm>
        <a:off x="967718" y="612952"/>
        <a:ext cx="678413" cy="666511"/>
      </dsp:txXfrm>
    </dsp:sp>
  </dsp:spTree>
</dsp:drawing>
</file>

<file path=ppt/diagrams/layout1.xml><?xml version="1.0" encoding="utf-8"?>
<dgm:layoutDef xmlns:dgm="http://schemas.openxmlformats.org/drawingml/2006/diagram" xmlns:a="http://schemas.openxmlformats.org/drawingml/2006/main" uniqueId="urn:microsoft.com/office/officeart/2005/8/layout/chart3#2">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vertAlign" val="mid"/>
      <dgm:param type="horzAlign" val="ctr"/>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5#2">
  <dgm:title val=""/>
  <dgm:desc val=""/>
  <dgm:catLst>
    <dgm:cat type="3D" pri="11500"/>
  </dgm:catLst>
  <dgm:scene3d>
    <a:camera prst="isometricOffAxis2Left" zoom="95000"/>
    <a:lightRig rig="flat" dir="t"/>
  </dgm:scene3d>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A7FC7F-5DD0-4595-B784-520C0143E3C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p:nvPr>
        </p:nvSpPr>
        <p:spPr/>
      </p:sp>
      <p:sp>
        <p:nvSpPr>
          <p:cNvPr id="645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p>
        </p:txBody>
      </p:sp>
      <p:sp>
        <p:nvSpPr>
          <p:cNvPr id="645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33B3A68-E863-4CDC-A10C-772300FB66F5}" type="slidenum">
              <a:rPr lang="zh-CN" altLang="en-US">
                <a:latin typeface="Calibri" panose="020F0502020204030204" charset="0"/>
              </a:rPr>
            </a:fld>
            <a:endParaRPr lang="zh-CN" altLang="en-US">
              <a:latin typeface="Calibri" panose="020F050202020403020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通过提交人部门决定审批流？</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endParaRPr lang="zh-CN" altLang="en-US"/>
          </a:p>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哪些信息的变动要走审批流</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D3DC28-9CE4-4C77-80CB-B69B549CE5E2}" type="slidenum">
              <a:rPr lang="en-US" altLang="en-US" smtClean="0"/>
            </a:fld>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A7FC7F-5DD0-4595-B784-520C0143E3C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04803" y="850900"/>
            <a:ext cx="10495723" cy="5626100"/>
          </a:xfrm>
        </p:spPr>
        <p:txBody>
          <a:bodyPr/>
          <a:lstStyle>
            <a:lvl1pPr>
              <a:buClr>
                <a:srgbClr val="FFC000"/>
              </a:buClr>
              <a:buSzPct val="80000"/>
              <a:buFont typeface="Wingdings" panose="05000000000000000000" pitchFamily="2" charset="2"/>
              <a:buChar char="n"/>
              <a:defRPr/>
            </a:lvl1pPr>
            <a:lvl2pPr>
              <a:buClr>
                <a:srgbClr val="FFC000"/>
              </a:buClr>
              <a:defRPr/>
            </a:lvl2pPr>
            <a:lvl3pPr>
              <a:buClr>
                <a:srgbClr val="FFC000"/>
              </a:buClr>
              <a:defRPr/>
            </a:lvl3pPr>
            <a:lvl4pPr>
              <a:buClr>
                <a:srgbClr val="FFC000"/>
              </a:buClr>
              <a:defRPr/>
            </a:lvl4pPr>
            <a:lvl5pPr>
              <a:buClr>
                <a:srgbClr val="FFC000"/>
              </a:buClr>
              <a:defRPr/>
            </a:lvl5pPr>
          </a:lstStyle>
          <a:p>
            <a:pPr lvl="0"/>
            <a:r>
              <a:rPr lang="zh-CN" altLang="en-US" dirty="0"/>
              <a:t>单击此处编辑母版文本样式</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8" name="TextBox 13"/>
          <p:cNvSpPr>
            <a:spLocks noChangeArrowheads="1"/>
          </p:cNvSpPr>
          <p:nvPr userDrawn="1"/>
        </p:nvSpPr>
        <p:spPr bwMode="auto">
          <a:xfrm>
            <a:off x="0" y="6565557"/>
            <a:ext cx="12192002" cy="292444"/>
          </a:xfrm>
          <a:prstGeom prst="rect">
            <a:avLst/>
          </a:prstGeom>
          <a:solidFill>
            <a:srgbClr val="C00000"/>
          </a:solidFill>
          <a:ln>
            <a:solidFill>
              <a:srgbClr val="C00000"/>
            </a:solidFill>
          </a:ln>
        </p:spPr>
        <p:txBody>
          <a:bodyPr vert="horz" lIns="91440" tIns="45720" rIns="91440" bIns="45720" rtlCol="0" anchor="b">
            <a:noAutofit/>
          </a:bodyPr>
          <a:lstStyle/>
          <a:p>
            <a:pPr algn="ctr" defTabSz="685800">
              <a:lnSpc>
                <a:spcPct val="90000"/>
              </a:lnSpc>
              <a:spcBef>
                <a:spcPct val="0"/>
              </a:spcBef>
            </a:pPr>
            <a:endParaRPr lang="en-US" altLang="zh-CN" sz="1200" dirty="0">
              <a:solidFill>
                <a:schemeClr val="bg1"/>
              </a:solidFill>
              <a:latin typeface="+mj-ea"/>
              <a:ea typeface="+mj-ea"/>
              <a:cs typeface="+mj-cs"/>
              <a:sym typeface="微软雅黑" panose="020B0503020204020204" charset="-122"/>
            </a:endParaRPr>
          </a:p>
        </p:txBody>
      </p:sp>
      <p:sp>
        <p:nvSpPr>
          <p:cNvPr id="11" name="TextBox 13"/>
          <p:cNvSpPr>
            <a:spLocks noChangeArrowheads="1"/>
          </p:cNvSpPr>
          <p:nvPr userDrawn="1"/>
        </p:nvSpPr>
        <p:spPr bwMode="auto">
          <a:xfrm>
            <a:off x="-1" y="-1"/>
            <a:ext cx="12192001" cy="5076257"/>
          </a:xfrm>
          <a:prstGeom prst="rect">
            <a:avLst/>
          </a:prstGeom>
          <a:solidFill>
            <a:srgbClr val="C00000"/>
          </a:solidFill>
          <a:ln>
            <a:noFill/>
          </a:ln>
        </p:spPr>
        <p:txBody>
          <a:bodyPr vert="horz" lIns="91440" tIns="45720" rIns="91440" bIns="45720" rtlCol="0" anchor="b">
            <a:noAutofit/>
          </a:bodyPr>
          <a:lstStyle/>
          <a:p>
            <a:pPr algn="ctr" defTabSz="685800">
              <a:lnSpc>
                <a:spcPct val="90000"/>
              </a:lnSpc>
              <a:spcBef>
                <a:spcPct val="0"/>
              </a:spcBef>
            </a:pPr>
            <a:endParaRPr lang="en-US" altLang="zh-CN" sz="1200" dirty="0">
              <a:solidFill>
                <a:schemeClr val="bg1"/>
              </a:solidFill>
              <a:latin typeface="+mj-ea"/>
              <a:ea typeface="+mj-ea"/>
              <a:cs typeface="+mj-cs"/>
              <a:sym typeface="微软雅黑" panose="020B0503020204020204" charset="-122"/>
            </a:endParaRPr>
          </a:p>
        </p:txBody>
      </p:sp>
      <p:sp>
        <p:nvSpPr>
          <p:cNvPr id="2" name="标题 1"/>
          <p:cNvSpPr>
            <a:spLocks noGrp="1"/>
          </p:cNvSpPr>
          <p:nvPr>
            <p:ph type="title"/>
          </p:nvPr>
        </p:nvSpPr>
        <p:spPr>
          <a:xfrm>
            <a:off x="120769" y="1011637"/>
            <a:ext cx="5702061" cy="679139"/>
          </a:xfrm>
        </p:spPr>
        <p:txBody>
          <a:bodyPr/>
          <a:lstStyle>
            <a:lvl1pPr algn="ctr">
              <a:defRPr sz="3600">
                <a:solidFill>
                  <a:schemeClr val="bg1"/>
                </a:solidFill>
              </a:defRPr>
            </a:lvl1pPr>
          </a:lstStyle>
          <a:p>
            <a:r>
              <a:rPr lang="zh-CN" altLang="en-US"/>
              <a:t>单击此处编辑母版标题样式</a:t>
            </a:r>
            <a:endParaRPr lang="zh-CN" altLang="en-US" dirty="0"/>
          </a:p>
        </p:txBody>
      </p:sp>
      <p:sp>
        <p:nvSpPr>
          <p:cNvPr id="10" name="Rectangle 1032"/>
          <p:cNvSpPr>
            <a:spLocks noChangeArrowheads="1"/>
          </p:cNvSpPr>
          <p:nvPr userDrawn="1"/>
        </p:nvSpPr>
        <p:spPr bwMode="auto">
          <a:xfrm>
            <a:off x="199705" y="5488026"/>
            <a:ext cx="4787900" cy="838200"/>
          </a:xfrm>
          <a:prstGeom prst="rect">
            <a:avLst/>
          </a:prstGeom>
          <a:noFill/>
          <a:ln w="9525">
            <a:noFill/>
            <a:miter lim="800000"/>
          </a:ln>
        </p:spPr>
        <p:txBody>
          <a:bodyPr/>
          <a:lstStyle/>
          <a:p>
            <a:pPr>
              <a:defRPr/>
            </a:pPr>
            <a:endParaRPr lang="en-US" altLang="zh-CN" sz="1400" b="0" dirty="0">
              <a:solidFill>
                <a:schemeClr val="tx1">
                  <a:lumMod val="50000"/>
                  <a:lumOff val="50000"/>
                </a:schemeClr>
              </a:solidFill>
              <a:ea typeface="黑体" panose="02010609060101010101" pitchFamily="2" charset="-122"/>
              <a:cs typeface="Arial" panose="020B0604020202020204" pitchFamily="34" charset="0"/>
            </a:endParaRPr>
          </a:p>
          <a:p>
            <a:pPr>
              <a:defRPr/>
            </a:pPr>
            <a:r>
              <a:rPr lang="en-US" altLang="zh-CN" sz="1400" b="0" dirty="0">
                <a:solidFill>
                  <a:schemeClr val="tx1">
                    <a:lumMod val="50000"/>
                    <a:lumOff val="50000"/>
                  </a:schemeClr>
                </a:solidFill>
                <a:ea typeface="黑体" panose="02010609060101010101" pitchFamily="2" charset="-122"/>
                <a:cs typeface="Arial" panose="020B0604020202020204" pitchFamily="34" charset="0"/>
              </a:rPr>
              <a:t>HAND Enterprise Solutions Company Ltd.</a:t>
            </a:r>
            <a:endParaRPr lang="en-US" altLang="zh-CN" sz="1400" b="0" dirty="0">
              <a:solidFill>
                <a:schemeClr val="tx1">
                  <a:lumMod val="50000"/>
                  <a:lumOff val="50000"/>
                </a:schemeClr>
              </a:solidFill>
              <a:ea typeface="黑体" panose="02010609060101010101" pitchFamily="2" charset="-122"/>
              <a:cs typeface="Arial" panose="020B0604020202020204" pitchFamily="34" charset="0"/>
            </a:endParaRPr>
          </a:p>
          <a:p>
            <a:pPr>
              <a:defRPr/>
            </a:pPr>
            <a:r>
              <a:rPr lang="en-US" altLang="zh-CN" sz="1400" b="0" dirty="0">
                <a:solidFill>
                  <a:schemeClr val="tx1">
                    <a:lumMod val="50000"/>
                    <a:lumOff val="50000"/>
                  </a:schemeClr>
                </a:solidFill>
                <a:ea typeface="黑体" panose="02010609060101010101" pitchFamily="2" charset="-122"/>
                <a:cs typeface="Arial" panose="020B0604020202020204" pitchFamily="34" charset="0"/>
              </a:rPr>
              <a:t>www.hand-china.com</a:t>
            </a:r>
            <a:endParaRPr lang="en-US" altLang="en-US" sz="1600" b="0" dirty="0">
              <a:solidFill>
                <a:schemeClr val="tx1">
                  <a:lumMod val="50000"/>
                  <a:lumOff val="50000"/>
                </a:schemeClr>
              </a:solidFill>
              <a:latin typeface="黑体" panose="02010609060101010101" pitchFamily="2" charset="-122"/>
              <a:ea typeface="黑体" panose="02010609060101010101" pitchFamily="2" charset="-122"/>
              <a:cs typeface="Arial" panose="020B0604020202020204" pitchFamily="34" charset="0"/>
            </a:endParaRPr>
          </a:p>
        </p:txBody>
      </p:sp>
      <p:sp>
        <p:nvSpPr>
          <p:cNvPr id="12" name="Text Box 1042"/>
          <p:cNvSpPr txBox="1">
            <a:spLocks noChangeArrowheads="1"/>
          </p:cNvSpPr>
          <p:nvPr userDrawn="1"/>
        </p:nvSpPr>
        <p:spPr bwMode="auto">
          <a:xfrm>
            <a:off x="199705" y="5310878"/>
            <a:ext cx="5026260" cy="400110"/>
          </a:xfrm>
          <a:prstGeom prst="rect">
            <a:avLst/>
          </a:prstGeom>
          <a:noFill/>
          <a:ln w="9525">
            <a:noFill/>
            <a:miter lim="800000"/>
          </a:ln>
        </p:spPr>
        <p:txBody>
          <a:bodyPr wrap="square">
            <a:spAutoFit/>
          </a:bodyPr>
          <a:lstStyle/>
          <a:p>
            <a:r>
              <a:rPr lang="zh-CN" altLang="en-US" sz="2000" b="1" dirty="0">
                <a:solidFill>
                  <a:srgbClr val="C00000"/>
                </a:solidFill>
                <a:latin typeface="微软雅黑" panose="020B0503020204020204" charset="-122"/>
                <a:ea typeface="微软雅黑" panose="020B0503020204020204" charset="-122"/>
              </a:rPr>
              <a:t>上海汉得信息技术股份有限公司</a:t>
            </a:r>
            <a:endParaRPr kumimoji="1" lang="zh-CN" altLang="en-US" sz="2000" b="1" dirty="0">
              <a:solidFill>
                <a:srgbClr val="C00000"/>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
        <p:nvSpPr>
          <p:cNvPr id="7" name="Rectangle 1032"/>
          <p:cNvSpPr>
            <a:spLocks noChangeArrowheads="1"/>
          </p:cNvSpPr>
          <p:nvPr userDrawn="1"/>
        </p:nvSpPr>
        <p:spPr bwMode="auto">
          <a:xfrm>
            <a:off x="3187700" y="6605587"/>
            <a:ext cx="4419600" cy="217488"/>
          </a:xfrm>
          <a:prstGeom prst="rect">
            <a:avLst/>
          </a:prstGeom>
          <a:noFill/>
          <a:ln w="9525">
            <a:noFill/>
            <a:miter lim="800000"/>
          </a:ln>
        </p:spPr>
        <p: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lumMod val="50000"/>
                  </a:prstClr>
                </a:solidFill>
                <a:latin typeface="微软雅黑" panose="020B0503020204020204" charset="-122"/>
                <a:ea typeface="微软雅黑" panose="020B0503020204020204" charset="-122"/>
              </a:rPr>
              <a:t>汉得信息 </a:t>
            </a:r>
            <a:r>
              <a:rPr lang="en-US" altLang="zh-CN" sz="1000" dirty="0">
                <a:solidFill>
                  <a:prstClr val="white">
                    <a:lumMod val="50000"/>
                  </a:prstClr>
                </a:solidFill>
                <a:latin typeface="微软雅黑" panose="020B0503020204020204" charset="-122"/>
                <a:ea typeface="微软雅黑" panose="020B0503020204020204" charset="-122"/>
              </a:rPr>
              <a:t>All</a:t>
            </a:r>
            <a:r>
              <a:rPr lang="en-US" altLang="zh-CN" sz="1000" baseline="0" dirty="0">
                <a:solidFill>
                  <a:prstClr val="white">
                    <a:lumMod val="50000"/>
                  </a:prstClr>
                </a:solidFill>
                <a:latin typeface="微软雅黑" panose="020B0503020204020204" charset="-122"/>
                <a:ea typeface="微软雅黑" panose="020B0503020204020204" charset="-122"/>
              </a:rPr>
              <a:t> Copy Right Reserved ©2019 </a:t>
            </a:r>
            <a:endParaRPr lang="en-US" altLang="zh-CN" sz="1000" dirty="0">
              <a:solidFill>
                <a:prstClr val="white">
                  <a:lumMod val="50000"/>
                </a:prstClr>
              </a:solidFill>
              <a:latin typeface="微软雅黑" panose="020B0503020204020204" charset="-122"/>
              <a:ea typeface="微软雅黑" panose="020B0503020204020204" charset="-122"/>
            </a:endParaRPr>
          </a:p>
        </p:txBody>
      </p:sp>
      <p:pic>
        <p:nvPicPr>
          <p:cNvPr id="10" name="图片 13" descr="logo.jpg"/>
          <p:cNvPicPr>
            <a:picLocks noChangeAspect="1"/>
          </p:cNvPicPr>
          <p:nvPr userDrawn="1"/>
        </p:nvPicPr>
        <p:blipFill>
          <a:blip r:embed="rId14"/>
          <a:srcRect/>
          <a:stretch>
            <a:fillRect/>
          </a:stretch>
        </p:blipFill>
        <p:spPr bwMode="auto">
          <a:xfrm>
            <a:off x="11264900" y="6596063"/>
            <a:ext cx="914400"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8"/>
          <p:cNvCxnSpPr/>
          <p:nvPr userDrawn="1"/>
        </p:nvCxnSpPr>
        <p:spPr bwMode="auto">
          <a:xfrm>
            <a:off x="0" y="6583680"/>
            <a:ext cx="12192000" cy="0"/>
          </a:xfrm>
          <a:prstGeom prst="line">
            <a:avLst/>
          </a:prstGeom>
          <a:solidFill>
            <a:srgbClr val="FFFF99"/>
          </a:solidFill>
          <a:ln w="9525" cap="flat" cmpd="sng" algn="ctr">
            <a:solidFill>
              <a:schemeClr val="bg1">
                <a:lumMod val="65000"/>
              </a:schemeClr>
            </a:solidFill>
            <a:prstDash val="solid"/>
            <a:round/>
            <a:headEnd type="none" w="med" len="med"/>
            <a:tailEnd type="none" w="med" len="med"/>
          </a:ln>
          <a:effectLst/>
        </p:spPr>
      </p:cxnSp>
      <p:sp>
        <p:nvSpPr>
          <p:cNvPr id="50" name="灯片编号占位符 2"/>
          <p:cNvSpPr txBox="1"/>
          <p:nvPr userDrawn="1"/>
        </p:nvSpPr>
        <p:spPr>
          <a:xfrm>
            <a:off x="40005" y="6573520"/>
            <a:ext cx="497840" cy="261620"/>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3.jpeg"/><Relationship Id="rId11" Type="http://schemas.openxmlformats.org/officeDocument/2006/relationships/slideLayout" Target="../slideLayouts/slideLayout1.xml"/><Relationship Id="rId10" Type="http://schemas.openxmlformats.org/officeDocument/2006/relationships/image" Target="../media/image7.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31.emf"/><Relationship Id="rId1"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8.emf"/><Relationship Id="rId1" Type="http://schemas.openxmlformats.org/officeDocument/2006/relationships/oleObject" Target="../embeddings/oleObject3.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42.png"/><Relationship Id="rId1" Type="http://schemas.openxmlformats.org/officeDocument/2006/relationships/image" Target="../media/image41.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44.png"/><Relationship Id="rId1"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46.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41.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1.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3.emf"/><Relationship Id="rId1" Type="http://schemas.openxmlformats.org/officeDocument/2006/relationships/oleObject" Target="../embeddings/oleObject4.bin"/></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xml"/><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58.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5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6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62.emf"/><Relationship Id="rId1" Type="http://schemas.openxmlformats.org/officeDocument/2006/relationships/oleObject" Target="../embeddings/oleObject5.bin"/></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2.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vmlDrawing" Target="../drawings/vmlDrawing6.vml"/><Relationship Id="rId3" Type="http://schemas.openxmlformats.org/officeDocument/2006/relationships/slideLayout" Target="../slideLayouts/slideLayout1.xml"/><Relationship Id="rId2" Type="http://schemas.openxmlformats.org/officeDocument/2006/relationships/image" Target="../media/image66.emf"/><Relationship Id="rId1" Type="http://schemas.openxmlformats.org/officeDocument/2006/relationships/oleObject" Target="../embeddings/oleObject6.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67.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xml"/><Relationship Id="rId2" Type="http://schemas.openxmlformats.org/officeDocument/2006/relationships/image" Target="../media/image68.png"/><Relationship Id="rId1" Type="http://schemas.openxmlformats.org/officeDocument/2006/relationships/image" Target="../media/image6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69.emf"/><Relationship Id="rId1" Type="http://schemas.openxmlformats.org/officeDocument/2006/relationships/oleObject" Target="../embeddings/oleObject7.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tags" Target="../tags/tag16.xml"/><Relationship Id="rId1" Type="http://schemas.openxmlformats.org/officeDocument/2006/relationships/tags" Target="../tags/tag15.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C:\Documents and Settings\IBM\桌面\logo.png"/>
          <p:cNvPicPr>
            <a:picLocks noChangeAspect="1" noChangeArrowheads="1"/>
          </p:cNvPicPr>
          <p:nvPr/>
        </p:nvPicPr>
        <p:blipFill>
          <a:blip r:embed="rId1" cstate="screen"/>
          <a:srcRect/>
          <a:stretch>
            <a:fillRect/>
          </a:stretch>
        </p:blipFill>
        <p:spPr bwMode="auto">
          <a:xfrm>
            <a:off x="9948230" y="5417047"/>
            <a:ext cx="2093909" cy="59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p:cNvSpPr txBox="1"/>
          <p:nvPr/>
        </p:nvSpPr>
        <p:spPr>
          <a:xfrm>
            <a:off x="1091565" y="935990"/>
            <a:ext cx="10704830" cy="353504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algn="l">
              <a:lnSpc>
                <a:spcPct val="150000"/>
              </a:lnSpc>
            </a:pPr>
            <a:r>
              <a:rPr lang="zh-CN" altLang="en-US" sz="5400" dirty="0"/>
              <a:t>世纪宝姿</a:t>
            </a:r>
            <a:r>
              <a:rPr lang="zh-CN" altLang="en-US" sz="4400" dirty="0"/>
              <a:t>供应商关系管理系统</a:t>
            </a:r>
            <a:r>
              <a:rPr lang="en-US" altLang="zh-CN" sz="4400" dirty="0"/>
              <a:t>(SRM)</a:t>
            </a:r>
            <a:br>
              <a:rPr lang="en-US" altLang="zh-CN" sz="4400" dirty="0"/>
            </a:br>
            <a:r>
              <a:rPr lang="zh-CN" altLang="en-US" sz="4400" dirty="0"/>
              <a:t>蓝图汇报</a:t>
            </a:r>
            <a:endParaRPr lang="zh-CN" altLang="en-US" sz="4400" dirty="0"/>
          </a:p>
          <a:p>
            <a:pPr algn="r">
              <a:lnSpc>
                <a:spcPct val="130000"/>
              </a:lnSpc>
            </a:pPr>
            <a:endParaRPr lang="en-US" altLang="zh-CN" dirty="0"/>
          </a:p>
          <a:p>
            <a:pPr algn="r">
              <a:lnSpc>
                <a:spcPct val="190000"/>
              </a:lnSpc>
            </a:pPr>
            <a:r>
              <a:rPr lang="en-US" altLang="zh-CN" dirty="0"/>
              <a:t>——</a:t>
            </a:r>
            <a:r>
              <a:rPr lang="zh-CN" altLang="en-US" dirty="0"/>
              <a:t>供应商管理模块（成衣）</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标题 1"/>
          <p:cNvSpPr>
            <a:spLocks noChangeArrowheads="1"/>
          </p:cNvSpPr>
          <p:nvPr/>
        </p:nvSpPr>
        <p:spPr>
          <a:xfrm>
            <a:off x="120651" y="333360"/>
            <a:ext cx="9144000" cy="334963"/>
          </a:xfrm>
          <a:prstGeom prst="rect">
            <a:avLst/>
          </a:prstGeom>
          <a:noFill/>
          <a:ln>
            <a:noFill/>
          </a:ln>
        </p:spPr>
        <p:txBody>
          <a:bodyPr vert="horz" wrap="square" lIns="91440" tIns="45720" rIns="91440" bIns="45720" numCol="1" rtlCol="0" anchor="ctr" anchorCtr="0" compatLnSpc="1">
            <a:noAutofit/>
          </a:bodyPr>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pPr lvl="0" algn="l">
              <a:buClrTx/>
              <a:buSzTx/>
              <a:buFontTx/>
            </a:pPr>
            <a:r>
              <a:rPr lang="zh-CN" altLang="en-US" dirty="0" smtClean="0">
                <a:sym typeface="+mn-ea"/>
              </a:rPr>
              <a:t>项目团队介绍</a:t>
            </a:r>
            <a:endParaRPr lang="zh-CN" altLang="en-US" dirty="0">
              <a:sym typeface="+mn-ea"/>
            </a:endParaRPr>
          </a:p>
        </p:txBody>
      </p:sp>
      <p:graphicFrame>
        <p:nvGraphicFramePr>
          <p:cNvPr id="2" name="表格 1"/>
          <p:cNvGraphicFramePr>
            <a:graphicFrameLocks noGrp="1"/>
          </p:cNvGraphicFramePr>
          <p:nvPr/>
        </p:nvGraphicFramePr>
        <p:xfrm>
          <a:off x="244763" y="815109"/>
          <a:ext cx="11617498" cy="5585692"/>
        </p:xfrm>
        <a:graphic>
          <a:graphicData uri="http://schemas.openxmlformats.org/drawingml/2006/table">
            <a:tbl>
              <a:tblPr firstRow="1" bandRow="1">
                <a:tableStyleId>{93296810-A885-4BE3-A3E7-6D5BEEA58F35}</a:tableStyleId>
              </a:tblPr>
              <a:tblGrid>
                <a:gridCol w="789774"/>
                <a:gridCol w="1411137"/>
                <a:gridCol w="1927972"/>
                <a:gridCol w="7488615"/>
              </a:tblGrid>
              <a:tr h="625866">
                <a:tc>
                  <a:txBody>
                    <a:bodyPr/>
                    <a:lstStyle/>
                    <a:p>
                      <a:r>
                        <a:rPr lang="zh-CN" altLang="en-US" sz="1600" dirty="0" smtClean="0"/>
                        <a:t>序号</a:t>
                      </a:r>
                      <a:endParaRPr lang="zh-CN" altLang="en-US" sz="1600" dirty="0"/>
                    </a:p>
                  </a:txBody>
                  <a:tcPr anchor="ctr"/>
                </a:tc>
                <a:tc>
                  <a:txBody>
                    <a:bodyPr/>
                    <a:lstStyle/>
                    <a:p>
                      <a:r>
                        <a:rPr lang="zh-CN" altLang="en-US" sz="1600" dirty="0" smtClean="0"/>
                        <a:t>姓名</a:t>
                      </a:r>
                      <a:endParaRPr lang="zh-CN" altLang="en-US" sz="1600" dirty="0"/>
                    </a:p>
                  </a:txBody>
                  <a:tcPr anchor="ctr"/>
                </a:tc>
                <a:tc>
                  <a:txBody>
                    <a:bodyPr/>
                    <a:lstStyle/>
                    <a:p>
                      <a:r>
                        <a:rPr lang="zh-CN" altLang="en-US" sz="1600" dirty="0" smtClean="0"/>
                        <a:t>项目角色</a:t>
                      </a:r>
                      <a:endParaRPr lang="zh-CN" altLang="en-US" sz="1600" dirty="0"/>
                    </a:p>
                  </a:txBody>
                  <a:tcPr anchor="ctr"/>
                </a:tc>
                <a:tc>
                  <a:txBody>
                    <a:bodyPr/>
                    <a:lstStyle/>
                    <a:p>
                      <a:r>
                        <a:rPr lang="zh-CN" altLang="en-US" sz="1600" dirty="0" smtClean="0"/>
                        <a:t>主要工作</a:t>
                      </a:r>
                      <a:endParaRPr lang="zh-CN" altLang="en-US" sz="1600" dirty="0"/>
                    </a:p>
                  </a:txBody>
                  <a:tcPr anchor="ctr"/>
                </a:tc>
              </a:tr>
              <a:tr h="407150">
                <a:tc>
                  <a:txBody>
                    <a:bodyPr/>
                    <a:lstStyle/>
                    <a:p>
                      <a:r>
                        <a:rPr lang="en-US" altLang="zh-CN" sz="1600" dirty="0" smtClean="0"/>
                        <a:t>1</a:t>
                      </a:r>
                      <a:endParaRPr lang="zh-CN" altLang="en-US" sz="1600" dirty="0"/>
                    </a:p>
                  </a:txBody>
                  <a:tcPr anchor="ctr"/>
                </a:tc>
                <a:tc>
                  <a:txBody>
                    <a:bodyPr/>
                    <a:lstStyle/>
                    <a:p>
                      <a:r>
                        <a:rPr lang="en-US" altLang="zh-CN" sz="1600" dirty="0" smtClean="0"/>
                        <a:t>Amanda</a:t>
                      </a:r>
                      <a:endParaRPr lang="zh-CN" altLang="en-US" sz="1600" dirty="0"/>
                    </a:p>
                  </a:txBody>
                  <a:tcPr anchor="ctr"/>
                </a:tc>
                <a:tc>
                  <a:txBody>
                    <a:bodyPr/>
                    <a:lstStyle/>
                    <a:p>
                      <a:r>
                        <a:rPr lang="zh-CN" altLang="en-US" sz="1600" dirty="0" smtClean="0"/>
                        <a:t>项目总监</a:t>
                      </a:r>
                      <a:endParaRPr lang="zh-CN" altLang="en-US" sz="1600" dirty="0"/>
                    </a:p>
                  </a:txBody>
                  <a:tcPr anchor="ctr"/>
                </a:tc>
                <a:tc rowSpan="2">
                  <a:txBody>
                    <a:bodyPr/>
                    <a:lstStyle/>
                    <a:p>
                      <a:pPr marL="171450" lvl="2" indent="-171450" eaLnBrk="0" fontAlgn="base" hangingPunct="0">
                        <a:lnSpc>
                          <a:spcPct val="90000"/>
                        </a:lnSpc>
                        <a:spcBef>
                          <a:spcPct val="55000"/>
                        </a:spcBef>
                        <a:spcAft>
                          <a:spcPct val="0"/>
                        </a:spcAft>
                        <a:buFont typeface="Arial" panose="020B0604020202020204" pitchFamily="34" charset="0"/>
                        <a:buChar char="•"/>
                        <a:defRPr/>
                      </a:pPr>
                      <a:r>
                        <a:rPr lang="zh-CN" altLang="en-US" sz="1100" kern="0" dirty="0" smtClean="0"/>
                        <a:t>全程监管项目的整体实施进度，对项目的规划和实施进行宏观控制；确保公司各机构积极支持并配合项目的实施；对项目的重大方案与变革及时进行决策；为项目提供公司级别的资源保证。</a:t>
                      </a:r>
                      <a:endParaRPr lang="en-US" altLang="zh-CN" sz="1100" kern="0" dirty="0">
                        <a:solidFill>
                          <a:schemeClr val="tx1"/>
                        </a:solidFill>
                        <a:latin typeface="微软雅黑" panose="020B0503020204020204" charset="-122"/>
                        <a:ea typeface="+mn-ea"/>
                      </a:endParaRPr>
                    </a:p>
                  </a:txBody>
                  <a:tcPr anchor="ctr"/>
                </a:tc>
              </a:tr>
              <a:tr h="407150">
                <a:tc>
                  <a:txBody>
                    <a:bodyPr/>
                    <a:lstStyle/>
                    <a:p>
                      <a:r>
                        <a:rPr lang="en-US" altLang="zh-CN" sz="1600" dirty="0" smtClean="0"/>
                        <a:t>2</a:t>
                      </a:r>
                      <a:endParaRPr lang="zh-CN" altLang="en-US" sz="1600" dirty="0"/>
                    </a:p>
                  </a:txBody>
                  <a:tcPr anchor="ctr"/>
                </a:tc>
                <a:tc>
                  <a:txBody>
                    <a:bodyPr/>
                    <a:lstStyle/>
                    <a:p>
                      <a:r>
                        <a:rPr lang="zh-CN" altLang="en-US" sz="1600" dirty="0" smtClean="0"/>
                        <a:t>赵华</a:t>
                      </a:r>
                      <a:endParaRPr lang="zh-CN" altLang="en-US" sz="1600" dirty="0"/>
                    </a:p>
                  </a:txBody>
                  <a:tcPr anchor="ctr"/>
                </a:tc>
                <a:tc>
                  <a:txBody>
                    <a:bodyPr/>
                    <a:lstStyle/>
                    <a:p>
                      <a:r>
                        <a:rPr lang="zh-CN" altLang="en-US" sz="1600" dirty="0" smtClean="0"/>
                        <a:t>执行总监</a:t>
                      </a:r>
                      <a:endParaRPr lang="zh-CN" altLang="en-US" sz="1600" dirty="0"/>
                    </a:p>
                  </a:txBody>
                  <a:tcPr anchor="ctr"/>
                </a:tc>
                <a:tc vMerge="1">
                  <a:tcPr anchor="ctr"/>
                </a:tc>
              </a:tr>
              <a:tr h="407150">
                <a:tc>
                  <a:txBody>
                    <a:bodyPr/>
                    <a:lstStyle/>
                    <a:p>
                      <a:r>
                        <a:rPr lang="en-US" altLang="zh-CN" sz="1600" dirty="0" smtClean="0"/>
                        <a:t>3</a:t>
                      </a:r>
                      <a:endParaRPr lang="zh-CN" altLang="en-US" sz="1600" dirty="0"/>
                    </a:p>
                  </a:txBody>
                  <a:tcPr anchor="ctr"/>
                </a:tc>
                <a:tc>
                  <a:txBody>
                    <a:bodyPr/>
                    <a:lstStyle/>
                    <a:p>
                      <a:r>
                        <a:rPr lang="zh-CN" altLang="en-US" sz="1600" kern="1200" dirty="0" smtClean="0">
                          <a:sym typeface="+mn-ea"/>
                        </a:rPr>
                        <a:t>梅宇栋</a:t>
                      </a:r>
                      <a:endParaRPr lang="zh-CN" altLang="en-US" sz="1600" dirty="0"/>
                    </a:p>
                  </a:txBody>
                  <a:tcPr anchor="ctr"/>
                </a:tc>
                <a:tc>
                  <a:txBody>
                    <a:bodyPr/>
                    <a:lstStyle/>
                    <a:p>
                      <a:r>
                        <a:rPr lang="zh-CN" altLang="en-US" sz="1600" dirty="0" smtClean="0"/>
                        <a:t>项目经理</a:t>
                      </a:r>
                      <a:endParaRPr lang="zh-CN" altLang="en-US" sz="1600" dirty="0"/>
                    </a:p>
                  </a:txBody>
                  <a:tcPr anchor="ctr"/>
                </a:tc>
                <a:tc rowSpan="2">
                  <a:txBody>
                    <a:bodyPr/>
                    <a:lstStyle/>
                    <a:p>
                      <a:pPr marL="171450" lvl="2" indent="-171450" algn="l" defTabSz="914400" rtl="0" eaLnBrk="0" fontAlgn="base" latinLnBrk="0" hangingPunct="0">
                        <a:lnSpc>
                          <a:spcPct val="90000"/>
                        </a:lnSpc>
                        <a:spcBef>
                          <a:spcPct val="55000"/>
                        </a:spcBef>
                        <a:spcAft>
                          <a:spcPct val="0"/>
                        </a:spcAft>
                        <a:buFont typeface="Arial" panose="020B0604020202020204" pitchFamily="34" charset="0"/>
                        <a:buChar char="•"/>
                        <a:defRPr/>
                      </a:pPr>
                      <a:r>
                        <a:rPr lang="zh-CN" altLang="en-US" sz="1100" kern="0" dirty="0" smtClean="0"/>
                        <a:t>制定、监督和实施项目规划和相关工作日程；监控项目进展、任务完成情况及该项目的资源分配和发挥的效益；管理问题解决进展，分配优先级别并监督相关校正措施的实施；管理变更控制过程。负责部分业务线方案落地。</a:t>
                      </a:r>
                      <a:endParaRPr lang="zh-CN" altLang="en-US" sz="1100" kern="0" dirty="0" smtClean="0">
                        <a:solidFill>
                          <a:schemeClr val="tx1"/>
                        </a:solidFill>
                        <a:latin typeface="微软雅黑" panose="020B0503020204020204" charset="-122"/>
                        <a:ea typeface="+mn-ea"/>
                        <a:cs typeface="+mn-cs"/>
                      </a:endParaRPr>
                    </a:p>
                  </a:txBody>
                  <a:tcPr anchor="ctr"/>
                </a:tc>
              </a:tr>
              <a:tr h="40715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dirty="0" smtClean="0"/>
                        <a:t>4</a:t>
                      </a:r>
                      <a:endParaRPr lang="zh-CN" altLang="en-US" sz="1600" dirty="0" smtClean="0"/>
                    </a:p>
                  </a:txBody>
                  <a:tcPr anchor="ctr"/>
                </a:tc>
                <a:tc>
                  <a:txBody>
                    <a:bodyPr/>
                    <a:lstStyle/>
                    <a:p>
                      <a:r>
                        <a:rPr lang="zh-CN" altLang="en-US" sz="1600" dirty="0" smtClean="0"/>
                        <a:t>周小松</a:t>
                      </a:r>
                      <a:endParaRPr lang="zh-CN" altLang="en-US" sz="1600" dirty="0"/>
                    </a:p>
                  </a:txBody>
                  <a:tcPr anchor="ctr"/>
                </a:tc>
                <a:tc>
                  <a:txBody>
                    <a:bodyPr/>
                    <a:lstStyle/>
                    <a:p>
                      <a:r>
                        <a:rPr lang="zh-CN" altLang="en-US" sz="1600" dirty="0" smtClean="0"/>
                        <a:t>执行经理</a:t>
                      </a:r>
                      <a:endParaRPr lang="zh-CN" altLang="en-US" sz="1600" dirty="0"/>
                    </a:p>
                  </a:txBody>
                  <a:tcPr anchor="ctr"/>
                </a:tc>
                <a:tc vMerge="1">
                  <a:tcPr/>
                </a:tc>
              </a:tr>
              <a:tr h="407150">
                <a:tc>
                  <a:txBody>
                    <a:bodyPr/>
                    <a:lstStyle/>
                    <a:p>
                      <a:r>
                        <a:rPr lang="en-US" altLang="zh-CN" sz="1600" dirty="0" smtClean="0"/>
                        <a:t>5</a:t>
                      </a:r>
                      <a:endParaRPr lang="zh-CN" altLang="en-US" sz="1600" dirty="0"/>
                    </a:p>
                  </a:txBody>
                  <a:tcPr anchor="ctr"/>
                </a:tc>
                <a:tc>
                  <a:txBody>
                    <a:bodyPr/>
                    <a:lstStyle/>
                    <a:p>
                      <a:r>
                        <a:rPr lang="zh-CN" altLang="en-US" sz="1600" dirty="0" smtClean="0"/>
                        <a:t>蔡敏慧</a:t>
                      </a:r>
                      <a:endParaRPr lang="zh-CN" altLang="en-US" sz="1600" dirty="0"/>
                    </a:p>
                  </a:txBody>
                  <a:tcPr anchor="ctr"/>
                </a:tc>
                <a:tc>
                  <a:txBody>
                    <a:bodyPr/>
                    <a:lstStyle/>
                    <a:p>
                      <a:r>
                        <a:rPr lang="zh-CN" altLang="en-US" sz="1600" dirty="0" smtClean="0"/>
                        <a:t>业务顾问</a:t>
                      </a:r>
                      <a:endParaRPr lang="zh-CN" altLang="en-US" sz="1600" dirty="0"/>
                    </a:p>
                  </a:txBody>
                  <a:tcPr anchor="ctr"/>
                </a:tc>
                <a:tc rowSpan="2">
                  <a:txBody>
                    <a:bodyPr/>
                    <a:lstStyle/>
                    <a:p>
                      <a:pPr marL="171450" indent="-171450" eaLnBrk="0" fontAlgn="auto" hangingPunct="0">
                        <a:lnSpc>
                          <a:spcPct val="90000"/>
                        </a:lnSpc>
                        <a:spcBef>
                          <a:spcPct val="55000"/>
                        </a:spcBef>
                        <a:spcAft>
                          <a:spcPts val="0"/>
                        </a:spcAft>
                        <a:buFont typeface="Arial" panose="020B0604020202020204" pitchFamily="34" charset="0"/>
                        <a:buChar char="•"/>
                      </a:pPr>
                      <a:r>
                        <a:rPr lang="zh-CN" altLang="en-US" sz="1100" kern="0" dirty="0" smtClean="0">
                          <a:sym typeface="Arial" panose="020B0604020202020204" pitchFamily="34" charset="0"/>
                        </a:rPr>
                        <a:t>为项目任务准备详细实施计划；业务需求及差异分析；为系统设计提供指导和建议；辅助并参加包括数据转换、接口和报表的系统开发和文档制定；向关键用户提供业务流程设计和培训最终用户的方法；主导系统配置、启用和安全工作。负责各自业务模块的测试、培训工作。</a:t>
                      </a:r>
                      <a:endParaRPr lang="zh-CN" altLang="en-US" sz="1100" kern="0" dirty="0" smtClean="0">
                        <a:solidFill>
                          <a:schemeClr val="tx1"/>
                        </a:solidFill>
                        <a:latin typeface="微软雅黑" panose="020B0503020204020204" charset="-122"/>
                        <a:ea typeface="+mn-ea"/>
                        <a:cs typeface="+mn-cs"/>
                        <a:sym typeface="Arial" panose="020B0604020202020204" pitchFamily="34" charset="0"/>
                      </a:endParaRPr>
                    </a:p>
                  </a:txBody>
                  <a:tcPr anchor="ctr"/>
                </a:tc>
              </a:tr>
              <a:tr h="407150">
                <a:tc>
                  <a:txBody>
                    <a:bodyPr/>
                    <a:lstStyle/>
                    <a:p>
                      <a:r>
                        <a:rPr lang="en-US" altLang="zh-CN" sz="1600" dirty="0" smtClean="0"/>
                        <a:t>6</a:t>
                      </a:r>
                      <a:endParaRPr lang="zh-CN" altLang="en-US" sz="1600" dirty="0"/>
                    </a:p>
                  </a:txBody>
                  <a:tcPr anchor="ctr"/>
                </a:tc>
                <a:tc>
                  <a:txBody>
                    <a:bodyPr/>
                    <a:lstStyle/>
                    <a:p>
                      <a:r>
                        <a:rPr lang="zh-CN" altLang="en-US" sz="1600" dirty="0" smtClean="0"/>
                        <a:t>周丹</a:t>
                      </a:r>
                      <a:endParaRPr lang="zh-CN" altLang="en-US" sz="1600" dirty="0"/>
                    </a:p>
                  </a:txBody>
                  <a:tcPr anchor="ctr"/>
                </a:tc>
                <a:tc>
                  <a:txBody>
                    <a:bodyPr/>
                    <a:lstStyle/>
                    <a:p>
                      <a:r>
                        <a:rPr lang="zh-CN" altLang="en-US" sz="1600" dirty="0" smtClean="0"/>
                        <a:t>业务顾问</a:t>
                      </a:r>
                      <a:endParaRPr lang="zh-CN" altLang="en-US" sz="1600" dirty="0"/>
                    </a:p>
                  </a:txBody>
                  <a:tcPr anchor="ctr"/>
                </a:tc>
                <a:tc vMerge="1">
                  <a:tcPr anchor="ctr"/>
                </a:tc>
              </a:tr>
              <a:tr h="407150">
                <a:tc>
                  <a:txBody>
                    <a:bodyPr/>
                    <a:lstStyle/>
                    <a:p>
                      <a:r>
                        <a:rPr lang="en-US" altLang="zh-CN" sz="1600" dirty="0" smtClean="0"/>
                        <a:t>7</a:t>
                      </a:r>
                      <a:endParaRPr lang="zh-CN" altLang="en-US" sz="1600" dirty="0"/>
                    </a:p>
                  </a:txBody>
                  <a:tcPr anchor="ctr"/>
                </a:tc>
                <a:tc>
                  <a:txBody>
                    <a:bodyPr/>
                    <a:lstStyle/>
                    <a:p>
                      <a:r>
                        <a:rPr lang="zh-CN" altLang="en-US" sz="1600" dirty="0" smtClean="0"/>
                        <a:t>徐超</a:t>
                      </a:r>
                      <a:endParaRPr lang="zh-CN" altLang="en-US" sz="1600" dirty="0"/>
                    </a:p>
                  </a:txBody>
                  <a:tcPr anchor="ctr"/>
                </a:tc>
                <a:tc>
                  <a:txBody>
                    <a:bodyPr/>
                    <a:lstStyle/>
                    <a:p>
                      <a:r>
                        <a:rPr lang="zh-CN" altLang="en-US" sz="1600" dirty="0" smtClean="0"/>
                        <a:t>技术经理</a:t>
                      </a:r>
                      <a:endParaRPr lang="zh-CN" altLang="en-US" sz="1600" dirty="0"/>
                    </a:p>
                  </a:txBody>
                  <a:tcPr anchor="ctr"/>
                </a:tc>
                <a:tc>
                  <a:txBody>
                    <a:bodyPr/>
                    <a:lstStyle/>
                    <a:p>
                      <a:pPr marL="171450" indent="-171450">
                        <a:buFont typeface="Arial" panose="020B0604020202020204" pitchFamily="34" charset="0"/>
                        <a:buChar char="•"/>
                      </a:pPr>
                      <a:r>
                        <a:rPr lang="zh-CN" altLang="en-US" sz="1100" kern="0" dirty="0" smtClean="0"/>
                        <a:t>制定、监督开发计划，协调内部技术资源，管理技术方案落地进度，负责技术难题处理。</a:t>
                      </a:r>
                      <a:endParaRPr lang="zh-CN" altLang="en-US" sz="1100" kern="0" dirty="0">
                        <a:solidFill>
                          <a:schemeClr val="tx1"/>
                        </a:solidFill>
                        <a:latin typeface="微软雅黑" panose="020B0503020204020204" charset="-122"/>
                        <a:ea typeface="+mn-ea"/>
                        <a:cs typeface="+mn-cs"/>
                      </a:endParaRPr>
                    </a:p>
                  </a:txBody>
                  <a:tcPr anchor="ctr"/>
                </a:tc>
              </a:tr>
              <a:tr h="407150">
                <a:tc>
                  <a:txBody>
                    <a:bodyPr/>
                    <a:lstStyle/>
                    <a:p>
                      <a:r>
                        <a:rPr lang="en-US" altLang="zh-CN" sz="1600" dirty="0" smtClean="0"/>
                        <a:t>8</a:t>
                      </a:r>
                      <a:endParaRPr lang="zh-CN" altLang="en-US" sz="1600" dirty="0"/>
                    </a:p>
                  </a:txBody>
                  <a:tcPr anchor="ctr"/>
                </a:tc>
                <a:tc>
                  <a:txBody>
                    <a:bodyPr/>
                    <a:lstStyle/>
                    <a:p>
                      <a:r>
                        <a:rPr lang="zh-CN" altLang="en-US" sz="1600" dirty="0" smtClean="0"/>
                        <a:t>谢帅</a:t>
                      </a:r>
                      <a:endParaRPr lang="zh-CN" altLang="en-US" sz="1600" dirty="0"/>
                    </a:p>
                  </a:txBody>
                  <a:tcPr anchor="ctr"/>
                </a:tc>
                <a:tc>
                  <a:txBody>
                    <a:bodyPr/>
                    <a:lstStyle/>
                    <a:p>
                      <a:r>
                        <a:rPr lang="zh-CN" altLang="en-US" sz="1600" kern="1200" dirty="0" smtClean="0">
                          <a:effectLst/>
                        </a:rPr>
                        <a:t>技术顾问</a:t>
                      </a:r>
                      <a:r>
                        <a:rPr lang="en-US" altLang="zh-CN" sz="1600" kern="1200" dirty="0" smtClean="0">
                          <a:effectLst/>
                        </a:rPr>
                        <a:t>-</a:t>
                      </a:r>
                      <a:r>
                        <a:rPr lang="zh-CN" altLang="en-US" sz="1600" kern="1200" dirty="0" smtClean="0">
                          <a:effectLst/>
                        </a:rPr>
                        <a:t>后端</a:t>
                      </a:r>
                      <a:endParaRPr lang="zh-CN" altLang="en-US" sz="1600" dirty="0"/>
                    </a:p>
                  </a:txBody>
                  <a:tcPr anchor="ctr"/>
                </a:tc>
                <a:tc rowSpan="5">
                  <a:txBody>
                    <a:bodyPr/>
                    <a:lstStyle/>
                    <a:p>
                      <a:pPr marL="171450" lvl="0" indent="-171450">
                        <a:buFont typeface="Arial" panose="020B0604020202020204" pitchFamily="34" charset="0"/>
                        <a:buChar char="•"/>
                      </a:pPr>
                      <a:r>
                        <a:rPr lang="zh-CN" altLang="en-US" sz="1100" kern="0" dirty="0" smtClean="0"/>
                        <a:t>指导培训</a:t>
                      </a:r>
                      <a:r>
                        <a:rPr lang="zh-CN" altLang="zh-CN" sz="1100" kern="0" dirty="0" smtClean="0"/>
                        <a:t>与应用程序中的技术组件有关的知识；</a:t>
                      </a:r>
                      <a:endParaRPr lang="zh-CN" altLang="zh-CN" sz="1100" kern="0" dirty="0" smtClean="0"/>
                    </a:p>
                    <a:p>
                      <a:pPr marL="171450" lvl="0" indent="-171450">
                        <a:buFont typeface="Arial" panose="020B0604020202020204" pitchFamily="34" charset="0"/>
                        <a:buChar char="•"/>
                      </a:pPr>
                      <a:r>
                        <a:rPr lang="zh-CN" altLang="zh-CN" sz="1100" kern="0" dirty="0" smtClean="0"/>
                        <a:t>为技术</a:t>
                      </a:r>
                      <a:r>
                        <a:rPr lang="en-US" altLang="zh-CN" sz="1100" kern="0" dirty="0" smtClean="0"/>
                        <a:t>SRM</a:t>
                      </a:r>
                      <a:r>
                        <a:rPr lang="zh-CN" altLang="zh-CN" sz="1100" kern="0" dirty="0" smtClean="0"/>
                        <a:t>项目组件准备实施计划；</a:t>
                      </a:r>
                      <a:endParaRPr lang="zh-CN" altLang="zh-CN" sz="1100" kern="0" dirty="0" smtClean="0"/>
                    </a:p>
                    <a:p>
                      <a:pPr marL="171450" lvl="0" indent="-171450">
                        <a:buFont typeface="Arial" panose="020B0604020202020204" pitchFamily="34" charset="0"/>
                        <a:buChar char="•"/>
                      </a:pPr>
                      <a:r>
                        <a:rPr lang="zh-CN" altLang="zh-CN" sz="1100" kern="0" dirty="0" smtClean="0"/>
                        <a:t>准备指标和估算，参与差异分析，辅助系统配置；</a:t>
                      </a:r>
                      <a:endParaRPr lang="zh-CN" altLang="zh-CN" sz="1100" kern="0" dirty="0" smtClean="0"/>
                    </a:p>
                    <a:p>
                      <a:pPr marL="171450" lvl="0" indent="-171450">
                        <a:buFont typeface="Arial" panose="020B0604020202020204" pitchFamily="34" charset="0"/>
                        <a:buChar char="•"/>
                      </a:pPr>
                      <a:r>
                        <a:rPr lang="zh-CN" altLang="zh-CN" sz="1100" kern="0" dirty="0" smtClean="0"/>
                        <a:t>负责范围定义中列出的客户化开发的主要责任，或者根据需要，提供项目定义中描述的功能；</a:t>
                      </a:r>
                      <a:endParaRPr lang="zh-CN" altLang="zh-CN" sz="1100" kern="0" dirty="0" smtClean="0"/>
                    </a:p>
                    <a:p>
                      <a:pPr marL="171450" lvl="0" indent="-171450">
                        <a:buFont typeface="Arial" panose="020B0604020202020204" pitchFamily="34" charset="0"/>
                        <a:buChar char="•"/>
                      </a:pPr>
                      <a:r>
                        <a:rPr lang="zh-CN" altLang="zh-CN" sz="1100" kern="0" dirty="0" smtClean="0"/>
                        <a:t>为数据迁移计划、接口计划和报告提供技术建议；</a:t>
                      </a:r>
                      <a:endParaRPr lang="zh-CN" altLang="zh-CN" sz="1100" kern="0" dirty="0" smtClean="0"/>
                    </a:p>
                    <a:p>
                      <a:pPr marL="171450" lvl="0" indent="-171450">
                        <a:buFont typeface="Arial" panose="020B0604020202020204" pitchFamily="34" charset="0"/>
                        <a:buChar char="•"/>
                      </a:pPr>
                      <a:r>
                        <a:rPr lang="zh-CN" altLang="zh-CN" sz="1100" kern="0" dirty="0" smtClean="0"/>
                        <a:t>为技术环境架构和流程的设计提供建议和帮助；</a:t>
                      </a:r>
                      <a:endParaRPr lang="zh-CN" altLang="zh-CN" sz="1100" kern="0" dirty="0" smtClean="0"/>
                    </a:p>
                    <a:p>
                      <a:pPr marL="171450" indent="-171450">
                        <a:buFont typeface="Arial" panose="020B0604020202020204" pitchFamily="34" charset="0"/>
                        <a:buChar char="•"/>
                      </a:pPr>
                      <a:r>
                        <a:rPr lang="zh-CN" altLang="zh-CN" sz="1100" kern="0" dirty="0" smtClean="0"/>
                        <a:t>领导在系统测试和用户验收测试中发现问题的解决工作</a:t>
                      </a:r>
                      <a:endParaRPr lang="zh-CN" altLang="en-US" sz="1100" kern="0" dirty="0">
                        <a:solidFill>
                          <a:schemeClr val="tx1"/>
                        </a:solidFill>
                        <a:latin typeface="微软雅黑" panose="020B0503020204020204" charset="-122"/>
                        <a:ea typeface="+mn-ea"/>
                        <a:cs typeface="+mn-cs"/>
                      </a:endParaRPr>
                    </a:p>
                  </a:txBody>
                  <a:tcPr anchor="ctr"/>
                </a:tc>
              </a:tr>
              <a:tr h="407150">
                <a:tc>
                  <a:txBody>
                    <a:bodyPr/>
                    <a:lstStyle/>
                    <a:p>
                      <a:r>
                        <a:rPr lang="en-US" altLang="zh-CN" sz="1600" dirty="0" smtClean="0"/>
                        <a:t>9</a:t>
                      </a:r>
                      <a:endParaRPr lang="zh-CN" altLang="en-US" sz="1600" dirty="0"/>
                    </a:p>
                  </a:txBody>
                  <a:tcPr anchor="ctr"/>
                </a:tc>
                <a:tc>
                  <a:txBody>
                    <a:bodyPr/>
                    <a:lstStyle/>
                    <a:p>
                      <a:r>
                        <a:rPr lang="zh-CN" altLang="en-US" sz="1600" dirty="0" smtClean="0"/>
                        <a:t>魏佳炜</a:t>
                      </a:r>
                      <a:endParaRPr lang="zh-CN" altLang="en-US" sz="1600" dirty="0"/>
                    </a:p>
                  </a:txBody>
                  <a:tcPr anchor="ctr"/>
                </a:tc>
                <a:tc>
                  <a:txBody>
                    <a:bodyPr/>
                    <a:lstStyle/>
                    <a:p>
                      <a:r>
                        <a:rPr lang="zh-CN" altLang="en-US" sz="1600" kern="1200" dirty="0" smtClean="0">
                          <a:effectLst/>
                        </a:rPr>
                        <a:t>技术顾问</a:t>
                      </a:r>
                      <a:r>
                        <a:rPr lang="en-US" altLang="zh-CN" sz="1600" kern="1200" dirty="0" smtClean="0">
                          <a:effectLst/>
                        </a:rPr>
                        <a:t>-</a:t>
                      </a:r>
                      <a:r>
                        <a:rPr lang="zh-CN" altLang="en-US" sz="1600" kern="1200" dirty="0" smtClean="0">
                          <a:effectLst/>
                        </a:rPr>
                        <a:t>后端</a:t>
                      </a:r>
                      <a:endParaRPr lang="zh-CN" altLang="en-US" sz="1600" dirty="0"/>
                    </a:p>
                  </a:txBody>
                  <a:tcPr anchor="ctr"/>
                </a:tc>
                <a:tc vMerge="1">
                  <a:tcPr anchor="ctr"/>
                </a:tc>
              </a:tr>
              <a:tr h="407150">
                <a:tc>
                  <a:txBody>
                    <a:bodyPr/>
                    <a:lstStyle/>
                    <a:p>
                      <a:r>
                        <a:rPr lang="en-US" altLang="zh-CN" sz="1600" dirty="0" smtClean="0"/>
                        <a:t>10</a:t>
                      </a:r>
                      <a:endParaRPr lang="zh-CN" altLang="en-US" sz="1600" dirty="0"/>
                    </a:p>
                  </a:txBody>
                  <a:tcPr anchor="ctr"/>
                </a:tc>
                <a:tc>
                  <a:txBody>
                    <a:bodyPr/>
                    <a:lstStyle/>
                    <a:p>
                      <a:r>
                        <a:rPr lang="zh-CN" altLang="en-US" sz="1600" dirty="0" smtClean="0"/>
                        <a:t>章维</a:t>
                      </a:r>
                      <a:endParaRPr lang="zh-CN" altLang="en-US" sz="1600" dirty="0"/>
                    </a:p>
                  </a:txBody>
                  <a:tcPr anchor="ctr"/>
                </a:tc>
                <a:tc>
                  <a:txBody>
                    <a:bodyPr/>
                    <a:lstStyle/>
                    <a:p>
                      <a:r>
                        <a:rPr lang="zh-CN" altLang="en-US" sz="1600" kern="1200" dirty="0" smtClean="0">
                          <a:effectLst/>
                        </a:rPr>
                        <a:t>技术顾问</a:t>
                      </a:r>
                      <a:r>
                        <a:rPr lang="en-US" altLang="zh-CN" sz="1600" kern="1200" dirty="0" smtClean="0">
                          <a:effectLst/>
                        </a:rPr>
                        <a:t>-</a:t>
                      </a:r>
                      <a:r>
                        <a:rPr lang="zh-CN" altLang="en-US" sz="1600" kern="1200" dirty="0" smtClean="0">
                          <a:effectLst/>
                        </a:rPr>
                        <a:t>后端</a:t>
                      </a:r>
                      <a:endParaRPr lang="zh-CN" altLang="en-US" sz="1600" dirty="0"/>
                    </a:p>
                  </a:txBody>
                  <a:tcPr anchor="ctr"/>
                </a:tc>
                <a:tc vMerge="1">
                  <a:tcPr anchor="ctr"/>
                </a:tc>
              </a:tr>
              <a:tr h="444163">
                <a:tc>
                  <a:txBody>
                    <a:bodyPr/>
                    <a:lstStyle/>
                    <a:p>
                      <a:r>
                        <a:rPr lang="en-US" altLang="zh-CN" dirty="0" smtClean="0"/>
                        <a:t>11</a:t>
                      </a:r>
                      <a:endParaRPr lang="zh-CN" altLang="en-US" dirty="0"/>
                    </a:p>
                  </a:txBody>
                  <a:tcPr anchor="ctr"/>
                </a:tc>
                <a:tc>
                  <a:txBody>
                    <a:bodyPr/>
                    <a:lstStyle/>
                    <a:p>
                      <a:r>
                        <a:rPr lang="zh-CN" altLang="en-US" sz="1600" dirty="0" smtClean="0"/>
                        <a:t>邹丽</a:t>
                      </a:r>
                      <a:endParaRPr lang="zh-CN" altLang="en-US" sz="1600" dirty="0"/>
                    </a:p>
                  </a:txBody>
                  <a:tcPr anchor="ctr"/>
                </a:tc>
                <a:tc>
                  <a:txBody>
                    <a:bodyPr/>
                    <a:lstStyle/>
                    <a:p>
                      <a:r>
                        <a:rPr lang="zh-CN" altLang="en-US" sz="1600" kern="1200" dirty="0" smtClean="0">
                          <a:effectLst/>
                        </a:rPr>
                        <a:t>技术顾问</a:t>
                      </a:r>
                      <a:r>
                        <a:rPr lang="en-US" altLang="zh-CN" sz="1600" kern="1200" dirty="0" smtClean="0">
                          <a:effectLst/>
                        </a:rPr>
                        <a:t>-</a:t>
                      </a:r>
                      <a:r>
                        <a:rPr lang="zh-CN" altLang="en-US" sz="1600" kern="1200" dirty="0" smtClean="0">
                          <a:effectLst/>
                        </a:rPr>
                        <a:t>前端</a:t>
                      </a:r>
                      <a:endParaRPr lang="zh-CN" altLang="en-US" sz="1600" dirty="0"/>
                    </a:p>
                  </a:txBody>
                  <a:tcPr anchor="ctr"/>
                </a:tc>
                <a:tc vMerge="1">
                  <a:tcPr anchor="ctr"/>
                </a:tc>
              </a:tr>
              <a:tr h="444163">
                <a:tc>
                  <a:txBody>
                    <a:bodyPr/>
                    <a:lstStyle/>
                    <a:p>
                      <a:r>
                        <a:rPr lang="en-US" altLang="zh-CN" dirty="0" smtClean="0"/>
                        <a:t>12</a:t>
                      </a:r>
                      <a:endParaRPr lang="zh-CN" altLang="en-US" dirty="0"/>
                    </a:p>
                  </a:txBody>
                  <a:tcPr anchor="ctr"/>
                </a:tc>
                <a:tc>
                  <a:txBody>
                    <a:bodyPr/>
                    <a:lstStyle/>
                    <a:p>
                      <a:r>
                        <a:rPr lang="zh-CN" altLang="en-US" sz="1600" dirty="0" smtClean="0"/>
                        <a:t>刘鑫</a:t>
                      </a:r>
                      <a:endParaRPr lang="zh-CN" altLang="en-US" sz="1600" dirty="0"/>
                    </a:p>
                  </a:txBody>
                  <a:tcPr anchor="ctr"/>
                </a:tc>
                <a:tc>
                  <a:txBody>
                    <a:bodyPr/>
                    <a:lstStyle/>
                    <a:p>
                      <a:r>
                        <a:rPr lang="zh-CN" altLang="en-US" sz="1600" kern="1200" dirty="0" smtClean="0">
                          <a:effectLst/>
                        </a:rPr>
                        <a:t>技术顾问</a:t>
                      </a:r>
                      <a:r>
                        <a:rPr lang="en-US" altLang="zh-CN" sz="1600" kern="1200" dirty="0" smtClean="0">
                          <a:effectLst/>
                        </a:rPr>
                        <a:t>-</a:t>
                      </a:r>
                      <a:r>
                        <a:rPr lang="zh-CN" altLang="en-US" sz="1600" kern="1200" dirty="0" smtClean="0">
                          <a:effectLst/>
                        </a:rPr>
                        <a:t>前端</a:t>
                      </a:r>
                      <a:endParaRPr lang="zh-CN" altLang="en-US" sz="1600" dirty="0"/>
                    </a:p>
                  </a:txBody>
                  <a:tcPr anchor="ctr"/>
                </a:tc>
                <a:tc vMerge="1">
                  <a:tcPr anchor="ct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7618056" y="612844"/>
            <a:ext cx="438733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tx1"/>
                </a:solidFill>
              </a:rPr>
              <a:t>目标范围</a:t>
            </a:r>
            <a:endParaRPr lang="en-US" altLang="zh-CN" sz="3600" b="1" dirty="0" smtClean="0">
              <a:solidFill>
                <a:schemeClr val="tx1"/>
              </a:solidFill>
            </a:endParaRPr>
          </a:p>
          <a:p>
            <a:endParaRPr lang="en-US" altLang="zh-CN" sz="3600" b="1" dirty="0" smtClean="0">
              <a:solidFill>
                <a:schemeClr val="tx1"/>
              </a:solidFill>
            </a:endParaRPr>
          </a:p>
          <a:p>
            <a:endParaRPr lang="en-US" altLang="zh-CN" sz="3600" b="1" dirty="0">
              <a:solidFill>
                <a:schemeClr val="tx1"/>
              </a:solidFill>
            </a:endParaRPr>
          </a:p>
          <a:p>
            <a:r>
              <a:rPr lang="zh-CN" altLang="en-US" sz="3600" b="1" dirty="0" smtClean="0">
                <a:solidFill>
                  <a:schemeClr val="tx1"/>
                </a:solidFill>
              </a:rPr>
              <a:t>项目计划</a:t>
            </a:r>
            <a:endParaRPr lang="en-US" altLang="zh-CN" sz="3600" b="1" dirty="0">
              <a:solidFill>
                <a:schemeClr val="tx1"/>
              </a:solidFill>
            </a:endParaRPr>
          </a:p>
          <a:p>
            <a:pPr marL="0" indent="0">
              <a:buNone/>
            </a:pPr>
            <a:endParaRPr lang="en-US" altLang="zh-CN" sz="3600" b="1" dirty="0" smtClean="0">
              <a:solidFill>
                <a:schemeClr val="tx1"/>
              </a:solidFill>
            </a:endParaRPr>
          </a:p>
          <a:p>
            <a:pPr marL="0" indent="0">
              <a:buNone/>
            </a:pPr>
            <a:endParaRPr lang="en-US" altLang="zh-CN" sz="3600" b="1" dirty="0">
              <a:solidFill>
                <a:schemeClr val="tx1"/>
              </a:solidFill>
            </a:endParaRPr>
          </a:p>
          <a:p>
            <a:r>
              <a:rPr lang="zh-CN" altLang="en-US" sz="3600" b="1" dirty="0" smtClean="0">
                <a:solidFill>
                  <a:schemeClr val="tx1"/>
                </a:solidFill>
              </a:rPr>
              <a:t>蓝图方案</a:t>
            </a:r>
            <a:endParaRPr lang="en-US" altLang="zh-CN" sz="3600" b="1" dirty="0" smtClean="0">
              <a:solidFill>
                <a:schemeClr val="tx1"/>
              </a:solidFill>
            </a:endParaRPr>
          </a:p>
          <a:p>
            <a:pPr marL="0" indent="0">
              <a:buNone/>
            </a:pPr>
            <a:r>
              <a:rPr lang="en-US" altLang="zh-CN" sz="3600" b="1" dirty="0">
                <a:solidFill>
                  <a:schemeClr val="tx1"/>
                </a:solidFill>
              </a:rPr>
              <a:t> </a:t>
            </a:r>
            <a:r>
              <a:rPr lang="en-US" altLang="zh-CN" sz="3600" b="1" dirty="0" smtClean="0">
                <a:solidFill>
                  <a:schemeClr val="tx1"/>
                </a:solidFill>
              </a:rPr>
              <a:t>  </a:t>
            </a:r>
            <a:endParaRPr lang="en-US" altLang="zh-CN" sz="3600" b="1" dirty="0" smtClean="0">
              <a:solidFill>
                <a:schemeClr val="tx1"/>
              </a:solidFill>
            </a:endParaRPr>
          </a:p>
          <a:p>
            <a:pPr marL="0" indent="0">
              <a:buNone/>
            </a:pPr>
            <a:endParaRPr lang="en-US" altLang="zh-CN" sz="3600" b="1" dirty="0">
              <a:solidFill>
                <a:schemeClr val="tx1"/>
              </a:solidFill>
            </a:endParaRPr>
          </a:p>
          <a:p>
            <a:r>
              <a:rPr lang="zh-CN" altLang="en-US" sz="3600" b="1" dirty="0" smtClean="0">
                <a:solidFill>
                  <a:schemeClr val="tx1"/>
                </a:solidFill>
              </a:rPr>
              <a:t>后续任务</a:t>
            </a:r>
            <a:endParaRPr lang="en-US" altLang="zh-CN" sz="3600" b="1" dirty="0">
              <a:solidFill>
                <a:schemeClr val="tx1"/>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58435" y="1025317"/>
            <a:ext cx="11090736" cy="2209696"/>
            <a:chOff x="541925" y="1478072"/>
            <a:chExt cx="11090736" cy="2209696"/>
          </a:xfrm>
        </p:grpSpPr>
        <p:sp>
          <p:nvSpPr>
            <p:cNvPr id="4" name="矩形: 圆角 2"/>
            <p:cNvSpPr/>
            <p:nvPr/>
          </p:nvSpPr>
          <p:spPr bwMode="auto">
            <a:xfrm>
              <a:off x="6414052" y="1478072"/>
              <a:ext cx="5218609" cy="2209696"/>
            </a:xfrm>
            <a:prstGeom prst="roundRect">
              <a:avLst>
                <a:gd name="adj" fmla="val 0"/>
              </a:avLst>
            </a:prstGeom>
            <a:solidFill>
              <a:srgbClr val="303439"/>
            </a:solidFill>
            <a:ln w="9525" cap="flat" cmpd="sng" algn="ctr">
              <a:noFill/>
              <a:prstDash val="solid"/>
              <a:round/>
              <a:headEnd type="none" w="med" len="med"/>
              <a:tailEnd type="none" w="med" len="med"/>
            </a:ln>
            <a:effectLst/>
          </p:spPr>
          <p:txBody>
            <a:bodyPr vert="horz" wrap="square" lIns="91407" tIns="45703" rIns="91407" bIns="45703" numCol="1" rtlCol="0" anchor="t" anchorCtr="0" compatLnSpc="1"/>
            <a:lstStyle/>
            <a:p>
              <a:pPr marL="0" marR="0" lvl="0" indent="0" algn="l" defTabSz="913765"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5" name="PA-文本框 9"/>
            <p:cNvSpPr txBox="1"/>
            <p:nvPr>
              <p:custDataLst>
                <p:tags r:id="rId1"/>
              </p:custDataLst>
            </p:nvPr>
          </p:nvSpPr>
          <p:spPr>
            <a:xfrm>
              <a:off x="6710950" y="2375962"/>
              <a:ext cx="4624705" cy="450850"/>
            </a:xfrm>
            <a:prstGeom prst="rect">
              <a:avLst/>
            </a:prstGeom>
          </p:spPr>
          <p:txBody>
            <a:bodyPr wrap="square">
              <a:spAutoFit/>
            </a:bodyPr>
            <a:lstStyle>
              <a:defPPr>
                <a:defRPr lang="zh-CN"/>
              </a:defPPr>
              <a:lvl1pPr defTabSz="456565">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l" hangingPunct="1"/>
              <a:r>
                <a:rPr lang="en-US" altLang="zh-CN" sz="1800" b="0" kern="1200" dirty="0">
                  <a:solidFill>
                    <a:srgbClr val="FFFFFF">
                      <a:lumMod val="95000"/>
                    </a:srgbClr>
                  </a:solidFill>
                  <a:latin typeface="微软雅黑" panose="020B0503020204020204" charset="-122"/>
                  <a:ea typeface="微软雅黑" panose="020B0503020204020204" charset="-122"/>
                  <a:cs typeface="+mn-cs"/>
                  <a:sym typeface="思源黑体" panose="020B0400000000000000" pitchFamily="34" charset="-122"/>
                </a:rPr>
                <a:t>SRM</a:t>
              </a:r>
              <a:r>
                <a:rPr lang="zh-CN" altLang="en-US" sz="1800" b="0" kern="1200" dirty="0">
                  <a:solidFill>
                    <a:srgbClr val="FFFFFF">
                      <a:lumMod val="95000"/>
                    </a:srgbClr>
                  </a:solidFill>
                  <a:latin typeface="微软雅黑" panose="020B0503020204020204" charset="-122"/>
                  <a:ea typeface="微软雅黑" panose="020B0503020204020204" charset="-122"/>
                  <a:cs typeface="+mn-cs"/>
                  <a:sym typeface="思源黑体" panose="020B0400000000000000" pitchFamily="34" charset="-122"/>
                </a:rPr>
                <a:t>是企业数字化转型中的重要一环。</a:t>
              </a:r>
              <a:endParaRPr lang="zh-CN" altLang="en-US" sz="1800" b="0" kern="1200" dirty="0">
                <a:solidFill>
                  <a:srgbClr val="FFFFFF">
                    <a:lumMod val="95000"/>
                  </a:srgbClr>
                </a:solidFill>
                <a:latin typeface="微软雅黑" panose="020B0503020204020204" charset="-122"/>
                <a:ea typeface="微软雅黑" panose="020B0503020204020204" charset="-122"/>
                <a:cs typeface="+mn-cs"/>
                <a:sym typeface="思源黑体" panose="020B0400000000000000" pitchFamily="34" charset="-122"/>
              </a:endParaRP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34" t="2924" r="-34" b="40864"/>
            <a:stretch>
              <a:fillRect/>
            </a:stretch>
          </p:blipFill>
          <p:spPr>
            <a:xfrm>
              <a:off x="541925" y="1478072"/>
              <a:ext cx="5872126" cy="2200582"/>
            </a:xfrm>
            <a:prstGeom prst="rect">
              <a:avLst/>
            </a:prstGeom>
          </p:spPr>
        </p:pic>
      </p:grpSp>
      <p:sp>
        <p:nvSpPr>
          <p:cNvPr id="7" name="PA-文本框 42"/>
          <p:cNvSpPr txBox="1"/>
          <p:nvPr>
            <p:custDataLst>
              <p:tags r:id="rId3"/>
            </p:custDataLst>
          </p:nvPr>
        </p:nvSpPr>
        <p:spPr>
          <a:xfrm>
            <a:off x="1026421" y="3913582"/>
            <a:ext cx="1410602" cy="370840"/>
          </a:xfrm>
          <a:prstGeom prst="rect">
            <a:avLst/>
          </a:prstGeom>
        </p:spPr>
        <p:txBody>
          <a:bodyPr wrap="square">
            <a:spAutoFit/>
          </a:bodyPr>
          <a:lstStyle>
            <a:defPPr>
              <a:defRPr lang="zh-CN"/>
            </a:defPPr>
            <a:lvl1pPr defTabSz="456565">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hangingPunct="1"/>
            <a:r>
              <a:rPr lang="zh-CN" altLang="en-US" b="0" kern="1200" dirty="0">
                <a:solidFill>
                  <a:srgbClr val="FFFFFF">
                    <a:lumMod val="65000"/>
                  </a:srgbClr>
                </a:solidFill>
                <a:latin typeface="微软雅黑" panose="020B0503020204020204" charset="-122"/>
                <a:ea typeface="微软雅黑" panose="020B0503020204020204" charset="-122"/>
                <a:cs typeface="+mn-cs"/>
                <a:sym typeface="思源黑体" panose="020B0400000000000000" pitchFamily="34" charset="-122"/>
              </a:rPr>
              <a:t>公开</a:t>
            </a:r>
            <a:endParaRPr lang="zh-CN" altLang="en-US" b="0" kern="1200" dirty="0">
              <a:solidFill>
                <a:srgbClr val="FFFFFF">
                  <a:lumMod val="65000"/>
                </a:srgbClr>
              </a:solidFill>
              <a:latin typeface="微软雅黑" panose="020B0503020204020204" charset="-122"/>
              <a:ea typeface="微软雅黑" panose="020B0503020204020204" charset="-122"/>
              <a:cs typeface="+mn-cs"/>
              <a:sym typeface="思源黑体" panose="020B0400000000000000" pitchFamily="34" charset="-122"/>
            </a:endParaRPr>
          </a:p>
        </p:txBody>
      </p:sp>
      <p:sp>
        <p:nvSpPr>
          <p:cNvPr id="8" name="PA-文本框 42"/>
          <p:cNvSpPr txBox="1"/>
          <p:nvPr>
            <p:custDataLst>
              <p:tags r:id="rId4"/>
            </p:custDataLst>
          </p:nvPr>
        </p:nvSpPr>
        <p:spPr>
          <a:xfrm>
            <a:off x="9866172" y="3918027"/>
            <a:ext cx="1410602" cy="370840"/>
          </a:xfrm>
          <a:prstGeom prst="rect">
            <a:avLst/>
          </a:prstGeom>
        </p:spPr>
        <p:txBody>
          <a:bodyPr wrap="square">
            <a:spAutoFit/>
          </a:bodyPr>
          <a:lstStyle>
            <a:defPPr>
              <a:defRPr lang="zh-CN"/>
            </a:defPPr>
            <a:lvl1pPr defTabSz="456565">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hangingPunct="1"/>
            <a:r>
              <a:rPr lang="zh-CN" altLang="en-US" b="0" kern="1200" dirty="0">
                <a:solidFill>
                  <a:srgbClr val="FFFFFF">
                    <a:lumMod val="65000"/>
                  </a:srgbClr>
                </a:solidFill>
                <a:latin typeface="微软雅黑" panose="020B0503020204020204" charset="-122"/>
                <a:ea typeface="微软雅黑" panose="020B0503020204020204" charset="-122"/>
                <a:cs typeface="+mn-cs"/>
                <a:sym typeface="思源黑体" panose="020B0400000000000000" pitchFamily="34" charset="-122"/>
              </a:rPr>
              <a:t>降本</a:t>
            </a:r>
            <a:endParaRPr lang="zh-CN" altLang="en-US" b="0" kern="1200" dirty="0">
              <a:solidFill>
                <a:srgbClr val="FFFFFF">
                  <a:lumMod val="65000"/>
                </a:srgbClr>
              </a:solidFill>
              <a:latin typeface="微软雅黑" panose="020B0503020204020204" charset="-122"/>
              <a:ea typeface="微软雅黑" panose="020B0503020204020204" charset="-122"/>
              <a:cs typeface="+mn-cs"/>
              <a:sym typeface="思源黑体" panose="020B0400000000000000" pitchFamily="34" charset="-122"/>
            </a:endParaRPr>
          </a:p>
        </p:txBody>
      </p:sp>
      <p:sp>
        <p:nvSpPr>
          <p:cNvPr id="10" name="PA-文本框 42"/>
          <p:cNvSpPr txBox="1"/>
          <p:nvPr>
            <p:custDataLst>
              <p:tags r:id="rId5"/>
            </p:custDataLst>
          </p:nvPr>
        </p:nvSpPr>
        <p:spPr>
          <a:xfrm>
            <a:off x="3950344" y="3918027"/>
            <a:ext cx="1410602" cy="345094"/>
          </a:xfrm>
          <a:prstGeom prst="rect">
            <a:avLst/>
          </a:prstGeom>
        </p:spPr>
        <p:txBody>
          <a:bodyPr wrap="square">
            <a:spAutoFit/>
          </a:bodyPr>
          <a:lstStyle>
            <a:defPPr>
              <a:defRPr lang="zh-CN"/>
            </a:defPPr>
            <a:lvl1pPr defTabSz="456565">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hangingPunct="1"/>
            <a:r>
              <a:rPr lang="zh-CN" altLang="en-US" b="0" kern="1200" dirty="0">
                <a:solidFill>
                  <a:schemeClr val="accent5"/>
                </a:solidFill>
                <a:latin typeface="微软雅黑" panose="020B0503020204020204" charset="-122"/>
                <a:ea typeface="微软雅黑" panose="020B0503020204020204" charset="-122"/>
                <a:cs typeface="+mn-cs"/>
                <a:sym typeface="思源黑体" panose="020B0400000000000000" pitchFamily="34" charset="-122"/>
              </a:rPr>
              <a:t>规范</a:t>
            </a:r>
            <a:endParaRPr lang="zh-CN" altLang="en-US" b="0" kern="1200" dirty="0">
              <a:solidFill>
                <a:schemeClr val="accent5"/>
              </a:solidFill>
              <a:latin typeface="微软雅黑" panose="020B0503020204020204" charset="-122"/>
              <a:ea typeface="微软雅黑" panose="020B0503020204020204" charset="-122"/>
              <a:cs typeface="+mn-cs"/>
              <a:sym typeface="思源黑体" panose="020B0400000000000000" pitchFamily="34" charset="-122"/>
            </a:endParaRPr>
          </a:p>
        </p:txBody>
      </p:sp>
      <p:sp>
        <p:nvSpPr>
          <p:cNvPr id="11" name="PA-文本框 42"/>
          <p:cNvSpPr txBox="1"/>
          <p:nvPr>
            <p:custDataLst>
              <p:tags r:id="rId6"/>
            </p:custDataLst>
          </p:nvPr>
        </p:nvSpPr>
        <p:spPr>
          <a:xfrm>
            <a:off x="6908090" y="3918027"/>
            <a:ext cx="1410602" cy="370840"/>
          </a:xfrm>
          <a:prstGeom prst="rect">
            <a:avLst/>
          </a:prstGeom>
        </p:spPr>
        <p:txBody>
          <a:bodyPr wrap="square">
            <a:spAutoFit/>
          </a:bodyPr>
          <a:lstStyle>
            <a:defPPr>
              <a:defRPr lang="zh-CN"/>
            </a:defPPr>
            <a:lvl1pPr defTabSz="456565">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hangingPunct="1"/>
            <a:r>
              <a:rPr lang="zh-CN" altLang="en-US" b="0" kern="1200" dirty="0">
                <a:solidFill>
                  <a:srgbClr val="FFFFFF">
                    <a:lumMod val="65000"/>
                  </a:srgbClr>
                </a:solidFill>
                <a:latin typeface="微软雅黑" panose="020B0503020204020204" charset="-122"/>
                <a:ea typeface="微软雅黑" panose="020B0503020204020204" charset="-122"/>
                <a:cs typeface="+mn-cs"/>
                <a:sym typeface="思源黑体" panose="020B0400000000000000" pitchFamily="34" charset="-122"/>
              </a:rPr>
              <a:t>效率</a:t>
            </a:r>
            <a:endParaRPr lang="zh-CN" altLang="en-US" b="0" kern="1200" dirty="0">
              <a:solidFill>
                <a:srgbClr val="FFFFFF">
                  <a:lumMod val="65000"/>
                </a:srgbClr>
              </a:solidFill>
              <a:latin typeface="微软雅黑" panose="020B0503020204020204" charset="-122"/>
              <a:ea typeface="微软雅黑" panose="020B0503020204020204" charset="-122"/>
              <a:cs typeface="+mn-cs"/>
              <a:sym typeface="思源黑体" panose="020B0400000000000000" pitchFamily="34" charset="-122"/>
            </a:endParaRPr>
          </a:p>
        </p:txBody>
      </p:sp>
      <p:pic>
        <p:nvPicPr>
          <p:cNvPr id="14" name="图片 13" descr="图片包含 游戏机, 画&#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55429" y="3326395"/>
            <a:ext cx="503999" cy="503999"/>
          </a:xfrm>
          <a:prstGeom prst="rect">
            <a:avLst/>
          </a:prstGeom>
        </p:spPr>
      </p:pic>
      <p:pic>
        <p:nvPicPr>
          <p:cNvPr id="15" name="图片 14" descr="图片包含 游戏机, 画, 标志&#10;&#10;描述已自动生成"/>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51947" y="3324490"/>
            <a:ext cx="503999" cy="503999"/>
          </a:xfrm>
          <a:prstGeom prst="rect">
            <a:avLst/>
          </a:prstGeom>
        </p:spPr>
      </p:pic>
      <p:pic>
        <p:nvPicPr>
          <p:cNvPr id="17" name="图片 16" descr="卡通人物&#10;&#10;描述已自动生成"/>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403646" y="3320045"/>
            <a:ext cx="503999" cy="503999"/>
          </a:xfrm>
          <a:prstGeom prst="rect">
            <a:avLst/>
          </a:prstGeom>
        </p:spPr>
      </p:pic>
      <p:pic>
        <p:nvPicPr>
          <p:cNvPr id="18" name="图片 17" descr="图片包含 标志, 交通, 街道, 停止&#10;&#10;描述已自动生成"/>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300203" y="3325539"/>
            <a:ext cx="540000" cy="540000"/>
          </a:xfrm>
          <a:prstGeom prst="rect">
            <a:avLst/>
          </a:prstGeom>
        </p:spPr>
      </p:pic>
      <p:sp>
        <p:nvSpPr>
          <p:cNvPr id="19" name="圆角矩形 18"/>
          <p:cNvSpPr/>
          <p:nvPr/>
        </p:nvSpPr>
        <p:spPr>
          <a:xfrm>
            <a:off x="423545" y="4366895"/>
            <a:ext cx="2576830" cy="2113280"/>
          </a:xfrm>
          <a:prstGeom prst="roundRect">
            <a:avLst/>
          </a:prstGeom>
          <a:noFill/>
          <a:ln w="28575">
            <a:solidFill>
              <a:srgbClr val="008C89"/>
            </a:solidFill>
          </a:ln>
          <a:extLst>
            <a:ext uri="{909E8E84-426E-40DD-AFC4-6F175D3DCCD1}">
              <a14:hiddenFill xmlns:a14="http://schemas.microsoft.com/office/drawing/2010/main">
                <a:solidFill>
                  <a:srgbClr val="008C8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defTabSz="913765">
              <a:lnSpc>
                <a:spcPct val="150000"/>
              </a:lnSpc>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通过寻源信息的公开，扩大寻源范围，配套供应商自准入到绩效管理的全生命周期管理，不断完善内部合格供应商库，沉淀行业优质供应商。</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0" name="圆角矩形 19"/>
          <p:cNvSpPr/>
          <p:nvPr/>
        </p:nvSpPr>
        <p:spPr>
          <a:xfrm>
            <a:off x="9303385" y="4401185"/>
            <a:ext cx="2336165" cy="2007235"/>
          </a:xfrm>
          <a:prstGeom prst="roundRect">
            <a:avLst/>
          </a:prstGeom>
          <a:noFill/>
          <a:ln w="28575">
            <a:solidFill>
              <a:srgbClr val="008C89"/>
            </a:solidFill>
          </a:ln>
          <a:extLst>
            <a:ext uri="{909E8E84-426E-40DD-AFC4-6F175D3DCCD1}">
              <a14:hiddenFill xmlns:a14="http://schemas.microsoft.com/office/drawing/2010/main">
                <a:solidFill>
                  <a:srgbClr val="008C8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defTabSz="913765">
              <a:lnSpc>
                <a:spcPct val="150000"/>
              </a:lnSpc>
            </a:pPr>
            <a:r>
              <a:rPr lang="zh-CN" altLang="en-US" sz="1200" dirty="0">
                <a:solidFill>
                  <a:schemeClr val="tx1"/>
                </a:solidFill>
                <a:latin typeface="微软雅黑" panose="020B0503020204020204" charset="-122"/>
                <a:ea typeface="微软雅黑" panose="020B0503020204020204" charset="-122"/>
                <a:sym typeface="+mn-ea"/>
              </a:rPr>
              <a:t>配套在线询价，实现在公开、公平、公正的竞争环境下的合理压价，有效沉淀历史价格数据，便于后续价格分析。</a:t>
            </a:r>
            <a:endParaRPr lang="zh-CN" altLang="en-US" sz="1200" dirty="0">
              <a:solidFill>
                <a:schemeClr val="tx1"/>
              </a:solidFill>
              <a:latin typeface="微软雅黑" panose="020B0503020204020204" charset="-122"/>
              <a:ea typeface="微软雅黑" panose="020B0503020204020204" charset="-122"/>
              <a:sym typeface="+mn-ea"/>
            </a:endParaRPr>
          </a:p>
        </p:txBody>
      </p:sp>
      <p:sp>
        <p:nvSpPr>
          <p:cNvPr id="22" name="圆角矩形 21"/>
          <p:cNvSpPr/>
          <p:nvPr/>
        </p:nvSpPr>
        <p:spPr>
          <a:xfrm>
            <a:off x="3387090" y="4331335"/>
            <a:ext cx="2536190" cy="2113280"/>
          </a:xfrm>
          <a:prstGeom prst="roundRect">
            <a:avLst/>
          </a:prstGeom>
          <a:noFill/>
          <a:ln w="28575">
            <a:solidFill>
              <a:srgbClr val="008C89"/>
            </a:solidFill>
          </a:ln>
          <a:extLst>
            <a:ext uri="{909E8E84-426E-40DD-AFC4-6F175D3DCCD1}">
              <a14:hiddenFill xmlns:a14="http://schemas.microsoft.com/office/drawing/2010/main">
                <a:solidFill>
                  <a:srgbClr val="008C8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defTabSz="913765">
              <a:lnSpc>
                <a:spcPct val="150000"/>
              </a:lnSpc>
            </a:pPr>
            <a:r>
              <a:rPr lang="zh-CN" altLang="en-US" sz="1200" dirty="0">
                <a:solidFill>
                  <a:schemeClr val="accent5"/>
                </a:solidFill>
                <a:latin typeface="微软雅黑" panose="020B0503020204020204" charset="-122"/>
                <a:ea typeface="微软雅黑" panose="020B0503020204020204" charset="-122"/>
                <a:sym typeface="+mn-ea"/>
              </a:rPr>
              <a:t>建立统一的供应商门户，设定供应商注册窗口，规范供应商准入流程，优化供应商分类方法；同时建立供应商信息库，完善对供应商资质证书及评审流程的管理。</a:t>
            </a:r>
            <a:endParaRPr lang="zh-CN" altLang="en-US" sz="1200" dirty="0">
              <a:solidFill>
                <a:schemeClr val="accent5"/>
              </a:solidFill>
              <a:latin typeface="微软雅黑" panose="020B0503020204020204" charset="-122"/>
              <a:ea typeface="微软雅黑" panose="020B0503020204020204" charset="-122"/>
              <a:sym typeface="+mn-ea"/>
            </a:endParaRPr>
          </a:p>
        </p:txBody>
      </p:sp>
      <p:sp>
        <p:nvSpPr>
          <p:cNvPr id="23" name="圆角矩形 22"/>
          <p:cNvSpPr/>
          <p:nvPr/>
        </p:nvSpPr>
        <p:spPr>
          <a:xfrm>
            <a:off x="6309995" y="4331335"/>
            <a:ext cx="2606675" cy="2078355"/>
          </a:xfrm>
          <a:prstGeom prst="roundRect">
            <a:avLst/>
          </a:prstGeom>
          <a:noFill/>
          <a:ln w="28575">
            <a:solidFill>
              <a:srgbClr val="008C89"/>
            </a:solidFill>
          </a:ln>
          <a:extLst>
            <a:ext uri="{909E8E84-426E-40DD-AFC4-6F175D3DCCD1}">
              <a14:hiddenFill xmlns:a14="http://schemas.microsoft.com/office/drawing/2010/main">
                <a:solidFill>
                  <a:srgbClr val="008C8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defTabSz="913765">
              <a:lnSpc>
                <a:spcPct val="150000"/>
              </a:lnSpc>
            </a:pPr>
            <a:r>
              <a:rPr lang="zh-CN" altLang="en-US" sz="1200" dirty="0">
                <a:solidFill>
                  <a:schemeClr val="tx1"/>
                </a:solidFill>
                <a:latin typeface="微软雅黑" panose="020B0503020204020204" charset="-122"/>
                <a:ea typeface="微软雅黑" panose="020B0503020204020204" charset="-122"/>
                <a:sym typeface="+mn-ea"/>
              </a:rPr>
              <a:t>采购执行全过程与供应商线上协同管理，包括订单的协同，成衣生产过程协同，质量协同，财务协同等，从而实现过程可追溯、可查询、可跟踪，提高采购执行过程的效率，降低采购成本。</a:t>
            </a:r>
            <a:endParaRPr lang="zh-CN" altLang="en-US" sz="1200" dirty="0">
              <a:solidFill>
                <a:schemeClr val="tx1"/>
              </a:solidFill>
              <a:latin typeface="微软雅黑" panose="020B0503020204020204" charset="-122"/>
              <a:ea typeface="微软雅黑" panose="020B0503020204020204" charset="-122"/>
              <a:sym typeface="+mn-ea"/>
            </a:endParaRPr>
          </a:p>
        </p:txBody>
      </p:sp>
      <p:sp>
        <p:nvSpPr>
          <p:cNvPr id="25" name="标题 1"/>
          <p:cNvSpPr>
            <a:spLocks noChangeArrowheads="1"/>
          </p:cNvSpPr>
          <p:nvPr/>
        </p:nvSpPr>
        <p:spPr>
          <a:xfrm>
            <a:off x="120651" y="333360"/>
            <a:ext cx="9144000" cy="334963"/>
          </a:xfrm>
          <a:prstGeom prst="rect">
            <a:avLst/>
          </a:prstGeom>
          <a:noFill/>
          <a:ln>
            <a:noFill/>
          </a:ln>
        </p:spPr>
        <p:txBody>
          <a:bodyPr vert="horz" wrap="square" lIns="91440" tIns="45720" rIns="91440" bIns="45720" numCol="1" rtlCol="0" anchor="ctr" anchorCtr="0" compatLnSpc="1">
            <a:noAutofit/>
          </a:bodyPr>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pPr lvl="0" algn="l">
              <a:buClrTx/>
              <a:buSzTx/>
              <a:buFontTx/>
            </a:pPr>
            <a:r>
              <a:rPr lang="zh-CN" altLang="en-US" dirty="0" smtClean="0">
                <a:sym typeface="+mn-ea"/>
              </a:rPr>
              <a:t>项目整体目标</a:t>
            </a:r>
            <a:endParaRPr lang="zh-CN" altLang="en-US" dirty="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ChangeArrowheads="1"/>
          </p:cNvSpPr>
          <p:nvPr/>
        </p:nvSpPr>
        <p:spPr>
          <a:xfrm>
            <a:off x="120651" y="333360"/>
            <a:ext cx="9144000" cy="334963"/>
          </a:xfrm>
          <a:prstGeom prst="rect">
            <a:avLst/>
          </a:prstGeom>
          <a:noFill/>
          <a:ln>
            <a:noFill/>
          </a:ln>
        </p:spPr>
        <p:txBody>
          <a:bodyPr vert="horz" wrap="square" lIns="91440" tIns="45720" rIns="91440" bIns="45720" numCol="1" rtlCol="0" anchor="ctr" anchorCtr="0" compatLnSpc="1">
            <a:noAutofit/>
          </a:bodyPr>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pPr lvl="0" algn="l">
              <a:buClrTx/>
              <a:buSzTx/>
              <a:buFontTx/>
            </a:pPr>
            <a:r>
              <a:rPr lang="zh-CN" altLang="en-US" dirty="0" smtClean="0">
                <a:sym typeface="+mn-ea"/>
              </a:rPr>
              <a:t>项目组织范围</a:t>
            </a:r>
            <a:endParaRPr lang="zh-CN" altLang="en-US" dirty="0">
              <a:sym typeface="+mn-ea"/>
            </a:endParaRPr>
          </a:p>
        </p:txBody>
      </p:sp>
      <p:graphicFrame>
        <p:nvGraphicFramePr>
          <p:cNvPr id="4" name="表格 3"/>
          <p:cNvGraphicFramePr>
            <a:graphicFrameLocks noGrp="1"/>
          </p:cNvGraphicFramePr>
          <p:nvPr>
            <p:custDataLst>
              <p:tags r:id="rId1"/>
            </p:custDataLst>
          </p:nvPr>
        </p:nvGraphicFramePr>
        <p:xfrm>
          <a:off x="633708" y="918985"/>
          <a:ext cx="10754728" cy="5740741"/>
        </p:xfrm>
        <a:graphic>
          <a:graphicData uri="http://schemas.openxmlformats.org/drawingml/2006/table">
            <a:tbl>
              <a:tblPr firstRow="1" firstCol="1" bandRow="1">
                <a:tableStyleId>{5C22544A-7EE6-4342-B048-85BDC9FD1C3A}</a:tableStyleId>
              </a:tblPr>
              <a:tblGrid>
                <a:gridCol w="551645"/>
                <a:gridCol w="718262"/>
                <a:gridCol w="565265"/>
                <a:gridCol w="2136371"/>
                <a:gridCol w="3291840"/>
                <a:gridCol w="2094807"/>
                <a:gridCol w="1396538"/>
              </a:tblGrid>
              <a:tr h="696466">
                <a:tc>
                  <a:txBody>
                    <a:bodyPr/>
                    <a:lstStyle/>
                    <a:p>
                      <a:pPr algn="ctr" fontAlgn="base">
                        <a:spcBef>
                          <a:spcPts val="600"/>
                        </a:spcBef>
                        <a:spcAft>
                          <a:spcPts val="600"/>
                        </a:spcAft>
                      </a:pPr>
                      <a:r>
                        <a:rPr lang="zh-CN" sz="1400" kern="0" dirty="0">
                          <a:effectLst/>
                          <a:latin typeface="+mn-ea"/>
                          <a:ea typeface="+mn-ea"/>
                        </a:rPr>
                        <a:t>序号</a:t>
                      </a:r>
                      <a:endParaRPr lang="zh-CN" sz="1400" kern="100" dirty="0">
                        <a:effectLst/>
                        <a:latin typeface="+mn-ea"/>
                        <a:ea typeface="+mn-ea"/>
                      </a:endParaRPr>
                    </a:p>
                  </a:txBody>
                  <a:tcPr marL="61640" marR="61640" marT="0" marB="0" anchor="ctr">
                    <a:solidFill>
                      <a:schemeClr val="tx1"/>
                    </a:solidFill>
                  </a:tcPr>
                </a:tc>
                <a:tc>
                  <a:txBody>
                    <a:bodyPr/>
                    <a:lstStyle/>
                    <a:p>
                      <a:pPr algn="ctr" fontAlgn="base">
                        <a:spcBef>
                          <a:spcPts val="600"/>
                        </a:spcBef>
                        <a:spcAft>
                          <a:spcPts val="600"/>
                        </a:spcAft>
                      </a:pPr>
                      <a:r>
                        <a:rPr lang="zh-CN" sz="1400" kern="0" dirty="0">
                          <a:effectLst/>
                          <a:latin typeface="+mn-ea"/>
                          <a:ea typeface="+mn-ea"/>
                        </a:rPr>
                        <a:t>法人</a:t>
                      </a:r>
                      <a:endParaRPr lang="zh-CN" sz="1400" kern="100" dirty="0">
                        <a:effectLst/>
                        <a:latin typeface="+mn-ea"/>
                        <a:ea typeface="+mn-ea"/>
                      </a:endParaRPr>
                    </a:p>
                  </a:txBody>
                  <a:tcPr marL="61640" marR="61640" marT="0" marB="0" anchor="ctr">
                    <a:solidFill>
                      <a:schemeClr val="tx1"/>
                    </a:solidFill>
                  </a:tcPr>
                </a:tc>
                <a:tc gridSpan="3">
                  <a:txBody>
                    <a:bodyPr/>
                    <a:lstStyle/>
                    <a:p>
                      <a:pPr algn="ctr" fontAlgn="base">
                        <a:spcBef>
                          <a:spcPts val="600"/>
                        </a:spcBef>
                        <a:spcAft>
                          <a:spcPts val="600"/>
                        </a:spcAft>
                      </a:pPr>
                      <a:r>
                        <a:rPr lang="zh-CN" sz="1400" kern="0" dirty="0">
                          <a:effectLst/>
                          <a:latin typeface="+mn-ea"/>
                          <a:ea typeface="+mn-ea"/>
                        </a:rPr>
                        <a:t>经营单元</a:t>
                      </a:r>
                      <a:endParaRPr lang="zh-CN" sz="1400" kern="100" dirty="0">
                        <a:effectLst/>
                        <a:latin typeface="+mn-ea"/>
                        <a:ea typeface="+mn-ea"/>
                      </a:endParaRPr>
                    </a:p>
                  </a:txBody>
                  <a:tcPr marL="61640" marR="61640" marT="0" marB="0" anchor="ctr">
                    <a:solidFill>
                      <a:schemeClr val="tx1"/>
                    </a:solidFill>
                  </a:tcPr>
                </a:tc>
                <a:tc hMerge="1">
                  <a:tcPr/>
                </a:tc>
                <a:tc hMerge="1">
                  <a:tcPr/>
                </a:tc>
                <a:tc>
                  <a:txBody>
                    <a:bodyPr/>
                    <a:lstStyle/>
                    <a:p>
                      <a:pPr algn="ctr" fontAlgn="base">
                        <a:spcBef>
                          <a:spcPts val="600"/>
                        </a:spcBef>
                        <a:spcAft>
                          <a:spcPts val="600"/>
                        </a:spcAft>
                      </a:pPr>
                      <a:r>
                        <a:rPr lang="zh-CN" sz="1400" kern="0" dirty="0">
                          <a:effectLst/>
                          <a:latin typeface="+mn-ea"/>
                          <a:ea typeface="+mn-ea"/>
                        </a:rPr>
                        <a:t>模块</a:t>
                      </a:r>
                      <a:endParaRPr lang="zh-CN" sz="1400" kern="100" dirty="0">
                        <a:effectLst/>
                        <a:latin typeface="+mn-ea"/>
                        <a:ea typeface="+mn-ea"/>
                      </a:endParaRPr>
                    </a:p>
                  </a:txBody>
                  <a:tcPr marL="61640" marR="61640" marT="0" marB="0" anchor="ctr">
                    <a:solidFill>
                      <a:schemeClr val="tx1"/>
                    </a:solidFill>
                  </a:tcPr>
                </a:tc>
                <a:tc>
                  <a:txBody>
                    <a:bodyPr/>
                    <a:lstStyle/>
                    <a:p>
                      <a:pPr algn="ctr" fontAlgn="base">
                        <a:spcBef>
                          <a:spcPts val="600"/>
                        </a:spcBef>
                        <a:spcAft>
                          <a:spcPts val="600"/>
                        </a:spcAft>
                      </a:pPr>
                      <a:r>
                        <a:rPr lang="zh-CN" altLang="en-US" sz="1400" kern="0" dirty="0" smtClean="0">
                          <a:effectLst/>
                          <a:latin typeface="+mn-ea"/>
                          <a:ea typeface="+mn-ea"/>
                        </a:rPr>
                        <a:t>客户端</a:t>
                      </a:r>
                      <a:endParaRPr lang="zh-CN" sz="1400" kern="100" dirty="0">
                        <a:effectLst/>
                        <a:latin typeface="+mn-ea"/>
                        <a:ea typeface="+mn-ea"/>
                      </a:endParaRPr>
                    </a:p>
                  </a:txBody>
                  <a:tcPr marL="61640" marR="61640" marT="0" marB="0" anchor="ctr">
                    <a:solidFill>
                      <a:schemeClr val="tx1"/>
                    </a:solidFill>
                  </a:tcPr>
                </a:tc>
              </a:tr>
              <a:tr h="1070467">
                <a:tc rowSpan="2">
                  <a:txBody>
                    <a:bodyPr/>
                    <a:lstStyle/>
                    <a:p>
                      <a:pPr algn="ctr" fontAlgn="base" hangingPunct="0">
                        <a:lnSpc>
                          <a:spcPts val="1200"/>
                        </a:lnSpc>
                        <a:spcBef>
                          <a:spcPts val="500"/>
                        </a:spcBef>
                        <a:spcAft>
                          <a:spcPts val="500"/>
                        </a:spcAft>
                      </a:pPr>
                      <a:r>
                        <a:rPr lang="en-US" sz="1400" kern="0" dirty="0">
                          <a:effectLst/>
                          <a:latin typeface="+mn-ea"/>
                          <a:ea typeface="+mn-ea"/>
                        </a:rPr>
                        <a:t>1</a:t>
                      </a:r>
                      <a:endParaRPr lang="zh-CN" sz="1400" kern="100" dirty="0">
                        <a:effectLst/>
                        <a:latin typeface="+mn-ea"/>
                        <a:ea typeface="+mn-ea"/>
                      </a:endParaRPr>
                    </a:p>
                  </a:txBody>
                  <a:tcPr marL="61640" marR="61640" marT="0" marB="0" anchor="ctr">
                    <a:solidFill>
                      <a:schemeClr val="tx1"/>
                    </a:solidFill>
                  </a:tcPr>
                </a:tc>
                <a:tc rowSpan="7">
                  <a:txBody>
                    <a:bodyPr/>
                    <a:lstStyle/>
                    <a:p>
                      <a:pPr algn="just" fontAlgn="base" hangingPunct="0">
                        <a:lnSpc>
                          <a:spcPct val="150000"/>
                        </a:lnSpc>
                        <a:spcBef>
                          <a:spcPts val="500"/>
                        </a:spcBef>
                        <a:spcAft>
                          <a:spcPts val="500"/>
                        </a:spcAft>
                      </a:pPr>
                      <a:r>
                        <a:rPr lang="zh-CN" sz="1400" kern="100" dirty="0">
                          <a:effectLst/>
                          <a:latin typeface="+mn-ea"/>
                          <a:ea typeface="+mn-ea"/>
                          <a:cs typeface="微软雅黑" panose="020B0503020204020204" charset="-122"/>
                          <a:sym typeface="+mn-ea"/>
                        </a:rPr>
                        <a:t>世纪宝姿</a:t>
                      </a:r>
                      <a:r>
                        <a:rPr lang="en-US" sz="1400" kern="100" dirty="0">
                          <a:effectLst/>
                          <a:latin typeface="+mn-ea"/>
                          <a:ea typeface="+mn-ea"/>
                          <a:cs typeface="微软雅黑" panose="020B0503020204020204" charset="-122"/>
                          <a:sym typeface="+mn-ea"/>
                        </a:rPr>
                        <a:t>(</a:t>
                      </a:r>
                      <a:r>
                        <a:rPr lang="zh-CN" sz="1400" kern="100" dirty="0">
                          <a:effectLst/>
                          <a:latin typeface="+mn-ea"/>
                          <a:ea typeface="+mn-ea"/>
                          <a:cs typeface="微软雅黑" panose="020B0503020204020204" charset="-122"/>
                          <a:sym typeface="+mn-ea"/>
                        </a:rPr>
                        <a:t>厦门</a:t>
                      </a:r>
                      <a:r>
                        <a:rPr lang="en-US" sz="1400" kern="100" dirty="0">
                          <a:effectLst/>
                          <a:latin typeface="+mn-ea"/>
                          <a:ea typeface="+mn-ea"/>
                          <a:cs typeface="微软雅黑" panose="020B0503020204020204" charset="-122"/>
                          <a:sym typeface="+mn-ea"/>
                        </a:rPr>
                        <a:t>)</a:t>
                      </a:r>
                      <a:r>
                        <a:rPr lang="zh-CN" sz="1400" kern="100" dirty="0">
                          <a:effectLst/>
                          <a:latin typeface="+mn-ea"/>
                          <a:ea typeface="+mn-ea"/>
                          <a:cs typeface="微软雅黑" panose="020B0503020204020204" charset="-122"/>
                          <a:sym typeface="+mn-ea"/>
                        </a:rPr>
                        <a:t>实业有限公司</a:t>
                      </a:r>
                      <a:endParaRPr lang="zh-CN" sz="1400" kern="100" dirty="0">
                        <a:effectLst/>
                        <a:latin typeface="+mn-ea"/>
                        <a:ea typeface="+mn-ea"/>
                        <a:cs typeface="微软雅黑" panose="020B0503020204020204" charset="-122"/>
                      </a:endParaRPr>
                    </a:p>
                    <a:p>
                      <a:pPr algn="just" fontAlgn="base" hangingPunct="0">
                        <a:lnSpc>
                          <a:spcPct val="150000"/>
                        </a:lnSpc>
                        <a:spcBef>
                          <a:spcPts val="500"/>
                        </a:spcBef>
                        <a:spcAft>
                          <a:spcPts val="500"/>
                        </a:spcAft>
                      </a:pPr>
                      <a:endParaRPr lang="zh-CN" sz="1400" kern="100" dirty="0">
                        <a:effectLst/>
                        <a:latin typeface="+mn-ea"/>
                        <a:ea typeface="+mn-ea"/>
                        <a:cs typeface="微软雅黑" panose="020B0503020204020204" charset="-122"/>
                      </a:endParaRPr>
                    </a:p>
                  </a:txBody>
                  <a:tcPr marL="61640" marR="61640" marT="0" marB="0" anchor="ctr">
                    <a:solidFill>
                      <a:schemeClr val="bg2">
                        <a:lumMod val="90000"/>
                      </a:schemeClr>
                    </a:solidFill>
                  </a:tcPr>
                </a:tc>
                <a:tc gridSpan="3">
                  <a:txBody>
                    <a:bodyPr/>
                    <a:lstStyle/>
                    <a:p>
                      <a:pPr algn="ctr" fontAlgn="base" hangingPunct="0">
                        <a:lnSpc>
                          <a:spcPts val="1200"/>
                        </a:lnSpc>
                        <a:spcBef>
                          <a:spcPts val="500"/>
                        </a:spcBef>
                        <a:spcAft>
                          <a:spcPts val="500"/>
                        </a:spcAft>
                      </a:pPr>
                      <a:r>
                        <a:rPr lang="zh-CN" sz="1400" kern="0" dirty="0">
                          <a:effectLst/>
                          <a:latin typeface="+mn-ea"/>
                          <a:ea typeface="+mn-ea"/>
                        </a:rPr>
                        <a:t>原料</a:t>
                      </a:r>
                      <a:endParaRPr lang="zh-CN" sz="1400" kern="100" dirty="0">
                        <a:effectLst/>
                        <a:latin typeface="+mn-ea"/>
                        <a:ea typeface="+mn-ea"/>
                      </a:endParaRPr>
                    </a:p>
                  </a:txBody>
                  <a:tcPr marL="61640" marR="61640" marT="0" marB="0" anchor="ctr">
                    <a:solidFill>
                      <a:schemeClr val="bg2">
                        <a:lumMod val="90000"/>
                      </a:schemeClr>
                    </a:solidFill>
                  </a:tcPr>
                </a:tc>
                <a:tc hMerge="1">
                  <a:tcPr/>
                </a:tc>
                <a:tc hMerge="1">
                  <a:tcPr/>
                </a:tc>
                <a:tc>
                  <a:txBody>
                    <a:bodyPr/>
                    <a:lstStyle/>
                    <a:p>
                      <a:pPr marL="21590" algn="l" fontAlgn="base" hangingPunct="0">
                        <a:lnSpc>
                          <a:spcPts val="1200"/>
                        </a:lnSpc>
                        <a:spcBef>
                          <a:spcPts val="500"/>
                        </a:spcBef>
                        <a:spcAft>
                          <a:spcPts val="500"/>
                        </a:spcAft>
                      </a:pPr>
                      <a:r>
                        <a:rPr lang="zh-CN" sz="1400" kern="0" dirty="0">
                          <a:effectLst/>
                          <a:latin typeface="+mn-ea"/>
                          <a:ea typeface="+mn-ea"/>
                        </a:rPr>
                        <a:t>供应商管理</a:t>
                      </a:r>
                      <a:endParaRPr lang="zh-CN" sz="1400" kern="100" dirty="0">
                        <a:effectLst/>
                        <a:latin typeface="+mn-ea"/>
                        <a:ea typeface="+mn-ea"/>
                      </a:endParaRPr>
                    </a:p>
                    <a:p>
                      <a:pPr marL="21590" algn="l" fontAlgn="base" hangingPunct="0">
                        <a:lnSpc>
                          <a:spcPts val="1200"/>
                        </a:lnSpc>
                        <a:spcBef>
                          <a:spcPts val="500"/>
                        </a:spcBef>
                        <a:spcAft>
                          <a:spcPts val="500"/>
                        </a:spcAft>
                      </a:pPr>
                      <a:r>
                        <a:rPr lang="zh-CN" sz="1400" kern="0" dirty="0">
                          <a:effectLst/>
                          <a:latin typeface="+mn-ea"/>
                          <a:ea typeface="+mn-ea"/>
                        </a:rPr>
                        <a:t>寻源报价</a:t>
                      </a:r>
                      <a:endParaRPr lang="zh-CN" sz="1400" kern="100" dirty="0">
                        <a:effectLst/>
                        <a:latin typeface="+mn-ea"/>
                        <a:ea typeface="+mn-ea"/>
                      </a:endParaRPr>
                    </a:p>
                    <a:p>
                      <a:pPr marL="21590" algn="l" fontAlgn="base" hangingPunct="0">
                        <a:lnSpc>
                          <a:spcPts val="1200"/>
                        </a:lnSpc>
                        <a:spcBef>
                          <a:spcPts val="500"/>
                        </a:spcBef>
                        <a:spcAft>
                          <a:spcPts val="500"/>
                        </a:spcAft>
                      </a:pPr>
                      <a:r>
                        <a:rPr lang="zh-CN" sz="1400" kern="0" dirty="0">
                          <a:effectLst/>
                          <a:latin typeface="+mn-ea"/>
                          <a:ea typeface="+mn-ea"/>
                        </a:rPr>
                        <a:t>采购协同</a:t>
                      </a:r>
                      <a:endParaRPr lang="zh-CN" sz="1400" kern="100" dirty="0">
                        <a:effectLst/>
                        <a:latin typeface="+mn-ea"/>
                        <a:ea typeface="+mn-ea"/>
                      </a:endParaRPr>
                    </a:p>
                    <a:p>
                      <a:pPr marL="21590" algn="l" fontAlgn="base" hangingPunct="0">
                        <a:lnSpc>
                          <a:spcPts val="1200"/>
                        </a:lnSpc>
                        <a:spcBef>
                          <a:spcPts val="500"/>
                        </a:spcBef>
                        <a:spcAft>
                          <a:spcPts val="500"/>
                        </a:spcAft>
                      </a:pPr>
                      <a:r>
                        <a:rPr lang="zh-CN" sz="1400" kern="0" dirty="0">
                          <a:effectLst/>
                          <a:latin typeface="+mn-ea"/>
                          <a:ea typeface="+mn-ea"/>
                        </a:rPr>
                        <a:t>财务协同</a:t>
                      </a:r>
                      <a:endParaRPr lang="zh-CN" sz="1400" kern="100" dirty="0">
                        <a:effectLst/>
                        <a:latin typeface="+mn-ea"/>
                        <a:ea typeface="+mn-ea"/>
                      </a:endParaRPr>
                    </a:p>
                  </a:txBody>
                  <a:tcPr marL="61640" marR="61640" marT="0" marB="0" anchor="ctr">
                    <a:solidFill>
                      <a:schemeClr val="bg2">
                        <a:lumMod val="90000"/>
                      </a:schemeClr>
                    </a:solidFill>
                  </a:tcPr>
                </a:tc>
                <a:tc>
                  <a:txBody>
                    <a:bodyPr/>
                    <a:lstStyle/>
                    <a:p>
                      <a:pPr marL="21590" algn="ctr" fontAlgn="base" hangingPunct="0">
                        <a:lnSpc>
                          <a:spcPts val="1200"/>
                        </a:lnSpc>
                        <a:spcBef>
                          <a:spcPts val="500"/>
                        </a:spcBef>
                        <a:spcAft>
                          <a:spcPts val="500"/>
                        </a:spcAft>
                      </a:pPr>
                      <a:r>
                        <a:rPr lang="en-US" altLang="zh-CN" sz="1400" kern="0" dirty="0" smtClean="0">
                          <a:effectLst/>
                          <a:latin typeface="+mn-ea"/>
                          <a:ea typeface="+mn-ea"/>
                        </a:rPr>
                        <a:t>PC+</a:t>
                      </a:r>
                      <a:r>
                        <a:rPr lang="zh-CN" altLang="en-US" sz="1400" kern="0" dirty="0" smtClean="0">
                          <a:effectLst/>
                          <a:latin typeface="+mn-ea"/>
                          <a:ea typeface="+mn-ea"/>
                        </a:rPr>
                        <a:t>移动端</a:t>
                      </a:r>
                      <a:endParaRPr lang="zh-CN" sz="1400" kern="100" dirty="0">
                        <a:effectLst/>
                        <a:latin typeface="+mn-ea"/>
                        <a:ea typeface="+mn-ea"/>
                      </a:endParaRPr>
                    </a:p>
                  </a:txBody>
                  <a:tcPr marL="61640" marR="61640" marT="0" marB="0" anchor="ctr">
                    <a:solidFill>
                      <a:schemeClr val="bg2">
                        <a:lumMod val="90000"/>
                      </a:schemeClr>
                    </a:solidFill>
                  </a:tcPr>
                </a:tc>
              </a:tr>
              <a:tr h="136935">
                <a:tc vMerge="1">
                  <a:tcPr/>
                </a:tc>
                <a:tc vMerge="1">
                  <a:tcPr/>
                </a:tc>
                <a:tc rowSpan="2" gridSpan="3">
                  <a:txBody>
                    <a:bodyPr/>
                    <a:lstStyle/>
                    <a:p>
                      <a:pPr algn="ctr" fontAlgn="base" hangingPunct="0">
                        <a:lnSpc>
                          <a:spcPts val="1200"/>
                        </a:lnSpc>
                        <a:spcBef>
                          <a:spcPts val="500"/>
                        </a:spcBef>
                        <a:spcAft>
                          <a:spcPts val="500"/>
                        </a:spcAft>
                      </a:pPr>
                      <a:r>
                        <a:rPr lang="zh-CN" sz="1400" kern="0" dirty="0">
                          <a:effectLst/>
                          <a:latin typeface="+mn-ea"/>
                          <a:ea typeface="+mn-ea"/>
                        </a:rPr>
                        <a:t>辅料</a:t>
                      </a:r>
                      <a:endParaRPr lang="zh-CN" sz="1400" kern="100" dirty="0">
                        <a:effectLst/>
                        <a:latin typeface="+mn-ea"/>
                        <a:ea typeface="+mn-ea"/>
                      </a:endParaRPr>
                    </a:p>
                  </a:txBody>
                  <a:tcPr marL="61640" marR="61640" marT="0" marB="0" anchor="ctr">
                    <a:solidFill>
                      <a:schemeClr val="bg2">
                        <a:lumMod val="90000"/>
                      </a:schemeClr>
                    </a:solidFill>
                  </a:tcPr>
                </a:tc>
                <a:tc rowSpan="2" hMerge="1">
                  <a:tcPr/>
                </a:tc>
                <a:tc rowSpan="2" hMerge="1">
                  <a:tcPr/>
                </a:tc>
                <a:tc rowSpan="2">
                  <a:txBody>
                    <a:bodyPr/>
                    <a:lstStyle/>
                    <a:p>
                      <a:pPr marL="21590" algn="l" fontAlgn="base" hangingPunct="0">
                        <a:lnSpc>
                          <a:spcPts val="1200"/>
                        </a:lnSpc>
                        <a:spcBef>
                          <a:spcPts val="500"/>
                        </a:spcBef>
                        <a:spcAft>
                          <a:spcPts val="500"/>
                        </a:spcAft>
                      </a:pPr>
                      <a:r>
                        <a:rPr lang="zh-CN" sz="1400" kern="0" dirty="0">
                          <a:effectLst/>
                          <a:latin typeface="+mn-ea"/>
                          <a:ea typeface="+mn-ea"/>
                        </a:rPr>
                        <a:t>供应商管理</a:t>
                      </a:r>
                      <a:endParaRPr lang="zh-CN" sz="1400" kern="100" dirty="0">
                        <a:effectLst/>
                        <a:latin typeface="+mn-ea"/>
                        <a:ea typeface="+mn-ea"/>
                      </a:endParaRPr>
                    </a:p>
                    <a:p>
                      <a:pPr marL="21590" algn="l" fontAlgn="base" hangingPunct="0">
                        <a:lnSpc>
                          <a:spcPts val="1200"/>
                        </a:lnSpc>
                        <a:spcBef>
                          <a:spcPts val="500"/>
                        </a:spcBef>
                        <a:spcAft>
                          <a:spcPts val="500"/>
                        </a:spcAft>
                      </a:pPr>
                      <a:r>
                        <a:rPr lang="zh-CN" sz="1400" kern="0" dirty="0">
                          <a:effectLst/>
                          <a:latin typeface="+mn-ea"/>
                          <a:ea typeface="+mn-ea"/>
                        </a:rPr>
                        <a:t>寻源报价</a:t>
                      </a:r>
                      <a:endParaRPr lang="zh-CN" sz="1400" kern="100" dirty="0">
                        <a:effectLst/>
                        <a:latin typeface="+mn-ea"/>
                        <a:ea typeface="+mn-ea"/>
                      </a:endParaRPr>
                    </a:p>
                    <a:p>
                      <a:pPr algn="l" fontAlgn="base" hangingPunct="0">
                        <a:lnSpc>
                          <a:spcPts val="1200"/>
                        </a:lnSpc>
                        <a:spcBef>
                          <a:spcPts val="500"/>
                        </a:spcBef>
                        <a:spcAft>
                          <a:spcPts val="500"/>
                        </a:spcAft>
                      </a:pPr>
                      <a:r>
                        <a:rPr lang="zh-CN" sz="1400" kern="0" dirty="0">
                          <a:effectLst/>
                          <a:latin typeface="+mn-ea"/>
                          <a:ea typeface="+mn-ea"/>
                        </a:rPr>
                        <a:t>采购协同</a:t>
                      </a:r>
                      <a:endParaRPr lang="zh-CN" sz="1400" kern="100" dirty="0">
                        <a:effectLst/>
                        <a:latin typeface="+mn-ea"/>
                        <a:ea typeface="+mn-ea"/>
                      </a:endParaRPr>
                    </a:p>
                    <a:p>
                      <a:pPr algn="l" fontAlgn="base" hangingPunct="0">
                        <a:lnSpc>
                          <a:spcPts val="1200"/>
                        </a:lnSpc>
                        <a:spcBef>
                          <a:spcPts val="500"/>
                        </a:spcBef>
                        <a:spcAft>
                          <a:spcPts val="500"/>
                        </a:spcAft>
                      </a:pPr>
                      <a:r>
                        <a:rPr lang="zh-CN" sz="1400" kern="0" dirty="0">
                          <a:effectLst/>
                          <a:latin typeface="+mn-ea"/>
                          <a:ea typeface="+mn-ea"/>
                        </a:rPr>
                        <a:t>财务协同</a:t>
                      </a:r>
                      <a:endParaRPr lang="zh-CN" sz="1400" kern="100" dirty="0">
                        <a:effectLst/>
                        <a:latin typeface="+mn-ea"/>
                        <a:ea typeface="+mn-ea"/>
                      </a:endParaRPr>
                    </a:p>
                  </a:txBody>
                  <a:tcPr marL="61640" marR="61640" marT="0" marB="0" anchor="ctr">
                    <a:solidFill>
                      <a:schemeClr val="bg2">
                        <a:lumMod val="90000"/>
                      </a:schemeClr>
                    </a:solidFill>
                  </a:tcPr>
                </a:tc>
                <a:tc rowSpan="2">
                  <a:txBody>
                    <a:bodyPr/>
                    <a:lstStyle/>
                    <a:p>
                      <a:pPr marL="21590" marR="0" lvl="0" indent="0" algn="ctr" defTabSz="914400" rtl="0" eaLnBrk="1" fontAlgn="base" latinLnBrk="0" hangingPunct="0">
                        <a:lnSpc>
                          <a:spcPts val="1200"/>
                        </a:lnSpc>
                        <a:spcBef>
                          <a:spcPts val="500"/>
                        </a:spcBef>
                        <a:spcAft>
                          <a:spcPts val="500"/>
                        </a:spcAft>
                        <a:buClrTx/>
                        <a:buSzTx/>
                        <a:buFontTx/>
                        <a:buNone/>
                        <a:defRPr/>
                      </a:pPr>
                      <a:r>
                        <a:rPr kumimoji="0" lang="en-US" altLang="zh-CN" sz="1400" b="0" i="0" u="none" strike="noStrike" kern="0" cap="none" spc="0" normalizeH="0" baseline="0" noProof="0" dirty="0" smtClean="0">
                          <a:ln>
                            <a:noFill/>
                          </a:ln>
                          <a:solidFill>
                            <a:prstClr val="black"/>
                          </a:solidFill>
                          <a:effectLst/>
                          <a:uLnTx/>
                          <a:uFillTx/>
                          <a:latin typeface="+mn-ea"/>
                          <a:ea typeface="+mn-ea"/>
                          <a:cs typeface="+mn-cs"/>
                        </a:rPr>
                        <a:t>PC+</a:t>
                      </a:r>
                      <a:r>
                        <a:rPr kumimoji="0" lang="zh-CN" altLang="en-US" sz="1400" b="0" i="0" u="none" strike="noStrike" kern="0" cap="none" spc="0" normalizeH="0" baseline="0" noProof="0" dirty="0" smtClean="0">
                          <a:ln>
                            <a:noFill/>
                          </a:ln>
                          <a:solidFill>
                            <a:prstClr val="black"/>
                          </a:solidFill>
                          <a:effectLst/>
                          <a:uLnTx/>
                          <a:uFillTx/>
                          <a:latin typeface="+mn-ea"/>
                          <a:ea typeface="+mn-ea"/>
                          <a:cs typeface="+mn-cs"/>
                        </a:rPr>
                        <a:t>移动端</a:t>
                      </a:r>
                      <a:endParaRPr kumimoji="0" lang="zh-CN" altLang="zh-CN" sz="1400" b="0" i="0" u="none" strike="noStrike" kern="100" cap="none" spc="0" normalizeH="0" baseline="0" noProof="0" dirty="0">
                        <a:ln>
                          <a:noFill/>
                        </a:ln>
                        <a:solidFill>
                          <a:prstClr val="black"/>
                        </a:solidFill>
                        <a:effectLst/>
                        <a:uLnTx/>
                        <a:uFillTx/>
                        <a:latin typeface="+mn-ea"/>
                        <a:ea typeface="+mn-ea"/>
                        <a:cs typeface="+mn-cs"/>
                      </a:endParaRPr>
                    </a:p>
                  </a:txBody>
                  <a:tcPr marL="61640" marR="61640" marT="0" marB="0" anchor="ctr">
                    <a:solidFill>
                      <a:schemeClr val="bg2">
                        <a:lumMod val="90000"/>
                      </a:schemeClr>
                    </a:solidFill>
                  </a:tcPr>
                </a:tc>
              </a:tr>
              <a:tr h="1020335">
                <a:tc>
                  <a:txBody>
                    <a:bodyPr/>
                    <a:lstStyle/>
                    <a:p>
                      <a:pPr algn="ctr" fontAlgn="base" hangingPunct="0">
                        <a:lnSpc>
                          <a:spcPts val="1200"/>
                        </a:lnSpc>
                        <a:spcBef>
                          <a:spcPts val="500"/>
                        </a:spcBef>
                        <a:spcAft>
                          <a:spcPts val="500"/>
                        </a:spcAft>
                      </a:pPr>
                      <a:r>
                        <a:rPr lang="en-US" sz="1400" kern="0" dirty="0">
                          <a:effectLst/>
                          <a:latin typeface="+mn-ea"/>
                          <a:ea typeface="+mn-ea"/>
                        </a:rPr>
                        <a:t>2</a:t>
                      </a:r>
                      <a:endParaRPr lang="zh-CN" sz="1400" kern="100" dirty="0">
                        <a:effectLst/>
                        <a:latin typeface="+mn-ea"/>
                        <a:ea typeface="+mn-ea"/>
                      </a:endParaRPr>
                    </a:p>
                  </a:txBody>
                  <a:tcPr marL="61640" marR="61640" marT="0" marB="0" anchor="ctr">
                    <a:solidFill>
                      <a:schemeClr val="tx1"/>
                    </a:solidFill>
                  </a:tcPr>
                </a:tc>
                <a:tc vMerge="1">
                  <a:tcPr/>
                </a:tc>
                <a:tc vMerge="1" gridSpan="3">
                  <a:tcPr marL="61640" marR="61640" marT="0" marB="0"/>
                </a:tc>
                <a:tc vMerge="1" hMerge="1">
                  <a:tcPr/>
                </a:tc>
                <a:tc vMerge="1" hMerge="1">
                  <a:tcPr/>
                </a:tc>
                <a:tc vMerge="1">
                  <a:tcPr marL="61640" marR="61640" marT="0" marB="0"/>
                </a:tc>
                <a:tc vMerge="1">
                  <a:tcPr marL="61640" marR="61640" marT="0" marB="0"/>
                </a:tc>
              </a:tr>
              <a:tr h="1059530">
                <a:tc rowSpan="4">
                  <a:txBody>
                    <a:bodyPr/>
                    <a:lstStyle/>
                    <a:p>
                      <a:pPr algn="ctr" fontAlgn="base" hangingPunct="0">
                        <a:lnSpc>
                          <a:spcPts val="1200"/>
                        </a:lnSpc>
                        <a:spcBef>
                          <a:spcPts val="500"/>
                        </a:spcBef>
                        <a:spcAft>
                          <a:spcPts val="500"/>
                        </a:spcAft>
                      </a:pPr>
                      <a:r>
                        <a:rPr lang="en-US" sz="1400" kern="0" dirty="0">
                          <a:effectLst/>
                          <a:latin typeface="+mn-ea"/>
                          <a:ea typeface="+mn-ea"/>
                        </a:rPr>
                        <a:t>3</a:t>
                      </a:r>
                      <a:endParaRPr lang="zh-CN" sz="1400" kern="100" dirty="0">
                        <a:effectLst/>
                        <a:latin typeface="+mn-ea"/>
                        <a:ea typeface="+mn-ea"/>
                      </a:endParaRPr>
                    </a:p>
                  </a:txBody>
                  <a:tcPr marL="61640" marR="61640" marT="0" marB="0" anchor="ctr">
                    <a:solidFill>
                      <a:schemeClr val="tx1"/>
                    </a:solidFill>
                  </a:tcPr>
                </a:tc>
                <a:tc vMerge="1">
                  <a:tcPr/>
                </a:tc>
                <a:tc rowSpan="4">
                  <a:txBody>
                    <a:bodyPr/>
                    <a:lstStyle/>
                    <a:p>
                      <a:pPr algn="just" fontAlgn="base" hangingPunct="0">
                        <a:lnSpc>
                          <a:spcPts val="1200"/>
                        </a:lnSpc>
                        <a:spcBef>
                          <a:spcPts val="500"/>
                        </a:spcBef>
                        <a:spcAft>
                          <a:spcPts val="500"/>
                        </a:spcAft>
                      </a:pPr>
                      <a:r>
                        <a:rPr lang="zh-CN" sz="1400" kern="0" dirty="0">
                          <a:effectLst/>
                          <a:latin typeface="+mn-ea"/>
                          <a:ea typeface="+mn-ea"/>
                        </a:rPr>
                        <a:t>成衣</a:t>
                      </a:r>
                      <a:endParaRPr lang="zh-CN" sz="1400" kern="100" dirty="0">
                        <a:effectLst/>
                        <a:latin typeface="+mn-ea"/>
                        <a:ea typeface="+mn-ea"/>
                      </a:endParaRPr>
                    </a:p>
                  </a:txBody>
                  <a:tcPr marL="61640" marR="61640" marT="0" marB="0" anchor="ctr">
                    <a:solidFill>
                      <a:schemeClr val="bg2">
                        <a:lumMod val="90000"/>
                      </a:schemeClr>
                    </a:solidFill>
                  </a:tcPr>
                </a:tc>
                <a:tc>
                  <a:txBody>
                    <a:bodyPr/>
                    <a:lstStyle/>
                    <a:p>
                      <a:pPr algn="just" fontAlgn="base" hangingPunct="0">
                        <a:spcAft>
                          <a:spcPts val="0"/>
                        </a:spcAft>
                      </a:pPr>
                      <a:r>
                        <a:rPr lang="zh-CN" sz="1400" kern="0" dirty="0">
                          <a:effectLst/>
                          <a:latin typeface="+mn-ea"/>
                          <a:ea typeface="+mn-ea"/>
                        </a:rPr>
                        <a:t>女装事业部</a:t>
                      </a:r>
                      <a:endParaRPr lang="zh-CN" sz="1400" kern="100" dirty="0">
                        <a:effectLst/>
                        <a:latin typeface="+mn-ea"/>
                        <a:ea typeface="+mn-ea"/>
                      </a:endParaRPr>
                    </a:p>
                  </a:txBody>
                  <a:tcPr marL="61640" marR="61640" marT="0" marB="0" anchor="ctr">
                    <a:solidFill>
                      <a:schemeClr val="bg2">
                        <a:lumMod val="90000"/>
                      </a:schemeClr>
                    </a:solidFill>
                  </a:tcPr>
                </a:tc>
                <a:tc>
                  <a:txBody>
                    <a:bodyPr/>
                    <a:lstStyle/>
                    <a:p>
                      <a:pPr algn="just" fontAlgn="base" hangingPunct="0">
                        <a:spcAft>
                          <a:spcPts val="0"/>
                        </a:spcAft>
                      </a:pPr>
                      <a:r>
                        <a:rPr lang="en-US" sz="1400" kern="0" dirty="0">
                          <a:effectLst/>
                          <a:latin typeface="+mn-ea"/>
                          <a:ea typeface="+mn-ea"/>
                        </a:rPr>
                        <a:t>Ports Intl. Gold Label Womenswear</a:t>
                      </a:r>
                      <a:endParaRPr lang="zh-CN" sz="1400" kern="100" dirty="0">
                        <a:effectLst/>
                        <a:latin typeface="+mn-ea"/>
                        <a:ea typeface="+mn-ea"/>
                      </a:endParaRPr>
                    </a:p>
                    <a:p>
                      <a:pPr algn="just" fontAlgn="base" hangingPunct="0">
                        <a:spcAft>
                          <a:spcPts val="0"/>
                        </a:spcAft>
                      </a:pPr>
                      <a:r>
                        <a:rPr lang="en-US" sz="1400" kern="0" dirty="0">
                          <a:effectLst/>
                          <a:latin typeface="+mn-ea"/>
                          <a:ea typeface="+mn-ea"/>
                        </a:rPr>
                        <a:t>Ports Intl. Grey Label Womenswear</a:t>
                      </a:r>
                      <a:endParaRPr lang="zh-CN" sz="1400" kern="100" dirty="0">
                        <a:effectLst/>
                        <a:latin typeface="+mn-ea"/>
                        <a:ea typeface="+mn-ea"/>
                      </a:endParaRPr>
                    </a:p>
                    <a:p>
                      <a:pPr algn="just" fontAlgn="base" hangingPunct="0">
                        <a:spcAft>
                          <a:spcPts val="0"/>
                        </a:spcAft>
                      </a:pPr>
                      <a:r>
                        <a:rPr lang="en-US" sz="1400" kern="0" dirty="0">
                          <a:effectLst/>
                          <a:latin typeface="+mn-ea"/>
                          <a:ea typeface="+mn-ea"/>
                        </a:rPr>
                        <a:t>Ports Intl. Black Label </a:t>
                      </a:r>
                      <a:r>
                        <a:rPr lang="en-US" sz="1400" kern="0" dirty="0" err="1">
                          <a:effectLst/>
                          <a:latin typeface="+mn-ea"/>
                          <a:ea typeface="+mn-ea"/>
                        </a:rPr>
                        <a:t>Womenswea</a:t>
                      </a:r>
                      <a:endParaRPr lang="zh-CN" sz="1400" kern="100" dirty="0">
                        <a:effectLst/>
                        <a:latin typeface="+mn-ea"/>
                        <a:ea typeface="+mn-ea"/>
                      </a:endParaRPr>
                    </a:p>
                    <a:p>
                      <a:pPr algn="just" fontAlgn="base" hangingPunct="0">
                        <a:spcAft>
                          <a:spcPts val="0"/>
                        </a:spcAft>
                      </a:pPr>
                      <a:r>
                        <a:rPr lang="en-US" sz="1400" kern="0" dirty="0" err="1">
                          <a:effectLst/>
                          <a:latin typeface="+mn-ea"/>
                          <a:ea typeface="+mn-ea"/>
                        </a:rPr>
                        <a:t>lsabella</a:t>
                      </a:r>
                      <a:r>
                        <a:rPr lang="en-US" sz="1400" kern="0" dirty="0">
                          <a:effectLst/>
                          <a:latin typeface="+mn-ea"/>
                          <a:ea typeface="+mn-ea"/>
                        </a:rPr>
                        <a:t> by Ports</a:t>
                      </a:r>
                      <a:endParaRPr lang="zh-CN" sz="1400" kern="100" dirty="0">
                        <a:effectLst/>
                        <a:latin typeface="+mn-ea"/>
                        <a:ea typeface="+mn-ea"/>
                      </a:endParaRPr>
                    </a:p>
                    <a:p>
                      <a:pPr algn="just" fontAlgn="base" hangingPunct="0">
                        <a:spcAft>
                          <a:spcPts val="0"/>
                        </a:spcAft>
                      </a:pPr>
                      <a:r>
                        <a:rPr lang="en-US" sz="1400" kern="0" dirty="0">
                          <a:effectLst/>
                          <a:latin typeface="+mn-ea"/>
                          <a:ea typeface="+mn-ea"/>
                        </a:rPr>
                        <a:t>BAGS &amp; SLG</a:t>
                      </a:r>
                      <a:endParaRPr lang="zh-CN" sz="1400" kern="100" dirty="0">
                        <a:effectLst/>
                        <a:latin typeface="+mn-ea"/>
                        <a:ea typeface="+mn-ea"/>
                      </a:endParaRPr>
                    </a:p>
                  </a:txBody>
                  <a:tcPr marL="61640" marR="61640" marT="0" marB="0" anchor="ctr">
                    <a:solidFill>
                      <a:schemeClr val="bg2">
                        <a:lumMod val="90000"/>
                      </a:schemeClr>
                    </a:solidFill>
                  </a:tcPr>
                </a:tc>
                <a:tc rowSpan="4">
                  <a:txBody>
                    <a:bodyPr/>
                    <a:lstStyle/>
                    <a:p>
                      <a:pPr marL="21590" algn="l" fontAlgn="base" hangingPunct="0">
                        <a:lnSpc>
                          <a:spcPts val="1200"/>
                        </a:lnSpc>
                        <a:spcBef>
                          <a:spcPts val="500"/>
                        </a:spcBef>
                        <a:spcAft>
                          <a:spcPts val="500"/>
                        </a:spcAft>
                      </a:pPr>
                      <a:r>
                        <a:rPr lang="zh-CN" sz="1400" kern="0" dirty="0">
                          <a:effectLst/>
                          <a:latin typeface="+mn-ea"/>
                          <a:ea typeface="+mn-ea"/>
                        </a:rPr>
                        <a:t>供应商管理</a:t>
                      </a:r>
                      <a:endParaRPr lang="zh-CN" sz="1400" kern="100" dirty="0">
                        <a:effectLst/>
                        <a:latin typeface="+mn-ea"/>
                        <a:ea typeface="+mn-ea"/>
                      </a:endParaRPr>
                    </a:p>
                    <a:p>
                      <a:pPr marL="21590" algn="l" fontAlgn="base" hangingPunct="0">
                        <a:lnSpc>
                          <a:spcPts val="1200"/>
                        </a:lnSpc>
                        <a:spcBef>
                          <a:spcPts val="500"/>
                        </a:spcBef>
                        <a:spcAft>
                          <a:spcPts val="500"/>
                        </a:spcAft>
                      </a:pPr>
                      <a:r>
                        <a:rPr lang="zh-CN" sz="1400" kern="0" dirty="0">
                          <a:effectLst/>
                          <a:latin typeface="+mn-ea"/>
                          <a:ea typeface="+mn-ea"/>
                        </a:rPr>
                        <a:t>寻源报价</a:t>
                      </a:r>
                      <a:endParaRPr lang="zh-CN" sz="1400" kern="100" dirty="0">
                        <a:effectLst/>
                        <a:latin typeface="+mn-ea"/>
                        <a:ea typeface="+mn-ea"/>
                      </a:endParaRPr>
                    </a:p>
                    <a:p>
                      <a:pPr algn="l" fontAlgn="base" hangingPunct="0">
                        <a:lnSpc>
                          <a:spcPts val="1200"/>
                        </a:lnSpc>
                        <a:spcBef>
                          <a:spcPts val="500"/>
                        </a:spcBef>
                        <a:spcAft>
                          <a:spcPts val="500"/>
                        </a:spcAft>
                      </a:pPr>
                      <a:r>
                        <a:rPr lang="zh-CN" sz="1400" kern="0" dirty="0">
                          <a:effectLst/>
                          <a:latin typeface="+mn-ea"/>
                          <a:ea typeface="+mn-ea"/>
                        </a:rPr>
                        <a:t>采购</a:t>
                      </a:r>
                      <a:r>
                        <a:rPr lang="zh-CN" sz="1400" kern="0" dirty="0" smtClean="0">
                          <a:effectLst/>
                          <a:latin typeface="+mn-ea"/>
                          <a:ea typeface="+mn-ea"/>
                        </a:rPr>
                        <a:t>协同（</a:t>
                      </a:r>
                      <a:r>
                        <a:rPr lang="zh-CN" sz="1400" kern="0" dirty="0">
                          <a:effectLst/>
                          <a:latin typeface="+mn-ea"/>
                          <a:ea typeface="+mn-ea"/>
                        </a:rPr>
                        <a:t>含生产协同）</a:t>
                      </a:r>
                      <a:endParaRPr lang="zh-CN" sz="1400" kern="100" dirty="0">
                        <a:effectLst/>
                        <a:latin typeface="+mn-ea"/>
                        <a:ea typeface="+mn-ea"/>
                      </a:endParaRPr>
                    </a:p>
                    <a:p>
                      <a:pPr algn="l" fontAlgn="base" hangingPunct="0">
                        <a:lnSpc>
                          <a:spcPts val="1200"/>
                        </a:lnSpc>
                        <a:spcBef>
                          <a:spcPts val="500"/>
                        </a:spcBef>
                        <a:spcAft>
                          <a:spcPts val="500"/>
                        </a:spcAft>
                      </a:pPr>
                      <a:r>
                        <a:rPr lang="zh-CN" sz="1400" kern="0" dirty="0">
                          <a:effectLst/>
                          <a:latin typeface="+mn-ea"/>
                          <a:ea typeface="+mn-ea"/>
                        </a:rPr>
                        <a:t>质量协同</a:t>
                      </a:r>
                      <a:endParaRPr lang="zh-CN" sz="1400" kern="100" dirty="0">
                        <a:effectLst/>
                        <a:latin typeface="+mn-ea"/>
                        <a:ea typeface="+mn-ea"/>
                      </a:endParaRPr>
                    </a:p>
                    <a:p>
                      <a:pPr algn="l" fontAlgn="base" hangingPunct="0">
                        <a:lnSpc>
                          <a:spcPts val="1200"/>
                        </a:lnSpc>
                        <a:spcBef>
                          <a:spcPts val="500"/>
                        </a:spcBef>
                        <a:spcAft>
                          <a:spcPts val="500"/>
                        </a:spcAft>
                      </a:pPr>
                      <a:r>
                        <a:rPr lang="zh-CN" sz="1400" kern="0" dirty="0">
                          <a:effectLst/>
                          <a:latin typeface="+mn-ea"/>
                          <a:ea typeface="+mn-ea"/>
                        </a:rPr>
                        <a:t>财务协同</a:t>
                      </a:r>
                      <a:endParaRPr lang="zh-CN" sz="1400" kern="100" dirty="0">
                        <a:effectLst/>
                        <a:latin typeface="+mn-ea"/>
                        <a:ea typeface="+mn-ea"/>
                      </a:endParaRPr>
                    </a:p>
                  </a:txBody>
                  <a:tcPr marL="61640" marR="61640" marT="0" marB="0" anchor="ctr">
                    <a:solidFill>
                      <a:schemeClr val="bg2">
                        <a:lumMod val="90000"/>
                      </a:schemeClr>
                    </a:solidFill>
                  </a:tcPr>
                </a:tc>
                <a:tc rowSpan="4">
                  <a:txBody>
                    <a:bodyPr/>
                    <a:lstStyle/>
                    <a:p>
                      <a:pPr marL="21590" marR="0" lvl="0" indent="0" algn="ctr" defTabSz="914400" rtl="0" eaLnBrk="1" fontAlgn="base" latinLnBrk="0" hangingPunct="0">
                        <a:lnSpc>
                          <a:spcPts val="1200"/>
                        </a:lnSpc>
                        <a:spcBef>
                          <a:spcPts val="500"/>
                        </a:spcBef>
                        <a:spcAft>
                          <a:spcPts val="500"/>
                        </a:spcAft>
                        <a:buClrTx/>
                        <a:buSzTx/>
                        <a:buFontTx/>
                        <a:buNone/>
                        <a:defRPr/>
                      </a:pPr>
                      <a:r>
                        <a:rPr kumimoji="0" lang="en-US" altLang="zh-CN" sz="1400" b="0" i="0" u="none" strike="noStrike" kern="0" cap="none" spc="0" normalizeH="0" baseline="0" noProof="0" dirty="0" smtClean="0">
                          <a:ln>
                            <a:noFill/>
                          </a:ln>
                          <a:solidFill>
                            <a:prstClr val="black"/>
                          </a:solidFill>
                          <a:effectLst/>
                          <a:uLnTx/>
                          <a:uFillTx/>
                          <a:latin typeface="+mn-ea"/>
                          <a:ea typeface="+mn-ea"/>
                          <a:cs typeface="+mn-cs"/>
                        </a:rPr>
                        <a:t>PC+</a:t>
                      </a:r>
                      <a:r>
                        <a:rPr kumimoji="0" lang="zh-CN" altLang="en-US" sz="1400" b="0" i="0" u="none" strike="noStrike" kern="0" cap="none" spc="0" normalizeH="0" baseline="0" noProof="0" dirty="0" smtClean="0">
                          <a:ln>
                            <a:noFill/>
                          </a:ln>
                          <a:solidFill>
                            <a:prstClr val="black"/>
                          </a:solidFill>
                          <a:effectLst/>
                          <a:uLnTx/>
                          <a:uFillTx/>
                          <a:latin typeface="+mn-ea"/>
                          <a:ea typeface="+mn-ea"/>
                          <a:cs typeface="+mn-cs"/>
                        </a:rPr>
                        <a:t>移动端</a:t>
                      </a:r>
                      <a:endParaRPr kumimoji="0" lang="zh-CN" altLang="zh-CN" sz="1400" b="0" i="0" u="none" strike="noStrike" kern="100" cap="none" spc="0" normalizeH="0" baseline="0" noProof="0" dirty="0">
                        <a:ln>
                          <a:noFill/>
                        </a:ln>
                        <a:solidFill>
                          <a:prstClr val="black"/>
                        </a:solidFill>
                        <a:effectLst/>
                        <a:uLnTx/>
                        <a:uFillTx/>
                        <a:latin typeface="+mn-ea"/>
                        <a:ea typeface="+mn-ea"/>
                        <a:cs typeface="+mn-cs"/>
                      </a:endParaRPr>
                    </a:p>
                  </a:txBody>
                  <a:tcPr marL="61640" marR="61640" marT="0" marB="0" anchor="ctr">
                    <a:solidFill>
                      <a:schemeClr val="bg2">
                        <a:lumMod val="90000"/>
                      </a:schemeClr>
                    </a:solidFill>
                  </a:tcPr>
                </a:tc>
              </a:tr>
              <a:tr h="256218">
                <a:tc vMerge="1">
                  <a:tcPr/>
                </a:tc>
                <a:tc vMerge="1">
                  <a:tcPr/>
                </a:tc>
                <a:tc vMerge="1">
                  <a:tcPr/>
                </a:tc>
                <a:tc>
                  <a:txBody>
                    <a:bodyPr/>
                    <a:lstStyle/>
                    <a:p>
                      <a:pPr algn="just" fontAlgn="base" hangingPunct="0">
                        <a:spcAft>
                          <a:spcPts val="0"/>
                        </a:spcAft>
                      </a:pPr>
                      <a:r>
                        <a:rPr lang="zh-CN" sz="1400" kern="0" dirty="0">
                          <a:effectLst/>
                          <a:latin typeface="+mn-ea"/>
                          <a:ea typeface="+mn-ea"/>
                        </a:rPr>
                        <a:t>男装事业部</a:t>
                      </a:r>
                      <a:endParaRPr lang="zh-CN" sz="1400" kern="100" dirty="0">
                        <a:effectLst/>
                        <a:latin typeface="+mn-ea"/>
                        <a:ea typeface="+mn-ea"/>
                      </a:endParaRPr>
                    </a:p>
                  </a:txBody>
                  <a:tcPr marL="61640" marR="61640" marT="0" marB="0" anchor="ctr">
                    <a:solidFill>
                      <a:schemeClr val="bg2">
                        <a:lumMod val="90000"/>
                      </a:schemeClr>
                    </a:solidFill>
                  </a:tcPr>
                </a:tc>
                <a:tc>
                  <a:txBody>
                    <a:bodyPr/>
                    <a:lstStyle/>
                    <a:p>
                      <a:pPr algn="just" fontAlgn="base" hangingPunct="0">
                        <a:spcAft>
                          <a:spcPts val="0"/>
                        </a:spcAft>
                      </a:pPr>
                      <a:r>
                        <a:rPr lang="en-US" sz="1400" kern="0" dirty="0">
                          <a:effectLst/>
                          <a:latin typeface="+mn-ea"/>
                          <a:ea typeface="+mn-ea"/>
                        </a:rPr>
                        <a:t>Ports Intl. Gold Label </a:t>
                      </a:r>
                      <a:r>
                        <a:rPr lang="en-US" sz="1400" kern="0" dirty="0" smtClean="0">
                          <a:effectLst/>
                          <a:latin typeface="+mn-ea"/>
                          <a:ea typeface="+mn-ea"/>
                        </a:rPr>
                        <a:t>Menswear</a:t>
                      </a:r>
                      <a:endParaRPr lang="zh-CN" sz="1400" kern="100" dirty="0">
                        <a:effectLst/>
                        <a:latin typeface="+mn-ea"/>
                        <a:ea typeface="+mn-ea"/>
                      </a:endParaRPr>
                    </a:p>
                  </a:txBody>
                  <a:tcPr marL="61640" marR="61640" marT="0" marB="0" anchor="ctr">
                    <a:solidFill>
                      <a:schemeClr val="bg2">
                        <a:lumMod val="90000"/>
                      </a:schemeClr>
                    </a:solidFill>
                  </a:tcPr>
                </a:tc>
                <a:tc vMerge="1">
                  <a:tcPr/>
                </a:tc>
                <a:tc vMerge="1">
                  <a:tcPr/>
                </a:tc>
              </a:tr>
              <a:tr h="635717">
                <a:tc vMerge="1">
                  <a:tcPr/>
                </a:tc>
                <a:tc vMerge="1">
                  <a:tcPr/>
                </a:tc>
                <a:tc vMerge="1">
                  <a:tcPr/>
                </a:tc>
                <a:tc>
                  <a:txBody>
                    <a:bodyPr/>
                    <a:lstStyle/>
                    <a:p>
                      <a:pPr algn="just" fontAlgn="base" hangingPunct="0">
                        <a:spcAft>
                          <a:spcPts val="0"/>
                        </a:spcAft>
                      </a:pPr>
                      <a:r>
                        <a:rPr lang="en-US" sz="1400" kern="0" dirty="0">
                          <a:effectLst/>
                          <a:latin typeface="+mn-ea"/>
                          <a:ea typeface="+mn-ea"/>
                        </a:rPr>
                        <a:t>Ports1961&amp;Pure</a:t>
                      </a:r>
                      <a:r>
                        <a:rPr lang="zh-CN" sz="1400" kern="0" dirty="0">
                          <a:effectLst/>
                          <a:latin typeface="+mn-ea"/>
                          <a:ea typeface="+mn-ea"/>
                        </a:rPr>
                        <a:t>事业部</a:t>
                      </a:r>
                      <a:endParaRPr lang="zh-CN" sz="1400" kern="100" dirty="0">
                        <a:effectLst/>
                        <a:latin typeface="+mn-ea"/>
                        <a:ea typeface="+mn-ea"/>
                      </a:endParaRPr>
                    </a:p>
                  </a:txBody>
                  <a:tcPr marL="61640" marR="61640" marT="0" marB="0" anchor="ctr">
                    <a:solidFill>
                      <a:schemeClr val="bg2">
                        <a:lumMod val="90000"/>
                      </a:schemeClr>
                    </a:solidFill>
                  </a:tcPr>
                </a:tc>
                <a:tc>
                  <a:txBody>
                    <a:bodyPr/>
                    <a:lstStyle/>
                    <a:p>
                      <a:pPr algn="just" fontAlgn="base" hangingPunct="0">
                        <a:spcAft>
                          <a:spcPts val="0"/>
                        </a:spcAft>
                      </a:pPr>
                      <a:r>
                        <a:rPr lang="en-US" sz="1400" kern="0">
                          <a:effectLst/>
                          <a:latin typeface="+mn-ea"/>
                          <a:ea typeface="+mn-ea"/>
                        </a:rPr>
                        <a:t>PORTS 1 961 Womenswear</a:t>
                      </a:r>
                      <a:endParaRPr lang="zh-CN" sz="1400" kern="100">
                        <a:effectLst/>
                        <a:latin typeface="+mn-ea"/>
                        <a:ea typeface="+mn-ea"/>
                      </a:endParaRPr>
                    </a:p>
                    <a:p>
                      <a:pPr algn="just" fontAlgn="base" hangingPunct="0">
                        <a:spcAft>
                          <a:spcPts val="0"/>
                        </a:spcAft>
                      </a:pPr>
                      <a:r>
                        <a:rPr lang="en-US" sz="1400" kern="0">
                          <a:effectLst/>
                          <a:latin typeface="+mn-ea"/>
                          <a:ea typeface="+mn-ea"/>
                        </a:rPr>
                        <a:t>PORTS 1961 Menswear</a:t>
                      </a:r>
                      <a:endParaRPr lang="zh-CN" sz="1400" kern="100">
                        <a:effectLst/>
                        <a:latin typeface="+mn-ea"/>
                        <a:ea typeface="+mn-ea"/>
                      </a:endParaRPr>
                    </a:p>
                    <a:p>
                      <a:pPr algn="just" fontAlgn="base" hangingPunct="0">
                        <a:spcAft>
                          <a:spcPts val="0"/>
                        </a:spcAft>
                      </a:pPr>
                      <a:r>
                        <a:rPr lang="en-US" sz="1400" kern="0">
                          <a:effectLst/>
                          <a:latin typeface="+mn-ea"/>
                          <a:ea typeface="+mn-ea"/>
                        </a:rPr>
                        <a:t>PortsPURE</a:t>
                      </a:r>
                      <a:endParaRPr lang="zh-CN" sz="1400" kern="100">
                        <a:effectLst/>
                        <a:latin typeface="+mn-ea"/>
                        <a:ea typeface="+mn-ea"/>
                      </a:endParaRPr>
                    </a:p>
                  </a:txBody>
                  <a:tcPr marL="61640" marR="61640" marT="0" marB="0" anchor="ctr">
                    <a:solidFill>
                      <a:schemeClr val="bg2">
                        <a:lumMod val="90000"/>
                      </a:schemeClr>
                    </a:solidFill>
                  </a:tcPr>
                </a:tc>
                <a:tc vMerge="1">
                  <a:tcPr/>
                </a:tc>
                <a:tc vMerge="1">
                  <a:tcPr/>
                </a:tc>
              </a:tr>
              <a:tr h="847624">
                <a:tc vMerge="1">
                  <a:tcPr/>
                </a:tc>
                <a:tc vMerge="1">
                  <a:tcPr/>
                </a:tc>
                <a:tc vMerge="1">
                  <a:tcPr/>
                </a:tc>
                <a:tc>
                  <a:txBody>
                    <a:bodyPr/>
                    <a:lstStyle/>
                    <a:p>
                      <a:pPr algn="just" fontAlgn="base" hangingPunct="0">
                        <a:spcAft>
                          <a:spcPts val="0"/>
                        </a:spcAft>
                      </a:pPr>
                      <a:r>
                        <a:rPr lang="en-US" sz="1400" kern="0" dirty="0" err="1">
                          <a:effectLst/>
                          <a:latin typeface="+mn-ea"/>
                          <a:ea typeface="+mn-ea"/>
                        </a:rPr>
                        <a:t>Llifestyle</a:t>
                      </a:r>
                      <a:r>
                        <a:rPr lang="zh-CN" sz="1400" kern="0" dirty="0">
                          <a:effectLst/>
                          <a:latin typeface="+mn-ea"/>
                          <a:ea typeface="+mn-ea"/>
                        </a:rPr>
                        <a:t>事业部</a:t>
                      </a:r>
                      <a:endParaRPr lang="zh-CN" sz="1400" kern="100" dirty="0">
                        <a:effectLst/>
                        <a:latin typeface="+mn-ea"/>
                        <a:ea typeface="+mn-ea"/>
                      </a:endParaRPr>
                    </a:p>
                  </a:txBody>
                  <a:tcPr marL="61640" marR="61640" marT="0" marB="0" anchor="ctr">
                    <a:solidFill>
                      <a:schemeClr val="bg2">
                        <a:lumMod val="90000"/>
                      </a:schemeClr>
                    </a:solidFill>
                  </a:tcPr>
                </a:tc>
                <a:tc>
                  <a:txBody>
                    <a:bodyPr/>
                    <a:lstStyle/>
                    <a:p>
                      <a:pPr algn="just" fontAlgn="base" hangingPunct="0">
                        <a:spcAft>
                          <a:spcPts val="0"/>
                        </a:spcAft>
                      </a:pPr>
                      <a:r>
                        <a:rPr lang="en-US" sz="1400" kern="0" dirty="0">
                          <a:effectLst/>
                          <a:latin typeface="+mn-ea"/>
                          <a:ea typeface="+mn-ea"/>
                        </a:rPr>
                        <a:t>BMW Studio Menswear</a:t>
                      </a:r>
                      <a:endParaRPr lang="zh-CN" sz="1400" kern="100" dirty="0">
                        <a:effectLst/>
                        <a:latin typeface="+mn-ea"/>
                        <a:ea typeface="+mn-ea"/>
                      </a:endParaRPr>
                    </a:p>
                    <a:p>
                      <a:pPr algn="just" fontAlgn="base" hangingPunct="0">
                        <a:spcAft>
                          <a:spcPts val="0"/>
                        </a:spcAft>
                      </a:pPr>
                      <a:r>
                        <a:rPr lang="en-US" sz="1400" kern="0" dirty="0">
                          <a:effectLst/>
                          <a:latin typeface="+mn-ea"/>
                          <a:ea typeface="+mn-ea"/>
                        </a:rPr>
                        <a:t>BMW Studio Womenswear</a:t>
                      </a:r>
                      <a:endParaRPr lang="zh-CN" sz="1400" kern="100" dirty="0">
                        <a:effectLst/>
                        <a:latin typeface="+mn-ea"/>
                        <a:ea typeface="+mn-ea"/>
                      </a:endParaRPr>
                    </a:p>
                    <a:p>
                      <a:pPr algn="just" fontAlgn="base" hangingPunct="0">
                        <a:spcAft>
                          <a:spcPts val="0"/>
                        </a:spcAft>
                      </a:pPr>
                      <a:r>
                        <a:rPr lang="en-US" sz="1400" kern="0" dirty="0">
                          <a:effectLst/>
                          <a:latin typeface="+mn-ea"/>
                          <a:ea typeface="+mn-ea"/>
                        </a:rPr>
                        <a:t>BMW Studio </a:t>
                      </a:r>
                      <a:r>
                        <a:rPr lang="en-US" sz="1400" kern="0" dirty="0" err="1">
                          <a:effectLst/>
                          <a:latin typeface="+mn-ea"/>
                          <a:ea typeface="+mn-ea"/>
                        </a:rPr>
                        <a:t>Childrenswear</a:t>
                      </a:r>
                      <a:endParaRPr lang="zh-CN" sz="1400" kern="100" dirty="0">
                        <a:effectLst/>
                        <a:latin typeface="+mn-ea"/>
                        <a:ea typeface="+mn-ea"/>
                      </a:endParaRPr>
                    </a:p>
                    <a:p>
                      <a:pPr algn="just" fontAlgn="base" hangingPunct="0">
                        <a:spcAft>
                          <a:spcPts val="0"/>
                        </a:spcAft>
                      </a:pPr>
                      <a:r>
                        <a:rPr lang="en-US" sz="1400" kern="0" dirty="0">
                          <a:effectLst/>
                          <a:latin typeface="+mn-ea"/>
                          <a:ea typeface="+mn-ea"/>
                        </a:rPr>
                        <a:t>PORTS V</a:t>
                      </a:r>
                      <a:endParaRPr lang="zh-CN" sz="1400" kern="100" dirty="0">
                        <a:effectLst/>
                        <a:latin typeface="+mn-ea"/>
                        <a:ea typeface="+mn-ea"/>
                      </a:endParaRPr>
                    </a:p>
                  </a:txBody>
                  <a:tcPr marL="61640" marR="61640" marT="0" marB="0" anchor="ctr">
                    <a:solidFill>
                      <a:schemeClr val="bg2">
                        <a:lumMod val="90000"/>
                      </a:schemeClr>
                    </a:solidFill>
                  </a:tcPr>
                </a:tc>
                <a:tc vMerge="1">
                  <a:tcPr/>
                </a:tc>
                <a:tc vMerge="1">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7618056" y="612844"/>
            <a:ext cx="438733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endParaRPr lang="en-US" altLang="zh-CN" sz="3600" b="1" dirty="0">
              <a:solidFill>
                <a:schemeClr val="tx1"/>
              </a:solidFill>
            </a:endParaRPr>
          </a:p>
          <a:p>
            <a:r>
              <a:rPr lang="zh-CN" altLang="en-US" sz="3600" b="1" dirty="0" smtClean="0">
                <a:solidFill>
                  <a:schemeClr val="tx1"/>
                </a:solidFill>
              </a:rPr>
              <a:t>项目计划</a:t>
            </a:r>
            <a:endParaRPr lang="en-US" altLang="zh-CN" sz="3600" b="1" dirty="0">
              <a:solidFill>
                <a:schemeClr val="tx1"/>
              </a:solidFill>
            </a:endParaRPr>
          </a:p>
          <a:p>
            <a:pPr marL="0" indent="0">
              <a:buNone/>
            </a:pPr>
            <a:endParaRPr lang="en-US" altLang="zh-CN" sz="3600" b="1" dirty="0" smtClean="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bg1">
                    <a:lumMod val="65000"/>
                  </a:schemeClr>
                </a:solidFill>
              </a:rPr>
              <a:t>蓝图方案</a:t>
            </a:r>
            <a:endParaRPr lang="en-US" altLang="zh-CN" sz="3600" b="1" dirty="0" smtClean="0">
              <a:solidFill>
                <a:schemeClr val="bg1">
                  <a:lumMod val="65000"/>
                </a:schemeClr>
              </a:solidFill>
            </a:endParaRPr>
          </a:p>
          <a:p>
            <a:pPr marL="0" indent="0">
              <a:buNone/>
            </a:pPr>
            <a:r>
              <a:rPr lang="en-US" altLang="zh-CN" sz="3600" b="1" dirty="0">
                <a:solidFill>
                  <a:schemeClr val="bg1">
                    <a:lumMod val="65000"/>
                  </a:schemeClr>
                </a:solidFill>
              </a:rPr>
              <a:t> </a:t>
            </a:r>
            <a:r>
              <a:rPr lang="en-US" altLang="zh-CN" sz="3600" b="1" dirty="0" smtClean="0">
                <a:solidFill>
                  <a:schemeClr val="bg1">
                    <a:lumMod val="65000"/>
                  </a:schemeClr>
                </a:solidFill>
              </a:rPr>
              <a:t>  </a:t>
            </a:r>
            <a:endParaRPr lang="en-US" altLang="zh-CN" sz="3600" b="1" dirty="0" smtClean="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a:xfrm>
            <a:off x="420578" y="931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a:t>
            </a:r>
            <a:r>
              <a:rPr lang="zh-CN" altLang="en-US" sz="2800" dirty="0" smtClean="0"/>
              <a:t>商生命周期管理蓝图设计清单及概要说明</a:t>
            </a:r>
            <a:endParaRPr lang="zh-CN" altLang="en-US" sz="2800" dirty="0"/>
          </a:p>
        </p:txBody>
      </p:sp>
      <p:graphicFrame>
        <p:nvGraphicFramePr>
          <p:cNvPr id="2" name="表格 1"/>
          <p:cNvGraphicFramePr>
            <a:graphicFrameLocks noGrp="1"/>
          </p:cNvGraphicFramePr>
          <p:nvPr>
            <p:custDataLst>
              <p:tags r:id="rId1"/>
            </p:custDataLst>
          </p:nvPr>
        </p:nvGraphicFramePr>
        <p:xfrm>
          <a:off x="357448" y="704732"/>
          <a:ext cx="11629504" cy="5848458"/>
        </p:xfrm>
        <a:graphic>
          <a:graphicData uri="http://schemas.openxmlformats.org/drawingml/2006/table">
            <a:tbl>
              <a:tblPr firstRow="1" bandRow="1">
                <a:tableStyleId>{5C22544A-7EE6-4342-B048-85BDC9FD1C3A}</a:tableStyleId>
              </a:tblPr>
              <a:tblGrid>
                <a:gridCol w="775908"/>
                <a:gridCol w="1917415"/>
                <a:gridCol w="8936181"/>
              </a:tblGrid>
              <a:tr h="415115">
                <a:tc>
                  <a:txBody>
                    <a:bodyPr/>
                    <a:lstStyle/>
                    <a:p>
                      <a:r>
                        <a:rPr lang="zh-CN" altLang="en-US" dirty="0" smtClean="0"/>
                        <a:t>序号</a:t>
                      </a:r>
                      <a:endParaRPr lang="zh-CN" altLang="en-US" dirty="0"/>
                    </a:p>
                  </a:txBody>
                  <a:tcPr/>
                </a:tc>
                <a:tc>
                  <a:txBody>
                    <a:bodyPr/>
                    <a:lstStyle/>
                    <a:p>
                      <a:r>
                        <a:rPr lang="zh-CN" altLang="en-US" dirty="0" smtClean="0"/>
                        <a:t>蓝图设计清单</a:t>
                      </a:r>
                      <a:endParaRPr lang="zh-CN" altLang="en-US" dirty="0"/>
                    </a:p>
                  </a:txBody>
                  <a:tcPr/>
                </a:tc>
                <a:tc>
                  <a:txBody>
                    <a:bodyPr/>
                    <a:lstStyle/>
                    <a:p>
                      <a:r>
                        <a:rPr lang="zh-CN" altLang="en-US" dirty="0" smtClean="0"/>
                        <a:t>概述</a:t>
                      </a:r>
                      <a:endParaRPr lang="zh-CN" altLang="en-US" dirty="0"/>
                    </a:p>
                  </a:txBody>
                  <a:tcPr/>
                </a:tc>
              </a:tr>
              <a:tr h="878121">
                <a:tc>
                  <a:txBody>
                    <a:bodyPr/>
                    <a:lstStyle/>
                    <a:p>
                      <a:r>
                        <a:rPr lang="en-US" altLang="zh-CN" dirty="0" smtClean="0"/>
                        <a:t>01</a:t>
                      </a:r>
                      <a:endParaRPr lang="zh-CN" altLang="en-US" dirty="0"/>
                    </a:p>
                  </a:txBody>
                  <a:tcPr anchor="ctr"/>
                </a:tc>
                <a:tc>
                  <a:txBody>
                    <a:bodyPr/>
                    <a:lstStyle/>
                    <a:p>
                      <a:r>
                        <a:rPr lang="zh-CN" altLang="en-US" dirty="0" smtClean="0"/>
                        <a:t>供应商引入</a:t>
                      </a:r>
                      <a:endParaRPr lang="zh-CN" altLang="en-US" dirty="0"/>
                    </a:p>
                  </a:txBody>
                  <a:tcPr anchor="ctr"/>
                </a:tc>
                <a:tc>
                  <a:txBody>
                    <a:bodyPr/>
                    <a:lstStyle/>
                    <a:p>
                      <a:r>
                        <a:rPr lang="zh-CN" altLang="en-US" dirty="0" smtClean="0"/>
                        <a:t>线下寻找意向合作供应商并发起供应商注册邀请，供应商通过</a:t>
                      </a:r>
                      <a:r>
                        <a:rPr lang="en-US" altLang="zh-CN" dirty="0" smtClean="0"/>
                        <a:t>SRM</a:t>
                      </a:r>
                      <a:r>
                        <a:rPr lang="zh-CN" altLang="en-US" dirty="0" smtClean="0"/>
                        <a:t>门户完成供应商信息提交，宝姿通过</a:t>
                      </a:r>
                      <a:r>
                        <a:rPr lang="en-US" altLang="zh-CN" dirty="0" smtClean="0"/>
                        <a:t>SRM</a:t>
                      </a:r>
                      <a:r>
                        <a:rPr lang="zh-CN" altLang="en-US" dirty="0" smtClean="0"/>
                        <a:t>发送资格调查表供应商进行企业资质登记，宝姿线上完成对供应商初审。</a:t>
                      </a:r>
                      <a:endParaRPr lang="zh-CN" altLang="en-US" dirty="0"/>
                    </a:p>
                  </a:txBody>
                  <a:tcPr anchor="ctr"/>
                </a:tc>
              </a:tr>
              <a:tr h="579120">
                <a:tc>
                  <a:txBody>
                    <a:bodyPr/>
                    <a:lstStyle/>
                    <a:p>
                      <a:pPr>
                        <a:buNone/>
                      </a:pPr>
                      <a:r>
                        <a:rPr lang="en-US" altLang="zh-CN" dirty="0"/>
                        <a:t>02</a:t>
                      </a:r>
                      <a:endParaRPr lang="en-US" altLang="zh-CN" dirty="0"/>
                    </a:p>
                  </a:txBody>
                  <a:tcPr anchor="ctr"/>
                </a:tc>
                <a:tc>
                  <a:txBody>
                    <a:bodyPr/>
                    <a:lstStyle/>
                    <a:p>
                      <a:pPr>
                        <a:buNone/>
                      </a:pPr>
                      <a:r>
                        <a:rPr lang="zh-CN" altLang="en-US" dirty="0"/>
                        <a:t>供应商预审评估</a:t>
                      </a:r>
                      <a:endParaRPr lang="zh-CN" altLang="en-US" dirty="0"/>
                    </a:p>
                  </a:txBody>
                  <a:tcPr anchor="ctr"/>
                </a:tc>
                <a:tc>
                  <a:txBody>
                    <a:bodyPr/>
                    <a:lstStyle/>
                    <a:p>
                      <a:pPr>
                        <a:buNone/>
                      </a:pPr>
                      <a:r>
                        <a:rPr lang="zh-CN" altLang="en-US" dirty="0"/>
                        <a:t>对供应商样品检测进行总体评估，对供应商进行初步筛选</a:t>
                      </a:r>
                      <a:endParaRPr lang="zh-CN" altLang="en-US" dirty="0"/>
                    </a:p>
                  </a:txBody>
                  <a:tcPr anchor="ctr"/>
                </a:tc>
              </a:tr>
              <a:tr h="878121">
                <a:tc>
                  <a:txBody>
                    <a:bodyPr/>
                    <a:lstStyle/>
                    <a:p>
                      <a:r>
                        <a:rPr lang="en-US" altLang="zh-CN" dirty="0" smtClean="0"/>
                        <a:t>03</a:t>
                      </a:r>
                      <a:endParaRPr lang="zh-CN" altLang="en-US" dirty="0"/>
                    </a:p>
                  </a:txBody>
                  <a:tcPr anchor="ctr"/>
                </a:tc>
                <a:tc>
                  <a:txBody>
                    <a:bodyPr/>
                    <a:lstStyle/>
                    <a:p>
                      <a:r>
                        <a:rPr lang="zh-CN" altLang="en-US" dirty="0" smtClean="0"/>
                        <a:t>验厂考察管理</a:t>
                      </a:r>
                      <a:endParaRPr lang="zh-CN" altLang="en-US" dirty="0"/>
                    </a:p>
                  </a:txBody>
                  <a:tcPr anchor="ctr"/>
                </a:tc>
                <a:tc>
                  <a:txBody>
                    <a:bodyPr/>
                    <a:lstStyle/>
                    <a:p>
                      <a:r>
                        <a:rPr lang="zh-CN" altLang="en-US" sz="1800" dirty="0" smtClean="0"/>
                        <a:t>验厂考察分为准入验厂</a:t>
                      </a:r>
                      <a:r>
                        <a:rPr lang="en-US" altLang="zh-CN" sz="1800" dirty="0" smtClean="0"/>
                        <a:t>/</a:t>
                      </a:r>
                      <a:r>
                        <a:rPr lang="zh-CN" altLang="en-US" sz="1800" dirty="0" smtClean="0"/>
                        <a:t>复验验厂</a:t>
                      </a:r>
                      <a:r>
                        <a:rPr lang="en-US" altLang="zh-CN" sz="1800" dirty="0" smtClean="0"/>
                        <a:t>/</a:t>
                      </a:r>
                      <a:r>
                        <a:rPr lang="zh-CN" altLang="en-US" sz="1800" dirty="0" smtClean="0"/>
                        <a:t>免验（免验在准入评估时选择）三种类型，可通过验厂考察管理模块提前制定供应商验厂考察计划进行验厂排期，同时针对排期计划、验厂报告等进行定时预警消息提醒。</a:t>
                      </a:r>
                      <a:endParaRPr lang="zh-CN" altLang="en-US" dirty="0"/>
                    </a:p>
                  </a:txBody>
                  <a:tcPr anchor="ctr"/>
                </a:tc>
              </a:tr>
              <a:tr h="687529">
                <a:tc>
                  <a:txBody>
                    <a:bodyPr/>
                    <a:lstStyle/>
                    <a:p>
                      <a:r>
                        <a:rPr lang="en-US" altLang="zh-CN" dirty="0" smtClean="0"/>
                        <a:t>04</a:t>
                      </a:r>
                      <a:endParaRPr lang="zh-CN" altLang="en-US" dirty="0"/>
                    </a:p>
                  </a:txBody>
                  <a:tcPr anchor="ctr"/>
                </a:tc>
                <a:tc>
                  <a:txBody>
                    <a:bodyPr/>
                    <a:lstStyle/>
                    <a:p>
                      <a:r>
                        <a:rPr lang="zh-CN" altLang="en-US" dirty="0" smtClean="0"/>
                        <a:t>供应商准入评估</a:t>
                      </a:r>
                      <a:endParaRPr lang="zh-CN" altLang="en-US" dirty="0"/>
                    </a:p>
                  </a:txBody>
                  <a:tcPr anchor="ctr"/>
                </a:tc>
                <a:tc>
                  <a:txBody>
                    <a:bodyPr/>
                    <a:lstStyle/>
                    <a:p>
                      <a:r>
                        <a:rPr lang="zh-CN" altLang="en-US" dirty="0" smtClean="0"/>
                        <a:t>通过供应商准入评估表汇总当前供应商在准入过程中各阶段评估信息及结果，最终判定供应商是否符合与宝姿合作标准，完成对供应商最终准入。</a:t>
                      </a:r>
                      <a:endParaRPr lang="zh-CN" altLang="en-US" dirty="0"/>
                    </a:p>
                  </a:txBody>
                  <a:tcPr anchor="ctr"/>
                </a:tc>
              </a:tr>
              <a:tr h="583565">
                <a:tc>
                  <a:txBody>
                    <a:bodyPr/>
                    <a:lstStyle/>
                    <a:p>
                      <a:r>
                        <a:rPr lang="en-US" altLang="zh-CN" dirty="0" smtClean="0"/>
                        <a:t>05</a:t>
                      </a:r>
                      <a:endParaRPr lang="zh-CN" altLang="en-US" dirty="0"/>
                    </a:p>
                  </a:txBody>
                  <a:tcPr anchor="ctr"/>
                </a:tc>
                <a:tc>
                  <a:txBody>
                    <a:bodyPr/>
                    <a:lstStyle/>
                    <a:p>
                      <a:pPr marL="0" algn="l" defTabSz="914400" rtl="0" eaLnBrk="1" latinLnBrk="0" hangingPunct="1"/>
                      <a:r>
                        <a:rPr lang="zh-CN" altLang="en-US" sz="1800" kern="1200" dirty="0" smtClean="0">
                          <a:solidFill>
                            <a:schemeClr val="dk1"/>
                          </a:solidFill>
                          <a:latin typeface="+mn-lt"/>
                          <a:ea typeface="+mn-ea"/>
                          <a:cs typeface="+mn-cs"/>
                        </a:rPr>
                        <a:t>供应商降级</a:t>
                      </a:r>
                      <a:endParaRPr lang="zh-CN" altLang="en-US" sz="1800" kern="1200" dirty="0">
                        <a:solidFill>
                          <a:schemeClr val="dk1"/>
                        </a:solidFill>
                        <a:latin typeface="+mn-lt"/>
                        <a:ea typeface="+mn-ea"/>
                        <a:cs typeface="+mn-cs"/>
                      </a:endParaRPr>
                    </a:p>
                  </a:txBody>
                  <a:tcPr anchor="ctr"/>
                </a:tc>
                <a:tc>
                  <a:txBody>
                    <a:bodyPr/>
                    <a:lstStyle/>
                    <a:p>
                      <a:pPr marL="0" lvl="1" indent="0" algn="l" defTabSz="914400" rtl="0" eaLnBrk="1" fontAlgn="auto" latinLnBrk="0" hangingPunct="1">
                        <a:lnSpc>
                          <a:spcPct val="130000"/>
                        </a:lnSpc>
                        <a:buFont typeface="Arial" panose="020B0604020202020204" pitchFamily="34" charset="0"/>
                        <a:buNone/>
                      </a:pPr>
                      <a:r>
                        <a:rPr lang="zh-CN" altLang="en-US" sz="1800" kern="1200" dirty="0" smtClean="0">
                          <a:solidFill>
                            <a:schemeClr val="dk1"/>
                          </a:solidFill>
                          <a:latin typeface="+mn-lt"/>
                          <a:ea typeface="+mn-ea"/>
                          <a:cs typeface="+mn-cs"/>
                        </a:rPr>
                        <a:t>供应商降级管理包含退出（冻结）、黑名单、休眠三种降级方式。</a:t>
                      </a:r>
                      <a:endParaRPr lang="zh-CN" altLang="en-US" sz="1800" kern="1200" dirty="0">
                        <a:solidFill>
                          <a:schemeClr val="dk1"/>
                        </a:solidFill>
                        <a:latin typeface="+mn-lt"/>
                        <a:ea typeface="+mn-ea"/>
                        <a:cs typeface="+mn-cs"/>
                      </a:endParaRPr>
                    </a:p>
                  </a:txBody>
                  <a:tcPr anchor="ctr"/>
                </a:tc>
              </a:tr>
              <a:tr h="687529">
                <a:tc>
                  <a:txBody>
                    <a:bodyPr/>
                    <a:lstStyle/>
                    <a:p>
                      <a:r>
                        <a:rPr lang="en-US" altLang="zh-CN" dirty="0" smtClean="0"/>
                        <a:t>06</a:t>
                      </a:r>
                      <a:endParaRPr lang="zh-CN" altLang="en-US" dirty="0"/>
                    </a:p>
                  </a:txBody>
                  <a:tcPr anchor="ctr"/>
                </a:tc>
                <a:tc>
                  <a:txBody>
                    <a:bodyPr/>
                    <a:lstStyle/>
                    <a:p>
                      <a:r>
                        <a:rPr lang="zh-CN" altLang="en-US" dirty="0" smtClean="0"/>
                        <a:t>供应商分类管理</a:t>
                      </a:r>
                      <a:endParaRPr lang="zh-CN" altLang="en-US" dirty="0"/>
                    </a:p>
                  </a:txBody>
                  <a:tcPr anchor="ctr"/>
                </a:tc>
                <a:tc>
                  <a:txBody>
                    <a:bodyPr/>
                    <a:lstStyle/>
                    <a:p>
                      <a:r>
                        <a:rPr lang="zh-CN" altLang="en-US" dirty="0" smtClean="0"/>
                        <a:t>通过供应商分类管理，对供应商可供品类进行调整维护。供应商拓展可供品类需重新走准入评估。</a:t>
                      </a:r>
                      <a:endParaRPr lang="zh-CN" altLang="en-US" dirty="0"/>
                    </a:p>
                  </a:txBody>
                  <a:tcPr anchor="ctr"/>
                </a:tc>
              </a:tr>
              <a:tr h="508635">
                <a:tc>
                  <a:txBody>
                    <a:bodyPr/>
                    <a:lstStyle/>
                    <a:p>
                      <a:r>
                        <a:rPr lang="en-US" altLang="zh-CN" dirty="0" smtClean="0"/>
                        <a:t>07</a:t>
                      </a:r>
                      <a:endParaRPr lang="zh-CN" altLang="en-US" dirty="0"/>
                    </a:p>
                  </a:txBody>
                  <a:tcPr anchor="ctr"/>
                </a:tc>
                <a:tc>
                  <a:txBody>
                    <a:bodyPr/>
                    <a:lstStyle/>
                    <a:p>
                      <a:r>
                        <a:rPr lang="zh-CN" altLang="en-US" dirty="0" smtClean="0"/>
                        <a:t>供应商信息变更</a:t>
                      </a:r>
                      <a:endParaRPr lang="zh-CN" altLang="en-US" dirty="0"/>
                    </a:p>
                  </a:txBody>
                  <a:tcPr anchor="ctr"/>
                </a:tc>
                <a:tc>
                  <a:txBody>
                    <a:bodyPr/>
                    <a:lstStyle/>
                    <a:p>
                      <a:r>
                        <a:rPr lang="zh-CN" altLang="en-US" dirty="0" smtClean="0"/>
                        <a:t>供应商信息变更主要针对供应商基本信息、银行信息、开票信息的变更。</a:t>
                      </a:r>
                      <a:endParaRPr lang="zh-CN" altLang="en-US" dirty="0"/>
                    </a:p>
                  </a:txBody>
                  <a:tcPr anchor="ctr"/>
                </a:tc>
              </a:tr>
              <a:tr h="558165">
                <a:tc>
                  <a:txBody>
                    <a:bodyPr/>
                    <a:lstStyle/>
                    <a:p>
                      <a:r>
                        <a:rPr lang="en-US" altLang="zh-CN" dirty="0" smtClean="0"/>
                        <a:t>08</a:t>
                      </a:r>
                      <a:endParaRPr lang="zh-CN" altLang="en-US" dirty="0"/>
                    </a:p>
                  </a:txBody>
                  <a:tcPr anchor="ctr"/>
                </a:tc>
                <a:tc>
                  <a:txBody>
                    <a:bodyPr/>
                    <a:lstStyle/>
                    <a:p>
                      <a:r>
                        <a:rPr lang="zh-CN" altLang="en-US" dirty="0" smtClean="0"/>
                        <a:t>供应商</a:t>
                      </a:r>
                      <a:r>
                        <a:rPr lang="en-US" altLang="zh-CN" dirty="0" smtClean="0"/>
                        <a:t>360</a:t>
                      </a:r>
                      <a:r>
                        <a:rPr lang="zh-CN" altLang="en-US" dirty="0" smtClean="0"/>
                        <a:t>画像</a:t>
                      </a:r>
                      <a:endParaRPr lang="zh-CN" altLang="en-US" dirty="0"/>
                    </a:p>
                  </a:txBody>
                  <a:tcPr anchor="ctr"/>
                </a:tc>
                <a:tc>
                  <a:txBody>
                    <a:bodyPr/>
                    <a:lstStyle/>
                    <a:p>
                      <a:r>
                        <a:rPr lang="zh-CN" altLang="en-US" dirty="0" smtClean="0"/>
                        <a:t>供应商</a:t>
                      </a:r>
                      <a:r>
                        <a:rPr lang="en-US" altLang="zh-CN" dirty="0" smtClean="0"/>
                        <a:t>360</a:t>
                      </a:r>
                      <a:r>
                        <a:rPr lang="zh-CN" altLang="en-US" dirty="0" smtClean="0"/>
                        <a:t>画像针对供应商全生命周期过程数据进行汇总分析。</a:t>
                      </a:r>
                      <a:endParaRPr lang="zh-CN" altLang="en-US" dirty="0"/>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标题 1"/>
          <p:cNvSpPr>
            <a:spLocks noChangeArrowheads="1"/>
          </p:cNvSpPr>
          <p:nvPr/>
        </p:nvSpPr>
        <p:spPr>
          <a:xfrm>
            <a:off x="280036" y="295895"/>
            <a:ext cx="9144000" cy="334963"/>
          </a:xfrm>
          <a:prstGeom prst="rect">
            <a:avLst/>
          </a:prstGeom>
          <a:noFill/>
          <a:ln>
            <a:noFill/>
          </a:ln>
        </p:spPr>
        <p:txBody>
          <a:bodyPr vert="horz" wrap="square" lIns="91440" tIns="45720" rIns="91440" bIns="45720" numCol="1" rtlCol="0" anchor="ctr" anchorCtr="0" compatLnSpc="1">
            <a:noAutofit/>
          </a:bodyPr>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pPr lvl="0" algn="l">
              <a:buClrTx/>
              <a:buSzTx/>
              <a:buFontTx/>
            </a:pPr>
            <a:r>
              <a:rPr lang="zh-CN" altLang="en-US" dirty="0">
                <a:sym typeface="+mn-ea"/>
              </a:rPr>
              <a:t>项目一期第一阶段计划</a:t>
            </a:r>
            <a:endParaRPr lang="zh-CN" altLang="en-US" dirty="0">
              <a:sym typeface="+mn-ea"/>
            </a:endParaRPr>
          </a:p>
        </p:txBody>
      </p:sp>
      <p:sp>
        <p:nvSpPr>
          <p:cNvPr id="47" name="矩形 46"/>
          <p:cNvSpPr/>
          <p:nvPr/>
        </p:nvSpPr>
        <p:spPr>
          <a:xfrm>
            <a:off x="767408" y="920935"/>
            <a:ext cx="10729192" cy="5040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a:latin typeface="+mj-ea"/>
                <a:ea typeface="+mj-ea"/>
              </a:rPr>
              <a:t>宝姿</a:t>
            </a:r>
            <a:r>
              <a:rPr lang="en-US" altLang="zh-CN" b="1" dirty="0">
                <a:latin typeface="+mj-ea"/>
                <a:ea typeface="+mj-ea"/>
              </a:rPr>
              <a:t>SRM</a:t>
            </a:r>
            <a:r>
              <a:rPr lang="zh-CN" altLang="en-US" b="1" dirty="0">
                <a:latin typeface="+mj-ea"/>
                <a:ea typeface="+mj-ea"/>
              </a:rPr>
              <a:t>项目</a:t>
            </a:r>
            <a:r>
              <a:rPr lang="en-US" altLang="zh-CN" b="1" dirty="0">
                <a:latin typeface="+mj-ea"/>
                <a:ea typeface="+mj-ea"/>
              </a:rPr>
              <a:t>---</a:t>
            </a:r>
            <a:r>
              <a:rPr lang="zh-CN" altLang="en-US" b="1" dirty="0">
                <a:latin typeface="+mj-ea"/>
                <a:ea typeface="+mj-ea"/>
              </a:rPr>
              <a:t>一期总体计划</a:t>
            </a:r>
            <a:r>
              <a:rPr lang="en-US" altLang="zh-CN" b="1" dirty="0">
                <a:latin typeface="+mj-ea"/>
                <a:ea typeface="+mj-ea"/>
              </a:rPr>
              <a:t>(</a:t>
            </a:r>
            <a:r>
              <a:rPr lang="en-US" altLang="zh-CN" b="1" dirty="0" smtClean="0">
                <a:latin typeface="+mj-ea"/>
                <a:ea typeface="+mj-ea"/>
              </a:rPr>
              <a:t>2022/2/19-2022/5/25</a:t>
            </a:r>
            <a:r>
              <a:rPr lang="en-US" altLang="zh-CN" b="1" dirty="0">
                <a:latin typeface="+mj-ea"/>
                <a:ea typeface="+mj-ea"/>
              </a:rPr>
              <a:t>)</a:t>
            </a:r>
            <a:endParaRPr lang="zh-CN" altLang="en-US" b="1" dirty="0">
              <a:latin typeface="+mj-ea"/>
              <a:ea typeface="+mj-ea"/>
            </a:endParaRPr>
          </a:p>
        </p:txBody>
      </p:sp>
      <p:sp>
        <p:nvSpPr>
          <p:cNvPr id="48" name="五边形 48"/>
          <p:cNvSpPr/>
          <p:nvPr/>
        </p:nvSpPr>
        <p:spPr>
          <a:xfrm>
            <a:off x="914400" y="3176130"/>
            <a:ext cx="1318804" cy="752378"/>
          </a:xfrm>
          <a:prstGeom prst="homePlate">
            <a:avLst>
              <a:gd name="adj" fmla="val 34245"/>
            </a:avLst>
          </a:pr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项目准备</a:t>
            </a:r>
            <a:endParaRPr lang="en-US"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49" name="燕尾形 49"/>
          <p:cNvSpPr/>
          <p:nvPr/>
        </p:nvSpPr>
        <p:spPr>
          <a:xfrm>
            <a:off x="2054554" y="3176130"/>
            <a:ext cx="1892817" cy="752378"/>
          </a:xfrm>
          <a:prstGeom prst="chevron">
            <a:avLst>
              <a:gd name="adj" fmla="val 30305"/>
            </a:avLst>
          </a:pr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调研及蓝图</a:t>
            </a:r>
            <a:endParaRPr lang="en-US" altLang="zh-CN"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50" name="燕尾形 50"/>
          <p:cNvSpPr/>
          <p:nvPr/>
        </p:nvSpPr>
        <p:spPr>
          <a:xfrm>
            <a:off x="5090920" y="3176130"/>
            <a:ext cx="2164549" cy="752378"/>
          </a:xfrm>
          <a:prstGeom prst="chevron">
            <a:avLst>
              <a:gd name="adj" fmla="val 32274"/>
            </a:avLst>
          </a:pr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系统实现</a:t>
            </a:r>
            <a:endParaRPr lang="en-US" altLang="zh-CN"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51" name="燕尾形 51"/>
          <p:cNvSpPr/>
          <p:nvPr/>
        </p:nvSpPr>
        <p:spPr>
          <a:xfrm>
            <a:off x="8417321" y="3176130"/>
            <a:ext cx="1672253" cy="752378"/>
          </a:xfrm>
          <a:prstGeom prst="chevron">
            <a:avLst>
              <a:gd name="adj" fmla="val 30305"/>
            </a:avLst>
          </a:pr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上线准备</a:t>
            </a:r>
            <a:endPar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57" name="TextBox 37"/>
          <p:cNvSpPr txBox="1"/>
          <p:nvPr/>
        </p:nvSpPr>
        <p:spPr>
          <a:xfrm>
            <a:off x="5253479" y="2836226"/>
            <a:ext cx="838691" cy="276999"/>
          </a:xfrm>
          <a:prstGeom prst="rect">
            <a:avLst/>
          </a:prstGeom>
          <a:noFill/>
        </p:spPr>
        <p:txBody>
          <a:bodyPr wrap="none" rtlCol="0">
            <a:spAutoFit/>
          </a:bodyPr>
          <a:lstStyle/>
          <a:p>
            <a:r>
              <a:rPr lang="en-US" altLang="zh-CN" sz="1200" b="1" dirty="0" smtClean="0">
                <a:latin typeface="微软雅黑" panose="020B0503020204020204" charset="-122"/>
                <a:ea typeface="微软雅黑" panose="020B0503020204020204" charset="-122"/>
              </a:rPr>
              <a:t>2022.5.5</a:t>
            </a:r>
            <a:endParaRPr lang="en-US" sz="1200" b="1" dirty="0">
              <a:latin typeface="微软雅黑" panose="020B0503020204020204" charset="-122"/>
              <a:ea typeface="微软雅黑" panose="020B0503020204020204" charset="-122"/>
            </a:endParaRPr>
          </a:p>
        </p:txBody>
      </p:sp>
      <p:sp>
        <p:nvSpPr>
          <p:cNvPr id="58" name="TextBox 51"/>
          <p:cNvSpPr txBox="1"/>
          <p:nvPr/>
        </p:nvSpPr>
        <p:spPr>
          <a:xfrm>
            <a:off x="941812" y="2811481"/>
            <a:ext cx="928370" cy="275590"/>
          </a:xfrm>
          <a:prstGeom prst="rect">
            <a:avLst/>
          </a:prstGeom>
          <a:noFill/>
        </p:spPr>
        <p:txBody>
          <a:bodyPr wrap="none" rtlCol="0">
            <a:spAutoFit/>
          </a:bodyPr>
          <a:lstStyle/>
          <a:p>
            <a:r>
              <a:rPr lang="en-US" altLang="zh-CN" sz="1200" b="1" dirty="0">
                <a:latin typeface="微软雅黑" panose="020B0503020204020204" charset="-122"/>
                <a:ea typeface="微软雅黑" panose="020B0503020204020204" charset="-122"/>
              </a:rPr>
              <a:t>2022.2.25</a:t>
            </a:r>
            <a:endParaRPr lang="en-US" sz="1200" b="1" dirty="0">
              <a:latin typeface="微软雅黑" panose="020B0503020204020204" charset="-122"/>
              <a:ea typeface="微软雅黑" panose="020B0503020204020204" charset="-122"/>
            </a:endParaRPr>
          </a:p>
        </p:txBody>
      </p:sp>
      <p:cxnSp>
        <p:nvCxnSpPr>
          <p:cNvPr id="59" name="Straight Connector 54"/>
          <p:cNvCxnSpPr/>
          <p:nvPr/>
        </p:nvCxnSpPr>
        <p:spPr>
          <a:xfrm flipH="1">
            <a:off x="984680" y="2795273"/>
            <a:ext cx="8" cy="263295"/>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984688" y="2795273"/>
            <a:ext cx="10731949" cy="185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1"/>
          <p:cNvCxnSpPr/>
          <p:nvPr/>
        </p:nvCxnSpPr>
        <p:spPr>
          <a:xfrm>
            <a:off x="1993283" y="2795273"/>
            <a:ext cx="0" cy="31270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1"/>
          <p:cNvCxnSpPr/>
          <p:nvPr/>
        </p:nvCxnSpPr>
        <p:spPr>
          <a:xfrm>
            <a:off x="4490980" y="2833415"/>
            <a:ext cx="0" cy="31270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1"/>
          <p:cNvCxnSpPr/>
          <p:nvPr/>
        </p:nvCxnSpPr>
        <p:spPr>
          <a:xfrm>
            <a:off x="9723557" y="2783651"/>
            <a:ext cx="0" cy="31270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66" name="TextBox 37"/>
          <p:cNvSpPr txBox="1"/>
          <p:nvPr/>
        </p:nvSpPr>
        <p:spPr>
          <a:xfrm>
            <a:off x="909564" y="4139655"/>
            <a:ext cx="1304789" cy="737235"/>
          </a:xfrm>
          <a:prstGeom prst="rect">
            <a:avLst/>
          </a:prstGeom>
          <a:noFill/>
        </p:spPr>
        <p:txBody>
          <a:bodyPr wrap="square" rtlCol="0" anchor="t">
            <a:spAutoFit/>
          </a:bodyPr>
          <a:lstStyle/>
          <a:p>
            <a:pPr marL="228600" indent="-228600">
              <a:buFont typeface="Wingdings" panose="05000000000000000000" pitchFamily="2" charset="2"/>
              <a:buChar char="n"/>
            </a:pPr>
            <a:r>
              <a:rPr lang="zh-CN" altLang="en-US" sz="1050" b="1" dirty="0">
                <a:solidFill>
                  <a:schemeClr val="accent5">
                    <a:lumMod val="50000"/>
                  </a:schemeClr>
                </a:solidFill>
                <a:latin typeface="微软雅黑" panose="020B0503020204020204" charset="-122"/>
                <a:ea typeface="微软雅黑" panose="020B0503020204020204" charset="-122"/>
              </a:rPr>
              <a:t>办公环境确认</a:t>
            </a:r>
            <a:endParaRPr lang="en-US" altLang="zh-CN" sz="1050" b="1" dirty="0">
              <a:solidFill>
                <a:schemeClr val="accent5">
                  <a:lumMod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accent5">
                    <a:lumMod val="50000"/>
                  </a:schemeClr>
                </a:solidFill>
                <a:latin typeface="微软雅黑" panose="020B0503020204020204" charset="-122"/>
                <a:ea typeface="微软雅黑" panose="020B0503020204020204" charset="-122"/>
              </a:rPr>
              <a:t>组建项目团队</a:t>
            </a:r>
            <a:endParaRPr lang="en-US" altLang="zh-CN" sz="1050" b="1" dirty="0">
              <a:solidFill>
                <a:schemeClr val="accent5">
                  <a:lumMod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accent5">
                    <a:lumMod val="50000"/>
                  </a:schemeClr>
                </a:solidFill>
                <a:latin typeface="微软雅黑" panose="020B0503020204020204" charset="-122"/>
                <a:ea typeface="微软雅黑" panose="020B0503020204020204" charset="-122"/>
              </a:rPr>
              <a:t>项目计划确定</a:t>
            </a:r>
            <a:endParaRPr lang="en-US" altLang="zh-CN" sz="1050" b="1" dirty="0">
              <a:solidFill>
                <a:schemeClr val="accent5">
                  <a:lumMod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accent5">
                    <a:lumMod val="50000"/>
                  </a:schemeClr>
                </a:solidFill>
                <a:latin typeface="微软雅黑" panose="020B0503020204020204" charset="-122"/>
                <a:ea typeface="微软雅黑" panose="020B0503020204020204" charset="-122"/>
              </a:rPr>
              <a:t>调研前沟通</a:t>
            </a:r>
            <a:endParaRPr lang="en-US" altLang="zh-CN" sz="1050" b="1" dirty="0">
              <a:solidFill>
                <a:schemeClr val="accent5">
                  <a:lumMod val="50000"/>
                </a:schemeClr>
              </a:solidFill>
              <a:latin typeface="微软雅黑" panose="020B0503020204020204" charset="-122"/>
              <a:ea typeface="微软雅黑" panose="020B0503020204020204" charset="-122"/>
            </a:endParaRPr>
          </a:p>
        </p:txBody>
      </p:sp>
      <p:sp>
        <p:nvSpPr>
          <p:cNvPr id="67" name="TextBox 37"/>
          <p:cNvSpPr txBox="1"/>
          <p:nvPr/>
        </p:nvSpPr>
        <p:spPr>
          <a:xfrm>
            <a:off x="2262959" y="4144332"/>
            <a:ext cx="1304789" cy="1222375"/>
          </a:xfrm>
          <a:prstGeom prst="rect">
            <a:avLst/>
          </a:prstGeom>
          <a:noFill/>
        </p:spPr>
        <p:txBody>
          <a:bodyPr wrap="square" rtlCol="0" anchor="t">
            <a:spAutoFit/>
          </a:bodyPr>
          <a:lstStyle>
            <a:defPPr>
              <a:defRPr lang="zh-CN"/>
            </a:defPPr>
            <a:lvl1pPr marL="228600" indent="-228600">
              <a:buFont typeface="Wingdings" panose="05000000000000000000" pitchFamily="2" charset="2"/>
              <a:buChar char="n"/>
              <a:defRPr sz="1400" b="1">
                <a:solidFill>
                  <a:schemeClr val="tx1">
                    <a:lumMod val="50000"/>
                    <a:lumOff val="50000"/>
                  </a:schemeClr>
                </a:solidFill>
                <a:latin typeface="微软雅黑" panose="020B0503020204020204" charset="-122"/>
                <a:ea typeface="微软雅黑" panose="020B0503020204020204" charset="-122"/>
              </a:defRPr>
            </a:lvl1pPr>
          </a:lstStyle>
          <a:p>
            <a:r>
              <a:rPr lang="zh-CN" altLang="en-US" sz="1050" dirty="0">
                <a:solidFill>
                  <a:schemeClr val="accent5">
                    <a:lumMod val="50000"/>
                  </a:schemeClr>
                </a:solidFill>
              </a:rPr>
              <a:t>业务调研</a:t>
            </a:r>
            <a:endParaRPr lang="en-US" altLang="zh-CN" sz="1050" dirty="0">
              <a:solidFill>
                <a:schemeClr val="accent5">
                  <a:lumMod val="50000"/>
                </a:schemeClr>
              </a:solidFill>
            </a:endParaRPr>
          </a:p>
          <a:p>
            <a:r>
              <a:rPr lang="zh-CN" altLang="en-US" sz="1050" dirty="0">
                <a:solidFill>
                  <a:schemeClr val="accent5">
                    <a:lumMod val="50000"/>
                  </a:schemeClr>
                </a:solidFill>
              </a:rPr>
              <a:t>流程梳理</a:t>
            </a:r>
            <a:endParaRPr lang="en-US" altLang="zh-CN" sz="1050" dirty="0">
              <a:solidFill>
                <a:schemeClr val="accent5">
                  <a:lumMod val="50000"/>
                </a:schemeClr>
              </a:solidFill>
            </a:endParaRPr>
          </a:p>
          <a:p>
            <a:r>
              <a:rPr lang="zh-CN" altLang="en-US" sz="1050" dirty="0">
                <a:solidFill>
                  <a:schemeClr val="accent5">
                    <a:lumMod val="50000"/>
                  </a:schemeClr>
                </a:solidFill>
              </a:rPr>
              <a:t>蓝图流程规划</a:t>
            </a:r>
            <a:endParaRPr lang="en-US" altLang="zh-CN" sz="1050" dirty="0">
              <a:solidFill>
                <a:schemeClr val="accent5">
                  <a:lumMod val="50000"/>
                </a:schemeClr>
              </a:solidFill>
            </a:endParaRPr>
          </a:p>
          <a:p>
            <a:r>
              <a:rPr lang="zh-CN" altLang="en-US" sz="1050" dirty="0">
                <a:solidFill>
                  <a:schemeClr val="accent5">
                    <a:lumMod val="50000"/>
                  </a:schemeClr>
                </a:solidFill>
              </a:rPr>
              <a:t>专题方案讨论</a:t>
            </a:r>
            <a:endParaRPr lang="en-US" altLang="zh-CN" sz="1050" dirty="0">
              <a:solidFill>
                <a:schemeClr val="accent5">
                  <a:lumMod val="50000"/>
                </a:schemeClr>
              </a:solidFill>
            </a:endParaRPr>
          </a:p>
          <a:p>
            <a:r>
              <a:rPr lang="zh-CN" altLang="en-US" sz="1050" dirty="0">
                <a:solidFill>
                  <a:schemeClr val="accent5">
                    <a:lumMod val="50000"/>
                  </a:schemeClr>
                </a:solidFill>
              </a:rPr>
              <a:t>最终蓝图方案流程汇报</a:t>
            </a:r>
            <a:endParaRPr lang="en-US" altLang="zh-CN" sz="1050" dirty="0">
              <a:solidFill>
                <a:schemeClr val="accent5">
                  <a:lumMod val="50000"/>
                </a:schemeClr>
              </a:solidFill>
            </a:endParaRPr>
          </a:p>
          <a:p>
            <a:r>
              <a:rPr lang="zh-CN" altLang="en-US" sz="1050" dirty="0">
                <a:solidFill>
                  <a:schemeClr val="accent5">
                    <a:lumMod val="50000"/>
                  </a:schemeClr>
                </a:solidFill>
              </a:rPr>
              <a:t>开发计划</a:t>
            </a:r>
            <a:endParaRPr lang="en-US" altLang="zh-CN" sz="1050" dirty="0">
              <a:solidFill>
                <a:schemeClr val="accent5">
                  <a:lumMod val="50000"/>
                </a:schemeClr>
              </a:solidFill>
            </a:endParaRPr>
          </a:p>
        </p:txBody>
      </p:sp>
      <p:sp>
        <p:nvSpPr>
          <p:cNvPr id="68" name="TextBox 37"/>
          <p:cNvSpPr txBox="1"/>
          <p:nvPr/>
        </p:nvSpPr>
        <p:spPr>
          <a:xfrm>
            <a:off x="3838648" y="4146427"/>
            <a:ext cx="1304789" cy="575945"/>
          </a:xfrm>
          <a:prstGeom prst="rect">
            <a:avLst/>
          </a:prstGeom>
          <a:noFill/>
        </p:spPr>
        <p:txBody>
          <a:bodyPr wrap="square" rtlCol="0" anchor="t">
            <a:spAutoFit/>
          </a:bodyPr>
          <a:lstStyle/>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详细功能设计</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数据收集方案确认</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p:txBody>
      </p:sp>
      <p:sp>
        <p:nvSpPr>
          <p:cNvPr id="69" name="TextBox 37"/>
          <p:cNvSpPr txBox="1"/>
          <p:nvPr/>
        </p:nvSpPr>
        <p:spPr>
          <a:xfrm>
            <a:off x="5330647" y="4153705"/>
            <a:ext cx="1344930" cy="899160"/>
          </a:xfrm>
          <a:prstGeom prst="rect">
            <a:avLst/>
          </a:prstGeom>
          <a:noFill/>
        </p:spPr>
        <p:txBody>
          <a:bodyPr wrap="none" rtlCol="0" anchor="t">
            <a:spAutoFit/>
          </a:bodyPr>
          <a:lstStyle/>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环境准备</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功能及接口开发</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单元测试</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操作手册准备</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关键用户培训</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p:txBody>
      </p:sp>
      <p:sp>
        <p:nvSpPr>
          <p:cNvPr id="70" name="TextBox 43"/>
          <p:cNvSpPr txBox="1"/>
          <p:nvPr/>
        </p:nvSpPr>
        <p:spPr>
          <a:xfrm>
            <a:off x="9678810" y="2851267"/>
            <a:ext cx="933269" cy="276999"/>
          </a:xfrm>
          <a:prstGeom prst="rect">
            <a:avLst/>
          </a:prstGeom>
          <a:noFill/>
        </p:spPr>
        <p:txBody>
          <a:bodyPr wrap="none" rtlCol="0">
            <a:spAutoFit/>
          </a:bodyPr>
          <a:lstStyle/>
          <a:p>
            <a:r>
              <a:rPr lang="en-US" altLang="zh-CN" sz="1200" b="1" dirty="0" smtClean="0">
                <a:solidFill>
                  <a:srgbClr val="FF0000"/>
                </a:solidFill>
                <a:latin typeface="微软雅黑" panose="020B0503020204020204" charset="-122"/>
                <a:ea typeface="微软雅黑" panose="020B0503020204020204" charset="-122"/>
              </a:rPr>
              <a:t>2022.5.16</a:t>
            </a:r>
            <a:endParaRPr lang="en-US" sz="1200" b="1" dirty="0">
              <a:solidFill>
                <a:srgbClr val="FF0000"/>
              </a:solidFill>
              <a:latin typeface="微软雅黑" panose="020B0503020204020204" charset="-122"/>
              <a:ea typeface="微软雅黑" panose="020B0503020204020204" charset="-122"/>
            </a:endParaRPr>
          </a:p>
        </p:txBody>
      </p:sp>
      <p:sp>
        <p:nvSpPr>
          <p:cNvPr id="71" name="TextBox 37"/>
          <p:cNvSpPr txBox="1"/>
          <p:nvPr/>
        </p:nvSpPr>
        <p:spPr>
          <a:xfrm>
            <a:off x="9903908" y="4139665"/>
            <a:ext cx="1344930" cy="737235"/>
          </a:xfrm>
          <a:prstGeom prst="rect">
            <a:avLst/>
          </a:prstGeom>
          <a:noFill/>
        </p:spPr>
        <p:txBody>
          <a:bodyPr wrap="none" rtlCol="0" anchor="t">
            <a:spAutoFit/>
          </a:bodyPr>
          <a:lstStyle/>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上线支持</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上线总结</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上线验收</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二阶段计划准备</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p:txBody>
      </p:sp>
      <p:cxnSp>
        <p:nvCxnSpPr>
          <p:cNvPr id="72" name="Straight Connector 61"/>
          <p:cNvCxnSpPr/>
          <p:nvPr/>
        </p:nvCxnSpPr>
        <p:spPr>
          <a:xfrm>
            <a:off x="11689752" y="2829840"/>
            <a:ext cx="0" cy="31270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73" name="燕尾形 49"/>
          <p:cNvSpPr/>
          <p:nvPr/>
        </p:nvSpPr>
        <p:spPr>
          <a:xfrm>
            <a:off x="3773785" y="3185210"/>
            <a:ext cx="1489953" cy="752378"/>
          </a:xfrm>
          <a:prstGeom prst="chevron">
            <a:avLst>
              <a:gd name="adj" fmla="val 30305"/>
            </a:avLst>
          </a:pr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功能设计</a:t>
            </a:r>
            <a:endParaRPr lang="en-US" altLang="zh-CN"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74" name="燕尾形 50"/>
          <p:cNvSpPr/>
          <p:nvPr/>
        </p:nvSpPr>
        <p:spPr>
          <a:xfrm>
            <a:off x="7098454" y="3169408"/>
            <a:ext cx="1489953" cy="752378"/>
          </a:xfrm>
          <a:prstGeom prst="chevron">
            <a:avLst>
              <a:gd name="adj" fmla="val 32274"/>
            </a:avLst>
          </a:pr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en-US" altLang="zh-CN" sz="1865" b="1" dirty="0">
                <a:solidFill>
                  <a:schemeClr val="bg1"/>
                </a:solidFill>
                <a:latin typeface="微软雅黑" panose="020B0503020204020204" charset="-122"/>
                <a:ea typeface="微软雅黑" panose="020B0503020204020204" charset="-122"/>
                <a:cs typeface="Arial" panose="020B0604020202020204" pitchFamily="34" charset="0"/>
              </a:rPr>
              <a:t>UAT</a:t>
            </a: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测试</a:t>
            </a:r>
            <a:endParaRPr lang="en-US" altLang="zh-CN"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77" name="TextBox 43"/>
          <p:cNvSpPr txBox="1"/>
          <p:nvPr/>
        </p:nvSpPr>
        <p:spPr>
          <a:xfrm>
            <a:off x="7938852" y="2838710"/>
            <a:ext cx="933269" cy="276999"/>
          </a:xfrm>
          <a:prstGeom prst="rect">
            <a:avLst/>
          </a:prstGeom>
          <a:noFill/>
        </p:spPr>
        <p:txBody>
          <a:bodyPr wrap="none" rtlCol="0">
            <a:spAutoFit/>
          </a:bodyPr>
          <a:lstStyle/>
          <a:p>
            <a:r>
              <a:rPr lang="en-US" altLang="zh-CN" sz="1200" b="1" dirty="0" smtClean="0">
                <a:latin typeface="微软雅黑" panose="020B0503020204020204" charset="-122"/>
                <a:ea typeface="微软雅黑" panose="020B0503020204020204" charset="-122"/>
              </a:rPr>
              <a:t>2022.5.16</a:t>
            </a:r>
            <a:endParaRPr lang="en-US" sz="1200" b="1" dirty="0">
              <a:latin typeface="微软雅黑" panose="020B0503020204020204" charset="-122"/>
              <a:ea typeface="微软雅黑" panose="020B0503020204020204" charset="-122"/>
            </a:endParaRPr>
          </a:p>
        </p:txBody>
      </p:sp>
      <p:cxnSp>
        <p:nvCxnSpPr>
          <p:cNvPr id="78" name="Straight Connector 61"/>
          <p:cNvCxnSpPr/>
          <p:nvPr/>
        </p:nvCxnSpPr>
        <p:spPr>
          <a:xfrm>
            <a:off x="7046689" y="2823741"/>
            <a:ext cx="0" cy="31270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79" name="TextBox 43"/>
          <p:cNvSpPr txBox="1"/>
          <p:nvPr/>
        </p:nvSpPr>
        <p:spPr>
          <a:xfrm>
            <a:off x="10815839" y="2855064"/>
            <a:ext cx="933269" cy="276999"/>
          </a:xfrm>
          <a:prstGeom prst="rect">
            <a:avLst/>
          </a:prstGeom>
          <a:noFill/>
        </p:spPr>
        <p:txBody>
          <a:bodyPr wrap="none" rtlCol="0">
            <a:spAutoFit/>
          </a:bodyPr>
          <a:lstStyle/>
          <a:p>
            <a:r>
              <a:rPr lang="en-US" altLang="zh-CN" sz="1200" b="1" dirty="0" smtClean="0">
                <a:latin typeface="微软雅黑" panose="020B0503020204020204" charset="-122"/>
                <a:ea typeface="微软雅黑" panose="020B0503020204020204" charset="-122"/>
              </a:rPr>
              <a:t>2022.5.30</a:t>
            </a:r>
            <a:endParaRPr lang="en-US" sz="1200" b="1" dirty="0">
              <a:latin typeface="微软雅黑" panose="020B0503020204020204" charset="-122"/>
              <a:ea typeface="微软雅黑" panose="020B0503020204020204" charset="-122"/>
            </a:endParaRPr>
          </a:p>
        </p:txBody>
      </p:sp>
      <p:sp>
        <p:nvSpPr>
          <p:cNvPr id="80" name="线形标注 1 2"/>
          <p:cNvSpPr/>
          <p:nvPr/>
        </p:nvSpPr>
        <p:spPr>
          <a:xfrm>
            <a:off x="8875118" y="4877104"/>
            <a:ext cx="1223412" cy="373762"/>
          </a:xfrm>
          <a:prstGeom prst="borderCallout1">
            <a:avLst>
              <a:gd name="adj1" fmla="val -4280"/>
              <a:gd name="adj2" fmla="val 48301"/>
              <a:gd name="adj3" fmla="val -339190"/>
              <a:gd name="adj4" fmla="val 78190"/>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zh-CN" altLang="en-US" sz="1100" b="1" dirty="0"/>
              <a:t>一期一阶段上线</a:t>
            </a:r>
            <a:endParaRPr lang="zh-CN" altLang="en-US" sz="1100" b="1" dirty="0"/>
          </a:p>
        </p:txBody>
      </p:sp>
      <p:sp>
        <p:nvSpPr>
          <p:cNvPr id="81" name="TextBox 37"/>
          <p:cNvSpPr txBox="1"/>
          <p:nvPr/>
        </p:nvSpPr>
        <p:spPr>
          <a:xfrm>
            <a:off x="8282037" y="4153705"/>
            <a:ext cx="1211580" cy="575945"/>
          </a:xfrm>
          <a:prstGeom prst="rect">
            <a:avLst/>
          </a:prstGeom>
          <a:noFill/>
        </p:spPr>
        <p:txBody>
          <a:bodyPr wrap="none" rtlCol="0" anchor="t">
            <a:spAutoFit/>
          </a:bodyPr>
          <a:lstStyle/>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上线切换策略</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历史数据处理</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上线切换</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p:txBody>
      </p:sp>
      <p:sp>
        <p:nvSpPr>
          <p:cNvPr id="82" name="TextBox 37"/>
          <p:cNvSpPr txBox="1"/>
          <p:nvPr/>
        </p:nvSpPr>
        <p:spPr>
          <a:xfrm>
            <a:off x="6940575" y="4168275"/>
            <a:ext cx="1231900" cy="737235"/>
          </a:xfrm>
          <a:prstGeom prst="rect">
            <a:avLst/>
          </a:prstGeom>
          <a:noFill/>
        </p:spPr>
        <p:txBody>
          <a:bodyPr wrap="none" rtlCol="0" anchor="t">
            <a:spAutoFit/>
          </a:bodyPr>
          <a:lstStyle/>
          <a:p>
            <a:pPr marL="228600" indent="-228600">
              <a:buFont typeface="Wingdings" panose="05000000000000000000" pitchFamily="2" charset="2"/>
              <a:buChar char="n"/>
            </a:pPr>
            <a:r>
              <a:rPr lang="zh-CN" altLang="en-US" sz="1050" b="1" dirty="0">
                <a:solidFill>
                  <a:schemeClr val="tx1">
                    <a:lumMod val="50000"/>
                    <a:lumOff val="50000"/>
                  </a:schemeClr>
                </a:solidFill>
                <a:latin typeface="微软雅黑" panose="020B0503020204020204" charset="-122"/>
                <a:ea typeface="微软雅黑" panose="020B0503020204020204" charset="-122"/>
              </a:rPr>
              <a:t>最终用户培训</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en-US" altLang="zh-CN" sz="1050" b="1" dirty="0">
                <a:solidFill>
                  <a:schemeClr val="tx1">
                    <a:lumMod val="50000"/>
                    <a:lumOff val="50000"/>
                  </a:schemeClr>
                </a:solidFill>
                <a:latin typeface="微软雅黑" panose="020B0503020204020204" charset="-122"/>
                <a:ea typeface="微软雅黑" panose="020B0503020204020204" charset="-122"/>
              </a:rPr>
              <a:t>UAT</a:t>
            </a:r>
            <a:r>
              <a:rPr lang="zh-CN" altLang="en-US" sz="1050" b="1" dirty="0">
                <a:solidFill>
                  <a:schemeClr val="tx1">
                    <a:lumMod val="50000"/>
                    <a:lumOff val="50000"/>
                  </a:schemeClr>
                </a:solidFill>
                <a:latin typeface="微软雅黑" panose="020B0503020204020204" charset="-122"/>
                <a:ea typeface="微软雅黑" panose="020B0503020204020204" charset="-122"/>
              </a:rPr>
              <a:t>测试脚本</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r>
              <a:rPr lang="en-US" altLang="zh-CN" sz="1050" b="1" dirty="0">
                <a:solidFill>
                  <a:schemeClr val="tx1">
                    <a:lumMod val="50000"/>
                    <a:lumOff val="50000"/>
                  </a:schemeClr>
                </a:solidFill>
                <a:latin typeface="微软雅黑" panose="020B0503020204020204" charset="-122"/>
                <a:ea typeface="微软雅黑" panose="020B0503020204020204" charset="-122"/>
              </a:rPr>
              <a:t>UAT</a:t>
            </a:r>
            <a:r>
              <a:rPr lang="zh-CN" altLang="en-US" sz="1050" b="1" dirty="0">
                <a:solidFill>
                  <a:schemeClr val="tx1">
                    <a:lumMod val="50000"/>
                    <a:lumOff val="50000"/>
                  </a:schemeClr>
                </a:solidFill>
                <a:latin typeface="微软雅黑" panose="020B0503020204020204" charset="-122"/>
                <a:ea typeface="微软雅黑" panose="020B0503020204020204" charset="-122"/>
              </a:rPr>
              <a:t>测试</a:t>
            </a: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a:p>
            <a:pPr marL="228600" indent="-228600">
              <a:buFont typeface="Wingdings" panose="05000000000000000000" pitchFamily="2" charset="2"/>
              <a:buChar char="n"/>
            </a:pPr>
            <a:endParaRPr lang="en-US" altLang="zh-CN" sz="1050" b="1" dirty="0">
              <a:solidFill>
                <a:schemeClr val="tx1">
                  <a:lumMod val="50000"/>
                  <a:lumOff val="50000"/>
                </a:schemeClr>
              </a:solidFill>
              <a:latin typeface="微软雅黑" panose="020B0503020204020204" charset="-122"/>
              <a:ea typeface="微软雅黑" panose="020B0503020204020204" charset="-122"/>
            </a:endParaRPr>
          </a:p>
        </p:txBody>
      </p:sp>
      <p:sp>
        <p:nvSpPr>
          <p:cNvPr id="83" name="星形: 五角 82"/>
          <p:cNvSpPr/>
          <p:nvPr/>
        </p:nvSpPr>
        <p:spPr>
          <a:xfrm>
            <a:off x="3649960" y="3360626"/>
            <a:ext cx="331880" cy="310595"/>
          </a:xfrm>
          <a:prstGeom prst="star5">
            <a:avLst>
              <a:gd name="adj" fmla="val 19098"/>
              <a:gd name="hf" fmla="val 105146"/>
              <a:gd name="vf" fmla="val 110557"/>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4" name="线形标注 1 2"/>
          <p:cNvSpPr/>
          <p:nvPr/>
        </p:nvSpPr>
        <p:spPr>
          <a:xfrm>
            <a:off x="3568371" y="4935999"/>
            <a:ext cx="922609" cy="315121"/>
          </a:xfrm>
          <a:prstGeom prst="borderCallout1">
            <a:avLst>
              <a:gd name="adj1" fmla="val -11188"/>
              <a:gd name="adj2" fmla="val 48302"/>
              <a:gd name="adj3" fmla="val -378438"/>
              <a:gd name="adj4" fmla="val 28029"/>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zh-CN" altLang="en-US" sz="1100" b="1" dirty="0"/>
              <a:t>蓝图方案</a:t>
            </a:r>
            <a:endParaRPr lang="zh-CN" altLang="en-US" sz="1100" b="1" dirty="0"/>
          </a:p>
        </p:txBody>
      </p:sp>
      <p:sp>
        <p:nvSpPr>
          <p:cNvPr id="85" name="星形: 五角 84"/>
          <p:cNvSpPr/>
          <p:nvPr/>
        </p:nvSpPr>
        <p:spPr>
          <a:xfrm>
            <a:off x="9700492" y="3347753"/>
            <a:ext cx="331880" cy="310595"/>
          </a:xfrm>
          <a:prstGeom prst="star5">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2" name="TextBox 51"/>
          <p:cNvSpPr txBox="1"/>
          <p:nvPr/>
        </p:nvSpPr>
        <p:spPr>
          <a:xfrm>
            <a:off x="2654120" y="2820660"/>
            <a:ext cx="933269" cy="276999"/>
          </a:xfrm>
          <a:prstGeom prst="rect">
            <a:avLst/>
          </a:prstGeom>
          <a:noFill/>
        </p:spPr>
        <p:txBody>
          <a:bodyPr wrap="none" rtlCol="0">
            <a:spAutoFit/>
          </a:bodyPr>
          <a:lstStyle/>
          <a:p>
            <a:r>
              <a:rPr lang="en-US" altLang="zh-CN" sz="1200" b="1" dirty="0" smtClean="0">
                <a:latin typeface="微软雅黑" panose="020B0503020204020204" charset="-122"/>
                <a:ea typeface="微软雅黑" panose="020B0503020204020204" charset="-122"/>
              </a:rPr>
              <a:t>2022.4.29</a:t>
            </a:r>
            <a:endParaRPr lang="en-US" sz="1200" b="1" dirty="0">
              <a:latin typeface="微软雅黑" panose="020B0503020204020204" charset="-122"/>
              <a:ea typeface="微软雅黑" panose="020B0503020204020204" charset="-122"/>
            </a:endParaRPr>
          </a:p>
        </p:txBody>
      </p:sp>
      <p:sp>
        <p:nvSpPr>
          <p:cNvPr id="93" name="燕尾形 51"/>
          <p:cNvSpPr/>
          <p:nvPr/>
        </p:nvSpPr>
        <p:spPr>
          <a:xfrm>
            <a:off x="9907737" y="3176130"/>
            <a:ext cx="1672253" cy="752378"/>
          </a:xfrm>
          <a:prstGeom prst="chevron">
            <a:avLst>
              <a:gd name="adj" fmla="val 30305"/>
            </a:avLst>
          </a:pr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829945">
              <a:spcBef>
                <a:spcPct val="0"/>
              </a:spcBef>
            </a:pPr>
            <a:r>
              <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rPr>
              <a:t>上线运维</a:t>
            </a:r>
            <a:endParaRPr lang="zh-CN" altLang="en-US" sz="1865"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94" name="圆角矩形​​ 5"/>
          <p:cNvSpPr/>
          <p:nvPr/>
        </p:nvSpPr>
        <p:spPr>
          <a:xfrm>
            <a:off x="984680" y="2319278"/>
            <a:ext cx="1008587" cy="356767"/>
          </a:xfrm>
          <a:prstGeom prst="roundRect">
            <a:avLst>
              <a:gd name="adj" fmla="val 50000"/>
            </a:avLst>
          </a:prstGeom>
          <a:solidFill>
            <a:srgbClr val="BBE0E3">
              <a:lumMod val="75000"/>
            </a:srgbClr>
          </a:solidFill>
          <a:ln w="25400" cap="flat" cmpd="sng" algn="ctr">
            <a:noFill/>
            <a:prstDash val="solid"/>
          </a:ln>
          <a:effectLst/>
        </p:spPr>
        <p:txBody>
          <a:bodyPr anchor="ctr"/>
          <a:lstStyle/>
          <a:p>
            <a:pPr algn="ctr"/>
            <a:r>
              <a:rPr lang="zh-CN" altLang="en-US" sz="1000" b="1" kern="0" dirty="0">
                <a:solidFill>
                  <a:srgbClr val="FFFFFF"/>
                </a:solidFill>
                <a:latin typeface="微软雅黑" panose="020B0503020204020204" charset="-122"/>
                <a:ea typeface="微软雅黑" panose="020B0503020204020204" charset="-122"/>
              </a:rPr>
              <a:t>项目准备</a:t>
            </a:r>
            <a:endParaRPr lang="zh-CN" altLang="en-US" sz="1000" b="1" kern="0" dirty="0">
              <a:solidFill>
                <a:srgbClr val="FFFFFF"/>
              </a:solidFill>
              <a:latin typeface="微软雅黑" panose="020B0503020204020204" charset="-122"/>
              <a:ea typeface="微软雅黑" panose="020B0503020204020204" charset="-122"/>
            </a:endParaRPr>
          </a:p>
        </p:txBody>
      </p:sp>
      <p:sp>
        <p:nvSpPr>
          <p:cNvPr id="95" name="圆角矩形​​ 16"/>
          <p:cNvSpPr/>
          <p:nvPr/>
        </p:nvSpPr>
        <p:spPr>
          <a:xfrm>
            <a:off x="2208275" y="2323294"/>
            <a:ext cx="1359473" cy="356767"/>
          </a:xfrm>
          <a:prstGeom prst="roundRect">
            <a:avLst>
              <a:gd name="adj" fmla="val 50000"/>
            </a:avLst>
          </a:prstGeom>
          <a:solidFill>
            <a:srgbClr val="BBE0E3">
              <a:lumMod val="75000"/>
            </a:srgbClr>
          </a:solidFill>
          <a:ln w="25400" cap="flat" cmpd="sng" algn="ctr">
            <a:noFill/>
            <a:prstDash val="solid"/>
          </a:ln>
          <a:effectLst/>
        </p:spPr>
        <p:txBody>
          <a:bodyPr anchor="ctr"/>
          <a:lstStyle/>
          <a:p>
            <a:pPr algn="ctr"/>
            <a:r>
              <a:rPr lang="zh-CN" altLang="en-US" sz="1000" b="1" kern="0" dirty="0">
                <a:solidFill>
                  <a:srgbClr val="FFFFFF"/>
                </a:solidFill>
                <a:latin typeface="微软雅黑" panose="020B0503020204020204" charset="-122"/>
                <a:ea typeface="微软雅黑" panose="020B0503020204020204" charset="-122"/>
              </a:rPr>
              <a:t>蓝图设计</a:t>
            </a:r>
            <a:endParaRPr lang="zh-CN" altLang="en-US" sz="1000" b="1" kern="0" dirty="0">
              <a:solidFill>
                <a:srgbClr val="FFFFFF"/>
              </a:solidFill>
              <a:latin typeface="微软雅黑" panose="020B0503020204020204" charset="-122"/>
              <a:ea typeface="微软雅黑" panose="020B0503020204020204" charset="-122"/>
            </a:endParaRPr>
          </a:p>
        </p:txBody>
      </p:sp>
      <p:sp>
        <p:nvSpPr>
          <p:cNvPr id="97" name="圆角矩形​​ 16"/>
          <p:cNvSpPr/>
          <p:nvPr/>
        </p:nvSpPr>
        <p:spPr>
          <a:xfrm>
            <a:off x="3813400" y="2317997"/>
            <a:ext cx="4468637" cy="321589"/>
          </a:xfrm>
          <a:prstGeom prst="roundRect">
            <a:avLst>
              <a:gd name="adj" fmla="val 50000"/>
            </a:avLst>
          </a:prstGeom>
          <a:solidFill>
            <a:srgbClr val="BBE0E3">
              <a:lumMod val="75000"/>
            </a:srgbClr>
          </a:solidFill>
          <a:ln w="25400" cap="flat" cmpd="sng" algn="ctr">
            <a:noFill/>
            <a:prstDash val="solid"/>
          </a:ln>
          <a:effectLst/>
        </p:spPr>
        <p:txBody>
          <a:bodyPr anchor="ctr"/>
          <a:lstStyle/>
          <a:p>
            <a:pPr algn="ctr">
              <a:defRPr/>
            </a:pPr>
            <a:r>
              <a:rPr lang="zh-CN" altLang="en-US" sz="1000" b="1" kern="0" dirty="0">
                <a:solidFill>
                  <a:srgbClr val="FFFFFF"/>
                </a:solidFill>
                <a:latin typeface="微软雅黑" panose="020B0503020204020204" charset="-122"/>
                <a:ea typeface="微软雅黑" panose="020B0503020204020204" charset="-122"/>
              </a:rPr>
              <a:t>系统实现</a:t>
            </a:r>
            <a:endParaRPr lang="zh-CN" altLang="en-US" sz="1000" b="1" kern="0" dirty="0">
              <a:solidFill>
                <a:srgbClr val="FFFFFF"/>
              </a:solidFill>
              <a:latin typeface="微软雅黑" panose="020B0503020204020204" charset="-122"/>
              <a:ea typeface="微软雅黑" panose="020B0503020204020204" charset="-122"/>
            </a:endParaRPr>
          </a:p>
        </p:txBody>
      </p:sp>
      <p:sp>
        <p:nvSpPr>
          <p:cNvPr id="98" name="圆角矩形​​ 16"/>
          <p:cNvSpPr/>
          <p:nvPr/>
        </p:nvSpPr>
        <p:spPr>
          <a:xfrm>
            <a:off x="8433582" y="2312659"/>
            <a:ext cx="1224767" cy="360713"/>
          </a:xfrm>
          <a:prstGeom prst="roundRect">
            <a:avLst>
              <a:gd name="adj" fmla="val 50000"/>
            </a:avLst>
          </a:prstGeom>
          <a:solidFill>
            <a:srgbClr val="BBE0E3">
              <a:lumMod val="75000"/>
            </a:srgbClr>
          </a:solidFill>
          <a:ln w="25400" cap="flat" cmpd="sng" algn="ctr">
            <a:noFill/>
            <a:prstDash val="solid"/>
          </a:ln>
          <a:effectLst/>
        </p:spPr>
        <p:txBody>
          <a:bodyPr anchor="ctr"/>
          <a:lstStyle/>
          <a:p>
            <a:pPr algn="ctr"/>
            <a:r>
              <a:rPr lang="zh-CN" altLang="en-US" sz="1000" b="1" kern="0" dirty="0">
                <a:solidFill>
                  <a:srgbClr val="FFFFFF"/>
                </a:solidFill>
                <a:latin typeface="微软雅黑" panose="020B0503020204020204" charset="-122"/>
                <a:ea typeface="微软雅黑" panose="020B0503020204020204" charset="-122"/>
              </a:rPr>
              <a:t>上线准备</a:t>
            </a:r>
            <a:endParaRPr lang="zh-CN" altLang="en-US" sz="1000" b="1" kern="0" dirty="0">
              <a:solidFill>
                <a:srgbClr val="FFFFFF"/>
              </a:solidFill>
              <a:latin typeface="微软雅黑" panose="020B0503020204020204" charset="-122"/>
              <a:ea typeface="微软雅黑" panose="020B0503020204020204" charset="-122"/>
            </a:endParaRPr>
          </a:p>
        </p:txBody>
      </p:sp>
      <p:sp>
        <p:nvSpPr>
          <p:cNvPr id="100" name="圆角矩形​​ 16"/>
          <p:cNvSpPr/>
          <p:nvPr/>
        </p:nvSpPr>
        <p:spPr>
          <a:xfrm>
            <a:off x="10099098" y="2312659"/>
            <a:ext cx="1172399" cy="367401"/>
          </a:xfrm>
          <a:prstGeom prst="roundRect">
            <a:avLst>
              <a:gd name="adj" fmla="val 50000"/>
            </a:avLst>
          </a:prstGeom>
          <a:solidFill>
            <a:srgbClr val="BBE0E3">
              <a:lumMod val="75000"/>
            </a:srgbClr>
          </a:solidFill>
          <a:ln w="25400" cap="flat" cmpd="sng" algn="ctr">
            <a:noFill/>
            <a:prstDash val="solid"/>
          </a:ln>
          <a:effectLst/>
        </p:spPr>
        <p:txBody>
          <a:bodyPr anchor="ctr"/>
          <a:lstStyle/>
          <a:p>
            <a:pPr algn="ctr"/>
            <a:r>
              <a:rPr lang="zh-CN" altLang="en-US" sz="1000" b="1" kern="0" dirty="0">
                <a:solidFill>
                  <a:srgbClr val="FFFFFF"/>
                </a:solidFill>
                <a:latin typeface="微软雅黑" panose="020B0503020204020204" charset="-122"/>
                <a:ea typeface="微软雅黑" panose="020B0503020204020204" charset="-122"/>
              </a:rPr>
              <a:t>系统运维</a:t>
            </a:r>
            <a:endParaRPr lang="zh-CN" altLang="en-US" sz="1000" b="1" kern="0" dirty="0">
              <a:solidFill>
                <a:srgbClr val="FFFFFF"/>
              </a:solidFill>
              <a:latin typeface="微软雅黑" panose="020B0503020204020204" charset="-122"/>
              <a:ea typeface="微软雅黑" panose="020B0503020204020204" charset="-122"/>
            </a:endParaRPr>
          </a:p>
        </p:txBody>
      </p:sp>
      <p:sp>
        <p:nvSpPr>
          <p:cNvPr id="102" name="矩形 101"/>
          <p:cNvSpPr/>
          <p:nvPr/>
        </p:nvSpPr>
        <p:spPr>
          <a:xfrm>
            <a:off x="767408" y="1683482"/>
            <a:ext cx="10729192" cy="360713"/>
          </a:xfrm>
          <a:prstGeom prst="rect">
            <a:avLst/>
          </a:prstGeom>
          <a:solidFill>
            <a:schemeClr val="accent1"/>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600" b="1" dirty="0">
                <a:latin typeface="+mj-ea"/>
                <a:ea typeface="+mj-ea"/>
              </a:rPr>
              <a:t>上线目标：供应商管理（面辅料、成衣）</a:t>
            </a:r>
            <a:endParaRPr lang="zh-CN" altLang="en-US" sz="1600" b="1" dirty="0">
              <a:latin typeface="+mj-ea"/>
              <a:ea typeface="+mj-ea"/>
            </a:endParaRPr>
          </a:p>
        </p:txBody>
      </p:sp>
      <p:graphicFrame>
        <p:nvGraphicFramePr>
          <p:cNvPr id="2" name="表格 1"/>
          <p:cNvGraphicFramePr/>
          <p:nvPr>
            <p:custDataLst>
              <p:tags r:id="rId1"/>
            </p:custDataLst>
          </p:nvPr>
        </p:nvGraphicFramePr>
        <p:xfrm>
          <a:off x="1948815" y="5481320"/>
          <a:ext cx="9874600" cy="1028700"/>
        </p:xfrm>
        <a:graphic>
          <a:graphicData uri="http://schemas.openxmlformats.org/drawingml/2006/table">
            <a:tbl>
              <a:tblPr firstRow="1" bandRow="1">
                <a:tableStyleId>{5C22544A-7EE6-4342-B048-85BDC9FD1C3A}</a:tableStyleId>
              </a:tblPr>
              <a:tblGrid>
                <a:gridCol w="1500505"/>
                <a:gridCol w="1066800"/>
                <a:gridCol w="768350"/>
                <a:gridCol w="766800"/>
                <a:gridCol w="766445"/>
                <a:gridCol w="766800"/>
                <a:gridCol w="889200"/>
                <a:gridCol w="889000"/>
                <a:gridCol w="927100"/>
                <a:gridCol w="766800"/>
                <a:gridCol w="766800"/>
              </a:tblGrid>
              <a:tr h="485140">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供应商生命周期管理</a:t>
                      </a:r>
                      <a:endParaRPr lang="zh-CN" altLang="en-US" sz="1400" b="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样品</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管理</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验厂</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管理</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供应商</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准入</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供应商</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升降级</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供应商</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信息变更</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供应商</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绩效考核</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供应商</a:t>
                      </a:r>
                      <a:endParaRPr lang="zh-CN" altLang="en-US" sz="1400" dirty="0">
                        <a:solidFill>
                          <a:schemeClr val="accent5">
                            <a:lumMod val="50000"/>
                          </a:schemeClr>
                        </a:solidFill>
                        <a:latin typeface="微软雅黑" panose="020B0503020204020204" charset="-122"/>
                        <a:ea typeface="微软雅黑" panose="020B0503020204020204" charset="-122"/>
                      </a:endParaRPr>
                    </a:p>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360度查询</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邮件通知</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r>
                        <a:rPr lang="zh-CN" altLang="en-US" sz="1400" dirty="0">
                          <a:solidFill>
                            <a:schemeClr val="accent5">
                              <a:lumMod val="50000"/>
                            </a:schemeClr>
                          </a:solidFill>
                          <a:latin typeface="微软雅黑" panose="020B0503020204020204" charset="-122"/>
                          <a:ea typeface="微软雅黑" panose="020B0503020204020204" charset="-122"/>
                        </a:rPr>
                        <a:t>公众号</a:t>
                      </a:r>
                      <a:endParaRPr lang="zh-CN" altLang="en-US" sz="1400"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r>
              <a:tr h="228600">
                <a:tc>
                  <a:txBody>
                    <a:bodyPr/>
                    <a:lstStyle/>
                    <a:p>
                      <a:pPr algn="ctr">
                        <a:buClrTx/>
                        <a:buSzTx/>
                        <a:buFontTx/>
                        <a:buNone/>
                      </a:pPr>
                      <a:r>
                        <a:rPr lang="zh-CN" altLang="en-US" sz="1400" b="1" dirty="0">
                          <a:solidFill>
                            <a:schemeClr val="accent5">
                              <a:lumMod val="50000"/>
                            </a:schemeClr>
                          </a:solidFill>
                          <a:latin typeface="微软雅黑" panose="020B0503020204020204" charset="-122"/>
                          <a:ea typeface="微软雅黑" panose="020B0503020204020204" charset="-122"/>
                        </a:rPr>
                        <a:t>面辅料、皮具</a:t>
                      </a:r>
                      <a:endParaRPr lang="zh-CN" altLang="en-US" sz="1400" b="1"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0070C0"/>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F8CBAD"/>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F8CBAD"/>
                    </a:solidFill>
                  </a:tcPr>
                </a:tc>
              </a:tr>
              <a:tr h="228600">
                <a:tc>
                  <a:txBody>
                    <a:bodyPr/>
                    <a:lstStyle/>
                    <a:p>
                      <a:pPr algn="ctr">
                        <a:buClrTx/>
                        <a:buSzTx/>
                        <a:buFontTx/>
                        <a:buNone/>
                      </a:pPr>
                      <a:r>
                        <a:rPr lang="zh-CN" altLang="en-US" sz="1400" b="1" dirty="0">
                          <a:solidFill>
                            <a:schemeClr val="accent5">
                              <a:lumMod val="50000"/>
                            </a:schemeClr>
                          </a:solidFill>
                          <a:latin typeface="微软雅黑" panose="020B0503020204020204" charset="-122"/>
                          <a:ea typeface="微软雅黑" panose="020B0503020204020204" charset="-122"/>
                        </a:rPr>
                        <a:t>成衣</a:t>
                      </a:r>
                      <a:endParaRPr lang="zh-CN" altLang="en-US" sz="1400" b="1" dirty="0">
                        <a:solidFill>
                          <a:schemeClr val="accent5">
                            <a:lumMod val="50000"/>
                          </a:schemeClr>
                        </a:solidFill>
                        <a:latin typeface="微软雅黑" panose="020B0503020204020204" charset="-122"/>
                        <a:ea typeface="微软雅黑" panose="020B0503020204020204"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no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F8CBAD"/>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F8CBAD"/>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5B9BD5"/>
                    </a:solidFill>
                  </a:tcPr>
                </a:tc>
                <a:tc>
                  <a:txBody>
                    <a:bodyPr/>
                    <a:lstStyle/>
                    <a:p>
                      <a:pPr indent="0" algn="ctr">
                        <a:buNone/>
                      </a:pPr>
                      <a:endParaRPr lang="en-US" altLang="en-US" sz="1400" b="0">
                        <a:solidFill>
                          <a:srgbClr val="000000"/>
                        </a:solidFill>
                        <a:latin typeface="宋体" panose="02010600030101010101" pitchFamily="2" charset="-122"/>
                      </a:endParaRPr>
                    </a:p>
                  </a:txBody>
                  <a:tcPr marL="12700" marR="12700" marT="12700" anchor="ctr">
                    <a:lnL w="12700">
                      <a:solidFill>
                        <a:schemeClr val="tx1">
                          <a:lumMod val="50000"/>
                          <a:lumOff val="50000"/>
                        </a:schemeClr>
                      </a:solidFill>
                      <a:prstDash val="solid"/>
                    </a:lnL>
                    <a:lnR w="12700">
                      <a:solidFill>
                        <a:schemeClr val="tx1">
                          <a:lumMod val="50000"/>
                          <a:lumOff val="50000"/>
                        </a:schemeClr>
                      </a:solidFill>
                      <a:prstDash val="solid"/>
                    </a:lnR>
                    <a:lnT w="12700">
                      <a:solidFill>
                        <a:schemeClr val="tx1">
                          <a:lumMod val="50000"/>
                          <a:lumOff val="50000"/>
                        </a:schemeClr>
                      </a:solidFill>
                      <a:prstDash val="solid"/>
                    </a:lnT>
                    <a:lnB w="12700">
                      <a:solidFill>
                        <a:schemeClr val="tx1">
                          <a:lumMod val="50000"/>
                          <a:lumOff val="50000"/>
                        </a:schemeClr>
                      </a:solidFill>
                      <a:prstDash val="solid"/>
                    </a:lnB>
                    <a:lnTlToBr>
                      <a:noFill/>
                    </a:lnTlToBr>
                    <a:lnBlToTr>
                      <a:noFill/>
                    </a:lnBlToTr>
                    <a:solidFill>
                      <a:srgbClr val="F8CBAD"/>
                    </a:solidFill>
                  </a:tcPr>
                </a:tc>
              </a:tr>
            </a:tbl>
          </a:graphicData>
        </a:graphic>
      </p:graphicFrame>
      <p:pic>
        <p:nvPicPr>
          <p:cNvPr id="3" name="图片 2"/>
          <p:cNvPicPr>
            <a:picLocks noChangeAspect="1"/>
          </p:cNvPicPr>
          <p:nvPr/>
        </p:nvPicPr>
        <p:blipFill>
          <a:blip r:embed="rId2"/>
          <a:stretch>
            <a:fillRect/>
          </a:stretch>
        </p:blipFill>
        <p:spPr>
          <a:xfrm>
            <a:off x="280670" y="5612765"/>
            <a:ext cx="417195" cy="197485"/>
          </a:xfrm>
          <a:prstGeom prst="rect">
            <a:avLst/>
          </a:prstGeom>
        </p:spPr>
      </p:pic>
      <p:sp>
        <p:nvSpPr>
          <p:cNvPr id="5" name="TextBox 37"/>
          <p:cNvSpPr txBox="1"/>
          <p:nvPr/>
        </p:nvSpPr>
        <p:spPr>
          <a:xfrm>
            <a:off x="698500" y="5547995"/>
            <a:ext cx="1185545" cy="306705"/>
          </a:xfrm>
          <a:prstGeom prst="rect">
            <a:avLst/>
          </a:prstGeom>
          <a:noFill/>
        </p:spPr>
        <p:txBody>
          <a:bodyPr wrap="square" rtlCol="0" anchor="t">
            <a:spAutoFit/>
          </a:bodyPr>
          <a:lstStyle/>
          <a:p>
            <a:pPr indent="0">
              <a:buNone/>
            </a:pPr>
            <a:r>
              <a:rPr lang="zh-CN" sz="1400" b="1" dirty="0">
                <a:solidFill>
                  <a:schemeClr val="accent5">
                    <a:lumMod val="50000"/>
                  </a:schemeClr>
                </a:solidFill>
                <a:latin typeface="微软雅黑" panose="020B0503020204020204" charset="-122"/>
                <a:ea typeface="微软雅黑" panose="020B0503020204020204" charset="-122"/>
              </a:rPr>
              <a:t>一期一阶段</a:t>
            </a:r>
            <a:endParaRPr lang="zh-CN" sz="1400" b="1" dirty="0">
              <a:solidFill>
                <a:schemeClr val="accent5">
                  <a:lumMod val="50000"/>
                </a:schemeClr>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3"/>
          <a:stretch>
            <a:fillRect/>
          </a:stretch>
        </p:blipFill>
        <p:spPr>
          <a:xfrm>
            <a:off x="280670" y="5937250"/>
            <a:ext cx="418465" cy="187325"/>
          </a:xfrm>
          <a:prstGeom prst="rect">
            <a:avLst/>
          </a:prstGeom>
        </p:spPr>
      </p:pic>
      <p:sp>
        <p:nvSpPr>
          <p:cNvPr id="7" name="TextBox 37"/>
          <p:cNvSpPr txBox="1"/>
          <p:nvPr/>
        </p:nvSpPr>
        <p:spPr>
          <a:xfrm>
            <a:off x="699135" y="5877560"/>
            <a:ext cx="1185545" cy="306705"/>
          </a:xfrm>
          <a:prstGeom prst="rect">
            <a:avLst/>
          </a:prstGeom>
          <a:noFill/>
        </p:spPr>
        <p:txBody>
          <a:bodyPr wrap="square" rtlCol="0" anchor="t">
            <a:spAutoFit/>
          </a:bodyPr>
          <a:lstStyle/>
          <a:p>
            <a:pPr indent="0">
              <a:buNone/>
            </a:pPr>
            <a:r>
              <a:rPr lang="zh-CN" sz="1400" b="1" dirty="0">
                <a:solidFill>
                  <a:schemeClr val="accent5">
                    <a:lumMod val="50000"/>
                  </a:schemeClr>
                </a:solidFill>
                <a:latin typeface="微软雅黑" panose="020B0503020204020204" charset="-122"/>
                <a:ea typeface="微软雅黑" panose="020B0503020204020204" charset="-122"/>
              </a:rPr>
              <a:t>一期二阶段</a:t>
            </a:r>
            <a:endParaRPr lang="zh-CN" sz="1400" b="1" dirty="0">
              <a:solidFill>
                <a:schemeClr val="accent5">
                  <a:lumMod val="50000"/>
                </a:schemeClr>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4"/>
          <a:stretch>
            <a:fillRect/>
          </a:stretch>
        </p:blipFill>
        <p:spPr>
          <a:xfrm>
            <a:off x="280035" y="6253480"/>
            <a:ext cx="417830" cy="174625"/>
          </a:xfrm>
          <a:prstGeom prst="rect">
            <a:avLst/>
          </a:prstGeom>
        </p:spPr>
      </p:pic>
      <p:sp>
        <p:nvSpPr>
          <p:cNvPr id="9" name="TextBox 37"/>
          <p:cNvSpPr txBox="1"/>
          <p:nvPr/>
        </p:nvSpPr>
        <p:spPr>
          <a:xfrm>
            <a:off x="699135" y="6187440"/>
            <a:ext cx="1185545" cy="306705"/>
          </a:xfrm>
          <a:prstGeom prst="rect">
            <a:avLst/>
          </a:prstGeom>
          <a:noFill/>
        </p:spPr>
        <p:txBody>
          <a:bodyPr wrap="square" rtlCol="0" anchor="t">
            <a:spAutoFit/>
          </a:bodyPr>
          <a:lstStyle/>
          <a:p>
            <a:pPr indent="0">
              <a:buNone/>
            </a:pPr>
            <a:r>
              <a:rPr lang="zh-CN" sz="1400" b="1" dirty="0">
                <a:solidFill>
                  <a:schemeClr val="accent5">
                    <a:lumMod val="50000"/>
                  </a:schemeClr>
                </a:solidFill>
                <a:latin typeface="微软雅黑" panose="020B0503020204020204" charset="-122"/>
                <a:ea typeface="微软雅黑" panose="020B0503020204020204" charset="-122"/>
              </a:rPr>
              <a:t>二期</a:t>
            </a:r>
            <a:endParaRPr lang="zh-CN" sz="1400" b="1" dirty="0">
              <a:solidFill>
                <a:schemeClr val="accent5">
                  <a:lumMod val="50000"/>
                </a:schemeClr>
              </a:solidFill>
              <a:latin typeface="微软雅黑" panose="020B0503020204020204" charset="-122"/>
              <a:ea typeface="微软雅黑" panose="020B050302020402020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7618056" y="612844"/>
            <a:ext cx="438733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endParaRPr lang="en-US" altLang="zh-CN" sz="3600" b="1" dirty="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smtClean="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marL="0" indent="0">
              <a:buNone/>
            </a:pPr>
            <a:r>
              <a:rPr lang="en-US" altLang="zh-CN" sz="3600" b="1" dirty="0">
                <a:solidFill>
                  <a:schemeClr val="bg1">
                    <a:lumMod val="65000"/>
                  </a:schemeClr>
                </a:solidFill>
              </a:rPr>
              <a:t> </a:t>
            </a:r>
            <a:r>
              <a:rPr lang="en-US" altLang="zh-CN" sz="3600" b="1" dirty="0" smtClean="0">
                <a:solidFill>
                  <a:schemeClr val="bg1">
                    <a:lumMod val="65000"/>
                  </a:schemeClr>
                </a:solidFill>
              </a:rPr>
              <a:t>  </a:t>
            </a:r>
            <a:endParaRPr lang="en-US" altLang="zh-CN" sz="3600" b="1" dirty="0" smtClean="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8"/>
          <p:cNvSpPr/>
          <p:nvPr/>
        </p:nvSpPr>
        <p:spPr>
          <a:xfrm>
            <a:off x="4408805" y="4658360"/>
            <a:ext cx="1555750" cy="346710"/>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准入评估</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dirty="0"/>
              <a:t>供应商生命周期流程</a:t>
            </a:r>
            <a:r>
              <a:rPr lang="en-US" altLang="zh-CN" dirty="0"/>
              <a:t>——</a:t>
            </a:r>
            <a:r>
              <a:rPr lang="zh-CN" altLang="en-US" dirty="0"/>
              <a:t>成衣</a:t>
            </a:r>
            <a:endParaRPr lang="zh-CN" altLang="en-US" dirty="0"/>
          </a:p>
        </p:txBody>
      </p:sp>
      <p:sp>
        <p:nvSpPr>
          <p:cNvPr id="74" name="任意多边形: 形状 73"/>
          <p:cNvSpPr/>
          <p:nvPr/>
        </p:nvSpPr>
        <p:spPr>
          <a:xfrm>
            <a:off x="451485" y="1200785"/>
            <a:ext cx="2230120"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a:solidFill>
            <a:schemeClr val="bg1">
              <a:lumMod val="50000"/>
            </a:schemeClr>
          </a:solidFill>
        </p:spPr>
        <p:style>
          <a:lnRef idx="2">
            <a:schemeClr val="lt1">
              <a:hueOff val="0"/>
              <a:satOff val="0"/>
              <a:lumOff val="0"/>
              <a:alphaOff val="0"/>
            </a:schemeClr>
          </a:lnRef>
          <a:fillRef idx="1">
            <a:scrgbClr r="0" g="0" b="0"/>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dirty="0">
                <a:latin typeface="微软雅黑" panose="020B0503020204020204" charset="-122"/>
                <a:ea typeface="微软雅黑" panose="020B0503020204020204" charset="-122"/>
              </a:rPr>
              <a:t>系统外供应商</a:t>
            </a:r>
            <a:endParaRPr lang="zh-CN" altLang="en-US" dirty="0">
              <a:latin typeface="微软雅黑" panose="020B0503020204020204" charset="-122"/>
              <a:ea typeface="微软雅黑" panose="020B0503020204020204" charset="-122"/>
            </a:endParaRPr>
          </a:p>
        </p:txBody>
      </p:sp>
      <p:sp>
        <p:nvSpPr>
          <p:cNvPr id="78" name="任意多边形: 形状 77"/>
          <p:cNvSpPr/>
          <p:nvPr/>
        </p:nvSpPr>
        <p:spPr>
          <a:xfrm>
            <a:off x="6108700" y="1196975"/>
            <a:ext cx="2042795"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sz="2000" kern="0" dirty="0">
                <a:solidFill>
                  <a:prstClr val="white"/>
                </a:solidFill>
                <a:latin typeface="微软雅黑" panose="020B0503020204020204" charset="-122"/>
                <a:ea typeface="微软雅黑" panose="020B0503020204020204" charset="-122"/>
              </a:rPr>
              <a:t>正式</a:t>
            </a:r>
            <a:r>
              <a:rPr lang="zh-CN" altLang="en-US" sz="2000" dirty="0">
                <a:latin typeface="微软雅黑" panose="020B0503020204020204" charset="-122"/>
                <a:ea typeface="微软雅黑" panose="020B0503020204020204" charset="-122"/>
              </a:rPr>
              <a:t>供应商</a:t>
            </a:r>
            <a:endParaRPr lang="zh-CN" altLang="en-US" sz="2000" dirty="0">
              <a:latin typeface="微软雅黑" panose="020B0503020204020204" charset="-122"/>
              <a:ea typeface="微软雅黑" panose="020B0503020204020204" charset="-122"/>
            </a:endParaRPr>
          </a:p>
        </p:txBody>
      </p:sp>
      <p:sp>
        <p:nvSpPr>
          <p:cNvPr id="85" name="圆角矩形 18"/>
          <p:cNvSpPr/>
          <p:nvPr/>
        </p:nvSpPr>
        <p:spPr>
          <a:xfrm>
            <a:off x="4408805" y="2772410"/>
            <a:ext cx="1555750" cy="346075"/>
          </a:xfrm>
          <a:prstGeom prst="roundRect">
            <a:avLst/>
          </a:prstGeom>
          <a:solidFill>
            <a:srgbClr val="C00000"/>
          </a:solidFill>
          <a:ln w="12700" cap="flat" cmpd="sng" algn="ctr">
            <a:solidFill>
              <a:srgbClr val="002060"/>
            </a:solidFill>
            <a:prstDash val="solid"/>
            <a:miter lim="800000"/>
          </a:ln>
          <a:effectLst/>
        </p:spPr>
        <p:txBody>
          <a:bodyPr anchor="ctr">
            <a:noAutofit/>
          </a:bodyPr>
          <a:lstStyle/>
          <a:p>
            <a:pPr lvl="0" algn="ctr" defTabSz="816610">
              <a:buClrTx/>
              <a:buSzTx/>
              <a:buFontTx/>
            </a:pPr>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rPr>
              <a:t>合作条款确认</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91" name="圆角矩形 18"/>
          <p:cNvSpPr/>
          <p:nvPr/>
        </p:nvSpPr>
        <p:spPr>
          <a:xfrm>
            <a:off x="568325" y="1892300"/>
            <a:ext cx="1711325" cy="609600"/>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寻找供应商</a:t>
            </a:r>
            <a:endParaRPr lang="zh-CN" altLang="en-US" sz="1600" kern="0" dirty="0">
              <a:solidFill>
                <a:prstClr val="white"/>
              </a:solidFill>
              <a:latin typeface="微软雅黑" panose="020B0503020204020204" charset="-122"/>
              <a:ea typeface="微软雅黑" panose="020B0503020204020204" charset="-122"/>
            </a:endParaRPr>
          </a:p>
        </p:txBody>
      </p:sp>
      <p:sp>
        <p:nvSpPr>
          <p:cNvPr id="94" name="圆角矩形 18"/>
          <p:cNvSpPr/>
          <p:nvPr/>
        </p:nvSpPr>
        <p:spPr>
          <a:xfrm>
            <a:off x="2575560" y="1899920"/>
            <a:ext cx="1678305" cy="610235"/>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成为注册供应商</a:t>
            </a:r>
            <a:endParaRPr lang="zh-CN" altLang="en-US" sz="1600" kern="0" dirty="0">
              <a:solidFill>
                <a:prstClr val="white"/>
              </a:solidFill>
              <a:latin typeface="微软雅黑" panose="020B0503020204020204" charset="-122"/>
              <a:ea typeface="微软雅黑" panose="020B0503020204020204" charset="-122"/>
            </a:endParaRPr>
          </a:p>
        </p:txBody>
      </p:sp>
      <p:sp>
        <p:nvSpPr>
          <p:cNvPr id="113" name="圆角矩形 18"/>
          <p:cNvSpPr/>
          <p:nvPr/>
        </p:nvSpPr>
        <p:spPr>
          <a:xfrm>
            <a:off x="548136" y="5945071"/>
            <a:ext cx="867864" cy="232883"/>
          </a:xfrm>
          <a:prstGeom prst="roundRect">
            <a:avLst/>
          </a:prstGeom>
          <a:solidFill>
            <a:schemeClr val="bg1">
              <a:lumMod val="50000"/>
            </a:schemeClr>
          </a:solidFill>
          <a:ln w="12700" cap="flat" cmpd="sng" algn="ctr">
            <a:solidFill>
              <a:srgbClr val="002060"/>
            </a:solidFill>
            <a:prstDash val="solid"/>
            <a:miter lim="800000"/>
          </a:ln>
          <a:effectLst/>
        </p:spPr>
        <p:txBody>
          <a:bodyPr anchor="ctr">
            <a:noAutofit/>
          </a:bodyPr>
          <a:lstStyle/>
          <a:p>
            <a:pPr lvl="0" algn="ctr" defTabSz="816610">
              <a:buClrTx/>
              <a:buSzTx/>
              <a:buFontTx/>
            </a:pP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114" name="矩形 113"/>
          <p:cNvSpPr/>
          <p:nvPr/>
        </p:nvSpPr>
        <p:spPr>
          <a:xfrm>
            <a:off x="1415999" y="5862680"/>
            <a:ext cx="2838383" cy="378460"/>
          </a:xfrm>
          <a:prstGeom prst="rect">
            <a:avLst/>
          </a:prstGeom>
        </p:spPr>
        <p:txBody>
          <a:bodyPr wrap="square">
            <a:spAutoFit/>
          </a:bodyPr>
          <a:lstStyle/>
          <a:p>
            <a:pPr marL="230505" indent="-230505" eaLnBrk="0" hangingPunct="0"/>
            <a:r>
              <a:rPr lang="zh-CN" altLang="en-US" sz="186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其他模块业务流程节点</a:t>
            </a:r>
            <a:endParaRPr lang="zh-CN" altLang="en-US" sz="186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sp>
        <p:nvSpPr>
          <p:cNvPr id="116" name="流程图: 终止 115"/>
          <p:cNvSpPr/>
          <p:nvPr/>
        </p:nvSpPr>
        <p:spPr bwMode="auto">
          <a:xfrm>
            <a:off x="567821" y="5452134"/>
            <a:ext cx="719444" cy="24579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noAutofit/>
          </a:bodyPr>
          <a:lstStyle/>
          <a:p>
            <a:pPr lvl="0" algn="ctr">
              <a:buClrTx/>
              <a:buSzTx/>
              <a:buFontTx/>
            </a:pPr>
            <a:r>
              <a:rPr lang="en-US" altLang="zh-CN" sz="1335" dirty="0">
                <a:latin typeface="微软雅黑" panose="020B0503020204020204" charset="-122"/>
                <a:ea typeface="微软雅黑" panose="020B0503020204020204" charset="-122"/>
                <a:sym typeface="+mn-ea"/>
              </a:rPr>
              <a:t>SRM</a:t>
            </a:r>
            <a:endParaRPr lang="en-US" altLang="zh-CN" sz="1335" dirty="0">
              <a:latin typeface="微软雅黑" panose="020B0503020204020204" charset="-122"/>
              <a:ea typeface="微软雅黑" panose="020B0503020204020204" charset="-122"/>
              <a:sym typeface="+mn-ea"/>
            </a:endParaRPr>
          </a:p>
        </p:txBody>
      </p:sp>
      <p:sp>
        <p:nvSpPr>
          <p:cNvPr id="117" name="矩形 116"/>
          <p:cNvSpPr/>
          <p:nvPr/>
        </p:nvSpPr>
        <p:spPr>
          <a:xfrm>
            <a:off x="1287145" y="5369560"/>
            <a:ext cx="2872740" cy="378460"/>
          </a:xfrm>
          <a:prstGeom prst="rect">
            <a:avLst/>
          </a:prstGeom>
        </p:spPr>
        <p:txBody>
          <a:bodyPr wrap="square">
            <a:spAutoFit/>
          </a:bodyPr>
          <a:lstStyle/>
          <a:p>
            <a:pPr marL="230505" indent="-230505" eaLnBrk="0" hangingPunct="0"/>
            <a:r>
              <a:rPr lang="zh-CN" altLang="en-US" sz="186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系统操作节点</a:t>
            </a:r>
            <a:endParaRPr lang="zh-CN" altLang="en-US" sz="186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nvGrpSpPr>
          <p:cNvPr id="16" name="组合 15"/>
          <p:cNvGrpSpPr/>
          <p:nvPr/>
        </p:nvGrpSpPr>
        <p:grpSpPr>
          <a:xfrm>
            <a:off x="2575560" y="2647315"/>
            <a:ext cx="1694180" cy="480060"/>
            <a:chOff x="4854" y="5643"/>
            <a:chExt cx="2934" cy="756"/>
          </a:xfrm>
        </p:grpSpPr>
        <p:sp>
          <p:nvSpPr>
            <p:cNvPr id="83" name="圆角矩形 18"/>
            <p:cNvSpPr/>
            <p:nvPr/>
          </p:nvSpPr>
          <p:spPr>
            <a:xfrm>
              <a:off x="4854" y="5853"/>
              <a:ext cx="2695" cy="546"/>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样品管理</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9" name="流程图: 终止 118"/>
            <p:cNvSpPr/>
            <p:nvPr/>
          </p:nvSpPr>
          <p:spPr bwMode="auto">
            <a:xfrm>
              <a:off x="6655" y="5643"/>
              <a:ext cx="1133" cy="387"/>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grpSp>
      <p:grpSp>
        <p:nvGrpSpPr>
          <p:cNvPr id="19" name="组合 18"/>
          <p:cNvGrpSpPr/>
          <p:nvPr/>
        </p:nvGrpSpPr>
        <p:grpSpPr>
          <a:xfrm>
            <a:off x="4405630" y="3879850"/>
            <a:ext cx="1698282" cy="503555"/>
            <a:chOff x="8248" y="4627"/>
            <a:chExt cx="2941" cy="793"/>
          </a:xfrm>
        </p:grpSpPr>
        <p:sp>
          <p:nvSpPr>
            <p:cNvPr id="87" name="圆角矩形 18"/>
            <p:cNvSpPr/>
            <p:nvPr/>
          </p:nvSpPr>
          <p:spPr>
            <a:xfrm>
              <a:off x="8248" y="4874"/>
              <a:ext cx="2695" cy="546"/>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验厂考察</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20" name="流程图: 终止 119"/>
            <p:cNvSpPr/>
            <p:nvPr/>
          </p:nvSpPr>
          <p:spPr bwMode="auto">
            <a:xfrm>
              <a:off x="10057" y="4627"/>
              <a:ext cx="1132" cy="387"/>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grpSp>
      <p:sp>
        <p:nvSpPr>
          <p:cNvPr id="7" name="圆角矩形 18"/>
          <p:cNvSpPr/>
          <p:nvPr/>
        </p:nvSpPr>
        <p:spPr>
          <a:xfrm>
            <a:off x="568325" y="2767965"/>
            <a:ext cx="1711325" cy="586740"/>
          </a:xfrm>
          <a:prstGeom prst="roundRect">
            <a:avLst/>
          </a:prstGeom>
          <a:solidFill>
            <a:srgbClr val="C00000"/>
          </a:solidFill>
          <a:ln w="12700" cap="flat" cmpd="sng" algn="ctr">
            <a:solidFill>
              <a:srgbClr val="002060"/>
            </a:solidFill>
            <a:prstDash val="solid"/>
            <a:miter lim="800000"/>
          </a:ln>
          <a:effectLst/>
        </p:spPr>
        <p:txBody>
          <a:bodyPr anchor="ctr">
            <a:noAutofit/>
          </a:bodyPr>
          <a:lstStyle/>
          <a:p>
            <a:pPr lvl="0" algn="ctr" defTabSz="816610">
              <a:buClrTx/>
              <a:buSzTx/>
              <a:buFontTx/>
            </a:pPr>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rPr>
              <a:t>邀请注册并发送调查表</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8" name="流程图: 终止 7"/>
          <p:cNvSpPr/>
          <p:nvPr/>
        </p:nvSpPr>
        <p:spPr bwMode="auto">
          <a:xfrm>
            <a:off x="1648761" y="2580044"/>
            <a:ext cx="719444" cy="24579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sp>
        <p:nvSpPr>
          <p:cNvPr id="14" name="流程图: 终止 13"/>
          <p:cNvSpPr/>
          <p:nvPr/>
        </p:nvSpPr>
        <p:spPr bwMode="auto">
          <a:xfrm>
            <a:off x="5450205" y="4455160"/>
            <a:ext cx="653415" cy="24574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sp>
        <p:nvSpPr>
          <p:cNvPr id="29" name="流程图: 终止 28"/>
          <p:cNvSpPr/>
          <p:nvPr/>
        </p:nvSpPr>
        <p:spPr bwMode="auto">
          <a:xfrm>
            <a:off x="5450205" y="2574925"/>
            <a:ext cx="653415" cy="24574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grpSp>
        <p:nvGrpSpPr>
          <p:cNvPr id="22" name="组合 21"/>
          <p:cNvGrpSpPr/>
          <p:nvPr/>
        </p:nvGrpSpPr>
        <p:grpSpPr>
          <a:xfrm>
            <a:off x="6269990" y="3203575"/>
            <a:ext cx="1784306" cy="570230"/>
            <a:chOff x="11596" y="5766"/>
            <a:chExt cx="2843" cy="898"/>
          </a:xfrm>
        </p:grpSpPr>
        <p:sp>
          <p:nvSpPr>
            <p:cNvPr id="21" name="圆角矩形 20"/>
            <p:cNvSpPr/>
            <p:nvPr/>
          </p:nvSpPr>
          <p:spPr>
            <a:xfrm>
              <a:off x="11596" y="6095"/>
              <a:ext cx="2695" cy="569"/>
            </a:xfrm>
            <a:prstGeom prst="roundRect">
              <a:avLst/>
            </a:prstGeom>
            <a:solidFill>
              <a:schemeClr val="bg1">
                <a:lumMod val="50000"/>
              </a:schemeClr>
            </a:solidFill>
            <a:ln w="12700" cap="flat" cmpd="sng" algn="ctr">
              <a:solidFill>
                <a:srgbClr val="002060"/>
              </a:solidFill>
              <a:prstDash val="solid"/>
              <a:miter lim="800000"/>
            </a:ln>
            <a:effectLst/>
          </p:spPr>
          <p:txBody>
            <a:bodyPr anchor="ctr">
              <a:noAutofit/>
            </a:bodyPr>
            <a:lstStyle/>
            <a:p>
              <a:pPr lvl="0" algn="ctr" defTabSz="816610">
                <a:buClrTx/>
                <a:buSzTx/>
                <a:buFontTx/>
              </a:pPr>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rPr>
                <a:t>大货/板布下单</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33" name="流程图: 终止 32"/>
            <p:cNvSpPr/>
            <p:nvPr/>
          </p:nvSpPr>
          <p:spPr bwMode="auto">
            <a:xfrm>
              <a:off x="13292" y="5766"/>
              <a:ext cx="1147" cy="387"/>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PRIM</a:t>
              </a:r>
              <a:endParaRPr lang="zh-CN" altLang="en-US" sz="1335" dirty="0">
                <a:solidFill>
                  <a:schemeClr val="tx1"/>
                </a:solidFill>
                <a:latin typeface="微软雅黑" panose="020B0503020204020204" charset="-122"/>
                <a:ea typeface="微软雅黑" panose="020B0503020204020204" charset="-122"/>
              </a:endParaRPr>
            </a:p>
          </p:txBody>
        </p:sp>
      </p:grpSp>
      <p:sp>
        <p:nvSpPr>
          <p:cNvPr id="34" name="圆角矩形 18"/>
          <p:cNvSpPr/>
          <p:nvPr/>
        </p:nvSpPr>
        <p:spPr>
          <a:xfrm>
            <a:off x="6269990" y="2798445"/>
            <a:ext cx="1692275" cy="327660"/>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en-US" altLang="zh-CN" sz="1600" kern="0" dirty="0">
                <a:solidFill>
                  <a:prstClr val="white"/>
                </a:solidFill>
                <a:latin typeface="微软雅黑" panose="020B0503020204020204" charset="-122"/>
                <a:ea typeface="微软雅黑" panose="020B0503020204020204" charset="-122"/>
                <a:cs typeface="微软雅黑" panose="020B0503020204020204" charset="-122"/>
              </a:rPr>
              <a:t>ERP</a:t>
            </a:r>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建档</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6" name="圆角矩形 18"/>
          <p:cNvSpPr/>
          <p:nvPr/>
        </p:nvSpPr>
        <p:spPr>
          <a:xfrm>
            <a:off x="6269355" y="4036695"/>
            <a:ext cx="1692275" cy="346710"/>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供应商绩效考核</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7" name="流程图: 终止 36"/>
          <p:cNvSpPr/>
          <p:nvPr/>
        </p:nvSpPr>
        <p:spPr bwMode="auto">
          <a:xfrm>
            <a:off x="7406640" y="3867150"/>
            <a:ext cx="657860" cy="24574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sp>
        <p:nvSpPr>
          <p:cNvPr id="38" name="流程图: 终止 37"/>
          <p:cNvSpPr/>
          <p:nvPr/>
        </p:nvSpPr>
        <p:spPr bwMode="auto">
          <a:xfrm>
            <a:off x="6754495" y="2602230"/>
            <a:ext cx="1266825" cy="24574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SRM&amp;PRIM</a:t>
            </a:r>
            <a:endParaRPr lang="zh-CN" altLang="en-US" sz="1335" dirty="0">
              <a:solidFill>
                <a:schemeClr val="tx1"/>
              </a:solidFill>
              <a:latin typeface="微软雅黑" panose="020B0503020204020204" charset="-122"/>
              <a:ea typeface="微软雅黑" panose="020B0503020204020204" charset="-122"/>
            </a:endParaRPr>
          </a:p>
        </p:txBody>
      </p:sp>
      <p:sp>
        <p:nvSpPr>
          <p:cNvPr id="75" name="任意多边形: 形状 74"/>
          <p:cNvSpPr/>
          <p:nvPr/>
        </p:nvSpPr>
        <p:spPr>
          <a:xfrm>
            <a:off x="2466340" y="1200785"/>
            <a:ext cx="2042795"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a:ln>
            <a:noFill/>
          </a:ln>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sz="2000" dirty="0">
                <a:latin typeface="微软雅黑" panose="020B0503020204020204" charset="-122"/>
                <a:ea typeface="微软雅黑" panose="020B0503020204020204" charset="-122"/>
              </a:rPr>
              <a:t>注册供应商</a:t>
            </a:r>
            <a:endParaRPr lang="zh-CN" altLang="en-US" sz="2000" dirty="0">
              <a:latin typeface="微软雅黑" panose="020B0503020204020204" charset="-122"/>
              <a:ea typeface="微软雅黑" panose="020B0503020204020204" charset="-122"/>
            </a:endParaRPr>
          </a:p>
        </p:txBody>
      </p:sp>
      <p:sp>
        <p:nvSpPr>
          <p:cNvPr id="30" name="任意多边形: 形状 76"/>
          <p:cNvSpPr/>
          <p:nvPr/>
        </p:nvSpPr>
        <p:spPr>
          <a:xfrm>
            <a:off x="7935595" y="1200785"/>
            <a:ext cx="2042795"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sz="2000" dirty="0">
                <a:latin typeface="微软雅黑" panose="020B0503020204020204" charset="-122"/>
                <a:ea typeface="微软雅黑" panose="020B0503020204020204" charset="-122"/>
              </a:rPr>
              <a:t>潜在供应商</a:t>
            </a:r>
            <a:endParaRPr lang="zh-CN" altLang="en-US" sz="2000" dirty="0">
              <a:latin typeface="微软雅黑" panose="020B0503020204020204" charset="-122"/>
              <a:ea typeface="微软雅黑" panose="020B0503020204020204" charset="-122"/>
            </a:endParaRPr>
          </a:p>
        </p:txBody>
      </p:sp>
      <p:sp>
        <p:nvSpPr>
          <p:cNvPr id="31" name="任意多边形: 形状 77"/>
          <p:cNvSpPr/>
          <p:nvPr/>
        </p:nvSpPr>
        <p:spPr>
          <a:xfrm>
            <a:off x="7935595" y="1749425"/>
            <a:ext cx="2042795"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sz="1600" kern="0" dirty="0">
                <a:solidFill>
                  <a:prstClr val="white"/>
                </a:solidFill>
                <a:latin typeface="微软雅黑" panose="020B0503020204020204" charset="-122"/>
                <a:ea typeface="微软雅黑" panose="020B0503020204020204" charset="-122"/>
              </a:rPr>
              <a:t>不合格</a:t>
            </a:r>
            <a:r>
              <a:rPr lang="zh-CN" altLang="en-US" sz="1600" dirty="0">
                <a:latin typeface="微软雅黑" panose="020B0503020204020204" charset="-122"/>
                <a:ea typeface="微软雅黑" panose="020B0503020204020204" charset="-122"/>
              </a:rPr>
              <a:t>供应商</a:t>
            </a:r>
            <a:endParaRPr lang="zh-CN" altLang="en-US" sz="1600" dirty="0">
              <a:latin typeface="微软雅黑" panose="020B0503020204020204" charset="-122"/>
              <a:ea typeface="微软雅黑" panose="020B0503020204020204" charset="-122"/>
            </a:endParaRPr>
          </a:p>
        </p:txBody>
      </p:sp>
      <p:sp>
        <p:nvSpPr>
          <p:cNvPr id="35" name="任意多边形: 形状 76"/>
          <p:cNvSpPr/>
          <p:nvPr/>
        </p:nvSpPr>
        <p:spPr>
          <a:xfrm>
            <a:off x="9707880" y="1200785"/>
            <a:ext cx="2042795"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sz="2000" dirty="0">
                <a:latin typeface="微软雅黑" panose="020B0503020204020204" charset="-122"/>
                <a:ea typeface="微软雅黑" panose="020B0503020204020204" charset="-122"/>
              </a:rPr>
              <a:t>退出供应商</a:t>
            </a:r>
            <a:endParaRPr lang="zh-CN" altLang="en-US" sz="2000" dirty="0">
              <a:latin typeface="微软雅黑" panose="020B0503020204020204" charset="-122"/>
              <a:ea typeface="微软雅黑" panose="020B0503020204020204" charset="-122"/>
            </a:endParaRPr>
          </a:p>
        </p:txBody>
      </p:sp>
      <p:sp>
        <p:nvSpPr>
          <p:cNvPr id="43" name="圆角矩形 18"/>
          <p:cNvSpPr/>
          <p:nvPr/>
        </p:nvSpPr>
        <p:spPr>
          <a:xfrm>
            <a:off x="6269990" y="1891665"/>
            <a:ext cx="1692275" cy="610235"/>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成为试用</a:t>
            </a:r>
            <a:r>
              <a:rPr lang="en-US" altLang="zh-CN" sz="1600" kern="0" dirty="0">
                <a:solidFill>
                  <a:prstClr val="white"/>
                </a:solidFill>
                <a:latin typeface="微软雅黑" panose="020B0503020204020204" charset="-122"/>
                <a:ea typeface="微软雅黑" panose="020B0503020204020204" charset="-122"/>
              </a:rPr>
              <a:t>/</a:t>
            </a:r>
            <a:r>
              <a:rPr lang="zh-CN" altLang="en-US" sz="1600" kern="0" dirty="0">
                <a:solidFill>
                  <a:prstClr val="white"/>
                </a:solidFill>
                <a:latin typeface="微软雅黑" panose="020B0503020204020204" charset="-122"/>
                <a:ea typeface="微软雅黑" panose="020B0503020204020204" charset="-122"/>
              </a:rPr>
              <a:t>正式供应商</a:t>
            </a:r>
            <a:endParaRPr lang="zh-CN" altLang="en-US" sz="1600" kern="0" dirty="0">
              <a:solidFill>
                <a:prstClr val="white"/>
              </a:solidFill>
              <a:latin typeface="微软雅黑" panose="020B0503020204020204" charset="-122"/>
              <a:ea typeface="微软雅黑" panose="020B0503020204020204" charset="-122"/>
            </a:endParaRPr>
          </a:p>
        </p:txBody>
      </p:sp>
      <p:sp>
        <p:nvSpPr>
          <p:cNvPr id="2" name="圆角矩形 18"/>
          <p:cNvSpPr/>
          <p:nvPr/>
        </p:nvSpPr>
        <p:spPr>
          <a:xfrm>
            <a:off x="8093075" y="2348230"/>
            <a:ext cx="1774825" cy="610235"/>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未达成合作意向</a:t>
            </a:r>
            <a:endParaRPr lang="zh-CN" sz="1600" kern="0" dirty="0">
              <a:solidFill>
                <a:prstClr val="white"/>
              </a:solidFill>
              <a:latin typeface="微软雅黑" panose="020B0503020204020204" charset="-122"/>
              <a:ea typeface="微软雅黑" panose="020B0503020204020204" charset="-122"/>
            </a:endParaRPr>
          </a:p>
          <a:p>
            <a:pPr algn="ctr" fontAlgn="auto">
              <a:spcBef>
                <a:spcPts val="0"/>
              </a:spcBef>
              <a:spcAft>
                <a:spcPts val="0"/>
              </a:spcAft>
            </a:pPr>
            <a:r>
              <a:rPr lang="zh-CN" sz="1600" kern="0" dirty="0">
                <a:solidFill>
                  <a:prstClr val="white"/>
                </a:solidFill>
                <a:latin typeface="微软雅黑" panose="020B0503020204020204" charset="-122"/>
                <a:ea typeface="微软雅黑" panose="020B0503020204020204" charset="-122"/>
              </a:rPr>
              <a:t>成为潜在</a:t>
            </a:r>
            <a:endParaRPr lang="zh-CN" altLang="en-US" sz="1600" kern="0" dirty="0">
              <a:solidFill>
                <a:prstClr val="white"/>
              </a:solidFill>
              <a:latin typeface="微软雅黑" panose="020B0503020204020204" charset="-122"/>
              <a:ea typeface="微软雅黑" panose="020B0503020204020204" charset="-122"/>
            </a:endParaRPr>
          </a:p>
        </p:txBody>
      </p:sp>
      <p:sp>
        <p:nvSpPr>
          <p:cNvPr id="3" name="圆角矩形 18"/>
          <p:cNvSpPr/>
          <p:nvPr/>
        </p:nvSpPr>
        <p:spPr>
          <a:xfrm>
            <a:off x="9978390" y="2302510"/>
            <a:ext cx="1883410" cy="610235"/>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已合作的供应商</a:t>
            </a:r>
            <a:endParaRPr lang="zh-CN" altLang="en-US" sz="1600" kern="0" dirty="0">
              <a:solidFill>
                <a:prstClr val="white"/>
              </a:solidFill>
              <a:latin typeface="微软雅黑" panose="020B0503020204020204" charset="-122"/>
              <a:ea typeface="微软雅黑" panose="020B0503020204020204" charset="-122"/>
            </a:endParaRPr>
          </a:p>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发生失误</a:t>
            </a:r>
            <a:r>
              <a:rPr lang="en-US" altLang="zh-CN" sz="1600" kern="0" dirty="0">
                <a:solidFill>
                  <a:prstClr val="white"/>
                </a:solidFill>
                <a:latin typeface="微软雅黑" panose="020B0503020204020204" charset="-122"/>
                <a:ea typeface="微软雅黑" panose="020B0503020204020204" charset="-122"/>
              </a:rPr>
              <a:t>/</a:t>
            </a:r>
            <a:r>
              <a:rPr lang="zh-CN" altLang="en-US" sz="1600" kern="0" dirty="0">
                <a:solidFill>
                  <a:prstClr val="white"/>
                </a:solidFill>
                <a:latin typeface="微软雅黑" panose="020B0503020204020204" charset="-122"/>
                <a:ea typeface="微软雅黑" panose="020B0503020204020204" charset="-122"/>
              </a:rPr>
              <a:t>评级低</a:t>
            </a:r>
            <a:endParaRPr lang="zh-CN" altLang="en-US" sz="1600" kern="0" dirty="0">
              <a:solidFill>
                <a:prstClr val="white"/>
              </a:solidFill>
              <a:latin typeface="微软雅黑" panose="020B0503020204020204" charset="-122"/>
              <a:ea typeface="微软雅黑" panose="020B0503020204020204" charset="-122"/>
            </a:endParaRPr>
          </a:p>
        </p:txBody>
      </p:sp>
      <p:grpSp>
        <p:nvGrpSpPr>
          <p:cNvPr id="4" name="组合 3"/>
          <p:cNvGrpSpPr/>
          <p:nvPr/>
        </p:nvGrpSpPr>
        <p:grpSpPr>
          <a:xfrm>
            <a:off x="9978390" y="3011170"/>
            <a:ext cx="1891030" cy="560070"/>
            <a:chOff x="4854" y="3592"/>
            <a:chExt cx="2978" cy="882"/>
          </a:xfrm>
        </p:grpSpPr>
        <p:sp>
          <p:nvSpPr>
            <p:cNvPr id="10" name="圆角矩形 18"/>
            <p:cNvSpPr/>
            <p:nvPr/>
          </p:nvSpPr>
          <p:spPr>
            <a:xfrm>
              <a:off x="4854" y="3928"/>
              <a:ext cx="2695" cy="546"/>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更新</a:t>
              </a:r>
              <a:r>
                <a:rPr lang="en-US" altLang="zh-CN" sz="1600" kern="0" dirty="0">
                  <a:solidFill>
                    <a:prstClr val="white"/>
                  </a:solidFill>
                  <a:latin typeface="微软雅黑" panose="020B0503020204020204" charset="-122"/>
                  <a:ea typeface="微软雅黑" panose="020B0503020204020204" charset="-122"/>
                  <a:cs typeface="微软雅黑" panose="020B0503020204020204" charset="-122"/>
                </a:rPr>
                <a:t>ERP</a:t>
              </a:r>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状态</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 name="流程图: 终止 10"/>
            <p:cNvSpPr/>
            <p:nvPr/>
          </p:nvSpPr>
          <p:spPr bwMode="auto">
            <a:xfrm>
              <a:off x="5838" y="3592"/>
              <a:ext cx="1995" cy="387"/>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SRM&amp;PRIM</a:t>
              </a:r>
              <a:endParaRPr lang="zh-CN" altLang="en-US" sz="1335" dirty="0">
                <a:solidFill>
                  <a:schemeClr val="tx1"/>
                </a:solidFill>
                <a:latin typeface="微软雅黑" panose="020B0503020204020204" charset="-122"/>
                <a:ea typeface="微软雅黑" panose="020B0503020204020204" charset="-122"/>
              </a:endParaRPr>
            </a:p>
          </p:txBody>
        </p:sp>
      </p:grpSp>
      <p:sp>
        <p:nvSpPr>
          <p:cNvPr id="5" name="任意多边形: 形状 74"/>
          <p:cNvSpPr/>
          <p:nvPr/>
        </p:nvSpPr>
        <p:spPr>
          <a:xfrm>
            <a:off x="4298315" y="1200785"/>
            <a:ext cx="2042795" cy="455295"/>
          </a:xfrm>
          <a:custGeom>
            <a:avLst/>
            <a:gdLst>
              <a:gd name="connsiteX0" fmla="*/ 0 w 2039410"/>
              <a:gd name="connsiteY0" fmla="*/ 0 h 432048"/>
              <a:gd name="connsiteX1" fmla="*/ 1823386 w 2039410"/>
              <a:gd name="connsiteY1" fmla="*/ 0 h 432048"/>
              <a:gd name="connsiteX2" fmla="*/ 2039410 w 2039410"/>
              <a:gd name="connsiteY2" fmla="*/ 216024 h 432048"/>
              <a:gd name="connsiteX3" fmla="*/ 1823386 w 2039410"/>
              <a:gd name="connsiteY3" fmla="*/ 432048 h 432048"/>
              <a:gd name="connsiteX4" fmla="*/ 0 w 2039410"/>
              <a:gd name="connsiteY4" fmla="*/ 432048 h 432048"/>
              <a:gd name="connsiteX5" fmla="*/ 216024 w 2039410"/>
              <a:gd name="connsiteY5" fmla="*/ 216024 h 432048"/>
              <a:gd name="connsiteX6" fmla="*/ 0 w 2039410"/>
              <a:gd name="connsiteY6" fmla="*/ 0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410" h="432048">
                <a:moveTo>
                  <a:pt x="0" y="0"/>
                </a:moveTo>
                <a:lnTo>
                  <a:pt x="1823386" y="0"/>
                </a:lnTo>
                <a:lnTo>
                  <a:pt x="2039410" y="216024"/>
                </a:lnTo>
                <a:lnTo>
                  <a:pt x="1823386" y="432048"/>
                </a:lnTo>
                <a:lnTo>
                  <a:pt x="0" y="432048"/>
                </a:lnTo>
                <a:lnTo>
                  <a:pt x="216024" y="216024"/>
                </a:lnTo>
                <a:lnTo>
                  <a:pt x="0" y="0"/>
                </a:lnTo>
                <a:close/>
              </a:path>
            </a:pathLst>
          </a:custGeom>
          <a:ln>
            <a:solidFill>
              <a:schemeClr val="bg1"/>
            </a:solidFill>
          </a:ln>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9378" tIns="33782" rIns="321814" bIns="33782" numCol="1" spcCol="1270" anchor="ctr" anchorCtr="0">
            <a:noAutofit/>
          </a:bodyPr>
          <a:lstStyle/>
          <a:p>
            <a:pPr algn="ctr" defTabSz="844550">
              <a:lnSpc>
                <a:spcPct val="90000"/>
              </a:lnSpc>
              <a:spcAft>
                <a:spcPct val="35000"/>
              </a:spcAft>
            </a:pPr>
            <a:r>
              <a:rPr lang="zh-CN" altLang="en-US" sz="2000" dirty="0">
                <a:latin typeface="微软雅黑" panose="020B0503020204020204" charset="-122"/>
                <a:ea typeface="微软雅黑" panose="020B0503020204020204" charset="-122"/>
              </a:rPr>
              <a:t>预审供应商</a:t>
            </a:r>
            <a:endParaRPr lang="zh-CN" altLang="en-US" sz="2000" dirty="0">
              <a:latin typeface="微软雅黑" panose="020B0503020204020204" charset="-122"/>
              <a:ea typeface="微软雅黑" panose="020B0503020204020204" charset="-122"/>
            </a:endParaRPr>
          </a:p>
        </p:txBody>
      </p:sp>
      <p:sp>
        <p:nvSpPr>
          <p:cNvPr id="6" name="圆角矩形 18"/>
          <p:cNvSpPr/>
          <p:nvPr/>
        </p:nvSpPr>
        <p:spPr>
          <a:xfrm>
            <a:off x="4416425" y="1896110"/>
            <a:ext cx="1686560" cy="610235"/>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成为预审供应商</a:t>
            </a:r>
            <a:endParaRPr lang="zh-CN" altLang="en-US" sz="1600" kern="0" dirty="0">
              <a:solidFill>
                <a:prstClr val="white"/>
              </a:solidFill>
              <a:latin typeface="微软雅黑" panose="020B0503020204020204" charset="-122"/>
              <a:ea typeface="微软雅黑" panose="020B0503020204020204" charset="-122"/>
            </a:endParaRPr>
          </a:p>
        </p:txBody>
      </p:sp>
      <p:grpSp>
        <p:nvGrpSpPr>
          <p:cNvPr id="20" name="组合 19"/>
          <p:cNvGrpSpPr/>
          <p:nvPr/>
        </p:nvGrpSpPr>
        <p:grpSpPr>
          <a:xfrm>
            <a:off x="2575560" y="3279140"/>
            <a:ext cx="1694180" cy="480060"/>
            <a:chOff x="4854" y="5643"/>
            <a:chExt cx="2934" cy="756"/>
          </a:xfrm>
        </p:grpSpPr>
        <p:sp>
          <p:nvSpPr>
            <p:cNvPr id="23" name="圆角矩形 18"/>
            <p:cNvSpPr/>
            <p:nvPr/>
          </p:nvSpPr>
          <p:spPr>
            <a:xfrm>
              <a:off x="4854" y="5853"/>
              <a:ext cx="2695" cy="546"/>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升级评审</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4" name="流程图: 终止 23"/>
            <p:cNvSpPr/>
            <p:nvPr/>
          </p:nvSpPr>
          <p:spPr bwMode="auto">
            <a:xfrm>
              <a:off x="6655" y="5643"/>
              <a:ext cx="1133" cy="387"/>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grpSp>
      <p:sp>
        <p:nvSpPr>
          <p:cNvPr id="32" name="圆角矩形 18"/>
          <p:cNvSpPr/>
          <p:nvPr/>
        </p:nvSpPr>
        <p:spPr>
          <a:xfrm>
            <a:off x="8093075" y="3156585"/>
            <a:ext cx="1774825" cy="610235"/>
          </a:xfrm>
          <a:prstGeom prst="roundRect">
            <a:avLst/>
          </a:prstGeom>
          <a:solidFill>
            <a:srgbClr val="0070C0"/>
          </a:solidFill>
          <a:ln w="12700" cap="flat" cmpd="sng" algn="ctr">
            <a:solidFill>
              <a:srgbClr val="002060"/>
            </a:solidFill>
            <a:prstDash val="solid"/>
            <a:miter lim="800000"/>
          </a:ln>
          <a:effectLst/>
        </p:spPr>
        <p:txBody>
          <a:bodyPr anchor="ctr"/>
          <a:lstStyle/>
          <a:p>
            <a:pPr algn="ctr" fontAlgn="auto">
              <a:spcBef>
                <a:spcPts val="0"/>
              </a:spcBef>
              <a:spcAft>
                <a:spcPts val="0"/>
              </a:spcAft>
            </a:pPr>
            <a:r>
              <a:rPr lang="zh-CN" altLang="en-US" sz="1600" kern="0" dirty="0">
                <a:solidFill>
                  <a:prstClr val="white"/>
                </a:solidFill>
                <a:latin typeface="微软雅黑" panose="020B0503020204020204" charset="-122"/>
                <a:ea typeface="微软雅黑" panose="020B0503020204020204" charset="-122"/>
              </a:rPr>
              <a:t>评估不通过</a:t>
            </a:r>
            <a:r>
              <a:rPr lang="en-US" altLang="zh-CN" sz="1600" kern="0" dirty="0">
                <a:solidFill>
                  <a:prstClr val="white"/>
                </a:solidFill>
                <a:latin typeface="微软雅黑" panose="020B0503020204020204" charset="-122"/>
                <a:ea typeface="微软雅黑" panose="020B0503020204020204" charset="-122"/>
              </a:rPr>
              <a:t>/</a:t>
            </a:r>
            <a:r>
              <a:rPr lang="zh-CN" altLang="en-US" sz="1600" kern="0" dirty="0">
                <a:solidFill>
                  <a:prstClr val="white"/>
                </a:solidFill>
                <a:latin typeface="微软雅黑" panose="020B0503020204020204" charset="-122"/>
                <a:ea typeface="微软雅黑" panose="020B0503020204020204" charset="-122"/>
              </a:rPr>
              <a:t>风险较大成为不合格</a:t>
            </a:r>
            <a:endParaRPr lang="zh-CN" altLang="en-US" sz="1600" kern="0" dirty="0">
              <a:solidFill>
                <a:prstClr val="white"/>
              </a:solidFill>
              <a:latin typeface="微软雅黑" panose="020B0503020204020204" charset="-122"/>
              <a:ea typeface="微软雅黑" panose="020B0503020204020204" charset="-122"/>
            </a:endParaRPr>
          </a:p>
        </p:txBody>
      </p:sp>
      <p:sp>
        <p:nvSpPr>
          <p:cNvPr id="40" name="圆角矩形 18"/>
          <p:cNvSpPr/>
          <p:nvPr/>
        </p:nvSpPr>
        <p:spPr>
          <a:xfrm>
            <a:off x="8124825" y="4036695"/>
            <a:ext cx="1711325" cy="346710"/>
          </a:xfrm>
          <a:prstGeom prst="roundRect">
            <a:avLst/>
          </a:prstGeom>
          <a:solidFill>
            <a:srgbClr val="C00000"/>
          </a:solidFill>
          <a:ln w="12700" cap="flat" cmpd="sng" algn="ctr">
            <a:solidFill>
              <a:srgbClr val="002060"/>
            </a:solidFill>
            <a:prstDash val="solid"/>
            <a:miter lim="800000"/>
          </a:ln>
          <a:effectLst/>
        </p:spPr>
        <p:txBody>
          <a:bodyPr anchor="ctr">
            <a:noAutofit/>
          </a:bodyPr>
          <a:lstStyle/>
          <a:p>
            <a:pPr lvl="0" algn="ctr" defTabSz="816610">
              <a:buClrTx/>
              <a:buSzTx/>
              <a:buFontTx/>
            </a:pPr>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rPr>
              <a:t>权限控制</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grpSp>
        <p:nvGrpSpPr>
          <p:cNvPr id="9" name="组合 8"/>
          <p:cNvGrpSpPr/>
          <p:nvPr/>
        </p:nvGrpSpPr>
        <p:grpSpPr>
          <a:xfrm>
            <a:off x="4405630" y="3293745"/>
            <a:ext cx="1694180" cy="480060"/>
            <a:chOff x="4854" y="5643"/>
            <a:chExt cx="2934" cy="756"/>
          </a:xfrm>
        </p:grpSpPr>
        <p:sp>
          <p:nvSpPr>
            <p:cNvPr id="12" name="圆角矩形 18"/>
            <p:cNvSpPr/>
            <p:nvPr/>
          </p:nvSpPr>
          <p:spPr>
            <a:xfrm>
              <a:off x="4854" y="5853"/>
              <a:ext cx="2695" cy="546"/>
            </a:xfrm>
            <a:prstGeom prst="roundRect">
              <a:avLst/>
            </a:prstGeom>
            <a:solidFill>
              <a:srgbClr val="C00000"/>
            </a:solidFill>
            <a:ln w="12700" cap="flat" cmpd="sng" algn="ctr">
              <a:solidFill>
                <a:srgbClr val="002060"/>
              </a:solidFill>
              <a:prstDash val="solid"/>
              <a:miter lim="800000"/>
            </a:ln>
            <a:effectLst/>
          </p:spPr>
          <p:txBody>
            <a:bodyPr anchor="ctr"/>
            <a:lstStyle/>
            <a:p>
              <a:pPr algn="ctr" defTabSz="816610"/>
              <a:r>
                <a:rPr lang="zh-CN" altLang="en-US" sz="1600" kern="0" dirty="0">
                  <a:solidFill>
                    <a:prstClr val="white"/>
                  </a:solidFill>
                  <a:latin typeface="微软雅黑" panose="020B0503020204020204" charset="-122"/>
                  <a:ea typeface="微软雅黑" panose="020B0503020204020204" charset="-122"/>
                  <a:cs typeface="微软雅黑" panose="020B0503020204020204" charset="-122"/>
                </a:rPr>
                <a:t>可持续发展表</a:t>
              </a:r>
              <a:endParaRPr lang="zh-CN" altLang="en-US" sz="16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5" name="流程图: 终止 14"/>
            <p:cNvSpPr/>
            <p:nvPr/>
          </p:nvSpPr>
          <p:spPr bwMode="auto">
            <a:xfrm>
              <a:off x="6655" y="5643"/>
              <a:ext cx="1133" cy="387"/>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grpSp>
      <p:sp>
        <p:nvSpPr>
          <p:cNvPr id="17" name="流程图: 终止 16"/>
          <p:cNvSpPr/>
          <p:nvPr/>
        </p:nvSpPr>
        <p:spPr bwMode="auto">
          <a:xfrm>
            <a:off x="9320530" y="3879850"/>
            <a:ext cx="657860" cy="245745"/>
          </a:xfrm>
          <a:prstGeom prst="flowChartTerminator">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rtlCol="0" anchor="ctr"/>
          <a:lstStyle/>
          <a:p>
            <a:pPr algn="ctr"/>
            <a:r>
              <a:rPr lang="en-US" altLang="zh-CN" sz="1335" dirty="0">
                <a:solidFill>
                  <a:schemeClr val="tx1"/>
                </a:solidFill>
                <a:latin typeface="微软雅黑" panose="020B0503020204020204" charset="-122"/>
                <a:ea typeface="微软雅黑" panose="020B0503020204020204" charset="-122"/>
              </a:rPr>
              <a:t>SRM</a:t>
            </a:r>
            <a:endParaRPr lang="zh-CN" altLang="en-US" sz="1335" dirty="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p:nvPr>
            <p:custDataLst>
              <p:tags r:id="rId1"/>
            </p:custDataLst>
          </p:nvPr>
        </p:nvGraphicFramePr>
        <p:xfrm>
          <a:off x="582930" y="1031875"/>
          <a:ext cx="11026385" cy="5177790"/>
        </p:xfrm>
        <a:graphic>
          <a:graphicData uri="http://schemas.openxmlformats.org/drawingml/2006/table">
            <a:tbl>
              <a:tblPr firstRow="1" bandRow="1">
                <a:tableStyleId>{5C22544A-7EE6-4342-B048-85BDC9FD1C3A}</a:tableStyleId>
              </a:tblPr>
              <a:tblGrid>
                <a:gridCol w="720000"/>
                <a:gridCol w="720000"/>
                <a:gridCol w="1810385"/>
                <a:gridCol w="648000"/>
                <a:gridCol w="648000"/>
                <a:gridCol w="648000"/>
                <a:gridCol w="648000"/>
                <a:gridCol w="648000"/>
                <a:gridCol w="648000"/>
                <a:gridCol w="648000"/>
                <a:gridCol w="648000"/>
                <a:gridCol w="648000"/>
                <a:gridCol w="648000"/>
                <a:gridCol w="648000"/>
                <a:gridCol w="648000"/>
              </a:tblGrid>
              <a:tr h="480695">
                <a:tc rowSpan="2">
                  <a:txBody>
                    <a:bodyPr/>
                    <a:lstStyle/>
                    <a:p>
                      <a:pPr indent="0" algn="ctr">
                        <a:buNone/>
                      </a:pPr>
                      <a:r>
                        <a:rPr lang="zh-CN" sz="1400" b="1">
                          <a:solidFill>
                            <a:srgbClr val="000000"/>
                          </a:solidFill>
                          <a:latin typeface="Arial" panose="020B0604020202020204" pitchFamily="34" charset="0"/>
                          <a:ea typeface="微软雅黑" panose="020B0503020204020204" charset="-122"/>
                        </a:rPr>
                        <a:t>泳道</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rowSpan="2">
                  <a:txBody>
                    <a:bodyPr/>
                    <a:lstStyle/>
                    <a:p>
                      <a:pPr indent="0" algn="ctr">
                        <a:buNone/>
                      </a:pPr>
                      <a:r>
                        <a:rPr lang="zh-CN" sz="1400" b="1">
                          <a:solidFill>
                            <a:srgbClr val="000000"/>
                          </a:solidFill>
                          <a:latin typeface="Arial" panose="020B0604020202020204" pitchFamily="34" charset="0"/>
                          <a:ea typeface="微软雅黑" panose="020B0503020204020204" charset="-122"/>
                        </a:rPr>
                        <a:t>状态</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rowSpan="2">
                  <a:txBody>
                    <a:bodyPr/>
                    <a:lstStyle/>
                    <a:p>
                      <a:pPr indent="0" algn="ctr">
                        <a:buNone/>
                      </a:pPr>
                      <a:r>
                        <a:rPr lang="zh-CN" sz="1400" b="1">
                          <a:solidFill>
                            <a:srgbClr val="000000"/>
                          </a:solidFill>
                          <a:latin typeface="Arial" panose="020B0604020202020204" pitchFamily="34" charset="0"/>
                          <a:ea typeface="微软雅黑" panose="020B0503020204020204" charset="-122"/>
                        </a:rPr>
                        <a:t>泳道/状态说明</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BFBFBF"/>
                    </a:solidFill>
                  </a:tcPr>
                </a:tc>
                <a:tc gridSpan="12">
                  <a:txBody>
                    <a:bodyPr/>
                    <a:lstStyle/>
                    <a:p>
                      <a:pPr indent="0" algn="ctr">
                        <a:buNone/>
                      </a:pPr>
                      <a:r>
                        <a:rPr lang="zh-CN" sz="1400" b="1">
                          <a:solidFill>
                            <a:srgbClr val="000000"/>
                          </a:solidFill>
                          <a:latin typeface="Arial" panose="020B0604020202020204" pitchFamily="34" charset="0"/>
                          <a:ea typeface="微软雅黑" panose="020B0503020204020204" charset="-122"/>
                        </a:rPr>
                        <a:t>业务活动</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12700">
                      <a:solidFill>
                        <a:schemeClr val="tx1"/>
                      </a:solidFill>
                      <a:prstDash val="soli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3003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a:solidFill>
                        <a:schemeClr val="tx1"/>
                      </a:solidFill>
                      <a:prstDash val="solid"/>
                    </a:lnR>
                    <a:lnB w="12700" cap="flat" cmpd="sng">
                      <a:solidFill>
                        <a:schemeClr val="tx1"/>
                      </a:solidFill>
                      <a:prstDash val="solid"/>
                      <a:headEnd type="none" w="med" len="med"/>
                      <a:tailEnd type="none" w="med" len="med"/>
                    </a:lnB>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登入</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12700">
                      <a:solidFill>
                        <a:schemeClr val="tx1"/>
                      </a:solidFill>
                      <a:prstDash val="soli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主档维护</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寻源</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调样</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验厂</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申购</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下大货订单</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测试</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进度维护</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到货进仓</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对账</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a:txBody>
                    <a:bodyPr/>
                    <a:lstStyle/>
                    <a:p>
                      <a:pPr indent="0" algn="ctr">
                        <a:buNone/>
                      </a:pPr>
                      <a:r>
                        <a:rPr lang="zh-CN" sz="1400" b="1">
                          <a:solidFill>
                            <a:srgbClr val="000000"/>
                          </a:solidFill>
                          <a:latin typeface="Arial" panose="020B0604020202020204" pitchFamily="34" charset="0"/>
                          <a:ea typeface="微软雅黑" panose="020B0503020204020204" charset="-122"/>
                        </a:rPr>
                        <a:t>合同管理</a:t>
                      </a:r>
                      <a:endParaRPr lang="zh-CN" altLang="en-US" sz="1400" b="1">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r>
              <a:tr h="468000">
                <a:tc>
                  <a:txBody>
                    <a:bodyPr/>
                    <a:lstStyle/>
                    <a:p>
                      <a:pPr indent="0" algn="ctr">
                        <a:buNone/>
                      </a:pPr>
                      <a:r>
                        <a:rPr lang="zh-CN" sz="1400" b="0">
                          <a:solidFill>
                            <a:srgbClr val="000000"/>
                          </a:solidFill>
                          <a:latin typeface="Arial" panose="020B0604020202020204" pitchFamily="34" charset="0"/>
                          <a:ea typeface="微软雅黑" panose="020B0503020204020204" charset="-122"/>
                        </a:rPr>
                        <a:t>注册</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注册</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微软雅黑" panose="020B0503020204020204" charset="-122"/>
                        </a:rPr>
                        <a:t>调样</a:t>
                      </a:r>
                      <a:endParaRPr lang="zh-CN"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chemeClr val="tx1"/>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a:solidFill>
                            <a:srgbClr val="000000"/>
                          </a:solidFill>
                          <a:latin typeface="微软雅黑" panose="020B0503020204020204" charset="-122"/>
                          <a:sym typeface="+mn-ea"/>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68000">
                <a:tc>
                  <a:txBody>
                    <a:bodyPr/>
                    <a:lstStyle/>
                    <a:p>
                      <a:pPr indent="0" algn="ctr">
                        <a:buNone/>
                      </a:pPr>
                      <a:r>
                        <a:rPr lang="zh-CN" sz="1400" b="0">
                          <a:solidFill>
                            <a:srgbClr val="000000"/>
                          </a:solidFill>
                          <a:latin typeface="Arial" panose="020B0604020202020204" pitchFamily="34" charset="0"/>
                          <a:ea typeface="微软雅黑" panose="020B0503020204020204" charset="-122"/>
                        </a:rPr>
                        <a:t>预审</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预审</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微软雅黑" panose="020B0503020204020204" charset="-122"/>
                        </a:rPr>
                        <a:t>验厂、条款洽谈</a:t>
                      </a:r>
                      <a:endParaRPr lang="zh-CN"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a:solidFill>
                            <a:srgbClr val="000000"/>
                          </a:solidFill>
                          <a:latin typeface="微软雅黑" panose="020B0503020204020204" charset="-122"/>
                          <a:sym typeface="+mn-ea"/>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68000">
                <a:tc rowSpan="2">
                  <a:txBody>
                    <a:bodyPr/>
                    <a:lstStyle/>
                    <a:p>
                      <a:pPr indent="0" algn="ctr">
                        <a:buNone/>
                      </a:pPr>
                      <a:r>
                        <a:rPr lang="zh-CN" sz="1400" b="0">
                          <a:solidFill>
                            <a:srgbClr val="000000"/>
                          </a:solidFill>
                          <a:latin typeface="Arial" panose="020B0604020202020204" pitchFamily="34" charset="0"/>
                          <a:ea typeface="微软雅黑" panose="020B0503020204020204" charset="-122"/>
                        </a:rPr>
                        <a:t>潜在</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潜在</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微软雅黑" panose="020B0503020204020204" charset="-122"/>
                        </a:rPr>
                        <a:t>后续可能合作</a:t>
                      </a:r>
                      <a:endParaRPr lang="zh-CN"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680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休眠</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3年无交易</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68000">
                <a:tc>
                  <a:txBody>
                    <a:bodyPr/>
                    <a:lstStyle/>
                    <a:p>
                      <a:pPr indent="0" algn="ctr">
                        <a:buNone/>
                      </a:pPr>
                      <a:r>
                        <a:rPr lang="zh-CN" sz="1400" b="0">
                          <a:solidFill>
                            <a:srgbClr val="000000"/>
                          </a:solidFill>
                          <a:latin typeface="Arial" panose="020B0604020202020204" pitchFamily="34" charset="0"/>
                          <a:ea typeface="微软雅黑" panose="020B0503020204020204" charset="-122"/>
                        </a:rPr>
                        <a:t>不合格</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不合格</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微软雅黑" panose="020B0503020204020204" charset="-122"/>
                        </a:rPr>
                        <a:t>注册</a:t>
                      </a:r>
                      <a:r>
                        <a:rPr lang="en-US" altLang="zh-CN" sz="1400" b="0">
                          <a:solidFill>
                            <a:srgbClr val="000000"/>
                          </a:solidFill>
                          <a:latin typeface="微软雅黑" panose="020B0503020204020204" charset="-122"/>
                        </a:rPr>
                        <a:t>/</a:t>
                      </a:r>
                      <a:r>
                        <a:rPr lang="zh-CN" altLang="en-US" sz="1400" b="0">
                          <a:solidFill>
                            <a:srgbClr val="000000"/>
                          </a:solidFill>
                          <a:latin typeface="微软雅黑" panose="020B0503020204020204" charset="-122"/>
                        </a:rPr>
                        <a:t>预审未通过</a:t>
                      </a:r>
                      <a:endParaRPr lang="zh-CN"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68000">
                <a:tc>
                  <a:txBody>
                    <a:bodyPr/>
                    <a:lstStyle/>
                    <a:p>
                      <a:pPr indent="0" algn="ctr">
                        <a:buNone/>
                      </a:pPr>
                      <a:r>
                        <a:rPr lang="zh-CN" sz="1400" b="0">
                          <a:solidFill>
                            <a:srgbClr val="000000"/>
                          </a:solidFill>
                          <a:latin typeface="Arial" panose="020B0604020202020204" pitchFamily="34" charset="0"/>
                          <a:ea typeface="微软雅黑" panose="020B0503020204020204" charset="-122"/>
                        </a:rPr>
                        <a:t>试用</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特批</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Arial" panose="020B0604020202020204" pitchFamily="34" charset="0"/>
                          <a:ea typeface="微软雅黑" panose="020B0503020204020204" charset="-122"/>
                        </a:rPr>
                        <a:t>试用期限及金额限制</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r>
              <a:tr h="468000">
                <a:tc>
                  <a:txBody>
                    <a:bodyPr/>
                    <a:lstStyle/>
                    <a:p>
                      <a:pPr indent="0" algn="ctr">
                        <a:buNone/>
                      </a:pPr>
                      <a:r>
                        <a:rPr lang="zh-CN" sz="1400" b="0">
                          <a:solidFill>
                            <a:srgbClr val="000000"/>
                          </a:solidFill>
                          <a:latin typeface="Arial" panose="020B0604020202020204" pitchFamily="34" charset="0"/>
                          <a:ea typeface="微软雅黑" panose="020B0503020204020204" charset="-122"/>
                        </a:rPr>
                        <a:t>正式</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正式</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微软雅黑" panose="020B0503020204020204" charset="-122"/>
                        </a:rPr>
                        <a:t>正式合作</a:t>
                      </a:r>
                      <a:endParaRPr lang="zh-CN"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r>
              <a:tr h="468000">
                <a:tc rowSpan="2">
                  <a:txBody>
                    <a:bodyPr/>
                    <a:lstStyle/>
                    <a:p>
                      <a:pPr indent="0" algn="ctr">
                        <a:buNone/>
                      </a:pPr>
                      <a:r>
                        <a:rPr lang="zh-CN" sz="1400" b="0">
                          <a:solidFill>
                            <a:srgbClr val="000000"/>
                          </a:solidFill>
                          <a:latin typeface="Arial" panose="020B0604020202020204" pitchFamily="34" charset="0"/>
                          <a:ea typeface="微软雅黑" panose="020B0503020204020204" charset="-122"/>
                        </a:rPr>
                        <a:t>退出</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冻结</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b="0">
                          <a:solidFill>
                            <a:srgbClr val="000000"/>
                          </a:solidFill>
                          <a:latin typeface="微软雅黑" panose="020B0503020204020204" charset="-122"/>
                        </a:rPr>
                        <a:t>已合作的供应商退出</a:t>
                      </a:r>
                      <a:endParaRPr lang="zh-CN"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680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400" b="0">
                          <a:solidFill>
                            <a:srgbClr val="000000"/>
                          </a:solidFill>
                          <a:latin typeface="Arial" panose="020B0604020202020204" pitchFamily="34" charset="0"/>
                          <a:ea typeface="微软雅黑" panose="020B0503020204020204" charset="-122"/>
                        </a:rPr>
                        <a:t>黑名单</a:t>
                      </a:r>
                      <a:endParaRPr lang="zh-CN" altLang="en-US" sz="14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400">
                          <a:solidFill>
                            <a:srgbClr val="000000"/>
                          </a:solidFill>
                          <a:latin typeface="微软雅黑" panose="020B0503020204020204" charset="-122"/>
                          <a:sym typeface="+mn-ea"/>
                        </a:rPr>
                        <a:t>已合作的供应商退出</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400" b="0">
                          <a:solidFill>
                            <a:srgbClr val="000000"/>
                          </a:solidFill>
                          <a:latin typeface="微软雅黑" panose="020B0503020204020204" charset="-122"/>
                        </a:rPr>
                        <a:t>×</a:t>
                      </a:r>
                      <a:endParaRPr lang="en-US" altLang="en-US" sz="1400" b="0">
                        <a:solidFill>
                          <a:srgbClr val="000000"/>
                        </a:solidFill>
                        <a:latin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7" name="标题 1"/>
          <p:cNvSpPr>
            <a:spLocks noGrp="1"/>
          </p:cNvSpPr>
          <p:nvPr/>
        </p:nvSpPr>
        <p:spPr>
          <a:xfrm>
            <a:off x="431373" y="23606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dirty="0"/>
              <a:t>供应商生命周期</a:t>
            </a:r>
            <a:r>
              <a:rPr lang="zh-CN" dirty="0"/>
              <a:t>权限控制</a:t>
            </a:r>
            <a:endParaRPr 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dirty="0"/>
              <a:t>供应商生命周期</a:t>
            </a:r>
            <a:r>
              <a:rPr lang="zh-CN" dirty="0"/>
              <a:t>变更控制</a:t>
            </a:r>
            <a:endParaRPr lang="zh-CN"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graphicFrame>
        <p:nvGraphicFramePr>
          <p:cNvPr id="21" name="表格 20"/>
          <p:cNvGraphicFramePr/>
          <p:nvPr>
            <p:custDataLst>
              <p:tags r:id="rId1"/>
            </p:custDataLst>
          </p:nvPr>
        </p:nvGraphicFramePr>
        <p:xfrm>
          <a:off x="459740" y="1060450"/>
          <a:ext cx="11272730" cy="4777105"/>
        </p:xfrm>
        <a:graphic>
          <a:graphicData uri="http://schemas.openxmlformats.org/drawingml/2006/table">
            <a:tbl>
              <a:tblPr firstRow="1" bandRow="1">
                <a:tableStyleId>{5C22544A-7EE6-4342-B048-85BDC9FD1C3A}</a:tableStyleId>
              </a:tblPr>
              <a:tblGrid>
                <a:gridCol w="961390"/>
                <a:gridCol w="1372870"/>
                <a:gridCol w="900000"/>
                <a:gridCol w="900000"/>
                <a:gridCol w="900000"/>
                <a:gridCol w="1080000"/>
                <a:gridCol w="1080000"/>
                <a:gridCol w="1080000"/>
                <a:gridCol w="1415415"/>
                <a:gridCol w="1583055"/>
              </a:tblGrid>
              <a:tr h="600710">
                <a:tc gridSpan="10">
                  <a:txBody>
                    <a:bodyPr/>
                    <a:lstStyle/>
                    <a:p>
                      <a:pPr indent="0" algn="ctr">
                        <a:buNone/>
                      </a:pPr>
                      <a:r>
                        <a:rPr lang="zh-CN" sz="1800" b="0">
                          <a:solidFill>
                            <a:srgbClr val="000000"/>
                          </a:solidFill>
                          <a:latin typeface="Arial" panose="020B0604020202020204" pitchFamily="34" charset="0"/>
                          <a:ea typeface="微软雅黑" panose="020B0503020204020204" charset="-122"/>
                        </a:rPr>
                        <a:t>供应商生命周期变更控制（泳道拖动变更）</a:t>
                      </a:r>
                      <a:endParaRPr lang="zh-CN" altLang="en-US" sz="1800" b="0">
                        <a:solidFill>
                          <a:srgbClr val="000000"/>
                        </a:solidFill>
                        <a:latin typeface="Arial" panose="020B0604020202020204" pitchFamily="34" charset="0"/>
                        <a:ea typeface="微软雅黑" panose="020B0503020204020204"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BFBFBF"/>
                    </a:solidFill>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360000">
                <a:tc rowSpan="2" gridSpan="2">
                  <a:txBody>
                    <a:bodyPr/>
                    <a:lstStyle/>
                    <a:p>
                      <a:pPr indent="0" algn="ctr">
                        <a:buNone/>
                      </a:pPr>
                      <a:endParaRPr lang="en-US" altLang="en-US" sz="1600" b="0">
                        <a:solidFill>
                          <a:srgbClr val="000000"/>
                        </a:solidFill>
                        <a:latin typeface="宋体" panose="02010600030101010101" pitchFamily="2"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tcPr>
                </a:tc>
                <a:tc gridSpan="8">
                  <a:txBody>
                    <a:bodyPr/>
                    <a:lstStyle/>
                    <a:p>
                      <a:pPr indent="0" algn="ctr">
                        <a:buNone/>
                      </a:pPr>
                      <a:r>
                        <a:rPr lang="zh-CN" sz="1600" b="0">
                          <a:solidFill>
                            <a:srgbClr val="000000"/>
                          </a:solidFill>
                          <a:latin typeface="Arial" panose="020B0604020202020204" pitchFamily="34" charset="0"/>
                          <a:ea typeface="微软雅黑" panose="020B0503020204020204" charset="-122"/>
                        </a:rPr>
                        <a:t>前一阶段</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360000">
                <a:tc vMerge="1" gridSpan="2">
                  <a:tcPr>
                    <a:lnL w="1270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vMerge="1" hMerge="1">
                  <a:tcPr>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注册</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预审</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潜在</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不合格</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试用</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正式</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退出（冻结）</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退出（黑名单）</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96000">
                <a:tc rowSpan="8">
                  <a:txBody>
                    <a:bodyPr/>
                    <a:lstStyle/>
                    <a:p>
                      <a:pPr indent="0" algn="ctr">
                        <a:buNone/>
                      </a:pPr>
                      <a:r>
                        <a:rPr lang="zh-CN" sz="1600" b="0">
                          <a:solidFill>
                            <a:srgbClr val="000000"/>
                          </a:solidFill>
                          <a:latin typeface="Arial" panose="020B0604020202020204" pitchFamily="34" charset="0"/>
                          <a:ea typeface="微软雅黑" panose="020B0503020204020204" charset="-122"/>
                        </a:rPr>
                        <a:t>后一阶段</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注册</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预审</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潜在</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a:t>
                      </a:r>
                      <a:r>
                        <a:rPr lang="zh-CN" sz="1600" b="0">
                          <a:solidFill>
                            <a:srgbClr val="000000"/>
                          </a:solidFill>
                          <a:latin typeface="微软雅黑" panose="020B0503020204020204" charset="-122"/>
                          <a:ea typeface="微软雅黑" panose="020B0503020204020204" charset="-122"/>
                        </a:rPr>
                        <a:t>（休眠）</a:t>
                      </a:r>
                      <a:endParaRPr lang="zh-CN" altLang="en-US" sz="16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a:t>
                      </a:r>
                      <a:r>
                        <a:rPr lang="zh-CN" sz="1600" b="0">
                          <a:solidFill>
                            <a:srgbClr val="000000"/>
                          </a:solidFill>
                          <a:latin typeface="微软雅黑" panose="020B0503020204020204" charset="-122"/>
                          <a:ea typeface="微软雅黑" panose="020B0503020204020204" charset="-122"/>
                        </a:rPr>
                        <a:t>（休眠）</a:t>
                      </a:r>
                      <a:endParaRPr lang="zh-CN" altLang="en-US" sz="16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不合格</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试用</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a:t>
                      </a:r>
                      <a:r>
                        <a:rPr lang="zh-CN" sz="1600" b="0">
                          <a:solidFill>
                            <a:srgbClr val="000000"/>
                          </a:solidFill>
                          <a:latin typeface="微软雅黑" panose="020B0503020204020204" charset="-122"/>
                          <a:ea typeface="微软雅黑" panose="020B0503020204020204" charset="-122"/>
                        </a:rPr>
                        <a:t>（特批）</a:t>
                      </a:r>
                      <a:endParaRPr lang="zh-CN" altLang="en-US" sz="1600" b="0">
                        <a:solidFill>
                          <a:srgbClr val="000000"/>
                        </a:solidFill>
                        <a:latin typeface="微软雅黑" panose="020B0503020204020204" charset="-122"/>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正式</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退出（冻结）</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96000">
                <a:tc vMerge="1">
                  <a:tcP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600" b="0">
                          <a:solidFill>
                            <a:srgbClr val="000000"/>
                          </a:solidFill>
                          <a:latin typeface="Arial" panose="020B0604020202020204" pitchFamily="34" charset="0"/>
                          <a:ea typeface="微软雅黑" panose="020B0503020204020204" charset="-122"/>
                        </a:rPr>
                        <a:t>退出（黑名单）</a:t>
                      </a:r>
                      <a:endParaRPr lang="zh-CN" altLang="en-US" sz="1600" b="0">
                        <a:solidFill>
                          <a:srgbClr val="000000"/>
                        </a:solidFill>
                        <a:latin typeface="Arial" panose="020B0604020202020204" pitchFamily="34" charset="0"/>
                        <a:ea typeface="微软雅黑" panose="020B050302020402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E9D9"/>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8E4BC"/>
                    </a:solid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000000"/>
                          </a:solidFill>
                          <a:latin typeface="宋体" panose="02010600030101010101" pitchFamily="2" charset="-122"/>
                        </a:rPr>
                        <a:t>\</a:t>
                      </a:r>
                      <a:endParaRPr lang="en-US" altLang="en-US" sz="1600" b="0">
                        <a:solidFill>
                          <a:srgbClr val="000000"/>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2" name="文本框 21"/>
          <p:cNvSpPr txBox="1"/>
          <p:nvPr/>
        </p:nvSpPr>
        <p:spPr>
          <a:xfrm>
            <a:off x="459740" y="5701030"/>
            <a:ext cx="9466580" cy="730885"/>
          </a:xfrm>
          <a:prstGeom prst="rect">
            <a:avLst/>
          </a:prstGeom>
          <a:noFill/>
        </p:spPr>
        <p:txBody>
          <a:bodyPr wrap="square" rtlCol="0">
            <a:spAutoFit/>
          </a:bodyPr>
          <a:lstStyle/>
          <a:p>
            <a:pPr indent="0" algn="just" fontAlgn="auto">
              <a:lnSpc>
                <a:spcPct val="130000"/>
              </a:lnSpc>
              <a:buFont typeface="Wingdings" panose="05000000000000000000" charset="0"/>
              <a:buNone/>
            </a:pPr>
            <a:r>
              <a:rPr lang="zh-CN" sz="1600"/>
              <a:t>说明：√</a:t>
            </a:r>
            <a:r>
              <a:rPr lang="en-US" altLang="zh-CN" sz="1600"/>
              <a:t> </a:t>
            </a:r>
            <a:r>
              <a:rPr lang="zh-CN" sz="1600"/>
              <a:t>表示可从前一阶段变更到后一阶段</a:t>
            </a:r>
            <a:endParaRPr lang="zh-CN" sz="1600"/>
          </a:p>
          <a:p>
            <a:pPr indent="0" algn="just" fontAlgn="auto">
              <a:lnSpc>
                <a:spcPct val="130000"/>
              </a:lnSpc>
              <a:buFont typeface="Wingdings" panose="05000000000000000000" charset="0"/>
              <a:buNone/>
            </a:pPr>
            <a:r>
              <a:rPr lang="zh-CN" sz="1600"/>
              <a:t> </a:t>
            </a:r>
            <a:r>
              <a:rPr lang="en-US" altLang="zh-CN" sz="1600"/>
              <a:t>            </a:t>
            </a:r>
            <a:r>
              <a:rPr lang="zh-CN" sz="1600"/>
              <a:t>×</a:t>
            </a:r>
            <a:r>
              <a:rPr lang="en-US" altLang="zh-CN" sz="1600"/>
              <a:t> </a:t>
            </a:r>
            <a:r>
              <a:rPr lang="zh-CN" sz="1600"/>
              <a:t>表示不可从前一阶段变更到后一阶段</a:t>
            </a:r>
            <a:endParaRPr lang="zh-CN" sz="16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en-US" altLang="zh-CN" dirty="0"/>
              <a:t>SRM</a:t>
            </a:r>
            <a:r>
              <a:rPr lang="zh-CN" altLang="en-US" dirty="0"/>
              <a:t>与</a:t>
            </a:r>
            <a:r>
              <a:rPr lang="en-US" altLang="zh-CN" dirty="0"/>
              <a:t>ERP</a:t>
            </a:r>
            <a:r>
              <a:rPr lang="zh-CN" altLang="en-US" dirty="0"/>
              <a:t>供应商状态对应关系</a:t>
            </a:r>
            <a:endParaRPr lang="zh-CN"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3" name="矩形 2"/>
          <p:cNvSpPr/>
          <p:nvPr/>
        </p:nvSpPr>
        <p:spPr>
          <a:xfrm>
            <a:off x="592455" y="175069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注册</a:t>
            </a:r>
            <a:endParaRPr lang="zh-CN" altLang="en-US" sz="1600"/>
          </a:p>
        </p:txBody>
      </p:sp>
      <p:sp>
        <p:nvSpPr>
          <p:cNvPr id="4" name="矩形 3"/>
          <p:cNvSpPr/>
          <p:nvPr/>
        </p:nvSpPr>
        <p:spPr>
          <a:xfrm>
            <a:off x="592455" y="227901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预审</a:t>
            </a:r>
            <a:endParaRPr lang="zh-CN" altLang="en-US" sz="1600"/>
          </a:p>
        </p:txBody>
      </p:sp>
      <p:sp>
        <p:nvSpPr>
          <p:cNvPr id="5" name="矩形 4"/>
          <p:cNvSpPr/>
          <p:nvPr/>
        </p:nvSpPr>
        <p:spPr>
          <a:xfrm>
            <a:off x="593090" y="280733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潜在</a:t>
            </a:r>
            <a:endParaRPr lang="zh-CN" altLang="en-US" sz="1600"/>
          </a:p>
        </p:txBody>
      </p:sp>
      <p:sp>
        <p:nvSpPr>
          <p:cNvPr id="6" name="矩形 5"/>
          <p:cNvSpPr/>
          <p:nvPr/>
        </p:nvSpPr>
        <p:spPr>
          <a:xfrm>
            <a:off x="592455" y="333565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潜在（休眠）</a:t>
            </a:r>
            <a:endParaRPr lang="zh-CN" altLang="en-US" sz="1600"/>
          </a:p>
        </p:txBody>
      </p:sp>
      <p:sp>
        <p:nvSpPr>
          <p:cNvPr id="7" name="矩形 6"/>
          <p:cNvSpPr/>
          <p:nvPr/>
        </p:nvSpPr>
        <p:spPr>
          <a:xfrm>
            <a:off x="593090" y="386397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不合格</a:t>
            </a:r>
            <a:endParaRPr lang="zh-CN" altLang="en-US" sz="1600"/>
          </a:p>
        </p:txBody>
      </p:sp>
      <p:sp>
        <p:nvSpPr>
          <p:cNvPr id="8" name="矩形 7"/>
          <p:cNvSpPr/>
          <p:nvPr/>
        </p:nvSpPr>
        <p:spPr>
          <a:xfrm>
            <a:off x="593090" y="439229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试用</a:t>
            </a:r>
            <a:endParaRPr lang="zh-CN" altLang="en-US" sz="1600"/>
          </a:p>
        </p:txBody>
      </p:sp>
      <p:sp>
        <p:nvSpPr>
          <p:cNvPr id="10" name="矩形 9"/>
          <p:cNvSpPr/>
          <p:nvPr/>
        </p:nvSpPr>
        <p:spPr>
          <a:xfrm>
            <a:off x="593090" y="492061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正式</a:t>
            </a:r>
            <a:endParaRPr lang="zh-CN" altLang="en-US" sz="1600"/>
          </a:p>
        </p:txBody>
      </p:sp>
      <p:sp>
        <p:nvSpPr>
          <p:cNvPr id="11" name="矩形 10"/>
          <p:cNvSpPr/>
          <p:nvPr/>
        </p:nvSpPr>
        <p:spPr>
          <a:xfrm>
            <a:off x="592455" y="544893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退出</a:t>
            </a:r>
            <a:endParaRPr lang="zh-CN" altLang="en-US" sz="1600"/>
          </a:p>
        </p:txBody>
      </p:sp>
      <p:sp>
        <p:nvSpPr>
          <p:cNvPr id="12" name="矩形 11"/>
          <p:cNvSpPr/>
          <p:nvPr/>
        </p:nvSpPr>
        <p:spPr>
          <a:xfrm>
            <a:off x="593725" y="597725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退出（黑名单）</a:t>
            </a:r>
            <a:endParaRPr lang="zh-CN" altLang="en-US" sz="1600"/>
          </a:p>
        </p:txBody>
      </p:sp>
      <p:sp>
        <p:nvSpPr>
          <p:cNvPr id="16" name="矩形 15"/>
          <p:cNvSpPr/>
          <p:nvPr/>
        </p:nvSpPr>
        <p:spPr>
          <a:xfrm>
            <a:off x="3903980" y="2376805"/>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已提交</a:t>
            </a:r>
            <a:endParaRPr lang="zh-CN" altLang="en-US" sz="1600"/>
          </a:p>
        </p:txBody>
      </p:sp>
      <p:sp>
        <p:nvSpPr>
          <p:cNvPr id="17" name="矩形 16"/>
          <p:cNvSpPr/>
          <p:nvPr/>
        </p:nvSpPr>
        <p:spPr>
          <a:xfrm>
            <a:off x="3903980" y="3531870"/>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已确认</a:t>
            </a:r>
            <a:endParaRPr lang="zh-CN" altLang="en-US" sz="1600"/>
          </a:p>
        </p:txBody>
      </p:sp>
      <p:sp>
        <p:nvSpPr>
          <p:cNvPr id="18" name="矩形 17"/>
          <p:cNvSpPr/>
          <p:nvPr/>
        </p:nvSpPr>
        <p:spPr>
          <a:xfrm>
            <a:off x="3905250" y="2905125"/>
            <a:ext cx="1453515" cy="466725"/>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已确认（属性限制）</a:t>
            </a:r>
            <a:endParaRPr lang="zh-CN" altLang="en-US" sz="1600"/>
          </a:p>
        </p:txBody>
      </p:sp>
      <p:sp>
        <p:nvSpPr>
          <p:cNvPr id="19" name="矩形 18"/>
          <p:cNvSpPr/>
          <p:nvPr/>
        </p:nvSpPr>
        <p:spPr>
          <a:xfrm>
            <a:off x="3904615" y="4060190"/>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冻结</a:t>
            </a:r>
            <a:endParaRPr lang="zh-CN" altLang="en-US" sz="1600"/>
          </a:p>
        </p:txBody>
      </p:sp>
      <p:sp>
        <p:nvSpPr>
          <p:cNvPr id="20" name="矩形 19"/>
          <p:cNvSpPr/>
          <p:nvPr/>
        </p:nvSpPr>
        <p:spPr>
          <a:xfrm>
            <a:off x="3905250" y="4588510"/>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黑名单</a:t>
            </a:r>
            <a:endParaRPr lang="zh-CN" altLang="en-US" sz="1600"/>
          </a:p>
        </p:txBody>
      </p:sp>
      <p:cxnSp>
        <p:nvCxnSpPr>
          <p:cNvPr id="23" name="直接箭头连接符 22"/>
          <p:cNvCxnSpPr>
            <a:stCxn id="3" idx="3"/>
            <a:endCxn id="18" idx="1"/>
          </p:cNvCxnSpPr>
          <p:nvPr/>
        </p:nvCxnSpPr>
        <p:spPr>
          <a:xfrm>
            <a:off x="2045970" y="1934845"/>
            <a:ext cx="1859280" cy="120396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4" idx="3"/>
            <a:endCxn id="18" idx="1"/>
          </p:cNvCxnSpPr>
          <p:nvPr/>
        </p:nvCxnSpPr>
        <p:spPr>
          <a:xfrm>
            <a:off x="2045970" y="2463165"/>
            <a:ext cx="1859280" cy="67564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5" idx="3"/>
            <a:endCxn id="18" idx="1"/>
          </p:cNvCxnSpPr>
          <p:nvPr/>
        </p:nvCxnSpPr>
        <p:spPr>
          <a:xfrm>
            <a:off x="2046605" y="2991485"/>
            <a:ext cx="1858645" cy="14732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6" idx="3"/>
            <a:endCxn id="18" idx="1"/>
          </p:cNvCxnSpPr>
          <p:nvPr/>
        </p:nvCxnSpPr>
        <p:spPr>
          <a:xfrm flipV="1">
            <a:off x="2045970" y="3138805"/>
            <a:ext cx="1859280" cy="38100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7" idx="3"/>
            <a:endCxn id="20" idx="1"/>
          </p:cNvCxnSpPr>
          <p:nvPr/>
        </p:nvCxnSpPr>
        <p:spPr>
          <a:xfrm>
            <a:off x="2046605" y="4048125"/>
            <a:ext cx="1858645" cy="72453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8" idx="3"/>
            <a:endCxn id="17" idx="1"/>
          </p:cNvCxnSpPr>
          <p:nvPr/>
        </p:nvCxnSpPr>
        <p:spPr>
          <a:xfrm flipV="1">
            <a:off x="2046605" y="3716020"/>
            <a:ext cx="1857375" cy="86042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0" idx="3"/>
            <a:endCxn id="17" idx="1"/>
          </p:cNvCxnSpPr>
          <p:nvPr/>
        </p:nvCxnSpPr>
        <p:spPr>
          <a:xfrm flipV="1">
            <a:off x="2046605" y="3716020"/>
            <a:ext cx="1857375" cy="138874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1" idx="3"/>
            <a:endCxn id="19" idx="1"/>
          </p:cNvCxnSpPr>
          <p:nvPr/>
        </p:nvCxnSpPr>
        <p:spPr>
          <a:xfrm flipV="1">
            <a:off x="2045970" y="4244340"/>
            <a:ext cx="1858645" cy="138874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2" idx="3"/>
            <a:endCxn id="20" idx="1"/>
          </p:cNvCxnSpPr>
          <p:nvPr/>
        </p:nvCxnSpPr>
        <p:spPr>
          <a:xfrm flipV="1">
            <a:off x="2047240" y="4772660"/>
            <a:ext cx="1858010" cy="138874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9243060" y="175069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注册</a:t>
            </a:r>
            <a:endParaRPr lang="zh-CN" altLang="en-US" sz="1600"/>
          </a:p>
        </p:txBody>
      </p:sp>
      <p:sp>
        <p:nvSpPr>
          <p:cNvPr id="35" name="矩形 34"/>
          <p:cNvSpPr/>
          <p:nvPr/>
        </p:nvSpPr>
        <p:spPr>
          <a:xfrm>
            <a:off x="9243060" y="227901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预审</a:t>
            </a:r>
            <a:endParaRPr lang="zh-CN" altLang="en-US" sz="1600"/>
          </a:p>
        </p:txBody>
      </p:sp>
      <p:sp>
        <p:nvSpPr>
          <p:cNvPr id="36" name="矩形 35"/>
          <p:cNvSpPr/>
          <p:nvPr/>
        </p:nvSpPr>
        <p:spPr>
          <a:xfrm>
            <a:off x="9243695" y="280733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潜在</a:t>
            </a:r>
            <a:endParaRPr lang="zh-CN" altLang="en-US" sz="1600"/>
          </a:p>
        </p:txBody>
      </p:sp>
      <p:sp>
        <p:nvSpPr>
          <p:cNvPr id="37" name="矩形 36"/>
          <p:cNvSpPr/>
          <p:nvPr/>
        </p:nvSpPr>
        <p:spPr>
          <a:xfrm>
            <a:off x="9243060" y="333565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潜在（休眠）</a:t>
            </a:r>
            <a:endParaRPr lang="zh-CN" altLang="en-US" sz="1600"/>
          </a:p>
        </p:txBody>
      </p:sp>
      <p:sp>
        <p:nvSpPr>
          <p:cNvPr id="38" name="矩形 37"/>
          <p:cNvSpPr/>
          <p:nvPr/>
        </p:nvSpPr>
        <p:spPr>
          <a:xfrm>
            <a:off x="9243695" y="386397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不合格</a:t>
            </a:r>
            <a:endParaRPr lang="zh-CN" altLang="en-US" sz="1600"/>
          </a:p>
        </p:txBody>
      </p:sp>
      <p:sp>
        <p:nvSpPr>
          <p:cNvPr id="39" name="矩形 38"/>
          <p:cNvSpPr/>
          <p:nvPr/>
        </p:nvSpPr>
        <p:spPr>
          <a:xfrm>
            <a:off x="9243695" y="439229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试用</a:t>
            </a:r>
            <a:endParaRPr lang="zh-CN" altLang="en-US" sz="1600"/>
          </a:p>
        </p:txBody>
      </p:sp>
      <p:sp>
        <p:nvSpPr>
          <p:cNvPr id="40" name="矩形 39"/>
          <p:cNvSpPr/>
          <p:nvPr/>
        </p:nvSpPr>
        <p:spPr>
          <a:xfrm>
            <a:off x="9243695" y="492061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正式</a:t>
            </a:r>
            <a:endParaRPr lang="zh-CN" altLang="en-US" sz="1600"/>
          </a:p>
        </p:txBody>
      </p:sp>
      <p:sp>
        <p:nvSpPr>
          <p:cNvPr id="41" name="矩形 40"/>
          <p:cNvSpPr/>
          <p:nvPr/>
        </p:nvSpPr>
        <p:spPr>
          <a:xfrm>
            <a:off x="9243060" y="544893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退出</a:t>
            </a:r>
            <a:endParaRPr lang="zh-CN" altLang="en-US" sz="1600"/>
          </a:p>
        </p:txBody>
      </p:sp>
      <p:sp>
        <p:nvSpPr>
          <p:cNvPr id="42" name="矩形 41"/>
          <p:cNvSpPr/>
          <p:nvPr/>
        </p:nvSpPr>
        <p:spPr>
          <a:xfrm>
            <a:off x="9244330" y="5977255"/>
            <a:ext cx="1453515" cy="368300"/>
          </a:xfrm>
          <a:prstGeom prst="rect">
            <a:avLst/>
          </a:prstGeom>
          <a:solidFill>
            <a:schemeClr val="accent1">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退出（黑名单）</a:t>
            </a:r>
            <a:endParaRPr lang="zh-CN" altLang="en-US" sz="1600"/>
          </a:p>
        </p:txBody>
      </p:sp>
      <p:sp>
        <p:nvSpPr>
          <p:cNvPr id="43" name="矩形 42"/>
          <p:cNvSpPr/>
          <p:nvPr/>
        </p:nvSpPr>
        <p:spPr>
          <a:xfrm>
            <a:off x="6418580" y="2364740"/>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已提交</a:t>
            </a:r>
            <a:endParaRPr lang="zh-CN" altLang="en-US" sz="1600"/>
          </a:p>
        </p:txBody>
      </p:sp>
      <p:sp>
        <p:nvSpPr>
          <p:cNvPr id="44" name="矩形 43"/>
          <p:cNvSpPr/>
          <p:nvPr/>
        </p:nvSpPr>
        <p:spPr>
          <a:xfrm>
            <a:off x="6418580" y="3519805"/>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已确认</a:t>
            </a:r>
            <a:endParaRPr lang="zh-CN" altLang="en-US" sz="1600"/>
          </a:p>
        </p:txBody>
      </p:sp>
      <p:sp>
        <p:nvSpPr>
          <p:cNvPr id="45" name="矩形 44"/>
          <p:cNvSpPr/>
          <p:nvPr/>
        </p:nvSpPr>
        <p:spPr>
          <a:xfrm>
            <a:off x="6419850" y="2893060"/>
            <a:ext cx="1453515" cy="466725"/>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已确认（属性限制）</a:t>
            </a:r>
            <a:endParaRPr lang="zh-CN" altLang="en-US" sz="1600"/>
          </a:p>
        </p:txBody>
      </p:sp>
      <p:sp>
        <p:nvSpPr>
          <p:cNvPr id="46" name="矩形 45"/>
          <p:cNvSpPr/>
          <p:nvPr/>
        </p:nvSpPr>
        <p:spPr>
          <a:xfrm>
            <a:off x="6419215" y="4048125"/>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冻结</a:t>
            </a:r>
            <a:endParaRPr lang="zh-CN" altLang="en-US" sz="1600"/>
          </a:p>
        </p:txBody>
      </p:sp>
      <p:sp>
        <p:nvSpPr>
          <p:cNvPr id="47" name="矩形 46"/>
          <p:cNvSpPr/>
          <p:nvPr/>
        </p:nvSpPr>
        <p:spPr>
          <a:xfrm>
            <a:off x="6419850" y="4576445"/>
            <a:ext cx="1453515" cy="368300"/>
          </a:xfrm>
          <a:prstGeom prst="rect">
            <a:avLst/>
          </a:prstGeom>
          <a:solidFill>
            <a:schemeClr val="accent6">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a:t>黑名单</a:t>
            </a:r>
            <a:endParaRPr lang="zh-CN" altLang="en-US" sz="1600"/>
          </a:p>
        </p:txBody>
      </p:sp>
      <p:cxnSp>
        <p:nvCxnSpPr>
          <p:cNvPr id="48" name="直接箭头连接符 47"/>
          <p:cNvCxnSpPr>
            <a:stCxn id="45" idx="3"/>
            <a:endCxn id="34" idx="1"/>
          </p:cNvCxnSpPr>
          <p:nvPr/>
        </p:nvCxnSpPr>
        <p:spPr>
          <a:xfrm flipV="1">
            <a:off x="7873365" y="1934845"/>
            <a:ext cx="1369695" cy="1191895"/>
          </a:xfrm>
          <a:prstGeom prst="straightConnector1">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49" name="直接箭头连接符 48"/>
          <p:cNvCxnSpPr>
            <a:stCxn id="44" idx="3"/>
            <a:endCxn id="40" idx="1"/>
          </p:cNvCxnSpPr>
          <p:nvPr/>
        </p:nvCxnSpPr>
        <p:spPr>
          <a:xfrm>
            <a:off x="7872095" y="3703955"/>
            <a:ext cx="1371600" cy="1400810"/>
          </a:xfrm>
          <a:prstGeom prst="straightConnector1">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51" name="直接箭头连接符 50"/>
          <p:cNvCxnSpPr>
            <a:stCxn id="46" idx="3"/>
            <a:endCxn id="41" idx="1"/>
          </p:cNvCxnSpPr>
          <p:nvPr/>
        </p:nvCxnSpPr>
        <p:spPr>
          <a:xfrm>
            <a:off x="7872730" y="4232275"/>
            <a:ext cx="1370330" cy="1400810"/>
          </a:xfrm>
          <a:prstGeom prst="straightConnector1">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52" name="直接箭头连接符 51"/>
          <p:cNvCxnSpPr>
            <a:stCxn id="47" idx="3"/>
            <a:endCxn id="42" idx="1"/>
          </p:cNvCxnSpPr>
          <p:nvPr/>
        </p:nvCxnSpPr>
        <p:spPr>
          <a:xfrm>
            <a:off x="7873365" y="4760595"/>
            <a:ext cx="1370965" cy="1400810"/>
          </a:xfrm>
          <a:prstGeom prst="straightConnector1">
            <a:avLst/>
          </a:pr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2" name="右箭头 1"/>
          <p:cNvSpPr/>
          <p:nvPr/>
        </p:nvSpPr>
        <p:spPr>
          <a:xfrm>
            <a:off x="592455" y="808990"/>
            <a:ext cx="5116195" cy="845185"/>
          </a:xfrm>
          <a:prstGeom prst="rightArrow">
            <a:avLst>
              <a:gd name="adj1" fmla="val 56409"/>
              <a:gd name="adj2" fmla="val 56505"/>
            </a:avLst>
          </a:prstGeom>
          <a:solidFill>
            <a:schemeClr val="bg1">
              <a:lumMod val="95000"/>
            </a:schemeClr>
          </a:solidFill>
          <a:ln w="12700">
            <a:solidFill>
              <a:schemeClr val="bg1">
                <a:lumMod val="85000"/>
              </a:schemeClr>
            </a:solidFill>
            <a:miter lim="400000"/>
          </a:ln>
          <a:effectLst/>
        </p:spPr>
        <p:txBody>
          <a:bodyPr lIns="0" tIns="0" rIns="0" bIns="0" rtlCol="0" anchor="ctr"/>
          <a:lstStyle/>
          <a:p>
            <a:pPr algn="l"/>
            <a:r>
              <a:rPr kumimoji="1" lang="en-US" altLang="zh-CN" sz="2400" b="0">
                <a:solidFill>
                  <a:srgbClr val="BDD7EE"/>
                </a:solidFill>
                <a:latin typeface="微软雅黑" panose="020B0503020204020204" charset="-122"/>
                <a:ea typeface="微软雅黑" panose="020B0503020204020204" charset="-122"/>
                <a:cs typeface="+mn-cs"/>
                <a:sym typeface="Helvetica Neue Medium" panose="02000503000000020004"/>
              </a:rPr>
              <a:t>    </a:t>
            </a:r>
            <a:r>
              <a:rPr kumimoji="1" lang="en-US" altLang="zh-CN" sz="2400" b="0">
                <a:solidFill>
                  <a:schemeClr val="accent1"/>
                </a:solidFill>
                <a:latin typeface="微软雅黑" panose="020B0503020204020204" charset="-122"/>
                <a:ea typeface="微软雅黑" panose="020B0503020204020204" charset="-122"/>
                <a:cs typeface="+mn-cs"/>
                <a:sym typeface="Helvetica Neue Medium" panose="02000503000000020004"/>
              </a:rPr>
              <a:t>SRM                            </a:t>
            </a:r>
            <a:r>
              <a:rPr kumimoji="1" lang="en-US" altLang="zh-CN" sz="2400" b="0">
                <a:solidFill>
                  <a:srgbClr val="00B050"/>
                </a:solidFill>
                <a:latin typeface="微软雅黑" panose="020B0503020204020204" charset="-122"/>
                <a:ea typeface="微软雅黑" panose="020B0503020204020204" charset="-122"/>
                <a:cs typeface="+mn-cs"/>
                <a:sym typeface="Helvetica Neue Medium" panose="02000503000000020004"/>
              </a:rPr>
              <a:t>PRIM</a:t>
            </a:r>
            <a:endParaRPr kumimoji="1" lang="en-US" altLang="zh-CN" sz="2400" b="0">
              <a:solidFill>
                <a:srgbClr val="00B050"/>
              </a:solidFill>
              <a:latin typeface="微软雅黑" panose="020B0503020204020204" charset="-122"/>
              <a:ea typeface="微软雅黑" panose="020B0503020204020204" charset="-122"/>
              <a:cs typeface="+mn-cs"/>
              <a:sym typeface="Helvetica Neue Medium" panose="02000503000000020004"/>
            </a:endParaRPr>
          </a:p>
        </p:txBody>
      </p:sp>
      <p:sp>
        <p:nvSpPr>
          <p:cNvPr id="9" name="右箭头 8"/>
          <p:cNvSpPr/>
          <p:nvPr/>
        </p:nvSpPr>
        <p:spPr>
          <a:xfrm>
            <a:off x="6319520" y="808990"/>
            <a:ext cx="4692015" cy="845185"/>
          </a:xfrm>
          <a:prstGeom prst="rightArrow">
            <a:avLst>
              <a:gd name="adj1" fmla="val 56409"/>
              <a:gd name="adj2" fmla="val 56505"/>
            </a:avLst>
          </a:prstGeom>
          <a:solidFill>
            <a:schemeClr val="bg1">
              <a:lumMod val="95000"/>
            </a:schemeClr>
          </a:solidFill>
          <a:ln w="12700">
            <a:solidFill>
              <a:schemeClr val="bg1">
                <a:lumMod val="85000"/>
              </a:schemeClr>
            </a:solidFill>
            <a:miter lim="400000"/>
          </a:ln>
          <a:effectLst/>
        </p:spPr>
        <p:txBody>
          <a:bodyPr lIns="0" tIns="0" rIns="0" bIns="0" rtlCol="0" anchor="ctr"/>
          <a:lstStyle/>
          <a:p>
            <a:pPr algn="l"/>
            <a:r>
              <a:rPr kumimoji="1" lang="en-US" altLang="zh-CN" sz="2400">
                <a:solidFill>
                  <a:srgbClr val="00B050"/>
                </a:solidFill>
                <a:latin typeface="微软雅黑" panose="020B0503020204020204" charset="-122"/>
                <a:ea typeface="微软雅黑" panose="020B0503020204020204" charset="-122"/>
                <a:sym typeface="Helvetica Neue Medium" panose="02000503000000020004"/>
              </a:rPr>
              <a:t>     PRIM                      </a:t>
            </a:r>
            <a:r>
              <a:rPr kumimoji="1" lang="en-US" altLang="zh-CN" sz="2400">
                <a:solidFill>
                  <a:schemeClr val="accent1"/>
                </a:solidFill>
                <a:latin typeface="微软雅黑" panose="020B0503020204020204" charset="-122"/>
                <a:ea typeface="微软雅黑" panose="020B0503020204020204" charset="-122"/>
                <a:sym typeface="Helvetica Neue Medium" panose="02000503000000020004"/>
              </a:rPr>
              <a:t>SRM</a:t>
            </a:r>
            <a:endParaRPr kumimoji="1" lang="zh-CN" altLang="en-US" sz="2400" b="0">
              <a:solidFill>
                <a:srgbClr val="FFFFFF"/>
              </a:solidFill>
              <a:latin typeface="微软雅黑" panose="020B0503020204020204" charset="-122"/>
              <a:ea typeface="微软雅黑" panose="020B0503020204020204" charset="-122"/>
              <a:cs typeface="+mn-cs"/>
              <a:sym typeface="Helvetica Neue Medium" panose="02000503000000020004"/>
            </a:endParaRPr>
          </a:p>
        </p:txBody>
      </p:sp>
      <p:sp>
        <p:nvSpPr>
          <p:cNvPr id="21" name="文本框 20"/>
          <p:cNvSpPr txBox="1"/>
          <p:nvPr/>
        </p:nvSpPr>
        <p:spPr>
          <a:xfrm>
            <a:off x="10764520" y="1737995"/>
            <a:ext cx="1304290" cy="392430"/>
          </a:xfrm>
          <a:prstGeom prst="rect">
            <a:avLst/>
          </a:prstGeom>
          <a:noFill/>
          <a:ln w="12700">
            <a:solidFill>
              <a:schemeClr val="accent1">
                <a:lumMod val="75000"/>
              </a:schemeClr>
            </a:solidFill>
            <a:prstDash val="dash"/>
          </a:ln>
        </p:spPr>
        <p:txBody>
          <a:bodyPr wrap="square" rtlCol="0">
            <a:spAutoFit/>
          </a:bodyPr>
          <a:lstStyle/>
          <a:p>
            <a:pPr lvl="0" algn="ctr">
              <a:lnSpc>
                <a:spcPct val="140000"/>
              </a:lnSpc>
              <a:buClrTx/>
              <a:buSzTx/>
              <a:buFontTx/>
            </a:pPr>
            <a:r>
              <a:rPr lang="zh-CN" altLang="en-US" sz="1400">
                <a:sym typeface="+mn-ea"/>
              </a:rPr>
              <a:t>线下新供应商</a:t>
            </a:r>
            <a:endParaRPr lang="zh-CN" altLang="en-US" sz="1400">
              <a:sym typeface="+mn-ea"/>
            </a:endParaRPr>
          </a:p>
        </p:txBody>
      </p:sp>
      <p:sp>
        <p:nvSpPr>
          <p:cNvPr id="22" name="文本框 21"/>
          <p:cNvSpPr txBox="1"/>
          <p:nvPr/>
        </p:nvSpPr>
        <p:spPr>
          <a:xfrm>
            <a:off x="10802620" y="4860290"/>
            <a:ext cx="1198880" cy="1470025"/>
          </a:xfrm>
          <a:prstGeom prst="rect">
            <a:avLst/>
          </a:prstGeom>
          <a:noFill/>
          <a:ln w="12700">
            <a:solidFill>
              <a:schemeClr val="accent1">
                <a:lumMod val="75000"/>
              </a:schemeClr>
            </a:solidFill>
            <a:prstDash val="dash"/>
          </a:ln>
        </p:spPr>
        <p:txBody>
          <a:bodyPr wrap="square" rtlCol="0">
            <a:spAutoFit/>
          </a:bodyPr>
          <a:lstStyle/>
          <a:p>
            <a:pPr algn="ctr">
              <a:lnSpc>
                <a:spcPct val="110000"/>
              </a:lnSpc>
            </a:pPr>
            <a:endParaRPr lang="zh-CN" altLang="en-US" sz="1600"/>
          </a:p>
          <a:p>
            <a:pPr algn="ctr"/>
            <a:endParaRPr lang="zh-CN" altLang="en-US" sz="1600"/>
          </a:p>
          <a:p>
            <a:pPr algn="ctr"/>
            <a:r>
              <a:rPr lang="zh-CN" altLang="en-US" sz="1600"/>
              <a:t>历史供应商同步</a:t>
            </a:r>
            <a:r>
              <a:rPr lang="en-US" altLang="zh-CN" sz="1600"/>
              <a:t>SRM</a:t>
            </a:r>
            <a:endParaRPr lang="en-US" altLang="zh-CN" sz="1600"/>
          </a:p>
          <a:p>
            <a:pPr algn="ctr">
              <a:lnSpc>
                <a:spcPct val="150000"/>
              </a:lnSpc>
            </a:pPr>
            <a:endParaRPr lang="en-US" altLang="zh-CN" sz="1600"/>
          </a:p>
        </p:txBody>
      </p:sp>
      <p:sp>
        <p:nvSpPr>
          <p:cNvPr id="33" name="文本框 32"/>
          <p:cNvSpPr txBox="1"/>
          <p:nvPr/>
        </p:nvSpPr>
        <p:spPr>
          <a:xfrm>
            <a:off x="3796030" y="2827020"/>
            <a:ext cx="4204970" cy="632460"/>
          </a:xfrm>
          <a:prstGeom prst="rect">
            <a:avLst/>
          </a:prstGeom>
          <a:noFill/>
          <a:ln w="12700">
            <a:solidFill>
              <a:schemeClr val="accent6"/>
            </a:solidFill>
            <a:prstDash val="dash"/>
          </a:ln>
        </p:spPr>
        <p:txBody>
          <a:bodyPr wrap="square" rtlCol="0">
            <a:spAutoFit/>
          </a:bodyPr>
          <a:lstStyle/>
          <a:p>
            <a:pPr lvl="0" algn="ctr">
              <a:lnSpc>
                <a:spcPct val="110000"/>
              </a:lnSpc>
              <a:buClrTx/>
              <a:buSzTx/>
              <a:buFontTx/>
            </a:pPr>
            <a:r>
              <a:rPr lang="zh-CN" altLang="en-US" sz="1600">
                <a:sym typeface="+mn-ea"/>
              </a:rPr>
              <a:t>大货</a:t>
            </a:r>
            <a:r>
              <a:rPr lang="en-US" altLang="zh-CN" sz="1600">
                <a:sym typeface="+mn-ea"/>
              </a:rPr>
              <a:t>PO</a:t>
            </a:r>
            <a:endParaRPr lang="en-US" altLang="zh-CN" sz="1600">
              <a:sym typeface="+mn-ea"/>
            </a:endParaRPr>
          </a:p>
          <a:p>
            <a:pPr lvl="0" algn="ctr">
              <a:lnSpc>
                <a:spcPct val="110000"/>
              </a:lnSpc>
              <a:buClrTx/>
              <a:buSzTx/>
              <a:buFontTx/>
            </a:pPr>
            <a:r>
              <a:rPr lang="zh-CN" altLang="en-US" sz="1600">
                <a:sym typeface="+mn-ea"/>
              </a:rPr>
              <a:t>限制</a:t>
            </a:r>
            <a:endParaRPr lang="zh-CN" altLang="en-US" sz="1600">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dirty="0"/>
              <a:t>供应商生命周期</a:t>
            </a:r>
            <a:r>
              <a:rPr lang="zh-CN" dirty="0"/>
              <a:t>管理相关表单</a:t>
            </a:r>
            <a:endParaRPr lang="zh-CN"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graphicFrame>
        <p:nvGraphicFramePr>
          <p:cNvPr id="7" name="表格 6"/>
          <p:cNvGraphicFramePr>
            <a:graphicFrameLocks noGrp="1"/>
          </p:cNvGraphicFramePr>
          <p:nvPr>
            <p:custDataLst>
              <p:tags r:id="rId1"/>
            </p:custDataLst>
          </p:nvPr>
        </p:nvGraphicFramePr>
        <p:xfrm>
          <a:off x="558453" y="799233"/>
          <a:ext cx="11016109" cy="5552100"/>
        </p:xfrm>
        <a:graphic>
          <a:graphicData uri="http://schemas.openxmlformats.org/drawingml/2006/table">
            <a:tbl>
              <a:tblPr>
                <a:tableStyleId>{5C22544A-7EE6-4342-B048-85BDC9FD1C3A}</a:tableStyleId>
              </a:tblPr>
              <a:tblGrid>
                <a:gridCol w="677545"/>
                <a:gridCol w="2207625"/>
                <a:gridCol w="3600000"/>
                <a:gridCol w="1922780"/>
                <a:gridCol w="2608159"/>
              </a:tblGrid>
              <a:tr h="368300">
                <a:tc>
                  <a:txBody>
                    <a:bodyPr/>
                    <a:lstStyle/>
                    <a:p>
                      <a:pPr algn="ctr" fontAlgn="ctr"/>
                      <a:r>
                        <a:rPr lang="zh-CN" altLang="en-US" sz="1400" b="1" u="none" strike="noStrike">
                          <a:solidFill>
                            <a:schemeClr val="bg1"/>
                          </a:solidFill>
                          <a:effectLst/>
                        </a:rPr>
                        <a:t>序号</a:t>
                      </a:r>
                      <a:endParaRPr lang="zh-CN" altLang="en-US" sz="1400" b="1" i="0" u="none" strike="noStrike">
                        <a:solidFill>
                          <a:schemeClr val="bg1"/>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solidFill>
                      <a:schemeClr val="accent1"/>
                    </a:solidFill>
                  </a:tcPr>
                </a:tc>
                <a:tc>
                  <a:txBody>
                    <a:bodyPr/>
                    <a:lstStyle/>
                    <a:p>
                      <a:pPr algn="ctr" fontAlgn="ctr"/>
                      <a:r>
                        <a:rPr lang="zh-CN" altLang="en-US" sz="1400" b="1" u="none" strike="noStrike">
                          <a:solidFill>
                            <a:schemeClr val="bg1"/>
                          </a:solidFill>
                          <a:effectLst/>
                        </a:rPr>
                        <a:t>单据</a:t>
                      </a:r>
                      <a:endParaRPr lang="zh-CN" altLang="en-US" sz="1400" b="1" i="0" u="none" strike="noStrike">
                        <a:solidFill>
                          <a:schemeClr val="bg1"/>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solidFill>
                      <a:schemeClr val="accent1"/>
                    </a:solidFill>
                  </a:tcPr>
                </a:tc>
                <a:tc>
                  <a:txBody>
                    <a:bodyPr/>
                    <a:lstStyle/>
                    <a:p>
                      <a:pPr algn="ctr" fontAlgn="ctr"/>
                      <a:r>
                        <a:rPr lang="zh-CN" altLang="en-US" sz="1400" b="1" u="none" strike="noStrike">
                          <a:solidFill>
                            <a:schemeClr val="bg1"/>
                          </a:solidFill>
                          <a:effectLst/>
                        </a:rPr>
                        <a:t>功能</a:t>
                      </a:r>
                      <a:endParaRPr lang="zh-CN" altLang="en-US" sz="1400" b="1" i="0" u="none" strike="noStrike">
                        <a:solidFill>
                          <a:schemeClr val="bg1"/>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solidFill>
                      <a:schemeClr val="accent1"/>
                    </a:solidFill>
                  </a:tcPr>
                </a:tc>
                <a:tc>
                  <a:txBody>
                    <a:bodyPr/>
                    <a:lstStyle/>
                    <a:p>
                      <a:pPr algn="ctr" fontAlgn="ctr"/>
                      <a:r>
                        <a:rPr lang="zh-CN" altLang="en-US" sz="1400" b="1" u="none" strike="noStrike">
                          <a:solidFill>
                            <a:schemeClr val="bg1"/>
                          </a:solidFill>
                          <a:effectLst/>
                        </a:rPr>
                        <a:t>流程节点</a:t>
                      </a:r>
                      <a:endParaRPr lang="zh-CN" altLang="en-US" sz="1400" b="1" i="0" u="none" strike="noStrike">
                        <a:solidFill>
                          <a:schemeClr val="bg1"/>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solidFill>
                      <a:schemeClr val="accent1"/>
                    </a:solidFill>
                  </a:tcPr>
                </a:tc>
                <a:tc>
                  <a:txBody>
                    <a:bodyPr/>
                    <a:lstStyle/>
                    <a:p>
                      <a:pPr algn="ctr" fontAlgn="ctr"/>
                      <a:r>
                        <a:rPr lang="zh-CN" altLang="en-US" sz="1400" b="1" u="none" strike="noStrike" dirty="0">
                          <a:solidFill>
                            <a:schemeClr val="bg1"/>
                          </a:solidFill>
                          <a:effectLst/>
                        </a:rPr>
                        <a:t>表单设计参考</a:t>
                      </a:r>
                      <a:endParaRPr lang="zh-CN" altLang="en-US" sz="1400" b="1" i="0" u="none" strike="noStrike" dirty="0">
                        <a:solidFill>
                          <a:schemeClr val="bg1"/>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solidFill>
                      <a:schemeClr val="accent1"/>
                    </a:solidFill>
                  </a:tcPr>
                </a:tc>
              </a:tr>
              <a:tr h="431800">
                <a:tc>
                  <a:txBody>
                    <a:bodyPr/>
                    <a:lstStyle/>
                    <a:p>
                      <a:pPr algn="ctr" fontAlgn="ctr"/>
                      <a:r>
                        <a:rPr lang="zh-CN" altLang="en-US" sz="1400" b="0" i="0" u="none" strike="noStrike" dirty="0" smtClean="0">
                          <a:solidFill>
                            <a:srgbClr val="000000"/>
                          </a:solidFill>
                          <a:effectLst/>
                          <a:latin typeface="微软雅黑" panose="020B0503020204020204" charset="-122"/>
                          <a:ea typeface="微软雅黑" panose="020B0503020204020204" charset="-122"/>
                        </a:rPr>
                        <a:t>１</a:t>
                      </a:r>
                      <a:endParaRPr lang="zh-CN" altLang="en-US" sz="1400" b="0" i="0" u="none" strike="noStrike" dirty="0" smtClean="0">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企业信息认证</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供应商注册后填报基本信息</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待合作供应商</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r>
                        <a:rPr lang="zh-CN" altLang="en-US" sz="1400" b="0" i="0" u="none" strike="noStrike" dirty="0" smtClean="0">
                          <a:solidFill>
                            <a:srgbClr val="000000"/>
                          </a:solidFill>
                          <a:effectLst/>
                          <a:latin typeface="微软雅黑" panose="020B0503020204020204" charset="-122"/>
                          <a:ea typeface="微软雅黑" panose="020B0503020204020204" charset="-122"/>
                        </a:rPr>
                        <a:t>２</a:t>
                      </a:r>
                      <a:endParaRPr lang="zh-CN" altLang="en-US" sz="1400" b="0" i="0" u="none" strike="noStrike" dirty="0" smtClean="0">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供应商调查表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根据业务大类发放调查表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待合作供应商</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面料</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辅料</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皮具</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成衣准入调查表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r>
                        <a:rPr lang="zh-CN" altLang="en-US" sz="1400" b="0" i="0" u="none" strike="noStrike" dirty="0" smtClean="0">
                          <a:solidFill>
                            <a:srgbClr val="000000"/>
                          </a:solidFill>
                          <a:effectLst/>
                          <a:latin typeface="微软雅黑" panose="020B0503020204020204" charset="-122"/>
                          <a:ea typeface="微软雅黑" panose="020B0503020204020204" charset="-122"/>
                        </a:rPr>
                        <a:t>３</a:t>
                      </a:r>
                      <a:endParaRPr lang="zh-CN" altLang="en-US" sz="1400" b="0" i="0" u="none" strike="noStrike" dirty="0" smtClean="0">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预审评审单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评估样品考察情况及产品匹配度，对供应商进行初筛</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注册</a:t>
                      </a:r>
                      <a:r>
                        <a:rPr lang="en-US" altLang="zh-CN" sz="1400" b="0" i="0" u="none" strike="noStrike">
                          <a:solidFill>
                            <a:srgbClr val="000000"/>
                          </a:solidFill>
                          <a:effectLst/>
                          <a:latin typeface="微软雅黑" panose="020B0503020204020204" charset="-122"/>
                          <a:ea typeface="微软雅黑" panose="020B0503020204020204" charset="-122"/>
                        </a:rPr>
                        <a:t> → </a:t>
                      </a:r>
                      <a:r>
                        <a:rPr lang="zh-CN" altLang="en-US" sz="1400" b="0" i="0" u="none" strike="noStrike">
                          <a:solidFill>
                            <a:srgbClr val="000000"/>
                          </a:solidFill>
                          <a:effectLst/>
                          <a:latin typeface="微软雅黑" panose="020B0503020204020204" charset="-122"/>
                          <a:ea typeface="微软雅黑" panose="020B0503020204020204" charset="-122"/>
                        </a:rPr>
                        <a:t>预审</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样品评估单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r>
                        <a:rPr lang="zh-CN" altLang="en-US" sz="1400" b="0" i="0" u="none" strike="noStrike" dirty="0" smtClean="0">
                          <a:solidFill>
                            <a:srgbClr val="000000"/>
                          </a:solidFill>
                          <a:effectLst/>
                          <a:latin typeface="微软雅黑" panose="020B0503020204020204" charset="-122"/>
                          <a:ea typeface="微软雅黑" panose="020B0503020204020204" charset="-122"/>
                        </a:rPr>
                        <a:t>４</a:t>
                      </a:r>
                      <a:endParaRPr lang="zh-CN" altLang="en-US" sz="1400" b="0" i="0" u="none" strike="noStrike" dirty="0" smtClean="0">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业务通知单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与供应商确认合作条款</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预审</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buNone/>
                      </a:pPr>
                      <a:r>
                        <a:rPr lang="en-US" altLang="zh-CN" sz="1400" b="0" i="0" u="none" strike="noStrike" dirty="0" smtClean="0">
                          <a:solidFill>
                            <a:srgbClr val="0D0D0D"/>
                          </a:solidFill>
                          <a:effectLst/>
                          <a:latin typeface="微软雅黑" panose="020B0503020204020204" charset="-122"/>
                          <a:ea typeface="微软雅黑" panose="020B0503020204020204" charset="-122"/>
                        </a:rPr>
                        <a:t>5</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可持续发展表（调查表）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收集成衣供应商可持续发展表信息，写入主数据</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预审</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sz="1400" b="0" i="0" u="none" strike="noStrike">
                          <a:solidFill>
                            <a:srgbClr val="000000"/>
                          </a:solidFill>
                          <a:effectLst/>
                          <a:latin typeface="微软雅黑" panose="020B0503020204020204" charset="-122"/>
                          <a:ea typeface="微软雅黑" panose="020B0503020204020204" charset="-122"/>
                        </a:rPr>
                        <a:t>成衣供应商可持续发展表2021版</a:t>
                      </a:r>
                      <a:r>
                        <a:rPr lang="zh-CN" sz="1400" b="0" i="0" u="none" strike="noStrike">
                          <a:solidFill>
                            <a:srgbClr val="000000"/>
                          </a:solidFill>
                          <a:effectLst/>
                          <a:latin typeface="微软雅黑" panose="020B0503020204020204" charset="-122"/>
                          <a:ea typeface="微软雅黑" panose="020B0503020204020204" charset="-122"/>
                        </a:rPr>
                        <a:t>（</a:t>
                      </a:r>
                      <a:r>
                        <a:rPr sz="1400">
                          <a:solidFill>
                            <a:srgbClr val="000000"/>
                          </a:solidFill>
                          <a:effectLst/>
                          <a:latin typeface="微软雅黑" panose="020B0503020204020204" charset="-122"/>
                          <a:ea typeface="微软雅黑" panose="020B0503020204020204" charset="-122"/>
                          <a:sym typeface="+mn-ea"/>
                        </a:rPr>
                        <a:t>毛衫</a:t>
                      </a:r>
                      <a:r>
                        <a:rPr lang="en-US" sz="1400">
                          <a:solidFill>
                            <a:srgbClr val="000000"/>
                          </a:solidFill>
                          <a:effectLst/>
                          <a:latin typeface="微软雅黑" panose="020B0503020204020204" charset="-122"/>
                          <a:ea typeface="微软雅黑" panose="020B0503020204020204" charset="-122"/>
                          <a:sym typeface="+mn-ea"/>
                        </a:rPr>
                        <a:t>/</a:t>
                      </a:r>
                      <a:r>
                        <a:rPr lang="zh-CN" altLang="en-US" sz="1400">
                          <a:solidFill>
                            <a:srgbClr val="000000"/>
                          </a:solidFill>
                          <a:effectLst/>
                          <a:latin typeface="微软雅黑" panose="020B0503020204020204" charset="-122"/>
                          <a:ea typeface="微软雅黑" panose="020B0503020204020204" charset="-122"/>
                          <a:sym typeface="+mn-ea"/>
                        </a:rPr>
                        <a:t>梭织）</a:t>
                      </a:r>
                      <a:endParaRPr 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r>
                        <a:rPr lang="en-US" altLang="zh-CN" sz="1400" b="0" i="0" u="none" strike="noStrike" dirty="0" smtClean="0">
                          <a:solidFill>
                            <a:srgbClr val="0D0D0D"/>
                          </a:solidFill>
                          <a:effectLst/>
                          <a:latin typeface="微软雅黑" panose="020B0503020204020204" charset="-122"/>
                          <a:ea typeface="微软雅黑" panose="020B0503020204020204" charset="-122"/>
                        </a:rPr>
                        <a:t>6</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验厂计划</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填报验厂计划并排期</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预审</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验厂计划表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r>
                        <a:rPr lang="en-US" altLang="zh-CN" sz="1400" b="0" i="0" u="none" strike="noStrike" dirty="0" smtClean="0">
                          <a:solidFill>
                            <a:srgbClr val="0D0D0D"/>
                          </a:solidFill>
                          <a:effectLst/>
                          <a:latin typeface="微软雅黑" panose="020B0503020204020204" charset="-122"/>
                          <a:ea typeface="微软雅黑" panose="020B0503020204020204" charset="-122"/>
                        </a:rPr>
                        <a:t>7</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验厂报告</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发起验厂并评分后完成验厂报告</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zh-CN" altLang="en-US" sz="1400" b="0" i="0" u="none" strike="noStrike">
                          <a:solidFill>
                            <a:srgbClr val="000000"/>
                          </a:solidFill>
                          <a:effectLst/>
                          <a:latin typeface="微软雅黑" panose="020B0503020204020204" charset="-122"/>
                          <a:ea typeface="微软雅黑" panose="020B0503020204020204" charset="-122"/>
                        </a:rPr>
                        <a:t>预审</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r>
                        <a:rPr lang="en-US" altLang="zh-CN" sz="1400" b="0" i="0" u="none" strike="noStrike">
                          <a:solidFill>
                            <a:srgbClr val="000000"/>
                          </a:solidFill>
                          <a:effectLst/>
                          <a:latin typeface="微软雅黑" panose="020B0503020204020204" charset="-122"/>
                          <a:ea typeface="微软雅黑" panose="020B0503020204020204" charset="-122"/>
                        </a:rPr>
                        <a:t>验厂报告及评分表</a:t>
                      </a:r>
                      <a:endParaRPr lang="en-US" alt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buNone/>
                      </a:pPr>
                      <a:r>
                        <a:rPr lang="en-US" altLang="zh-CN" sz="1400" b="0" i="0" u="none" strike="noStrike" dirty="0" smtClean="0">
                          <a:solidFill>
                            <a:srgbClr val="0D0D0D"/>
                          </a:solidFill>
                          <a:effectLst/>
                          <a:latin typeface="微软雅黑" panose="020B0503020204020204" charset="-122"/>
                          <a:ea typeface="微软雅黑" panose="020B0503020204020204" charset="-122"/>
                        </a:rPr>
                        <a:t>8</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试用</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正式评审单（准入评估单）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对供应商发起准入评估</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预审</a:t>
                      </a:r>
                      <a:r>
                        <a:rPr lang="en-US" altLang="zh-CN" sz="1400" b="0" i="0" u="none" strike="noStrike">
                          <a:solidFill>
                            <a:srgbClr val="000000"/>
                          </a:solidFill>
                          <a:effectLst/>
                          <a:latin typeface="微软雅黑" panose="020B0503020204020204" charset="-122"/>
                          <a:ea typeface="微软雅黑" panose="020B0503020204020204" charset="-122"/>
                        </a:rPr>
                        <a:t> → </a:t>
                      </a:r>
                      <a:r>
                        <a:rPr lang="zh-CN" altLang="en-US" sz="1400" b="0" i="0" u="none" strike="noStrike">
                          <a:solidFill>
                            <a:srgbClr val="000000"/>
                          </a:solidFill>
                          <a:effectLst/>
                          <a:latin typeface="微软雅黑" panose="020B0503020204020204" charset="-122"/>
                          <a:ea typeface="微软雅黑" panose="020B0503020204020204" charset="-122"/>
                        </a:rPr>
                        <a:t>试用</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正式</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en-US" altLang="zh-CN" sz="1400" b="0" i="0" u="none" strike="noStrike">
                          <a:solidFill>
                            <a:srgbClr val="000000"/>
                          </a:solidFill>
                          <a:effectLst/>
                          <a:latin typeface="微软雅黑" panose="020B0503020204020204" charset="-122"/>
                          <a:ea typeface="微软雅黑" panose="020B0503020204020204" charset="-122"/>
                        </a:rPr>
                        <a:t>原料新供应商准入评估表/</a:t>
                      </a:r>
                      <a:r>
                        <a:rPr lang="zh-CN" altLang="en-US" sz="1400" b="0" i="0" u="none" strike="noStrike">
                          <a:solidFill>
                            <a:srgbClr val="000000"/>
                          </a:solidFill>
                          <a:effectLst/>
                          <a:latin typeface="微软雅黑" panose="020B0503020204020204" charset="-122"/>
                          <a:ea typeface="微软雅黑" panose="020B0503020204020204" charset="-122"/>
                        </a:rPr>
                        <a:t>成衣</a:t>
                      </a:r>
                      <a:r>
                        <a:rPr lang="en-US" altLang="zh-CN" sz="1400" b="0" i="0" u="none" strike="noStrike">
                          <a:solidFill>
                            <a:srgbClr val="000000"/>
                          </a:solidFill>
                          <a:effectLst/>
                          <a:latin typeface="微软雅黑" panose="020B0503020204020204" charset="-122"/>
                          <a:ea typeface="微软雅黑" panose="020B0503020204020204" charset="-122"/>
                        </a:rPr>
                        <a:t>新供应商准入评估表</a:t>
                      </a:r>
                      <a:endParaRPr lang="en-US" alt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buNone/>
                      </a:pPr>
                      <a:r>
                        <a:rPr lang="en-US" altLang="zh-CN" sz="1400" b="0" i="0" u="none" strike="noStrike" dirty="0" smtClean="0">
                          <a:solidFill>
                            <a:srgbClr val="0D0D0D"/>
                          </a:solidFill>
                          <a:effectLst/>
                          <a:latin typeface="微软雅黑" panose="020B0503020204020204" charset="-122"/>
                          <a:ea typeface="微软雅黑" panose="020B0503020204020204" charset="-122"/>
                        </a:rPr>
                        <a:t>9</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导入</a:t>
                      </a:r>
                      <a:r>
                        <a:rPr lang="en-US" altLang="zh-CN" sz="1400" b="0" i="0" u="none" strike="noStrike">
                          <a:solidFill>
                            <a:srgbClr val="000000"/>
                          </a:solidFill>
                          <a:effectLst/>
                          <a:latin typeface="微软雅黑" panose="020B0503020204020204" charset="-122"/>
                          <a:ea typeface="微软雅黑" panose="020B0503020204020204" charset="-122"/>
                        </a:rPr>
                        <a:t>ERP</a:t>
                      </a:r>
                      <a:r>
                        <a:rPr lang="zh-CN" altLang="en-US" sz="1400" b="0" i="0" u="none" strike="noStrike">
                          <a:solidFill>
                            <a:srgbClr val="000000"/>
                          </a:solidFill>
                          <a:effectLst/>
                          <a:latin typeface="微软雅黑" panose="020B0503020204020204" charset="-122"/>
                          <a:ea typeface="微软雅黑" panose="020B0503020204020204" charset="-122"/>
                        </a:rPr>
                        <a:t>流程单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导入</a:t>
                      </a:r>
                      <a:r>
                        <a:rPr lang="en-US" altLang="zh-CN" sz="1400" b="0" i="0" u="none" strike="noStrike">
                          <a:solidFill>
                            <a:srgbClr val="000000"/>
                          </a:solidFill>
                          <a:effectLst/>
                          <a:latin typeface="微软雅黑" panose="020B0503020204020204" charset="-122"/>
                          <a:ea typeface="微软雅黑" panose="020B0503020204020204" charset="-122"/>
                        </a:rPr>
                        <a:t>ERP</a:t>
                      </a:r>
                      <a:r>
                        <a:rPr lang="zh-CN" altLang="en-US" sz="1400" b="0" i="0" u="none" strike="noStrike">
                          <a:solidFill>
                            <a:srgbClr val="000000"/>
                          </a:solidFill>
                          <a:effectLst/>
                          <a:latin typeface="微软雅黑" panose="020B0503020204020204" charset="-122"/>
                          <a:ea typeface="微软雅黑" panose="020B0503020204020204" charset="-122"/>
                        </a:rPr>
                        <a:t>建档时触发工作流，由业务员补充供应商主档信息</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试用</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正式</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endParaRPr lang="en-US" alt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buNone/>
                      </a:pPr>
                      <a:r>
                        <a:rPr lang="en-US" altLang="zh-CN" sz="1400" b="0" i="0" u="none" strike="noStrike" dirty="0" smtClean="0">
                          <a:solidFill>
                            <a:srgbClr val="0D0D0D"/>
                          </a:solidFill>
                          <a:effectLst/>
                          <a:latin typeface="微软雅黑" panose="020B0503020204020204" charset="-122"/>
                          <a:ea typeface="微软雅黑" panose="020B0503020204020204" charset="-122"/>
                        </a:rPr>
                        <a:t>10</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潜在申请单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不经过准入评估，直接转入潜在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注册</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预审</a:t>
                      </a:r>
                      <a:r>
                        <a:rPr lang="en-US" altLang="zh-CN" sz="1400" b="0" i="0" u="none" strike="noStrike">
                          <a:solidFill>
                            <a:srgbClr val="000000"/>
                          </a:solidFill>
                          <a:effectLst/>
                          <a:latin typeface="微软雅黑" panose="020B0503020204020204" charset="-122"/>
                          <a:ea typeface="微软雅黑" panose="020B0503020204020204" charset="-122"/>
                        </a:rPr>
                        <a:t> → </a:t>
                      </a:r>
                      <a:r>
                        <a:rPr lang="zh-CN" altLang="en-US" sz="1400" b="0" i="0" u="none" strike="noStrike">
                          <a:solidFill>
                            <a:srgbClr val="000000"/>
                          </a:solidFill>
                          <a:effectLst/>
                          <a:latin typeface="微软雅黑" panose="020B0503020204020204" charset="-122"/>
                          <a:ea typeface="微软雅黑" panose="020B0503020204020204" charset="-122"/>
                        </a:rPr>
                        <a:t>潜在</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endParaRPr lang="en-US" alt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buNone/>
                      </a:pPr>
                      <a:r>
                        <a:rPr lang="en-US" altLang="zh-CN" sz="1400" b="0" i="0" u="none" strike="noStrike" dirty="0" smtClean="0">
                          <a:solidFill>
                            <a:srgbClr val="0D0D0D"/>
                          </a:solidFill>
                          <a:effectLst/>
                          <a:latin typeface="微软雅黑" panose="020B0503020204020204" charset="-122"/>
                          <a:ea typeface="微软雅黑" panose="020B0503020204020204" charset="-122"/>
                        </a:rPr>
                        <a:t>11</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不合格申请单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a:solidFill>
                            <a:srgbClr val="000000"/>
                          </a:solidFill>
                          <a:effectLst/>
                          <a:latin typeface="微软雅黑" panose="020B0503020204020204" charset="-122"/>
                          <a:ea typeface="微软雅黑" panose="020B0503020204020204" charset="-122"/>
                          <a:sym typeface="+mn-ea"/>
                        </a:rPr>
                        <a:t>不经过准入评估，直接转入不合格</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注册</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预审</a:t>
                      </a:r>
                      <a:r>
                        <a:rPr lang="en-US" altLang="zh-CN" sz="1400" b="0" i="0" u="none" strike="noStrike">
                          <a:solidFill>
                            <a:srgbClr val="000000"/>
                          </a:solidFill>
                          <a:effectLst/>
                          <a:latin typeface="微软雅黑" panose="020B0503020204020204" charset="-122"/>
                          <a:ea typeface="微软雅黑" panose="020B0503020204020204" charset="-122"/>
                        </a:rPr>
                        <a:t> → </a:t>
                      </a:r>
                      <a:r>
                        <a:rPr lang="zh-CN" altLang="en-US" sz="1400" b="0" i="0" u="none" strike="noStrike">
                          <a:solidFill>
                            <a:srgbClr val="000000"/>
                          </a:solidFill>
                          <a:effectLst/>
                          <a:latin typeface="微软雅黑" panose="020B0503020204020204" charset="-122"/>
                          <a:ea typeface="微软雅黑" panose="020B0503020204020204" charset="-122"/>
                        </a:rPr>
                        <a:t>不合格</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endParaRPr lang="en-US" alt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r h="432000">
                <a:tc>
                  <a:txBody>
                    <a:bodyPr/>
                    <a:lstStyle/>
                    <a:p>
                      <a:pPr algn="ctr" fontAlgn="ctr">
                        <a:buNone/>
                      </a:pPr>
                      <a:r>
                        <a:rPr lang="en-US" altLang="zh-CN" sz="1400" b="0" i="0" u="none" strike="noStrike" dirty="0" smtClean="0">
                          <a:solidFill>
                            <a:srgbClr val="0D0D0D"/>
                          </a:solidFill>
                          <a:effectLst/>
                          <a:latin typeface="微软雅黑" panose="020B0503020204020204" charset="-122"/>
                          <a:ea typeface="微软雅黑" panose="020B0503020204020204" charset="-122"/>
                        </a:rPr>
                        <a:t>12</a:t>
                      </a:r>
                      <a:endParaRPr lang="en-US" altLang="zh-CN" sz="1400" b="0" i="0" u="none" strike="noStrike" dirty="0" smtClean="0">
                        <a:solidFill>
                          <a:srgbClr val="0D0D0D"/>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退出申请单</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已合作供应商进行退出</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r>
                        <a:rPr lang="zh-CN" altLang="en-US" sz="1400" b="0" i="0" u="none" strike="noStrike">
                          <a:solidFill>
                            <a:srgbClr val="000000"/>
                          </a:solidFill>
                          <a:effectLst/>
                          <a:latin typeface="微软雅黑" panose="020B0503020204020204" charset="-122"/>
                          <a:ea typeface="微软雅黑" panose="020B0503020204020204" charset="-122"/>
                        </a:rPr>
                        <a:t>试用</a:t>
                      </a:r>
                      <a:r>
                        <a:rPr lang="en-US" altLang="zh-CN" sz="1400" b="0" i="0" u="none" strike="noStrike">
                          <a:solidFill>
                            <a:srgbClr val="000000"/>
                          </a:solidFill>
                          <a:effectLst/>
                          <a:latin typeface="微软雅黑" panose="020B0503020204020204" charset="-122"/>
                          <a:ea typeface="微软雅黑" panose="020B0503020204020204" charset="-122"/>
                        </a:rPr>
                        <a:t>/</a:t>
                      </a:r>
                      <a:r>
                        <a:rPr lang="zh-CN" altLang="en-US" sz="1400" b="0" i="0" u="none" strike="noStrike">
                          <a:solidFill>
                            <a:srgbClr val="000000"/>
                          </a:solidFill>
                          <a:effectLst/>
                          <a:latin typeface="微软雅黑" panose="020B0503020204020204" charset="-122"/>
                          <a:ea typeface="微软雅黑" panose="020B0503020204020204" charset="-122"/>
                        </a:rPr>
                        <a:t>正式</a:t>
                      </a:r>
                      <a:r>
                        <a:rPr lang="en-US" altLang="zh-CN" sz="1400" b="0" i="0" u="none" strike="noStrike">
                          <a:solidFill>
                            <a:srgbClr val="000000"/>
                          </a:solidFill>
                          <a:effectLst/>
                          <a:latin typeface="微软雅黑" panose="020B0503020204020204" charset="-122"/>
                          <a:ea typeface="微软雅黑" panose="020B0503020204020204" charset="-122"/>
                        </a:rPr>
                        <a:t> → </a:t>
                      </a:r>
                      <a:r>
                        <a:rPr lang="zh-CN" altLang="en-US" sz="1400" b="0" i="0" u="none" strike="noStrike">
                          <a:solidFill>
                            <a:srgbClr val="000000"/>
                          </a:solidFill>
                          <a:effectLst/>
                          <a:latin typeface="微软雅黑" panose="020B0503020204020204" charset="-122"/>
                          <a:ea typeface="微软雅黑" panose="020B0503020204020204" charset="-122"/>
                        </a:rPr>
                        <a:t>退出</a:t>
                      </a:r>
                      <a:endParaRPr lang="zh-CN" altLang="en-US"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c>
                  <a:txBody>
                    <a:bodyPr/>
                    <a:lstStyle/>
                    <a:p>
                      <a:pPr algn="l" fontAlgn="ctr">
                        <a:buNone/>
                      </a:pPr>
                      <a:endParaRPr lang="en-US" altLang="zh-CN" sz="1400" b="0" i="0" u="none" strike="noStrike">
                        <a:solidFill>
                          <a:srgbClr val="000000"/>
                        </a:solidFill>
                        <a:effectLst/>
                        <a:latin typeface="微软雅黑" panose="020B0503020204020204" charset="-122"/>
                        <a:ea typeface="微软雅黑" panose="020B0503020204020204" charset="-122"/>
                      </a:endParaRPr>
                    </a:p>
                  </a:txBody>
                  <a:tcPr marL="0" marR="0" marT="0" marB="0" anchor="ctr">
                    <a:lnL w="38100">
                      <a:solidFill>
                        <a:schemeClr val="bg1"/>
                      </a:solidFill>
                      <a:prstDash val="solid"/>
                    </a:lnL>
                    <a:lnR w="38100">
                      <a:solidFill>
                        <a:schemeClr val="bg1"/>
                      </a:solidFill>
                      <a:prstDash val="solid"/>
                    </a:lnR>
                    <a:lnT w="38100">
                      <a:solidFill>
                        <a:schemeClr val="bg1"/>
                      </a:solidFill>
                      <a:prstDash val="solid"/>
                    </a:lnT>
                    <a:lnB w="38100">
                      <a:solidFill>
                        <a:schemeClr val="bg1"/>
                      </a:solidFill>
                      <a:prstDash val="solid"/>
                    </a:lnB>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dirty="0"/>
              <a:t>供应商生命周期</a:t>
            </a:r>
            <a:r>
              <a:rPr lang="zh-CN" dirty="0"/>
              <a:t>管理泳道</a:t>
            </a:r>
            <a:endParaRPr lang="zh-CN"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2" name="图片 1"/>
          <p:cNvPicPr>
            <a:picLocks noChangeAspect="1"/>
          </p:cNvPicPr>
          <p:nvPr/>
        </p:nvPicPr>
        <p:blipFill>
          <a:blip r:embed="rId1"/>
          <a:stretch>
            <a:fillRect/>
          </a:stretch>
        </p:blipFill>
        <p:spPr>
          <a:xfrm>
            <a:off x="558165" y="1266825"/>
            <a:ext cx="10464800" cy="4718050"/>
          </a:xfrm>
          <a:prstGeom prst="rect">
            <a:avLst/>
          </a:prstGeom>
        </p:spPr>
      </p:pic>
      <p:sp>
        <p:nvSpPr>
          <p:cNvPr id="9" name="矩形: 圆顶角 8"/>
          <p:cNvSpPr/>
          <p:nvPr/>
        </p:nvSpPr>
        <p:spPr>
          <a:xfrm>
            <a:off x="558165" y="892810"/>
            <a:ext cx="236474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供应商生命周期管理</a:t>
            </a:r>
            <a:endParaRPr lang="zh-CN" altLang="en-US" dirty="0"/>
          </a:p>
        </p:txBody>
      </p:sp>
      <p:sp>
        <p:nvSpPr>
          <p:cNvPr id="21" name="矩形 20"/>
          <p:cNvSpPr/>
          <p:nvPr/>
        </p:nvSpPr>
        <p:spPr>
          <a:xfrm>
            <a:off x="770255" y="4139565"/>
            <a:ext cx="4479290" cy="906780"/>
          </a:xfrm>
          <a:prstGeom prst="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marL="230505" marR="0" indent="-230505" algn="ctr" defTabSz="914400" rtl="0" eaLnBrk="0" fontAlgn="base" latinLnBrk="0" hangingPunct="0">
              <a:lnSpc>
                <a:spcPct val="120000"/>
              </a:lnSpc>
              <a:spcBef>
                <a:spcPct val="0"/>
              </a:spcBef>
              <a:spcAft>
                <a:spcPct val="0"/>
              </a:spcAft>
              <a:buClrTx/>
              <a:buSzTx/>
              <a:buFontTx/>
              <a:buNone/>
            </a:pPr>
            <a:r>
              <a:rPr lang="zh-CN"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注册</a:t>
            </a:r>
            <a:r>
              <a:rPr lang="en-US" altLang="zh-CN"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&amp;</a:t>
            </a:r>
            <a:r>
              <a:rPr lang="zh-CN" altLang="en-US"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预审阶段</a:t>
            </a:r>
            <a:r>
              <a:rPr lang="zh-CN"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设置停留时长</a:t>
            </a:r>
            <a:endParaRPr lang="zh-CN"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marL="230505" marR="0" indent="-230505" algn="ctr" defTabSz="914400" rtl="0" eaLnBrk="0" fontAlgn="base" latinLnBrk="0" hangingPunct="0">
              <a:lnSpc>
                <a:spcPct val="120000"/>
              </a:lnSpc>
              <a:spcBef>
                <a:spcPct val="0"/>
              </a:spcBef>
              <a:spcAft>
                <a:spcPct val="0"/>
              </a:spcAft>
              <a:buClrTx/>
              <a:buSzTx/>
              <a:buFontTx/>
              <a:buNone/>
            </a:pPr>
            <a:r>
              <a:rPr lang="zh-CN"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限制，</a:t>
            </a:r>
            <a:r>
              <a:rPr lang="zh-CN" dirty="0">
                <a:ln>
                  <a:noFill/>
                </a:ln>
                <a:solidFill>
                  <a:schemeClr val="tx1">
                    <a:lumMod val="95000"/>
                    <a:lumOff val="5000"/>
                  </a:schemeClr>
                </a:solidFill>
                <a:effectLst/>
                <a:latin typeface="微软雅黑" panose="020B0503020204020204" charset="-122"/>
                <a:ea typeface="微软雅黑" panose="020B0503020204020204" charset="-122"/>
                <a:cs typeface="微软雅黑" panose="020B0503020204020204" charset="-122"/>
                <a:sym typeface="+mn-ea"/>
              </a:rPr>
              <a:t>超时供应商进行标记</a:t>
            </a:r>
            <a:endParaRPr lang="zh-CN" altLang="en-US"/>
          </a:p>
        </p:txBody>
      </p:sp>
      <p:sp>
        <p:nvSpPr>
          <p:cNvPr id="22" name="右箭头 21"/>
          <p:cNvSpPr/>
          <p:nvPr/>
        </p:nvSpPr>
        <p:spPr>
          <a:xfrm>
            <a:off x="2715260" y="2926080"/>
            <a:ext cx="558800" cy="28829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chemeClr val="tx1"/>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20578" y="931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功能介绍</a:t>
            </a:r>
            <a:endParaRPr lang="zh-CN" altLang="en-US" sz="2800" dirty="0"/>
          </a:p>
        </p:txBody>
      </p:sp>
      <p:sp>
        <p:nvSpPr>
          <p:cNvPr id="72" name="矩形: 圆角 71"/>
          <p:cNvSpPr/>
          <p:nvPr/>
        </p:nvSpPr>
        <p:spPr>
          <a:xfrm>
            <a:off x="289560" y="780415"/>
            <a:ext cx="5754370" cy="5666105"/>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16" name="文本框 15"/>
          <p:cNvSpPr txBox="1"/>
          <p:nvPr/>
        </p:nvSpPr>
        <p:spPr>
          <a:xfrm>
            <a:off x="909955" y="936625"/>
            <a:ext cx="1452880" cy="398780"/>
          </a:xfrm>
          <a:prstGeom prst="rect">
            <a:avLst/>
          </a:prstGeom>
          <a:noFill/>
        </p:spPr>
        <p:txBody>
          <a:bodyPr wrap="none" rtlCol="0">
            <a:spAutoFit/>
          </a:bodyPr>
          <a:lstStyle/>
          <a:p>
            <a:r>
              <a:rPr lang="zh-CN" altLang="en-US" sz="2000" b="1">
                <a:solidFill>
                  <a:schemeClr val="accent1"/>
                </a:solidFill>
              </a:rPr>
              <a:t>实现要点：</a:t>
            </a:r>
            <a:endParaRPr lang="zh-CN" altLang="en-US" sz="2000" b="1">
              <a:solidFill>
                <a:schemeClr val="accent1"/>
              </a:solidFill>
            </a:endParaRPr>
          </a:p>
        </p:txBody>
      </p:sp>
      <p:sp>
        <p:nvSpPr>
          <p:cNvPr id="17" name="文本框 16"/>
          <p:cNvSpPr txBox="1"/>
          <p:nvPr/>
        </p:nvSpPr>
        <p:spPr>
          <a:xfrm>
            <a:off x="505460" y="1335405"/>
            <a:ext cx="5322570" cy="512318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400" b="1">
                <a:sym typeface="+mn-ea"/>
              </a:rPr>
              <a:t>供应商注册方式：</a:t>
            </a:r>
            <a:endParaRPr lang="zh-CN" altLang="en-US" sz="1400" b="1">
              <a:sym typeface="+mn-ea"/>
            </a:endParaRPr>
          </a:p>
          <a:p>
            <a:pPr marL="742950" lvl="1" indent="-285750" algn="just" fontAlgn="auto">
              <a:lnSpc>
                <a:spcPct val="130000"/>
              </a:lnSpc>
              <a:buFont typeface="Wingdings" panose="05000000000000000000" charset="0"/>
              <a:buChar char="ü"/>
            </a:pPr>
            <a:r>
              <a:rPr lang="zh-CN" altLang="en-US" sz="1400" b="1">
                <a:sym typeface="+mn-ea"/>
              </a:rPr>
              <a:t>邮件邀请注册</a:t>
            </a:r>
            <a:r>
              <a:rPr lang="zh-CN" altLang="en-US" sz="1400">
                <a:sym typeface="+mn-ea"/>
              </a:rPr>
              <a:t>：产品部</a:t>
            </a:r>
            <a:r>
              <a:rPr lang="en-US" altLang="zh-CN" sz="1400">
                <a:sym typeface="+mn-ea"/>
              </a:rPr>
              <a:t>/</a:t>
            </a:r>
            <a:r>
              <a:rPr lang="zh-CN" altLang="en-US" sz="1400">
                <a:sym typeface="+mn-ea"/>
              </a:rPr>
              <a:t>质控部输入供应商邮箱，系统自动发送邀请邮件及网址，供应商通过唯一网址注册</a:t>
            </a:r>
            <a:endParaRPr lang="zh-CN" altLang="en-US" sz="1400">
              <a:sym typeface="+mn-ea"/>
            </a:endParaRPr>
          </a:p>
          <a:p>
            <a:pPr marL="742950" lvl="1" indent="-285750" algn="just" fontAlgn="auto">
              <a:lnSpc>
                <a:spcPct val="130000"/>
              </a:lnSpc>
              <a:buFont typeface="Wingdings" panose="05000000000000000000" charset="0"/>
              <a:buChar char="ü"/>
            </a:pPr>
            <a:r>
              <a:rPr lang="zh-CN" altLang="en-US" sz="1400" b="1">
                <a:sym typeface="+mn-ea"/>
              </a:rPr>
              <a:t>供应商自行注册</a:t>
            </a:r>
            <a:r>
              <a:rPr lang="zh-CN" altLang="en-US" sz="1400">
                <a:sym typeface="+mn-ea"/>
              </a:rPr>
              <a:t>：供应商通过公众号、网址、展会等方式路径直接注册，注册后，需业务员邀请合作</a:t>
            </a:r>
            <a:endParaRPr lang="zh-CN" altLang="en-US" sz="1400">
              <a:sym typeface="+mn-ea"/>
            </a:endParaRPr>
          </a:p>
          <a:p>
            <a:pPr marL="285750" lvl="0" indent="-285750" algn="just" fontAlgn="auto">
              <a:lnSpc>
                <a:spcPct val="130000"/>
              </a:lnSpc>
              <a:buFont typeface="Wingdings" panose="05000000000000000000" charset="0"/>
              <a:buChar char="ü"/>
            </a:pPr>
            <a:r>
              <a:rPr lang="zh-CN" altLang="en-US" sz="1400" b="1">
                <a:sym typeface="+mn-ea"/>
              </a:rPr>
              <a:t>注册信息审批</a:t>
            </a:r>
            <a:r>
              <a:rPr lang="zh-CN" altLang="en-US" sz="1400">
                <a:sym typeface="+mn-ea"/>
              </a:rPr>
              <a:t>：信息填报时供应商选择供货大类，成衣供应商提交后由外协</a:t>
            </a:r>
            <a:r>
              <a:rPr lang="en-US" altLang="zh-CN" sz="1400">
                <a:sym typeface="+mn-ea"/>
              </a:rPr>
              <a:t>&amp;</a:t>
            </a:r>
            <a:r>
              <a:rPr lang="zh-CN" altLang="en-US" sz="1400">
                <a:sym typeface="+mn-ea"/>
              </a:rPr>
              <a:t>质控部门统一进行审核</a:t>
            </a:r>
            <a:endParaRPr lang="zh-CN" altLang="en-US" sz="1400"/>
          </a:p>
          <a:p>
            <a:pPr marL="285750" indent="-285750" algn="just" fontAlgn="auto">
              <a:lnSpc>
                <a:spcPct val="130000"/>
              </a:lnSpc>
              <a:buFont typeface="Wingdings" panose="05000000000000000000" charset="0"/>
              <a:buChar char="ü"/>
            </a:pPr>
            <a:r>
              <a:rPr lang="zh-CN" altLang="en-US" sz="1400" b="1">
                <a:sym typeface="+mn-ea"/>
              </a:rPr>
              <a:t>调查表创建</a:t>
            </a:r>
            <a:r>
              <a:rPr lang="zh-CN" altLang="en-US" sz="1400">
                <a:sym typeface="+mn-ea"/>
              </a:rPr>
              <a:t>：系统中已有字段信息可自动带出，调查表审批通过后自动写入供应商主数据；调查表审批时填写供应商来源及推荐人，写入供应商主数据并导入</a:t>
            </a:r>
            <a:r>
              <a:rPr lang="en-US" altLang="zh-CN" sz="1400">
                <a:sym typeface="+mn-ea"/>
              </a:rPr>
              <a:t>ERP</a:t>
            </a:r>
            <a:endParaRPr lang="zh-CN" altLang="en-US" sz="1400"/>
          </a:p>
          <a:p>
            <a:pPr marL="285750" indent="-285750" algn="just" fontAlgn="auto">
              <a:lnSpc>
                <a:spcPct val="130000"/>
              </a:lnSpc>
              <a:buFont typeface="Wingdings" panose="05000000000000000000" charset="0"/>
              <a:buChar char="ü"/>
            </a:pPr>
            <a:r>
              <a:rPr lang="zh-CN" altLang="en-US" sz="1400" b="1">
                <a:sym typeface="+mn-ea"/>
              </a:rPr>
              <a:t>供应商分类</a:t>
            </a:r>
            <a:r>
              <a:rPr lang="zh-CN" altLang="en-US" sz="1400">
                <a:sym typeface="+mn-ea"/>
              </a:rPr>
              <a:t>：在邀请供应商注册</a:t>
            </a:r>
            <a:r>
              <a:rPr lang="en-US" altLang="zh-CN" sz="1400">
                <a:sym typeface="+mn-ea"/>
              </a:rPr>
              <a:t>/</a:t>
            </a:r>
            <a:r>
              <a:rPr lang="zh-CN" altLang="en-US" sz="1400">
                <a:sym typeface="+mn-ea"/>
              </a:rPr>
              <a:t>邀请合作时选择供应商分类，通过供应商分类区分合作业务大类</a:t>
            </a:r>
            <a:endParaRPr lang="zh-CN" altLang="en-US" sz="1400">
              <a:sym typeface="+mn-ea"/>
            </a:endParaRPr>
          </a:p>
          <a:p>
            <a:pPr marL="285750" indent="-285750" algn="just" fontAlgn="auto">
              <a:lnSpc>
                <a:spcPct val="130000"/>
              </a:lnSpc>
              <a:buFont typeface="Wingdings" panose="05000000000000000000" charset="0"/>
              <a:buChar char="ü"/>
            </a:pPr>
            <a:r>
              <a:rPr lang="zh-CN" altLang="en-US" sz="1400" b="1">
                <a:sym typeface="+mn-ea"/>
              </a:rPr>
              <a:t>导入</a:t>
            </a:r>
            <a:r>
              <a:rPr lang="en-US" altLang="zh-CN" sz="1400" b="1">
                <a:sym typeface="+mn-ea"/>
              </a:rPr>
              <a:t>ERP</a:t>
            </a:r>
            <a:r>
              <a:rPr lang="zh-CN" altLang="en-US" sz="1400">
                <a:sym typeface="+mn-ea"/>
              </a:rPr>
              <a:t>：成衣在准入环节暂不建档，保留手动导入</a:t>
            </a:r>
            <a:r>
              <a:rPr lang="en-US" altLang="zh-CN" sz="1400">
                <a:sym typeface="+mn-ea"/>
              </a:rPr>
              <a:t>ERP</a:t>
            </a:r>
            <a:r>
              <a:rPr lang="zh-CN" altLang="en-US" sz="1400">
                <a:sym typeface="+mn-ea"/>
              </a:rPr>
              <a:t>的按键，导入</a:t>
            </a:r>
            <a:r>
              <a:rPr lang="en-US" altLang="zh-CN" sz="1400">
                <a:sym typeface="+mn-ea"/>
              </a:rPr>
              <a:t>ERP</a:t>
            </a:r>
            <a:r>
              <a:rPr lang="zh-CN" altLang="en-US" sz="1400">
                <a:sym typeface="+mn-ea"/>
              </a:rPr>
              <a:t>时触发审批流，指定业务员确认并补充供应商信息</a:t>
            </a:r>
            <a:endParaRPr lang="zh-CN" altLang="en-US" sz="1400">
              <a:sym typeface="+mn-ea"/>
            </a:endParaRPr>
          </a:p>
          <a:p>
            <a:pPr marL="285750" indent="-285750" algn="just" fontAlgn="auto">
              <a:lnSpc>
                <a:spcPct val="130000"/>
              </a:lnSpc>
              <a:buFont typeface="Wingdings" panose="05000000000000000000" charset="0"/>
              <a:buChar char="ü"/>
            </a:pPr>
            <a:r>
              <a:rPr lang="zh-CN" altLang="en-US" sz="1400" b="1">
                <a:sym typeface="+mn-ea"/>
              </a:rPr>
              <a:t>供应商登录账号</a:t>
            </a:r>
            <a:r>
              <a:rPr lang="zh-CN" altLang="en-US" sz="1400">
                <a:sym typeface="+mn-ea"/>
              </a:rPr>
              <a:t>：手机号及</a:t>
            </a:r>
            <a:r>
              <a:rPr lang="en-US" altLang="zh-CN" sz="1400">
                <a:sym typeface="+mn-ea"/>
              </a:rPr>
              <a:t>ERP</a:t>
            </a:r>
            <a:r>
              <a:rPr lang="zh-CN" altLang="en-US" sz="1400">
                <a:sym typeface="+mn-ea"/>
              </a:rPr>
              <a:t>供应商编码</a:t>
            </a:r>
            <a:endParaRPr lang="zh-CN" altLang="en-US" sz="1400">
              <a:sym typeface="+mn-ea"/>
            </a:endParaRPr>
          </a:p>
          <a:p>
            <a:pPr marL="285750" indent="-285750" algn="just" fontAlgn="auto">
              <a:lnSpc>
                <a:spcPct val="130000"/>
              </a:lnSpc>
              <a:buFont typeface="Wingdings" panose="05000000000000000000" charset="0"/>
              <a:buChar char="ü"/>
            </a:pPr>
            <a:r>
              <a:rPr lang="zh-CN" altLang="en-US" sz="1400" b="1">
                <a:sym typeface="+mn-ea"/>
              </a:rPr>
              <a:t>待确认项</a:t>
            </a:r>
            <a:r>
              <a:rPr lang="zh-CN" altLang="en-US" sz="1400">
                <a:sym typeface="+mn-ea"/>
              </a:rPr>
              <a:t>：</a:t>
            </a:r>
            <a:endParaRPr lang="zh-CN" altLang="en-US" sz="1400">
              <a:sym typeface="+mn-ea"/>
            </a:endParaRPr>
          </a:p>
          <a:p>
            <a:pPr marL="742950" lvl="1" indent="-285750" algn="just" fontAlgn="auto">
              <a:lnSpc>
                <a:spcPct val="130000"/>
              </a:lnSpc>
              <a:buFont typeface="Wingdings" panose="05000000000000000000" charset="0"/>
              <a:buChar char="ü"/>
            </a:pPr>
            <a:r>
              <a:rPr lang="zh-CN" altLang="en-US" sz="1400">
                <a:sym typeface="+mn-ea"/>
              </a:rPr>
              <a:t>是否对接第三方平台做供应商信息校验</a:t>
            </a:r>
            <a:endParaRPr lang="zh-CN" altLang="en-US" sz="1400">
              <a:sym typeface="+mn-ea"/>
            </a:endParaRPr>
          </a:p>
          <a:p>
            <a:pPr marL="742950" lvl="1" indent="-285750" algn="just" fontAlgn="auto">
              <a:lnSpc>
                <a:spcPct val="130000"/>
              </a:lnSpc>
              <a:buFont typeface="Wingdings" panose="05000000000000000000" charset="0"/>
              <a:buChar char="ü"/>
            </a:pPr>
            <a:r>
              <a:rPr lang="zh-CN" altLang="en-US" sz="1400">
                <a:sym typeface="+mn-ea"/>
              </a:rPr>
              <a:t>供应商需求表计划在二期实现</a:t>
            </a:r>
            <a:endParaRPr lang="zh-CN" altLang="en-US" sz="1400">
              <a:sym typeface="+mn-ea"/>
            </a:endParaRPr>
          </a:p>
        </p:txBody>
      </p:sp>
      <p:graphicFrame>
        <p:nvGraphicFramePr>
          <p:cNvPr id="4" name="对象 3"/>
          <p:cNvGraphicFramePr/>
          <p:nvPr/>
        </p:nvGraphicFramePr>
        <p:xfrm>
          <a:off x="6189980" y="902335"/>
          <a:ext cx="5826760" cy="5422265"/>
        </p:xfrm>
        <a:graphic>
          <a:graphicData uri="http://schemas.openxmlformats.org/presentationml/2006/ole">
            <mc:AlternateContent xmlns:mc="http://schemas.openxmlformats.org/markup-compatibility/2006">
              <mc:Choice xmlns:v="urn:schemas-microsoft-com:vml" Requires="v">
                <p:oleObj spid="_x0000_s1028" name="" r:id="rId1" imgW="6805930" imgH="6331585" progId="Visio.Drawing.15">
                  <p:embed/>
                </p:oleObj>
              </mc:Choice>
              <mc:Fallback>
                <p:oleObj name="" r:id="rId1" imgW="6805930" imgH="6331585" progId="Visio.Drawing.15">
                  <p:embed/>
                  <p:pic>
                    <p:nvPicPr>
                      <p:cNvPr id="0" name="图片 4"/>
                      <p:cNvPicPr/>
                      <p:nvPr/>
                    </p:nvPicPr>
                    <p:blipFill>
                      <a:blip r:embed="rId2"/>
                      <a:stretch>
                        <a:fillRect/>
                      </a:stretch>
                    </p:blipFill>
                    <p:spPr>
                      <a:xfrm>
                        <a:off x="6189980" y="902335"/>
                        <a:ext cx="5826760" cy="5422265"/>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58165" y="1266825"/>
            <a:ext cx="6178550" cy="5105400"/>
          </a:xfrm>
          <a:prstGeom prst="rect">
            <a:avLst/>
          </a:prstGeom>
        </p:spPr>
      </p:pic>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4" name="矩形: 圆顶角 8"/>
          <p:cNvSpPr/>
          <p:nvPr/>
        </p:nvSpPr>
        <p:spPr>
          <a:xfrm>
            <a:off x="55816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邀请注册</a:t>
            </a:r>
            <a:endParaRPr lang="zh-CN" altLang="en-US" dirty="0"/>
          </a:p>
        </p:txBody>
      </p:sp>
      <p:sp>
        <p:nvSpPr>
          <p:cNvPr id="13" name="矩形 12"/>
          <p:cNvSpPr/>
          <p:nvPr/>
        </p:nvSpPr>
        <p:spPr>
          <a:xfrm>
            <a:off x="995045" y="3266440"/>
            <a:ext cx="3181350" cy="40132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 name="文本框 1"/>
          <p:cNvSpPr txBox="1"/>
          <p:nvPr/>
        </p:nvSpPr>
        <p:spPr>
          <a:xfrm>
            <a:off x="7186295" y="1266825"/>
            <a:ext cx="4629150" cy="233108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sz="1600"/>
              <a:t>供应商分类：成衣</a:t>
            </a:r>
            <a:r>
              <a:rPr lang="en-US" altLang="zh-CN" sz="1600"/>
              <a:t>/</a:t>
            </a:r>
            <a:r>
              <a:rPr lang="zh-CN" altLang="en-US" sz="1600"/>
              <a:t>面料</a:t>
            </a:r>
            <a:r>
              <a:rPr lang="en-US" altLang="zh-CN" sz="1600"/>
              <a:t>/</a:t>
            </a:r>
            <a:r>
              <a:rPr lang="zh-CN" altLang="en-US" sz="1600"/>
              <a:t>辅料</a:t>
            </a:r>
            <a:r>
              <a:rPr lang="en-US" altLang="zh-CN" sz="1600"/>
              <a:t>/</a:t>
            </a:r>
            <a:r>
              <a:rPr lang="zh-CN" altLang="en-US" sz="1600"/>
              <a:t>皮具配饰</a:t>
            </a:r>
            <a:endParaRPr lang="zh-CN" sz="1600"/>
          </a:p>
          <a:p>
            <a:pPr marL="285750" indent="-285750" algn="just" fontAlgn="auto">
              <a:lnSpc>
                <a:spcPct val="130000"/>
              </a:lnSpc>
              <a:buFont typeface="Wingdings" panose="05000000000000000000" charset="0"/>
              <a:buChar char="ü"/>
            </a:pPr>
            <a:r>
              <a:rPr lang="zh-CN" sz="1600"/>
              <a:t>产品部</a:t>
            </a:r>
            <a:r>
              <a:rPr lang="en-US" altLang="zh-CN" sz="1600"/>
              <a:t>/</a:t>
            </a:r>
            <a:r>
              <a:rPr lang="zh-CN" altLang="en-US" sz="1600"/>
              <a:t>质控部在系统上填写供应商邮箱，选择调查表模板、供应商分类</a:t>
            </a:r>
            <a:endParaRPr lang="zh-CN" altLang="en-US" sz="1600"/>
          </a:p>
          <a:p>
            <a:pPr marL="285750" indent="-285750" algn="just" fontAlgn="auto">
              <a:lnSpc>
                <a:spcPct val="130000"/>
              </a:lnSpc>
              <a:buFont typeface="Wingdings" panose="05000000000000000000" charset="0"/>
              <a:buChar char="ü"/>
            </a:pPr>
            <a:r>
              <a:rPr lang="zh-CN" sz="1600"/>
              <a:t>系统自动发送邮件给供应商，提供系统注册网址给供应商</a:t>
            </a:r>
            <a:endParaRPr lang="zh-CN" sz="1600"/>
          </a:p>
          <a:p>
            <a:pPr marL="285750" indent="-285750" algn="just" fontAlgn="auto">
              <a:lnSpc>
                <a:spcPct val="130000"/>
              </a:lnSpc>
              <a:buFont typeface="Wingdings" panose="05000000000000000000" charset="0"/>
              <a:buChar char="ü"/>
            </a:pPr>
            <a:r>
              <a:rPr lang="zh-CN" sz="1600"/>
              <a:t>邮件邀请注册后，系统会记录被邀约供应商执行状态及发起邀请人</a:t>
            </a:r>
            <a:endParaRPr lang="zh-CN" sz="1600"/>
          </a:p>
        </p:txBody>
      </p:sp>
      <p:pic>
        <p:nvPicPr>
          <p:cNvPr id="6" name="图片 5"/>
          <p:cNvPicPr>
            <a:picLocks noChangeAspect="1"/>
          </p:cNvPicPr>
          <p:nvPr/>
        </p:nvPicPr>
        <p:blipFill>
          <a:blip r:embed="rId2"/>
          <a:srcRect l="5324"/>
          <a:stretch>
            <a:fillRect/>
          </a:stretch>
        </p:blipFill>
        <p:spPr>
          <a:xfrm>
            <a:off x="6461760" y="4438015"/>
            <a:ext cx="5657215" cy="1943100"/>
          </a:xfrm>
          <a:prstGeom prst="rect">
            <a:avLst/>
          </a:prstGeom>
        </p:spPr>
      </p:pic>
      <p:sp>
        <p:nvSpPr>
          <p:cNvPr id="5" name="矩形 4"/>
          <p:cNvSpPr/>
          <p:nvPr/>
        </p:nvSpPr>
        <p:spPr>
          <a:xfrm>
            <a:off x="6462395" y="5880735"/>
            <a:ext cx="5656580" cy="40259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 name="矩形 6"/>
          <p:cNvSpPr/>
          <p:nvPr/>
        </p:nvSpPr>
        <p:spPr>
          <a:xfrm>
            <a:off x="4176395" y="3951605"/>
            <a:ext cx="2383155" cy="40132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l="9142"/>
          <a:stretch>
            <a:fillRect/>
          </a:stretch>
        </p:blipFill>
        <p:spPr>
          <a:xfrm>
            <a:off x="558165" y="1266825"/>
            <a:ext cx="7125335" cy="4597400"/>
          </a:xfrm>
          <a:prstGeom prst="rect">
            <a:avLst/>
          </a:prstGeom>
        </p:spPr>
      </p:pic>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3" name="文本框 22"/>
          <p:cNvSpPr txBox="1"/>
          <p:nvPr/>
        </p:nvSpPr>
        <p:spPr>
          <a:xfrm>
            <a:off x="7774305" y="1565910"/>
            <a:ext cx="4022090" cy="152971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t>供应商注册时需勾选</a:t>
            </a:r>
            <a:r>
              <a:rPr lang="en-US" altLang="zh-CN"/>
              <a:t>“</a:t>
            </a:r>
            <a:r>
              <a:rPr lang="zh-CN" altLang="en-US"/>
              <a:t>我已阅读并同意《</a:t>
            </a:r>
            <a:r>
              <a:rPr lang="en-US" altLang="zh-CN"/>
              <a:t>SRM</a:t>
            </a:r>
            <a:r>
              <a:rPr lang="zh-CN" altLang="en-US"/>
              <a:t>用户协议》</a:t>
            </a:r>
            <a:r>
              <a:rPr lang="en-US" altLang="zh-CN"/>
              <a:t>”</a:t>
            </a:r>
            <a:endParaRPr lang="en-US" altLang="zh-CN"/>
          </a:p>
          <a:p>
            <a:pPr marL="285750" indent="-285750" algn="just" fontAlgn="auto">
              <a:lnSpc>
                <a:spcPct val="130000"/>
              </a:lnSpc>
              <a:buFont typeface="Wingdings" panose="05000000000000000000" charset="0"/>
              <a:buChar char="ü"/>
            </a:pPr>
            <a:r>
              <a:rPr lang="zh-CN" altLang="en-US"/>
              <a:t>供应商登录账号：手机号、邮箱及</a:t>
            </a:r>
            <a:r>
              <a:rPr lang="en-US" altLang="zh-CN"/>
              <a:t>ERP</a:t>
            </a:r>
            <a:r>
              <a:rPr lang="zh-CN" altLang="en-US"/>
              <a:t>供应商编码</a:t>
            </a:r>
            <a:endParaRPr lang="zh-CN" altLang="en-US"/>
          </a:p>
        </p:txBody>
      </p:sp>
      <p:sp>
        <p:nvSpPr>
          <p:cNvPr id="24" name="矩形: 圆顶角 8"/>
          <p:cNvSpPr/>
          <p:nvPr/>
        </p:nvSpPr>
        <p:spPr>
          <a:xfrm>
            <a:off x="55816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供应商注册</a:t>
            </a:r>
            <a:endParaRPr lang="zh-CN" altLang="en-US"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圆顶角 51"/>
          <p:cNvSpPr/>
          <p:nvPr/>
        </p:nvSpPr>
        <p:spPr>
          <a:xfrm>
            <a:off x="558165" y="889000"/>
            <a:ext cx="187579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企业注册及认证</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pic>
        <p:nvPicPr>
          <p:cNvPr id="5" name="图片 4"/>
          <p:cNvPicPr>
            <a:picLocks noChangeAspect="1"/>
          </p:cNvPicPr>
          <p:nvPr/>
        </p:nvPicPr>
        <p:blipFill>
          <a:blip r:embed="rId1"/>
          <a:stretch>
            <a:fillRect/>
          </a:stretch>
        </p:blipFill>
        <p:spPr>
          <a:xfrm>
            <a:off x="558165" y="1263015"/>
            <a:ext cx="5471795" cy="4930775"/>
          </a:xfrm>
          <a:prstGeom prst="rect">
            <a:avLst/>
          </a:prstGeom>
        </p:spPr>
      </p:pic>
      <p:pic>
        <p:nvPicPr>
          <p:cNvPr id="6" name="图片 5"/>
          <p:cNvPicPr>
            <a:picLocks noChangeAspect="1"/>
          </p:cNvPicPr>
          <p:nvPr/>
        </p:nvPicPr>
        <p:blipFill>
          <a:blip r:embed="rId2"/>
          <a:stretch>
            <a:fillRect/>
          </a:stretch>
        </p:blipFill>
        <p:spPr>
          <a:xfrm>
            <a:off x="6503035" y="1263015"/>
            <a:ext cx="4067810" cy="501015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2"/>
          <a:srcRect r="21093"/>
          <a:stretch>
            <a:fillRect/>
          </a:stretch>
        </p:blipFill>
        <p:spPr>
          <a:xfrm>
            <a:off x="558165" y="1263015"/>
            <a:ext cx="7188200" cy="5139690"/>
          </a:xfrm>
          <a:prstGeom prst="rect">
            <a:avLst/>
          </a:prstGeom>
        </p:spPr>
      </p:pic>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13" name="矩形 12"/>
          <p:cNvSpPr/>
          <p:nvPr/>
        </p:nvSpPr>
        <p:spPr>
          <a:xfrm>
            <a:off x="2510155" y="5786755"/>
            <a:ext cx="4729480" cy="34353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 name="矩形: 圆顶角 51"/>
          <p:cNvSpPr/>
          <p:nvPr/>
        </p:nvSpPr>
        <p:spPr>
          <a:xfrm>
            <a:off x="558165" y="889000"/>
            <a:ext cx="187579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企业注册及认证</a:t>
            </a:r>
            <a:endParaRPr lang="zh-CN" altLang="en-US" dirty="0"/>
          </a:p>
        </p:txBody>
      </p:sp>
      <p:sp>
        <p:nvSpPr>
          <p:cNvPr id="3" name="文本框 2"/>
          <p:cNvSpPr txBox="1"/>
          <p:nvPr/>
        </p:nvSpPr>
        <p:spPr>
          <a:xfrm>
            <a:off x="7508240" y="1432560"/>
            <a:ext cx="4267835" cy="137096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a:t>供应商认证信息时填报合作大类：成衣</a:t>
            </a:r>
            <a:endParaRPr lang="zh-CN" altLang="en-US" sz="1600"/>
          </a:p>
          <a:p>
            <a:pPr marL="285750" indent="-285750" algn="just" fontAlgn="auto">
              <a:lnSpc>
                <a:spcPct val="130000"/>
              </a:lnSpc>
              <a:buFont typeface="Wingdings" panose="05000000000000000000" charset="0"/>
              <a:buChar char="ü"/>
            </a:pPr>
            <a:r>
              <a:rPr lang="zh-CN" altLang="en-US" sz="1600"/>
              <a:t>外协</a:t>
            </a:r>
            <a:r>
              <a:rPr lang="en-US" altLang="zh-CN" sz="1600"/>
              <a:t>&amp;</a:t>
            </a:r>
            <a:r>
              <a:rPr lang="zh-CN" altLang="en-US" sz="1600"/>
              <a:t>质控部进行企业认证审批</a:t>
            </a:r>
            <a:endParaRPr lang="zh-CN" altLang="en-US" sz="1600"/>
          </a:p>
          <a:p>
            <a:pPr marL="285750" lvl="0" indent="-285750" algn="just" fontAlgn="auto">
              <a:lnSpc>
                <a:spcPct val="130000"/>
              </a:lnSpc>
              <a:buFont typeface="Wingdings" panose="05000000000000000000" charset="0"/>
              <a:buChar char="ü"/>
            </a:pPr>
            <a:r>
              <a:rPr lang="zh-CN" altLang="en-US" sz="1600">
                <a:sym typeface="+mn-ea"/>
              </a:rPr>
              <a:t>增加注册来源字段，供审批人员查看，不写入供应商主数据</a:t>
            </a:r>
            <a:endParaRPr lang="en-US" altLang="zh-CN" sz="1600">
              <a:sym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 name="矩形: 圆顶角 51"/>
          <p:cNvSpPr/>
          <p:nvPr/>
        </p:nvSpPr>
        <p:spPr>
          <a:xfrm>
            <a:off x="558165" y="889000"/>
            <a:ext cx="187579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企业认证审批</a:t>
            </a:r>
            <a:endParaRPr lang="zh-CN" altLang="en-US" dirty="0"/>
          </a:p>
        </p:txBody>
      </p:sp>
      <p:pic>
        <p:nvPicPr>
          <p:cNvPr id="5" name="图片 4"/>
          <p:cNvPicPr>
            <a:picLocks noChangeAspect="1"/>
          </p:cNvPicPr>
          <p:nvPr>
            <p:custDataLst>
              <p:tags r:id="rId1"/>
            </p:custDataLst>
          </p:nvPr>
        </p:nvPicPr>
        <p:blipFill>
          <a:blip r:embed="rId2"/>
          <a:stretch>
            <a:fillRect/>
          </a:stretch>
        </p:blipFill>
        <p:spPr>
          <a:xfrm>
            <a:off x="558165" y="1263015"/>
            <a:ext cx="9178290" cy="4314190"/>
          </a:xfrm>
          <a:prstGeom prst="rect">
            <a:avLst/>
          </a:prstGeom>
        </p:spPr>
      </p:pic>
      <p:sp>
        <p:nvSpPr>
          <p:cNvPr id="6" name="矩形 5"/>
          <p:cNvSpPr/>
          <p:nvPr/>
        </p:nvSpPr>
        <p:spPr>
          <a:xfrm>
            <a:off x="7084060" y="1447800"/>
            <a:ext cx="2713355" cy="34353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 name="矩形 6"/>
          <p:cNvSpPr/>
          <p:nvPr/>
        </p:nvSpPr>
        <p:spPr>
          <a:xfrm>
            <a:off x="622300" y="1853565"/>
            <a:ext cx="4274820" cy="55245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3" name="文本框 2"/>
          <p:cNvSpPr txBox="1"/>
          <p:nvPr/>
        </p:nvSpPr>
        <p:spPr>
          <a:xfrm>
            <a:off x="558165" y="5525135"/>
            <a:ext cx="6670040" cy="105092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a:sym typeface="+mn-ea"/>
              </a:rPr>
              <a:t>企业认证信息审批通过后：</a:t>
            </a:r>
            <a:endParaRPr lang="zh-CN" altLang="en-US" sz="1600">
              <a:sym typeface="+mn-ea"/>
            </a:endParaRPr>
          </a:p>
          <a:p>
            <a:pPr marL="742950" lvl="1" indent="-285750" algn="just" fontAlgn="auto">
              <a:lnSpc>
                <a:spcPct val="130000"/>
              </a:lnSpc>
              <a:buFont typeface="Wingdings" panose="05000000000000000000" charset="0"/>
              <a:buChar char="ü"/>
            </a:pPr>
            <a:r>
              <a:rPr lang="zh-CN" altLang="en-US" sz="1600">
                <a:sym typeface="+mn-ea"/>
              </a:rPr>
              <a:t>系统自动发送调查表（邮件邀请注册）</a:t>
            </a:r>
            <a:endParaRPr lang="zh-CN" altLang="en-US" sz="1600">
              <a:sym typeface="+mn-ea"/>
            </a:endParaRPr>
          </a:p>
          <a:p>
            <a:pPr marL="742950" lvl="1" indent="-285750" algn="just" fontAlgn="auto">
              <a:lnSpc>
                <a:spcPct val="130000"/>
              </a:lnSpc>
              <a:buFont typeface="Wingdings" panose="05000000000000000000" charset="0"/>
              <a:buChar char="ü"/>
            </a:pPr>
            <a:r>
              <a:rPr lang="zh-CN" altLang="en-US" sz="1600">
                <a:sym typeface="+mn-ea"/>
              </a:rPr>
              <a:t>采购方发送合作邀约及调查表（供应商自行注册）</a:t>
            </a:r>
            <a:endParaRPr lang="zh-CN" altLang="en-US" sz="1600">
              <a:sym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58165" y="1263015"/>
            <a:ext cx="8289290" cy="4964430"/>
          </a:xfrm>
          <a:prstGeom prst="rect">
            <a:avLst/>
          </a:prstGeom>
        </p:spPr>
      </p:pic>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 name="矩形: 圆顶角 51"/>
          <p:cNvSpPr/>
          <p:nvPr/>
        </p:nvSpPr>
        <p:spPr>
          <a:xfrm>
            <a:off x="558165" y="889000"/>
            <a:ext cx="187579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邀请合作</a:t>
            </a:r>
            <a:endParaRPr lang="zh-CN" altLang="en-US" dirty="0"/>
          </a:p>
        </p:txBody>
      </p:sp>
      <p:pic>
        <p:nvPicPr>
          <p:cNvPr id="5" name="图片 4"/>
          <p:cNvPicPr>
            <a:picLocks noChangeAspect="1"/>
          </p:cNvPicPr>
          <p:nvPr/>
        </p:nvPicPr>
        <p:blipFill>
          <a:blip r:embed="rId2"/>
          <a:stretch>
            <a:fillRect/>
          </a:stretch>
        </p:blipFill>
        <p:spPr>
          <a:xfrm>
            <a:off x="1916430" y="3935730"/>
            <a:ext cx="6426835" cy="241300"/>
          </a:xfrm>
          <a:prstGeom prst="rect">
            <a:avLst/>
          </a:prstGeom>
        </p:spPr>
      </p:pic>
      <p:sp>
        <p:nvSpPr>
          <p:cNvPr id="6" name="文本框 5"/>
          <p:cNvSpPr txBox="1"/>
          <p:nvPr/>
        </p:nvSpPr>
        <p:spPr>
          <a:xfrm>
            <a:off x="8847455" y="1263015"/>
            <a:ext cx="3067685" cy="137096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a:sym typeface="+mn-ea"/>
              </a:rPr>
              <a:t>供应商自主注册，企业审批通过后，需在【发现供应商】页面手动邀请供应商合作并选择调查表模板</a:t>
            </a:r>
            <a:endParaRPr lang="zh-CN" altLang="en-US" sz="1600">
              <a:sym typeface="+mn-ea"/>
            </a:endParaRPr>
          </a:p>
        </p:txBody>
      </p:sp>
      <p:sp>
        <p:nvSpPr>
          <p:cNvPr id="7" name="矩形 6"/>
          <p:cNvSpPr/>
          <p:nvPr/>
        </p:nvSpPr>
        <p:spPr>
          <a:xfrm>
            <a:off x="5182235" y="3454400"/>
            <a:ext cx="3100705" cy="36449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 name="矩形: 圆顶角 51"/>
          <p:cNvSpPr/>
          <p:nvPr/>
        </p:nvSpPr>
        <p:spPr>
          <a:xfrm>
            <a:off x="558165" y="889000"/>
            <a:ext cx="187579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调查表填写</a:t>
            </a:r>
            <a:endParaRPr lang="zh-CN" altLang="en-US" dirty="0"/>
          </a:p>
        </p:txBody>
      </p:sp>
      <p:pic>
        <p:nvPicPr>
          <p:cNvPr id="11" name="图片 10"/>
          <p:cNvPicPr>
            <a:picLocks noChangeAspect="1"/>
          </p:cNvPicPr>
          <p:nvPr>
            <p:custDataLst>
              <p:tags r:id="rId1"/>
            </p:custDataLst>
          </p:nvPr>
        </p:nvPicPr>
        <p:blipFill>
          <a:blip r:embed="rId2"/>
          <a:stretch>
            <a:fillRect/>
          </a:stretch>
        </p:blipFill>
        <p:spPr>
          <a:xfrm>
            <a:off x="558165" y="1263015"/>
            <a:ext cx="9352280" cy="445389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 name="矩形: 圆顶角 51"/>
          <p:cNvSpPr/>
          <p:nvPr/>
        </p:nvSpPr>
        <p:spPr>
          <a:xfrm>
            <a:off x="558165" y="889000"/>
            <a:ext cx="187579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联系人填写</a:t>
            </a:r>
            <a:endParaRPr lang="zh-CN" altLang="en-US" dirty="0"/>
          </a:p>
        </p:txBody>
      </p:sp>
      <p:pic>
        <p:nvPicPr>
          <p:cNvPr id="3" name="图片 2"/>
          <p:cNvPicPr>
            <a:picLocks noChangeAspect="1"/>
          </p:cNvPicPr>
          <p:nvPr/>
        </p:nvPicPr>
        <p:blipFill>
          <a:blip r:embed="rId1"/>
          <a:stretch>
            <a:fillRect/>
          </a:stretch>
        </p:blipFill>
        <p:spPr>
          <a:xfrm>
            <a:off x="558165" y="1263015"/>
            <a:ext cx="8843010" cy="4812665"/>
          </a:xfrm>
          <a:prstGeom prst="rect">
            <a:avLst/>
          </a:prstGeom>
        </p:spPr>
      </p:pic>
      <p:sp>
        <p:nvSpPr>
          <p:cNvPr id="4" name="文本框 3"/>
          <p:cNvSpPr txBox="1"/>
          <p:nvPr/>
        </p:nvSpPr>
        <p:spPr>
          <a:xfrm>
            <a:off x="4313555" y="5225415"/>
            <a:ext cx="6870700" cy="73088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sz="1600"/>
              <a:t>对于多个联系人的情况，供应商可选择联系人类型，并选择一个默认联系人，在后续业务单据中，将自动带出默认联系人，可进行修改</a:t>
            </a:r>
            <a:endParaRPr lang="zh-CN" altLang="en-US" sz="160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附件有效期</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8" name="矩形 7"/>
          <p:cNvSpPr/>
          <p:nvPr/>
        </p:nvSpPr>
        <p:spPr>
          <a:xfrm>
            <a:off x="5052695" y="3555365"/>
            <a:ext cx="3119755" cy="40576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pic>
        <p:nvPicPr>
          <p:cNvPr id="12" name="图片 11"/>
          <p:cNvPicPr>
            <a:picLocks noChangeAspect="1"/>
          </p:cNvPicPr>
          <p:nvPr/>
        </p:nvPicPr>
        <p:blipFill>
          <a:blip r:embed="rId1"/>
          <a:stretch>
            <a:fillRect/>
          </a:stretch>
        </p:blipFill>
        <p:spPr>
          <a:xfrm>
            <a:off x="588645" y="1263015"/>
            <a:ext cx="9798685" cy="5144135"/>
          </a:xfrm>
          <a:prstGeom prst="rect">
            <a:avLst/>
          </a:prstGeom>
        </p:spPr>
      </p:pic>
      <p:sp>
        <p:nvSpPr>
          <p:cNvPr id="14" name="矩形 13"/>
          <p:cNvSpPr/>
          <p:nvPr/>
        </p:nvSpPr>
        <p:spPr>
          <a:xfrm>
            <a:off x="3800475" y="2105025"/>
            <a:ext cx="4723130" cy="37211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 name="文本框 1"/>
          <p:cNvSpPr txBox="1"/>
          <p:nvPr/>
        </p:nvSpPr>
        <p:spPr>
          <a:xfrm>
            <a:off x="5975350" y="4408170"/>
            <a:ext cx="5108575" cy="188976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t>文件到期前一段时间对供应商做出提醒（系统消息、邮件、公众号）</a:t>
            </a:r>
            <a:endParaRPr lang="zh-CN"/>
          </a:p>
          <a:p>
            <a:pPr marL="285750" indent="-285750" algn="just" fontAlgn="auto">
              <a:lnSpc>
                <a:spcPct val="130000"/>
              </a:lnSpc>
              <a:buFont typeface="Wingdings" panose="05000000000000000000" charset="0"/>
              <a:buChar char="ü"/>
            </a:pPr>
            <a:r>
              <a:rPr lang="zh-CN" altLang="en-US"/>
              <a:t>调查表中，供应商必传附件可进行配置，同时采购方可提供附件样式至供应商，如营业执照、</a:t>
            </a:r>
            <a:r>
              <a:rPr lang="en-US" altLang="zh-CN"/>
              <a:t>ISO</a:t>
            </a:r>
            <a:r>
              <a:rPr lang="zh-CN" altLang="en-US"/>
              <a:t>认证、隐私声明盖章文件等</a:t>
            </a:r>
            <a:endParaRPr lang="zh-CN" altLang="en-US"/>
          </a:p>
        </p:txBody>
      </p:sp>
      <p:sp>
        <p:nvSpPr>
          <p:cNvPr id="3" name="矩形 2"/>
          <p:cNvSpPr/>
          <p:nvPr/>
        </p:nvSpPr>
        <p:spPr>
          <a:xfrm>
            <a:off x="3677285" y="2892425"/>
            <a:ext cx="1375410" cy="37211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88645" y="1263015"/>
            <a:ext cx="9538970" cy="4351020"/>
          </a:xfrm>
          <a:prstGeom prst="rect">
            <a:avLst/>
          </a:prstGeom>
        </p:spPr>
      </p:pic>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调查表审批</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2" name="文本框 21"/>
          <p:cNvSpPr txBox="1"/>
          <p:nvPr/>
        </p:nvSpPr>
        <p:spPr>
          <a:xfrm>
            <a:off x="2018665" y="4814570"/>
            <a:ext cx="9318625" cy="1598295"/>
          </a:xfrm>
          <a:prstGeom prst="rect">
            <a:avLst/>
          </a:prstGeom>
          <a:noFill/>
        </p:spPr>
        <p:txBody>
          <a:bodyPr wrap="square" rtlCol="0">
            <a:spAutoFit/>
          </a:bodyPr>
          <a:lstStyle/>
          <a:p>
            <a:pPr marL="285750" indent="-285750" algn="just" fontAlgn="auto">
              <a:lnSpc>
                <a:spcPct val="140000"/>
              </a:lnSpc>
              <a:buFont typeface="Wingdings" panose="05000000000000000000" charset="0"/>
              <a:buChar char="ü"/>
            </a:pPr>
            <a:r>
              <a:rPr lang="zh-CN" altLang="en-US" sz="1400" b="1">
                <a:sym typeface="+mn-ea"/>
              </a:rPr>
              <a:t>供应商来源</a:t>
            </a:r>
            <a:r>
              <a:rPr lang="zh-CN" altLang="en-US" sz="1400">
                <a:sym typeface="+mn-ea"/>
              </a:rPr>
              <a:t>：选择供应商来源，若为推荐，需填写推荐人，写入供应商主数据中</a:t>
            </a:r>
            <a:endParaRPr lang="en-US" altLang="zh-CN" sz="1400" b="1"/>
          </a:p>
          <a:p>
            <a:pPr marL="285750" indent="-285750" algn="just" fontAlgn="auto">
              <a:lnSpc>
                <a:spcPct val="140000"/>
              </a:lnSpc>
              <a:buFont typeface="Wingdings" panose="05000000000000000000" charset="0"/>
              <a:buChar char="ü"/>
            </a:pPr>
            <a:r>
              <a:rPr lang="en-US" altLang="zh-CN" sz="1400" b="1"/>
              <a:t>ERP</a:t>
            </a:r>
            <a:r>
              <a:rPr lang="zh-CN" altLang="en-US" sz="1400" b="1"/>
              <a:t>建档：</a:t>
            </a:r>
            <a:r>
              <a:rPr lang="zh-CN" altLang="en-US" sz="1400"/>
              <a:t>确认是否在注册阶段导入</a:t>
            </a:r>
            <a:r>
              <a:rPr lang="en-US" altLang="zh-CN" sz="1400"/>
              <a:t>ERP</a:t>
            </a:r>
            <a:r>
              <a:rPr lang="zh-CN" altLang="en-US" sz="1400"/>
              <a:t>建档，若建档，</a:t>
            </a:r>
            <a:r>
              <a:rPr lang="zh-CN" sz="1400"/>
              <a:t>自动触发工作流，由指定业务员对供应商主档信息进行补充及确认（审批人发起</a:t>
            </a:r>
            <a:r>
              <a:rPr lang="en-US" altLang="zh-CN" sz="1400"/>
              <a:t> </a:t>
            </a:r>
            <a:r>
              <a:rPr lang="en-US" altLang="zh-CN" sz="1400">
                <a:latin typeface="微软雅黑" panose="020B0503020204020204" charset="-122"/>
                <a:ea typeface="微软雅黑" panose="020B0503020204020204" charset="-122"/>
              </a:rPr>
              <a:t>→</a:t>
            </a:r>
            <a:r>
              <a:rPr lang="en-US" altLang="zh-CN" sz="1400"/>
              <a:t> </a:t>
            </a:r>
            <a:r>
              <a:rPr lang="zh-CN" altLang="en-US" sz="1400"/>
              <a:t>业务员补充信息</a:t>
            </a:r>
            <a:r>
              <a:rPr lang="en-US" altLang="zh-CN" sz="1400">
                <a:latin typeface="微软雅黑" panose="020B0503020204020204" charset="-122"/>
                <a:ea typeface="微软雅黑" panose="020B0503020204020204" charset="-122"/>
                <a:sym typeface="+mn-ea"/>
              </a:rPr>
              <a:t>→</a:t>
            </a:r>
            <a:r>
              <a:rPr lang="en-US" altLang="zh-CN" sz="1400"/>
              <a:t> </a:t>
            </a:r>
            <a:r>
              <a:rPr lang="zh-CN" altLang="en-US" sz="1400"/>
              <a:t>导入</a:t>
            </a:r>
            <a:r>
              <a:rPr lang="en-US" altLang="zh-CN" sz="1400"/>
              <a:t>ERP</a:t>
            </a:r>
            <a:r>
              <a:rPr lang="zh-CN" altLang="en-US" sz="1400"/>
              <a:t>）</a:t>
            </a:r>
            <a:endParaRPr lang="zh-CN" altLang="en-US" sz="1400"/>
          </a:p>
          <a:p>
            <a:pPr marL="285750" indent="-285750" algn="just" fontAlgn="auto">
              <a:lnSpc>
                <a:spcPct val="140000"/>
              </a:lnSpc>
              <a:buFont typeface="Wingdings" panose="05000000000000000000" charset="0"/>
              <a:buChar char="ü"/>
            </a:pPr>
            <a:r>
              <a:rPr lang="en-US" altLang="zh-CN" sz="1400" b="1"/>
              <a:t>ERP</a:t>
            </a:r>
            <a:r>
              <a:rPr lang="zh-CN" altLang="en-US" sz="1400" b="1"/>
              <a:t>状态控制</a:t>
            </a:r>
            <a:r>
              <a:rPr lang="zh-CN" altLang="en-US" sz="1400"/>
              <a:t>：提前导入</a:t>
            </a:r>
            <a:r>
              <a:rPr lang="en-US" altLang="zh-CN" sz="1400"/>
              <a:t>ERP</a:t>
            </a:r>
            <a:r>
              <a:rPr lang="zh-CN" altLang="en-US" sz="1400"/>
              <a:t>的供应商，在</a:t>
            </a:r>
            <a:r>
              <a:rPr lang="en-US" altLang="zh-CN" sz="1400"/>
              <a:t>ERP</a:t>
            </a:r>
            <a:r>
              <a:rPr lang="zh-CN" altLang="en-US" sz="1400"/>
              <a:t>中状态为预审，需限制只可下样品单，不允许下大货，准入评估通过后，更新</a:t>
            </a:r>
            <a:r>
              <a:rPr lang="en-US" altLang="zh-CN" sz="1400"/>
              <a:t>ERP</a:t>
            </a:r>
            <a:r>
              <a:rPr lang="zh-CN" altLang="en-US" sz="1400"/>
              <a:t>供应商状态为已确认</a:t>
            </a:r>
            <a:endParaRPr lang="zh-CN" altLang="en-US" sz="140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6" name="矩形 5"/>
          <p:cNvSpPr/>
          <p:nvPr/>
        </p:nvSpPr>
        <p:spPr>
          <a:xfrm>
            <a:off x="3754120" y="2955290"/>
            <a:ext cx="5245735" cy="34353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88645" y="1266825"/>
            <a:ext cx="10591800" cy="3917950"/>
          </a:xfrm>
          <a:prstGeom prst="rect">
            <a:avLst/>
          </a:prstGeom>
        </p:spPr>
      </p:pic>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手动导入</a:t>
            </a:r>
            <a:r>
              <a:rPr lang="en-US" altLang="zh-CN" dirty="0"/>
              <a:t>ERP</a:t>
            </a:r>
            <a:endParaRPr lang="en-US" alt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3" name="文本框 2"/>
          <p:cNvSpPr txBox="1"/>
          <p:nvPr/>
        </p:nvSpPr>
        <p:spPr>
          <a:xfrm>
            <a:off x="768350" y="5500370"/>
            <a:ext cx="9537065" cy="73088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sz="1600"/>
              <a:t>在任何节点，对于未导入</a:t>
            </a:r>
            <a:r>
              <a:rPr lang="en-US" altLang="zh-CN" sz="1600"/>
              <a:t>ERP</a:t>
            </a:r>
            <a:r>
              <a:rPr lang="zh-CN" altLang="en-US" sz="1600"/>
              <a:t>的供应商，</a:t>
            </a:r>
            <a:r>
              <a:rPr lang="zh-CN" sz="1600"/>
              <a:t>可手动触发工作流进行导入</a:t>
            </a:r>
            <a:endParaRPr lang="zh-CN" sz="1600"/>
          </a:p>
          <a:p>
            <a:pPr marL="285750" indent="-285750" algn="just" fontAlgn="auto">
              <a:lnSpc>
                <a:spcPct val="130000"/>
              </a:lnSpc>
              <a:buFont typeface="Wingdings" panose="05000000000000000000" charset="0"/>
              <a:buChar char="ü"/>
            </a:pPr>
            <a:r>
              <a:rPr lang="zh-CN" sz="1600"/>
              <a:t>供管选择采购员补充并确认供应商信息，采购员确认后将由供管最终确认，无误后导入</a:t>
            </a:r>
            <a:r>
              <a:rPr lang="en-US" altLang="zh-CN" sz="1600"/>
              <a:t>ERP</a:t>
            </a:r>
            <a:r>
              <a:rPr lang="zh-CN" altLang="en-US" sz="1600"/>
              <a:t>建档</a:t>
            </a:r>
            <a:endParaRPr lang="zh-CN" altLang="en-US" sz="160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6" name="图片 5"/>
          <p:cNvPicPr>
            <a:picLocks noChangeAspect="1"/>
          </p:cNvPicPr>
          <p:nvPr/>
        </p:nvPicPr>
        <p:blipFill>
          <a:blip r:embed="rId2"/>
          <a:stretch>
            <a:fillRect/>
          </a:stretch>
        </p:blipFill>
        <p:spPr>
          <a:xfrm>
            <a:off x="3903345" y="2946400"/>
            <a:ext cx="3441065" cy="211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手动导入</a:t>
            </a:r>
            <a:r>
              <a:rPr lang="en-US" altLang="zh-CN" dirty="0"/>
              <a:t>ERP</a:t>
            </a:r>
            <a:endParaRPr lang="en-US" alt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3" name="文本框 2"/>
          <p:cNvSpPr txBox="1"/>
          <p:nvPr/>
        </p:nvSpPr>
        <p:spPr>
          <a:xfrm>
            <a:off x="768350" y="5547995"/>
            <a:ext cx="9537065" cy="73088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a:t>采购员补充供应商主档中必填字段，写入供应商主数据中</a:t>
            </a:r>
            <a:endParaRPr lang="zh-CN" altLang="en-US" sz="1600"/>
          </a:p>
          <a:p>
            <a:pPr marL="285750" indent="-285750" algn="just" fontAlgn="auto">
              <a:lnSpc>
                <a:spcPct val="130000"/>
              </a:lnSpc>
              <a:buFont typeface="Wingdings" panose="05000000000000000000" charset="0"/>
              <a:buChar char="ü"/>
            </a:pPr>
            <a:r>
              <a:rPr lang="zh-CN" altLang="en-US" sz="1600"/>
              <a:t>采购员提交后，由供管最终确认后导入</a:t>
            </a:r>
            <a:r>
              <a:rPr lang="en-US" altLang="zh-CN" sz="1600"/>
              <a:t>ERP</a:t>
            </a:r>
            <a:endParaRPr lang="en-US" altLang="zh-CN" sz="160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2" name="图片 1"/>
          <p:cNvPicPr>
            <a:picLocks noChangeAspect="1"/>
          </p:cNvPicPr>
          <p:nvPr/>
        </p:nvPicPr>
        <p:blipFill>
          <a:blip r:embed="rId1"/>
          <a:stretch>
            <a:fillRect/>
          </a:stretch>
        </p:blipFill>
        <p:spPr>
          <a:xfrm>
            <a:off x="588645" y="1263015"/>
            <a:ext cx="9398635" cy="4353560"/>
          </a:xfrm>
          <a:prstGeom prst="rect">
            <a:avLst/>
          </a:prstGeom>
        </p:spPr>
      </p:pic>
      <p:sp>
        <p:nvSpPr>
          <p:cNvPr id="4" name="矩形 3"/>
          <p:cNvSpPr/>
          <p:nvPr/>
        </p:nvSpPr>
        <p:spPr>
          <a:xfrm>
            <a:off x="858520" y="2705100"/>
            <a:ext cx="8360410" cy="43053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供应商引入</a:t>
            </a:r>
            <a:r>
              <a:rPr lang="en-US" altLang="zh-CN" sz="2800" dirty="0"/>
              <a:t>-</a:t>
            </a:r>
            <a:r>
              <a:rPr lang="zh-CN" altLang="en-US" sz="2800" dirty="0"/>
              <a:t>页面介绍</a:t>
            </a:r>
            <a:endParaRPr lang="zh-CN" altLang="en-US" sz="2800" dirty="0"/>
          </a:p>
        </p:txBody>
      </p:sp>
      <p:sp>
        <p:nvSpPr>
          <p:cNvPr id="23" name="文本框 22"/>
          <p:cNvSpPr txBox="1"/>
          <p:nvPr/>
        </p:nvSpPr>
        <p:spPr>
          <a:xfrm>
            <a:off x="558165" y="5547995"/>
            <a:ext cx="10288270" cy="81026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a:t>供应商在登录页面可查看公告栏</a:t>
            </a:r>
            <a:endParaRPr lang="zh-CN" altLang="en-US"/>
          </a:p>
          <a:p>
            <a:pPr marL="285750" indent="-285750" algn="just" fontAlgn="auto">
              <a:lnSpc>
                <a:spcPct val="130000"/>
              </a:lnSpc>
              <a:buFont typeface="Wingdings" panose="05000000000000000000" charset="0"/>
              <a:buChar char="ü"/>
            </a:pPr>
            <a:r>
              <a:rPr lang="zh-CN" altLang="en-US"/>
              <a:t>公告编辑时设置公告对象（公开</a:t>
            </a:r>
            <a:r>
              <a:rPr lang="en-US" altLang="zh-CN"/>
              <a:t>/</a:t>
            </a:r>
            <a:r>
              <a:rPr lang="zh-CN" altLang="en-US"/>
              <a:t>仅供应商</a:t>
            </a:r>
            <a:r>
              <a:rPr lang="en-US" altLang="zh-CN"/>
              <a:t>/</a:t>
            </a:r>
            <a:r>
              <a:rPr lang="zh-CN" altLang="en-US"/>
              <a:t>仅采购方）、公告类型、公告有效期、上传附件、预览</a:t>
            </a:r>
            <a:endParaRPr lang="zh-CN" altLang="en-US"/>
          </a:p>
        </p:txBody>
      </p:sp>
      <p:sp>
        <p:nvSpPr>
          <p:cNvPr id="24" name="矩形: 圆顶角 8"/>
          <p:cNvSpPr/>
          <p:nvPr/>
        </p:nvSpPr>
        <p:spPr>
          <a:xfrm>
            <a:off x="55816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公告管理</a:t>
            </a:r>
            <a:endParaRPr lang="zh-CN" altLang="en-US"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2" name="图片 1"/>
          <p:cNvPicPr>
            <a:picLocks noChangeAspect="1"/>
          </p:cNvPicPr>
          <p:nvPr/>
        </p:nvPicPr>
        <p:blipFill>
          <a:blip r:embed="rId1"/>
          <a:stretch>
            <a:fillRect/>
          </a:stretch>
        </p:blipFill>
        <p:spPr>
          <a:xfrm>
            <a:off x="558165" y="1266825"/>
            <a:ext cx="7529195" cy="4199890"/>
          </a:xfrm>
          <a:prstGeom prst="rect">
            <a:avLst/>
          </a:prstGeom>
        </p:spPr>
      </p:pic>
      <p:pic>
        <p:nvPicPr>
          <p:cNvPr id="3" name="图片 2"/>
          <p:cNvPicPr>
            <a:picLocks noChangeAspect="1"/>
          </p:cNvPicPr>
          <p:nvPr/>
        </p:nvPicPr>
        <p:blipFill>
          <a:blip r:embed="rId2"/>
          <a:stretch>
            <a:fillRect/>
          </a:stretch>
        </p:blipFill>
        <p:spPr>
          <a:xfrm>
            <a:off x="558165" y="1266825"/>
            <a:ext cx="9062720" cy="41548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tx1"/>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预审评估</a:t>
            </a:r>
            <a:r>
              <a:rPr lang="en-US" altLang="zh-CN" sz="2800" dirty="0"/>
              <a:t>-</a:t>
            </a:r>
            <a:r>
              <a:rPr lang="zh-CN" altLang="en-US" sz="2800" dirty="0"/>
              <a:t>流程介绍</a:t>
            </a:r>
            <a:endParaRPr lang="zh-CN" altLang="en-US" sz="2800" dirty="0"/>
          </a:p>
        </p:txBody>
      </p:sp>
      <p:sp>
        <p:nvSpPr>
          <p:cNvPr id="72" name="矩形: 圆角 71"/>
          <p:cNvSpPr/>
          <p:nvPr/>
        </p:nvSpPr>
        <p:spPr>
          <a:xfrm>
            <a:off x="353060" y="1349375"/>
            <a:ext cx="4775200" cy="4053205"/>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6" name="文本框 5"/>
          <p:cNvSpPr txBox="1"/>
          <p:nvPr/>
        </p:nvSpPr>
        <p:spPr>
          <a:xfrm>
            <a:off x="815340" y="1623060"/>
            <a:ext cx="1452880" cy="398780"/>
          </a:xfrm>
          <a:prstGeom prst="rect">
            <a:avLst/>
          </a:prstGeom>
          <a:noFill/>
        </p:spPr>
        <p:txBody>
          <a:bodyPr wrap="none" rtlCol="0">
            <a:spAutoFit/>
          </a:bodyPr>
          <a:lstStyle/>
          <a:p>
            <a:r>
              <a:rPr lang="zh-CN" altLang="en-US" sz="2000" b="1">
                <a:solidFill>
                  <a:schemeClr val="accent1"/>
                </a:solidFill>
              </a:rPr>
              <a:t>实现要点：</a:t>
            </a:r>
            <a:endParaRPr lang="zh-CN" altLang="en-US" sz="2000" b="1">
              <a:solidFill>
                <a:schemeClr val="accent1"/>
              </a:solidFill>
            </a:endParaRPr>
          </a:p>
        </p:txBody>
      </p:sp>
      <p:sp>
        <p:nvSpPr>
          <p:cNvPr id="17" name="文本框 16"/>
          <p:cNvSpPr txBox="1"/>
          <p:nvPr/>
        </p:nvSpPr>
        <p:spPr>
          <a:xfrm>
            <a:off x="454660" y="2035810"/>
            <a:ext cx="4572635" cy="2748280"/>
          </a:xfrm>
          <a:prstGeom prst="rect">
            <a:avLst/>
          </a:prstGeom>
          <a:noFill/>
        </p:spPr>
        <p:txBody>
          <a:bodyPr wrap="square" rtlCol="0">
            <a:spAutoFit/>
          </a:bodyPr>
          <a:lstStyle/>
          <a:p>
            <a:pPr marL="285750" indent="-285750" algn="just" fontAlgn="auto">
              <a:lnSpc>
                <a:spcPct val="140000"/>
              </a:lnSpc>
              <a:buFont typeface="Wingdings" panose="05000000000000000000" charset="0"/>
              <a:buChar char="ü"/>
            </a:pPr>
            <a:r>
              <a:rPr lang="zh-CN" sz="1600"/>
              <a:t>成衣调样流程预计在二期实现</a:t>
            </a:r>
            <a:endParaRPr lang="zh-CN" altLang="en-US" sz="1600"/>
          </a:p>
          <a:p>
            <a:pPr marL="285750" indent="-285750" algn="just" fontAlgn="auto">
              <a:lnSpc>
                <a:spcPct val="140000"/>
              </a:lnSpc>
              <a:buFont typeface="Wingdings" panose="05000000000000000000" charset="0"/>
              <a:buChar char="ü"/>
            </a:pPr>
            <a:r>
              <a:rPr lang="zh-CN" altLang="en-US" sz="1600"/>
              <a:t>预审评估由产品部业务员在调样完成后发起，由质控部填写样品综合意见评估及风险评估，由核价部填写报价评估</a:t>
            </a:r>
            <a:endParaRPr lang="zh-CN" altLang="en-US" sz="1600"/>
          </a:p>
          <a:p>
            <a:pPr marL="285750" indent="-285750" algn="just" fontAlgn="auto">
              <a:lnSpc>
                <a:spcPct val="130000"/>
              </a:lnSpc>
              <a:buFont typeface="Wingdings" panose="05000000000000000000" charset="0"/>
              <a:buChar char="ü"/>
            </a:pPr>
            <a:r>
              <a:rPr lang="zh-CN" altLang="en-US" sz="1600"/>
              <a:t>评分人：评分模板可进行配置，在发起评分时可修改评分人，多人评分可设置权重</a:t>
            </a:r>
            <a:endParaRPr lang="zh-CN" altLang="en-US" sz="1600"/>
          </a:p>
          <a:p>
            <a:pPr marL="285750" indent="-285750" algn="just" fontAlgn="auto">
              <a:lnSpc>
                <a:spcPct val="130000"/>
              </a:lnSpc>
              <a:buFont typeface="Wingdings" panose="05000000000000000000" charset="0"/>
              <a:buChar char="ü"/>
            </a:pPr>
            <a:r>
              <a:rPr sz="1600">
                <a:latin typeface="微软雅黑" panose="020B0503020204020204" charset="-122"/>
                <a:ea typeface="微软雅黑" panose="020B0503020204020204" charset="-122"/>
                <a:cs typeface="微软雅黑" panose="020B0503020204020204" charset="-122"/>
              </a:rPr>
              <a:t>在注册阶段，可不发起预审评估，直接转为潜在/不合格，需走审批流程</a:t>
            </a:r>
            <a:endParaRPr sz="1600">
              <a:latin typeface="微软雅黑" panose="020B0503020204020204" charset="-122"/>
              <a:ea typeface="微软雅黑" panose="020B0503020204020204" charset="-122"/>
              <a:cs typeface="微软雅黑" panose="020B0503020204020204" charset="-122"/>
            </a:endParaRPr>
          </a:p>
        </p:txBody>
      </p:sp>
      <p:graphicFrame>
        <p:nvGraphicFramePr>
          <p:cNvPr id="9" name="对象 8"/>
          <p:cNvGraphicFramePr/>
          <p:nvPr/>
        </p:nvGraphicFramePr>
        <p:xfrm>
          <a:off x="5353685" y="354330"/>
          <a:ext cx="6579870" cy="6052820"/>
        </p:xfrm>
        <a:graphic>
          <a:graphicData uri="http://schemas.openxmlformats.org/presentationml/2006/ole">
            <mc:AlternateContent xmlns:mc="http://schemas.openxmlformats.org/markup-compatibility/2006">
              <mc:Choice xmlns:v="urn:schemas-microsoft-com:vml" Requires="v">
                <p:oleObj spid="_x0000_s2052" name="" r:id="rId1" imgW="7181850" imgH="6609080" progId="Visio.Drawing.15">
                  <p:embed/>
                </p:oleObj>
              </mc:Choice>
              <mc:Fallback>
                <p:oleObj name="" r:id="rId1" imgW="7181850" imgH="6609080" progId="Visio.Drawing.15">
                  <p:embed/>
                  <p:pic>
                    <p:nvPicPr>
                      <p:cNvPr id="0" name="图片 9"/>
                      <p:cNvPicPr/>
                      <p:nvPr/>
                    </p:nvPicPr>
                    <p:blipFill>
                      <a:blip r:embed="rId2"/>
                      <a:stretch>
                        <a:fillRect/>
                      </a:stretch>
                    </p:blipFill>
                    <p:spPr>
                      <a:xfrm>
                        <a:off x="5353685" y="354330"/>
                        <a:ext cx="6579870" cy="6052820"/>
                      </a:xfrm>
                      <a:prstGeom prst="rect">
                        <a:avLst/>
                      </a:prstGeom>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预审评审单</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供应商预审评审</a:t>
            </a:r>
            <a:r>
              <a:rPr lang="en-US" altLang="zh-CN" sz="2800" dirty="0"/>
              <a:t>-</a:t>
            </a:r>
            <a:r>
              <a:rPr lang="zh-CN" altLang="en-US" sz="2800" dirty="0"/>
              <a:t>页面介绍</a:t>
            </a:r>
            <a:endParaRPr lang="zh-CN" altLang="en-US" sz="2800"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7" name="文本框 6"/>
          <p:cNvSpPr txBox="1"/>
          <p:nvPr/>
        </p:nvSpPr>
        <p:spPr>
          <a:xfrm>
            <a:off x="768350" y="5683885"/>
            <a:ext cx="9537065" cy="73088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sz="1600"/>
              <a:t>供应商关联业务单据中可查看供应商送样申请及样品单</a:t>
            </a:r>
            <a:endParaRPr lang="zh-CN" sz="1600"/>
          </a:p>
          <a:p>
            <a:pPr marL="285750" indent="-285750" algn="just" fontAlgn="auto">
              <a:lnSpc>
                <a:spcPct val="130000"/>
              </a:lnSpc>
              <a:buFont typeface="Wingdings" panose="05000000000000000000" charset="0"/>
              <a:buChar char="ü"/>
            </a:pPr>
            <a:r>
              <a:rPr lang="zh-CN" sz="1600"/>
              <a:t>根据供应商分类（成衣</a:t>
            </a:r>
            <a:r>
              <a:rPr lang="en-US" altLang="zh-CN" sz="1600"/>
              <a:t>/</a:t>
            </a:r>
            <a:r>
              <a:rPr lang="zh-CN" altLang="en-US" sz="1600"/>
              <a:t>面料</a:t>
            </a:r>
            <a:r>
              <a:rPr lang="en-US" altLang="zh-CN" sz="1600"/>
              <a:t>/</a:t>
            </a:r>
            <a:r>
              <a:rPr lang="zh-CN" altLang="en-US" sz="1600"/>
              <a:t>皮具</a:t>
            </a:r>
            <a:r>
              <a:rPr lang="en-US" altLang="zh-CN" sz="1600"/>
              <a:t>/</a:t>
            </a:r>
            <a:r>
              <a:rPr lang="zh-CN" altLang="en-US" sz="1600"/>
              <a:t>辅料）</a:t>
            </a:r>
            <a:r>
              <a:rPr lang="zh-CN" sz="1600"/>
              <a:t>带出默认评分模板，可修改</a:t>
            </a:r>
            <a:endParaRPr lang="zh-CN" sz="1600"/>
          </a:p>
        </p:txBody>
      </p:sp>
      <p:pic>
        <p:nvPicPr>
          <p:cNvPr id="2" name="图片 1"/>
          <p:cNvPicPr>
            <a:picLocks noChangeAspect="1"/>
          </p:cNvPicPr>
          <p:nvPr/>
        </p:nvPicPr>
        <p:blipFill>
          <a:blip r:embed="rId1"/>
          <a:stretch>
            <a:fillRect/>
          </a:stretch>
        </p:blipFill>
        <p:spPr>
          <a:xfrm>
            <a:off x="588645" y="1263015"/>
            <a:ext cx="9010650" cy="4434840"/>
          </a:xfrm>
          <a:prstGeom prst="rect">
            <a:avLst/>
          </a:prstGeom>
        </p:spPr>
      </p:pic>
      <p:sp>
        <p:nvSpPr>
          <p:cNvPr id="14" name="矩形 13"/>
          <p:cNvSpPr/>
          <p:nvPr/>
        </p:nvSpPr>
        <p:spPr>
          <a:xfrm>
            <a:off x="3679190" y="3129915"/>
            <a:ext cx="2494280" cy="61658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评分人维护</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sym typeface="+mn-ea"/>
              </a:rPr>
              <a:t>供应商预审评审</a:t>
            </a:r>
            <a:r>
              <a:rPr lang="en-US" altLang="zh-CN" sz="2800" dirty="0"/>
              <a:t>-</a:t>
            </a:r>
            <a:r>
              <a:rPr lang="zh-CN" altLang="en-US" sz="2800" dirty="0"/>
              <a:t>页面介绍</a:t>
            </a:r>
            <a:endParaRPr lang="zh-CN" altLang="en-US" sz="2800" dirty="0"/>
          </a:p>
        </p:txBody>
      </p:sp>
      <p:pic>
        <p:nvPicPr>
          <p:cNvPr id="3" name="图片 2"/>
          <p:cNvPicPr>
            <a:picLocks noChangeAspect="1"/>
          </p:cNvPicPr>
          <p:nvPr/>
        </p:nvPicPr>
        <p:blipFill>
          <a:blip r:embed="rId1"/>
          <a:stretch>
            <a:fillRect/>
          </a:stretch>
        </p:blipFill>
        <p:spPr>
          <a:xfrm>
            <a:off x="3606165" y="2195830"/>
            <a:ext cx="387350" cy="203200"/>
          </a:xfrm>
          <a:prstGeom prst="rect">
            <a:avLst/>
          </a:prstGeom>
        </p:spPr>
      </p:pic>
      <p:pic>
        <p:nvPicPr>
          <p:cNvPr id="2" name="图片 1"/>
          <p:cNvPicPr>
            <a:picLocks noChangeAspect="1"/>
          </p:cNvPicPr>
          <p:nvPr/>
        </p:nvPicPr>
        <p:blipFill>
          <a:blip r:embed="rId2"/>
          <a:stretch>
            <a:fillRect/>
          </a:stretch>
        </p:blipFill>
        <p:spPr>
          <a:xfrm>
            <a:off x="558165" y="1266825"/>
            <a:ext cx="8481695" cy="4415155"/>
          </a:xfrm>
          <a:prstGeom prst="rect">
            <a:avLst/>
          </a:prstGeom>
        </p:spPr>
      </p:pic>
      <p:sp>
        <p:nvSpPr>
          <p:cNvPr id="7" name="文本框 6"/>
          <p:cNvSpPr txBox="1"/>
          <p:nvPr/>
        </p:nvSpPr>
        <p:spPr>
          <a:xfrm>
            <a:off x="693420" y="5700395"/>
            <a:ext cx="8020685" cy="75565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a:t>在发起准入评估时，不同评分指标可修改</a:t>
            </a:r>
            <a:r>
              <a:rPr lang="en-US" altLang="zh-CN"/>
              <a:t>/</a:t>
            </a:r>
            <a:r>
              <a:rPr lang="zh-CN" altLang="en-US"/>
              <a:t>维护不同的评分人</a:t>
            </a:r>
            <a:endParaRPr lang="zh-CN" altLang="en-US"/>
          </a:p>
          <a:p>
            <a:pPr marL="285750" indent="-285750">
              <a:lnSpc>
                <a:spcPct val="120000"/>
              </a:lnSpc>
              <a:buFont typeface="Wingdings" panose="05000000000000000000" charset="0"/>
              <a:buChar char="ü"/>
            </a:pPr>
            <a:r>
              <a:rPr lang="zh-CN" altLang="en-US"/>
              <a:t>同一指标可维护多个评分人，并设置不同用户评分权重</a:t>
            </a:r>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tx1"/>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业务通知单</a:t>
            </a:r>
            <a:endParaRPr lang="zh-CN" dirty="0"/>
          </a:p>
        </p:txBody>
      </p:sp>
      <p:sp>
        <p:nvSpPr>
          <p:cNvPr id="27" name="标题 1"/>
          <p:cNvSpPr>
            <a:spLocks noGrp="1"/>
          </p:cNvSpPr>
          <p:nvPr/>
        </p:nvSpPr>
        <p:spPr>
          <a:xfrm>
            <a:off x="421213" y="14652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合作条款确认</a:t>
            </a:r>
            <a:r>
              <a:rPr lang="en-US" altLang="zh-CN" sz="2800" dirty="0"/>
              <a:t>-</a:t>
            </a:r>
            <a:r>
              <a:rPr lang="zh-CN" altLang="en-US" sz="2800" dirty="0"/>
              <a:t>页面介绍</a:t>
            </a:r>
            <a:endParaRPr lang="zh-CN" altLang="en-US" sz="2800" dirty="0"/>
          </a:p>
        </p:txBody>
      </p:sp>
      <p:sp>
        <p:nvSpPr>
          <p:cNvPr id="3" name="文本框 2"/>
          <p:cNvSpPr txBox="1"/>
          <p:nvPr/>
        </p:nvSpPr>
        <p:spPr>
          <a:xfrm>
            <a:off x="588645" y="5504180"/>
            <a:ext cx="7239000" cy="105092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sz="1600">
                <a:latin typeface="微软雅黑" panose="020B0503020204020204" charset="-122"/>
                <a:ea typeface="微软雅黑" panose="020B0503020204020204" charset="-122"/>
                <a:cs typeface="微软雅黑" panose="020B0503020204020204" charset="-122"/>
                <a:sym typeface="+mn-ea"/>
              </a:rPr>
              <a:t>创建业务通知单，选择供应商（可单选/多选/批量导入供应商）</a:t>
            </a:r>
            <a:endParaRPr sz="1600">
              <a:latin typeface="微软雅黑" panose="020B0503020204020204" charset="-122"/>
              <a:ea typeface="微软雅黑" panose="020B0503020204020204" charset="-122"/>
              <a:cs typeface="微软雅黑" panose="020B0503020204020204" charset="-122"/>
            </a:endParaRPr>
          </a:p>
          <a:p>
            <a:pPr marL="285750" indent="-285750" algn="just" fontAlgn="auto">
              <a:lnSpc>
                <a:spcPct val="130000"/>
              </a:lnSpc>
              <a:buFont typeface="Wingdings" panose="05000000000000000000" charset="0"/>
              <a:buChar char="ü"/>
            </a:pPr>
            <a:r>
              <a:rPr lang="zh-CN" sz="1600"/>
              <a:t>可编辑通知消息，上传合同附件</a:t>
            </a:r>
            <a:r>
              <a:rPr lang="en-US" altLang="zh-CN" sz="1600">
                <a:sym typeface="+mn-ea"/>
              </a:rPr>
              <a:t>/</a:t>
            </a:r>
            <a:r>
              <a:rPr lang="zh-CN" altLang="en-US" sz="1600">
                <a:sym typeface="+mn-ea"/>
              </a:rPr>
              <a:t>说明文件</a:t>
            </a:r>
            <a:endParaRPr lang="zh-CN" altLang="en-US" sz="1600">
              <a:sym typeface="+mn-ea"/>
            </a:endParaRPr>
          </a:p>
          <a:p>
            <a:pPr marL="285750" indent="-285750" algn="just" fontAlgn="auto">
              <a:lnSpc>
                <a:spcPct val="130000"/>
              </a:lnSpc>
              <a:buFont typeface="Wingdings" panose="05000000000000000000" charset="0"/>
              <a:buChar char="ü"/>
            </a:pPr>
            <a:r>
              <a:rPr lang="zh-CN" altLang="en-US" sz="1600"/>
              <a:t>增加签署截止日期，截止前进行提醒</a:t>
            </a:r>
            <a:endParaRPr lang="zh-CN" altLang="en-US" sz="160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4" name="图片 3"/>
          <p:cNvPicPr>
            <a:picLocks noChangeAspect="1"/>
          </p:cNvPicPr>
          <p:nvPr/>
        </p:nvPicPr>
        <p:blipFill>
          <a:blip r:embed="rId1"/>
          <a:stretch>
            <a:fillRect/>
          </a:stretch>
        </p:blipFill>
        <p:spPr>
          <a:xfrm>
            <a:off x="588645" y="1252220"/>
            <a:ext cx="8716645" cy="4168775"/>
          </a:xfrm>
          <a:prstGeom prst="rect">
            <a:avLst/>
          </a:prstGeom>
        </p:spPr>
      </p:pic>
      <p:sp>
        <p:nvSpPr>
          <p:cNvPr id="14" name="矩形 13"/>
          <p:cNvSpPr/>
          <p:nvPr/>
        </p:nvSpPr>
        <p:spPr>
          <a:xfrm>
            <a:off x="7827645" y="1402715"/>
            <a:ext cx="572135" cy="36258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 name="矩形 6"/>
          <p:cNvSpPr/>
          <p:nvPr/>
        </p:nvSpPr>
        <p:spPr>
          <a:xfrm>
            <a:off x="6978650" y="3072130"/>
            <a:ext cx="2074545" cy="36258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矩形 7"/>
          <p:cNvSpPr/>
          <p:nvPr/>
        </p:nvSpPr>
        <p:spPr>
          <a:xfrm>
            <a:off x="666115" y="4224655"/>
            <a:ext cx="581660" cy="31369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供应商签署</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sym typeface="+mn-ea"/>
              </a:rPr>
              <a:t>合作条款确认</a:t>
            </a:r>
            <a:r>
              <a:rPr lang="en-US" altLang="zh-CN" sz="2800" dirty="0">
                <a:sym typeface="+mn-ea"/>
              </a:rPr>
              <a:t>-</a:t>
            </a:r>
            <a:r>
              <a:rPr lang="zh-CN" altLang="en-US" sz="2800" dirty="0">
                <a:sym typeface="+mn-ea"/>
              </a:rPr>
              <a:t>页面介绍</a:t>
            </a:r>
            <a:endParaRPr lang="zh-CN" altLang="en-US" sz="2800" dirty="0"/>
          </a:p>
        </p:txBody>
      </p:sp>
      <p:sp>
        <p:nvSpPr>
          <p:cNvPr id="3" name="文本框 2"/>
          <p:cNvSpPr txBox="1"/>
          <p:nvPr/>
        </p:nvSpPr>
        <p:spPr>
          <a:xfrm>
            <a:off x="708660" y="5850255"/>
            <a:ext cx="9528810" cy="45085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t>供应商可查看并下载采购方附件，上传供应商附件，并签署通知单</a:t>
            </a:r>
            <a:endParaRPr lang="zh-CN"/>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5" name="图片 4"/>
          <p:cNvPicPr>
            <a:picLocks noChangeAspect="1"/>
          </p:cNvPicPr>
          <p:nvPr/>
        </p:nvPicPr>
        <p:blipFill>
          <a:blip r:embed="rId1"/>
          <a:srcRect b="11727"/>
          <a:stretch>
            <a:fillRect/>
          </a:stretch>
        </p:blipFill>
        <p:spPr>
          <a:xfrm>
            <a:off x="588645" y="1263015"/>
            <a:ext cx="9361805" cy="4196715"/>
          </a:xfrm>
          <a:prstGeom prst="rect">
            <a:avLst/>
          </a:prstGeom>
        </p:spPr>
      </p:pic>
      <p:sp>
        <p:nvSpPr>
          <p:cNvPr id="14" name="矩形 13"/>
          <p:cNvSpPr/>
          <p:nvPr/>
        </p:nvSpPr>
        <p:spPr>
          <a:xfrm>
            <a:off x="7358380" y="1492250"/>
            <a:ext cx="2592070" cy="36258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圆顶角 58"/>
          <p:cNvSpPr/>
          <p:nvPr/>
        </p:nvSpPr>
        <p:spPr>
          <a:xfrm>
            <a:off x="588645" y="88900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签收状态</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sym typeface="+mn-ea"/>
              </a:rPr>
              <a:t>合作条款确认</a:t>
            </a:r>
            <a:r>
              <a:rPr lang="en-US" altLang="zh-CN" sz="2800" dirty="0">
                <a:sym typeface="+mn-ea"/>
              </a:rPr>
              <a:t>-</a:t>
            </a:r>
            <a:r>
              <a:rPr lang="zh-CN" altLang="en-US" sz="2800" dirty="0">
                <a:sym typeface="+mn-ea"/>
              </a:rPr>
              <a:t>页面介绍</a:t>
            </a:r>
            <a:endParaRPr lang="zh-CN" altLang="en-US" sz="2800" dirty="0"/>
          </a:p>
        </p:txBody>
      </p:sp>
      <p:sp>
        <p:nvSpPr>
          <p:cNvPr id="3" name="文本框 2"/>
          <p:cNvSpPr txBox="1"/>
          <p:nvPr/>
        </p:nvSpPr>
        <p:spPr>
          <a:xfrm>
            <a:off x="664210" y="5737860"/>
            <a:ext cx="7239000" cy="81026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t>供应商签署完成后，</a:t>
            </a:r>
            <a:r>
              <a:rPr lang="zh-CN" altLang="en-US"/>
              <a:t>可查看供应商签收状态及签收时间</a:t>
            </a:r>
            <a:endParaRPr lang="zh-CN" altLang="en-US"/>
          </a:p>
          <a:p>
            <a:pPr marL="285750" indent="-285750" algn="just" fontAlgn="auto">
              <a:lnSpc>
                <a:spcPct val="130000"/>
              </a:lnSpc>
              <a:buFont typeface="Wingdings" panose="05000000000000000000" charset="0"/>
              <a:buChar char="ü"/>
            </a:pPr>
            <a:r>
              <a:rPr lang="zh-CN" altLang="en-US"/>
              <a:t>供应商上传合同附件写入供应商主档</a:t>
            </a:r>
            <a:endParaRPr lang="zh-CN" altLang="en-US"/>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pic>
        <p:nvPicPr>
          <p:cNvPr id="6" name="图片 5"/>
          <p:cNvPicPr>
            <a:picLocks noChangeAspect="1"/>
          </p:cNvPicPr>
          <p:nvPr/>
        </p:nvPicPr>
        <p:blipFill>
          <a:blip r:embed="rId1"/>
          <a:stretch>
            <a:fillRect/>
          </a:stretch>
        </p:blipFill>
        <p:spPr>
          <a:xfrm>
            <a:off x="588645" y="1263015"/>
            <a:ext cx="9407525" cy="441134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tx1"/>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流程介绍</a:t>
            </a:r>
            <a:endParaRPr lang="zh-CN" altLang="en-US" sz="2800" dirty="0"/>
          </a:p>
        </p:txBody>
      </p:sp>
      <p:sp>
        <p:nvSpPr>
          <p:cNvPr id="72" name="矩形: 圆角 71"/>
          <p:cNvSpPr/>
          <p:nvPr/>
        </p:nvSpPr>
        <p:spPr>
          <a:xfrm>
            <a:off x="529590" y="714375"/>
            <a:ext cx="5745480" cy="5769610"/>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4" name="文本框 3"/>
          <p:cNvSpPr txBox="1"/>
          <p:nvPr/>
        </p:nvSpPr>
        <p:spPr>
          <a:xfrm>
            <a:off x="1085850" y="874395"/>
            <a:ext cx="1452880" cy="398780"/>
          </a:xfrm>
          <a:prstGeom prst="rect">
            <a:avLst/>
          </a:prstGeom>
          <a:noFill/>
        </p:spPr>
        <p:txBody>
          <a:bodyPr wrap="none" rtlCol="0">
            <a:spAutoFit/>
          </a:bodyPr>
          <a:lstStyle/>
          <a:p>
            <a:r>
              <a:rPr lang="zh-CN" altLang="en-US" sz="2000" b="1">
                <a:solidFill>
                  <a:schemeClr val="accent1"/>
                </a:solidFill>
              </a:rPr>
              <a:t>实现要点：</a:t>
            </a:r>
            <a:endParaRPr lang="zh-CN" altLang="en-US" sz="2000" b="1">
              <a:solidFill>
                <a:schemeClr val="accent1"/>
              </a:solidFill>
            </a:endParaRPr>
          </a:p>
        </p:txBody>
      </p:sp>
      <p:sp>
        <p:nvSpPr>
          <p:cNvPr id="17" name="文本框 16"/>
          <p:cNvSpPr txBox="1"/>
          <p:nvPr/>
        </p:nvSpPr>
        <p:spPr>
          <a:xfrm>
            <a:off x="629920" y="1273175"/>
            <a:ext cx="5527675" cy="489077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b="1">
                <a:sym typeface="+mn-ea"/>
              </a:rPr>
              <a:t>验厂类型</a:t>
            </a:r>
            <a:r>
              <a:rPr lang="zh-CN" altLang="en-US" sz="1600">
                <a:sym typeface="+mn-ea"/>
              </a:rPr>
              <a:t>：准入验厂</a:t>
            </a:r>
            <a:r>
              <a:rPr lang="en-US" altLang="zh-CN" sz="1600">
                <a:sym typeface="+mn-ea"/>
              </a:rPr>
              <a:t>/</a:t>
            </a:r>
            <a:r>
              <a:rPr lang="zh-CN" altLang="en-US" sz="1600">
                <a:sym typeface="+mn-ea"/>
              </a:rPr>
              <a:t>复验验厂</a:t>
            </a:r>
            <a:endParaRPr lang="zh-CN" altLang="en-US" sz="1600"/>
          </a:p>
          <a:p>
            <a:pPr marL="285750" indent="-285750" algn="just" fontAlgn="auto">
              <a:lnSpc>
                <a:spcPct val="130000"/>
              </a:lnSpc>
              <a:buFont typeface="Wingdings" panose="05000000000000000000" charset="0"/>
              <a:buChar char="ü"/>
            </a:pPr>
            <a:r>
              <a:rPr lang="zh-CN" altLang="en-US" sz="1600" b="1"/>
              <a:t>附件上传</a:t>
            </a:r>
            <a:r>
              <a:rPr lang="zh-CN" altLang="en-US" sz="1600"/>
              <a:t>：发起验厂及评分时均可上传附件，包括现场照片、相关材料</a:t>
            </a:r>
            <a:endParaRPr lang="zh-CN" altLang="en-US" sz="1600"/>
          </a:p>
          <a:p>
            <a:pPr marL="285750" indent="-285750" algn="just" fontAlgn="auto">
              <a:lnSpc>
                <a:spcPct val="130000"/>
              </a:lnSpc>
              <a:buFont typeface="Wingdings" panose="05000000000000000000" charset="0"/>
              <a:buChar char="ü"/>
            </a:pPr>
            <a:r>
              <a:rPr lang="zh-CN" altLang="en-US" sz="1600" b="1"/>
              <a:t>逾期提醒</a:t>
            </a:r>
            <a:r>
              <a:rPr lang="zh-CN" altLang="en-US" sz="1600"/>
              <a:t>：评分人在一定期间内（</a:t>
            </a:r>
            <a:r>
              <a:rPr lang="en-US" altLang="zh-CN" sz="1600"/>
              <a:t>10</a:t>
            </a:r>
            <a:r>
              <a:rPr lang="zh-CN" altLang="en-US" sz="1600"/>
              <a:t>天）未完成评分时将通过系统消息及邮件进行提醒</a:t>
            </a:r>
            <a:endParaRPr lang="zh-CN" altLang="en-US" sz="1600"/>
          </a:p>
          <a:p>
            <a:pPr marL="285750" indent="-285750" algn="just" fontAlgn="auto">
              <a:lnSpc>
                <a:spcPct val="130000"/>
              </a:lnSpc>
              <a:buFont typeface="Wingdings" panose="05000000000000000000" charset="0"/>
              <a:buChar char="ü"/>
            </a:pPr>
            <a:r>
              <a:rPr lang="zh-CN" altLang="en-US" sz="1600" b="1"/>
              <a:t>可持续发展表</a:t>
            </a:r>
            <a:r>
              <a:rPr lang="zh-CN" altLang="en-US" sz="1600"/>
              <a:t>：在发起验厂之前通过调查表的形式发送给供应商进行填写，验厂报告中关联可持续发展表</a:t>
            </a:r>
            <a:endParaRPr lang="zh-CN" altLang="en-US" sz="1600"/>
          </a:p>
          <a:p>
            <a:pPr marL="285750" indent="-285750" algn="just" fontAlgn="auto">
              <a:lnSpc>
                <a:spcPct val="130000"/>
              </a:lnSpc>
              <a:buFont typeface="Wingdings" panose="05000000000000000000" charset="0"/>
              <a:buChar char="ü"/>
            </a:pPr>
            <a:r>
              <a:rPr lang="zh-CN" altLang="en-US" sz="1600" b="1">
                <a:sym typeface="+mn-ea"/>
              </a:rPr>
              <a:t>验厂报告抄送</a:t>
            </a:r>
            <a:r>
              <a:rPr lang="zh-CN" altLang="en-US" sz="1600">
                <a:sym typeface="+mn-ea"/>
              </a:rPr>
              <a:t>：验厂流程结束后，将抄送验厂结果及验厂报告至相关人员（产品部），抄送人可由</a:t>
            </a:r>
            <a:r>
              <a:rPr lang="zh-CN" sz="1600">
                <a:sym typeface="+mn-ea"/>
              </a:rPr>
              <a:t>验厂汇总人员手动</a:t>
            </a:r>
            <a:r>
              <a:rPr lang="zh-CN" altLang="en-US" sz="1600">
                <a:sym typeface="+mn-ea"/>
              </a:rPr>
              <a:t>选择</a:t>
            </a:r>
            <a:endParaRPr lang="zh-CN" altLang="en-US" sz="1600"/>
          </a:p>
          <a:p>
            <a:pPr marL="285750" indent="-285750" algn="just" fontAlgn="auto">
              <a:lnSpc>
                <a:spcPct val="130000"/>
              </a:lnSpc>
              <a:buFont typeface="Wingdings" panose="05000000000000000000" charset="0"/>
              <a:buChar char="ü"/>
            </a:pPr>
            <a:r>
              <a:rPr lang="zh-CN" altLang="en-US" sz="1600" b="1"/>
              <a:t>邮件通知节点</a:t>
            </a:r>
            <a:r>
              <a:rPr lang="zh-CN" altLang="en-US" sz="1600"/>
              <a:t>：</a:t>
            </a:r>
            <a:endParaRPr lang="zh-CN" altLang="en-US" sz="1600"/>
          </a:p>
          <a:p>
            <a:pPr marL="742950" lvl="1" indent="-285750" algn="just" fontAlgn="auto">
              <a:lnSpc>
                <a:spcPct val="130000"/>
              </a:lnSpc>
              <a:buFont typeface="Wingdings" panose="05000000000000000000" charset="0"/>
              <a:buChar char="ü"/>
            </a:pPr>
            <a:r>
              <a:rPr lang="zh-CN" altLang="en-US" sz="1600"/>
              <a:t>验厂</a:t>
            </a:r>
            <a:r>
              <a:rPr lang="en-US" altLang="zh-CN" sz="1600"/>
              <a:t>/</a:t>
            </a:r>
            <a:r>
              <a:rPr lang="zh-CN" altLang="en-US" sz="1600"/>
              <a:t>验货计划确认通知供应商</a:t>
            </a:r>
            <a:r>
              <a:rPr lang="en-US" altLang="zh-CN" sz="1600"/>
              <a:t>/</a:t>
            </a:r>
            <a:r>
              <a:rPr lang="zh-CN" altLang="en-US" sz="1600"/>
              <a:t>申请人</a:t>
            </a:r>
            <a:r>
              <a:rPr lang="en-US" altLang="zh-CN" sz="1600"/>
              <a:t>/</a:t>
            </a:r>
            <a:r>
              <a:rPr lang="zh-CN" altLang="en-US" sz="1600"/>
              <a:t>订单负责人</a:t>
            </a:r>
            <a:endParaRPr lang="zh-CN" altLang="en-US" sz="1600"/>
          </a:p>
          <a:p>
            <a:pPr marL="742950" lvl="1" indent="-285750" algn="just" fontAlgn="auto">
              <a:lnSpc>
                <a:spcPct val="130000"/>
              </a:lnSpc>
              <a:buFont typeface="Wingdings" panose="05000000000000000000" charset="0"/>
              <a:buChar char="ü"/>
            </a:pPr>
            <a:r>
              <a:rPr lang="zh-CN" altLang="en-US" sz="1600"/>
              <a:t>发起验厂评分，通知评分人</a:t>
            </a:r>
            <a:endParaRPr lang="zh-CN" altLang="en-US" sz="1600"/>
          </a:p>
          <a:p>
            <a:pPr marL="742950" lvl="1" indent="-285750" algn="just" fontAlgn="auto">
              <a:lnSpc>
                <a:spcPct val="130000"/>
              </a:lnSpc>
              <a:buFont typeface="Wingdings" panose="05000000000000000000" charset="0"/>
              <a:buChar char="ü"/>
            </a:pPr>
            <a:r>
              <a:rPr lang="zh-CN" altLang="en-US" sz="1600"/>
              <a:t>评分逾期（</a:t>
            </a:r>
            <a:r>
              <a:rPr lang="en-US" altLang="zh-CN" sz="1600"/>
              <a:t>10</a:t>
            </a:r>
            <a:r>
              <a:rPr lang="zh-CN" altLang="en-US" sz="1600"/>
              <a:t>天）提醒评分人</a:t>
            </a:r>
            <a:endParaRPr lang="zh-CN" altLang="en-US" sz="1600"/>
          </a:p>
          <a:p>
            <a:pPr marL="742950" lvl="1" indent="-285750" algn="just" fontAlgn="auto">
              <a:lnSpc>
                <a:spcPct val="130000"/>
              </a:lnSpc>
              <a:buFont typeface="Wingdings" panose="05000000000000000000" charset="0"/>
              <a:buChar char="ü"/>
            </a:pPr>
            <a:r>
              <a:rPr lang="zh-CN" altLang="en-US" sz="1600"/>
              <a:t>验厂结束抄送验厂报告</a:t>
            </a:r>
            <a:endParaRPr lang="zh-CN" altLang="en-US" sz="1600"/>
          </a:p>
        </p:txBody>
      </p:sp>
      <p:graphicFrame>
        <p:nvGraphicFramePr>
          <p:cNvPr id="5" name="对象 4"/>
          <p:cNvGraphicFramePr/>
          <p:nvPr/>
        </p:nvGraphicFramePr>
        <p:xfrm>
          <a:off x="6638290" y="440690"/>
          <a:ext cx="4975860" cy="5975985"/>
        </p:xfrm>
        <a:graphic>
          <a:graphicData uri="http://schemas.openxmlformats.org/presentationml/2006/ole">
            <mc:AlternateContent xmlns:mc="http://schemas.openxmlformats.org/markup-compatibility/2006">
              <mc:Choice xmlns:v="urn:schemas-microsoft-com:vml" Requires="v">
                <p:oleObj spid="_x0000_s3076" name="" r:id="rId1" imgW="6244590" imgH="7494905" progId="Visio.Drawing.15">
                  <p:embed/>
                </p:oleObj>
              </mc:Choice>
              <mc:Fallback>
                <p:oleObj name="" r:id="rId1" imgW="6244590" imgH="7494905" progId="Visio.Drawing.15">
                  <p:embed/>
                  <p:pic>
                    <p:nvPicPr>
                      <p:cNvPr id="0" name="图片 5"/>
                      <p:cNvPicPr/>
                      <p:nvPr/>
                    </p:nvPicPr>
                    <p:blipFill>
                      <a:blip r:embed="rId2"/>
                      <a:stretch>
                        <a:fillRect/>
                      </a:stretch>
                    </p:blipFill>
                    <p:spPr>
                      <a:xfrm>
                        <a:off x="6638290" y="440690"/>
                        <a:ext cx="4975860" cy="5975985"/>
                      </a:xfrm>
                      <a:prstGeom prst="rect">
                        <a:avLst/>
                      </a:prstGeom>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验厂计划</a:t>
            </a:r>
            <a:endParaRPr lang="zh-CN" altLang="en-US" dirty="0"/>
          </a:p>
        </p:txBody>
      </p:sp>
      <p:sp>
        <p:nvSpPr>
          <p:cNvPr id="27" name="标题 1"/>
          <p:cNvSpPr>
            <a:spLocks noGrp="1"/>
          </p:cNvSpPr>
          <p:nvPr/>
        </p:nvSpPr>
        <p:spPr>
          <a:xfrm>
            <a:off x="400893" y="11668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6" name="文本框 5"/>
          <p:cNvSpPr txBox="1"/>
          <p:nvPr/>
        </p:nvSpPr>
        <p:spPr>
          <a:xfrm>
            <a:off x="575945" y="5375275"/>
            <a:ext cx="9882505" cy="1087755"/>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sym typeface="+mn-ea"/>
              </a:rPr>
              <a:t>由供管</a:t>
            </a:r>
            <a:r>
              <a:rPr lang="en-US" altLang="zh-CN">
                <a:sym typeface="+mn-ea"/>
              </a:rPr>
              <a:t>/</a:t>
            </a:r>
            <a:r>
              <a:rPr lang="zh-CN" altLang="en-US">
                <a:sym typeface="+mn-ea"/>
              </a:rPr>
              <a:t>产品部</a:t>
            </a:r>
            <a:r>
              <a:rPr lang="zh-CN">
                <a:sym typeface="+mn-ea"/>
              </a:rPr>
              <a:t>填写验厂计划，并进行排期（计划调度上线后，可在计划调度页面统一排期）</a:t>
            </a:r>
            <a:endParaRPr lang="zh-CN">
              <a:sym typeface="+mn-ea"/>
            </a:endParaRPr>
          </a:p>
          <a:p>
            <a:pPr marL="285750" indent="-285750">
              <a:lnSpc>
                <a:spcPct val="120000"/>
              </a:lnSpc>
              <a:buFont typeface="Wingdings" panose="05000000000000000000" charset="0"/>
              <a:buChar char="ü"/>
            </a:pPr>
            <a:r>
              <a:rPr lang="zh-CN">
                <a:sym typeface="+mn-ea"/>
              </a:rPr>
              <a:t>排期审批通过后，系统自动通知供应商、验厂参与人员及申请人</a:t>
            </a:r>
            <a:endParaRPr lang="zh-CN">
              <a:sym typeface="+mn-ea"/>
            </a:endParaRPr>
          </a:p>
          <a:p>
            <a:pPr marL="285750" indent="-285750">
              <a:lnSpc>
                <a:spcPct val="120000"/>
              </a:lnSpc>
              <a:buFont typeface="Wingdings" panose="05000000000000000000" charset="0"/>
              <a:buChar char="ü"/>
            </a:pPr>
            <a:r>
              <a:rPr lang="zh-CN" altLang="en-US">
                <a:sym typeface="+mn-ea"/>
              </a:rPr>
              <a:t>增加验厂角色，验厂人员只能选择到验厂角色下人员</a:t>
            </a:r>
            <a:endParaRPr lang="zh-CN" altLang="en-US">
              <a:sym typeface="+mn-ea"/>
            </a:endParaRPr>
          </a:p>
        </p:txBody>
      </p:sp>
      <p:pic>
        <p:nvPicPr>
          <p:cNvPr id="2" name="图片 1"/>
          <p:cNvPicPr>
            <a:picLocks noChangeAspect="1"/>
          </p:cNvPicPr>
          <p:nvPr/>
        </p:nvPicPr>
        <p:blipFill>
          <a:blip r:embed="rId1"/>
          <a:stretch>
            <a:fillRect/>
          </a:stretch>
        </p:blipFill>
        <p:spPr>
          <a:xfrm>
            <a:off x="575945" y="1266825"/>
            <a:ext cx="9431020" cy="410845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验货计划</a:t>
            </a:r>
            <a:endParaRPr lang="zh-CN" altLang="en-US" dirty="0"/>
          </a:p>
        </p:txBody>
      </p:sp>
      <p:sp>
        <p:nvSpPr>
          <p:cNvPr id="27" name="标题 1"/>
          <p:cNvSpPr>
            <a:spLocks noGrp="1"/>
          </p:cNvSpPr>
          <p:nvPr/>
        </p:nvSpPr>
        <p:spPr>
          <a:xfrm>
            <a:off x="400893" y="11668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pic>
        <p:nvPicPr>
          <p:cNvPr id="4" name="图片 3"/>
          <p:cNvPicPr>
            <a:picLocks noChangeAspect="1"/>
          </p:cNvPicPr>
          <p:nvPr/>
        </p:nvPicPr>
        <p:blipFill>
          <a:blip r:embed="rId1"/>
          <a:stretch>
            <a:fillRect/>
          </a:stretch>
        </p:blipFill>
        <p:spPr>
          <a:xfrm>
            <a:off x="575945" y="1266825"/>
            <a:ext cx="10824210" cy="2884170"/>
          </a:xfrm>
          <a:prstGeom prst="rect">
            <a:avLst/>
          </a:prstGeom>
        </p:spPr>
      </p:pic>
      <p:sp>
        <p:nvSpPr>
          <p:cNvPr id="7" name="文本框 6"/>
          <p:cNvSpPr txBox="1"/>
          <p:nvPr/>
        </p:nvSpPr>
        <p:spPr>
          <a:xfrm>
            <a:off x="575945" y="4402455"/>
            <a:ext cx="7036435" cy="75565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a:sym typeface="+mn-ea"/>
              </a:rPr>
              <a:t>供应商根据订单完成情况自行报验并提交</a:t>
            </a:r>
            <a:endParaRPr lang="zh-CN" altLang="en-US">
              <a:sym typeface="+mn-ea"/>
            </a:endParaRPr>
          </a:p>
          <a:p>
            <a:pPr marL="285750" indent="-285750">
              <a:lnSpc>
                <a:spcPct val="120000"/>
              </a:lnSpc>
              <a:buFont typeface="Wingdings" panose="05000000000000000000" charset="0"/>
              <a:buChar char="ü"/>
            </a:pPr>
            <a:r>
              <a:rPr lang="zh-CN" altLang="en-US">
                <a:sym typeface="+mn-ea"/>
              </a:rPr>
              <a:t>具体表单字段待后续确认，计划在</a:t>
            </a:r>
            <a:r>
              <a:rPr lang="zh-CN" altLang="en-US" b="1">
                <a:sym typeface="+mn-ea"/>
              </a:rPr>
              <a:t>二期</a:t>
            </a:r>
            <a:r>
              <a:rPr lang="zh-CN" altLang="en-US">
                <a:sym typeface="+mn-ea"/>
              </a:rPr>
              <a:t>实现</a:t>
            </a:r>
            <a:endParaRPr lang="zh-CN" altLang="en-US">
              <a:sym typeface="+mn-ea"/>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543165" y="4421505"/>
            <a:ext cx="3319145" cy="43180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计划调度</a:t>
            </a:r>
            <a:endParaRPr lang="en-US" altLang="zh-CN" dirty="0"/>
          </a:p>
        </p:txBody>
      </p:sp>
      <p:sp>
        <p:nvSpPr>
          <p:cNvPr id="27" name="标题 1"/>
          <p:cNvSpPr>
            <a:spLocks noGrp="1"/>
          </p:cNvSpPr>
          <p:nvPr/>
        </p:nvSpPr>
        <p:spPr>
          <a:xfrm>
            <a:off x="400893" y="11668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pic>
        <p:nvPicPr>
          <p:cNvPr id="5" name="图片 4"/>
          <p:cNvPicPr>
            <a:picLocks noChangeAspect="1"/>
          </p:cNvPicPr>
          <p:nvPr/>
        </p:nvPicPr>
        <p:blipFill>
          <a:blip r:embed="rId2"/>
          <a:stretch>
            <a:fillRect/>
          </a:stretch>
        </p:blipFill>
        <p:spPr>
          <a:xfrm>
            <a:off x="575945" y="1266825"/>
            <a:ext cx="9780905" cy="3586480"/>
          </a:xfrm>
          <a:prstGeom prst="rect">
            <a:avLst/>
          </a:prstGeom>
        </p:spPr>
      </p:pic>
      <p:sp>
        <p:nvSpPr>
          <p:cNvPr id="7" name="文本框 6"/>
          <p:cNvSpPr txBox="1"/>
          <p:nvPr/>
        </p:nvSpPr>
        <p:spPr>
          <a:xfrm>
            <a:off x="575945" y="4586605"/>
            <a:ext cx="7036435" cy="1889760"/>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sym typeface="+mn-ea"/>
              </a:rPr>
              <a:t>验厂验货由外协</a:t>
            </a:r>
            <a:r>
              <a:rPr lang="en-US" altLang="zh-CN">
                <a:sym typeface="+mn-ea"/>
              </a:rPr>
              <a:t>&amp;</a:t>
            </a:r>
            <a:r>
              <a:rPr lang="zh-CN" altLang="en-US">
                <a:sym typeface="+mn-ea"/>
              </a:rPr>
              <a:t>质控部门</a:t>
            </a:r>
            <a:r>
              <a:rPr lang="zh-CN">
                <a:sym typeface="+mn-ea"/>
              </a:rPr>
              <a:t>统一排期，排期后提交审批</a:t>
            </a:r>
            <a:endParaRPr lang="zh-CN">
              <a:sym typeface="+mn-ea"/>
            </a:endParaRPr>
          </a:p>
          <a:p>
            <a:pPr marL="285750" indent="-285750">
              <a:lnSpc>
                <a:spcPct val="130000"/>
              </a:lnSpc>
              <a:buFont typeface="Wingdings" panose="05000000000000000000" charset="0"/>
              <a:buChar char="ü"/>
            </a:pPr>
            <a:r>
              <a:rPr lang="zh-CN">
                <a:sym typeface="+mn-ea"/>
              </a:rPr>
              <a:t>成衣：部门经理审批</a:t>
            </a:r>
            <a:endParaRPr lang="zh-CN">
              <a:sym typeface="+mn-ea"/>
            </a:endParaRPr>
          </a:p>
          <a:p>
            <a:pPr marL="285750" indent="-285750">
              <a:lnSpc>
                <a:spcPct val="130000"/>
              </a:lnSpc>
              <a:buFont typeface="Wingdings" panose="05000000000000000000" charset="0"/>
              <a:buChar char="ü"/>
            </a:pPr>
            <a:r>
              <a:rPr lang="zh-CN">
                <a:sym typeface="+mn-ea"/>
              </a:rPr>
              <a:t>验厂类别：订单验货</a:t>
            </a:r>
            <a:r>
              <a:rPr lang="en-US" altLang="zh-CN">
                <a:sym typeface="+mn-ea"/>
              </a:rPr>
              <a:t>/</a:t>
            </a:r>
            <a:r>
              <a:rPr lang="zh-CN" altLang="en-US">
                <a:sym typeface="+mn-ea"/>
              </a:rPr>
              <a:t>准入验厂</a:t>
            </a:r>
            <a:r>
              <a:rPr lang="en-US" altLang="zh-CN">
                <a:sym typeface="+mn-ea"/>
              </a:rPr>
              <a:t>/</a:t>
            </a:r>
            <a:r>
              <a:rPr lang="zh-CN" altLang="en-US">
                <a:sym typeface="+mn-ea"/>
              </a:rPr>
              <a:t>复验验厂</a:t>
            </a:r>
            <a:endParaRPr lang="zh-CN">
              <a:sym typeface="+mn-ea"/>
            </a:endParaRPr>
          </a:p>
          <a:p>
            <a:pPr marL="285750" indent="-285750">
              <a:lnSpc>
                <a:spcPct val="130000"/>
              </a:lnSpc>
              <a:buFont typeface="Wingdings" panose="05000000000000000000" charset="0"/>
              <a:buChar char="ü"/>
            </a:pPr>
            <a:r>
              <a:rPr lang="zh-CN">
                <a:sym typeface="+mn-ea"/>
              </a:rPr>
              <a:t>状态：待调度</a:t>
            </a:r>
            <a:r>
              <a:rPr lang="en-US" altLang="zh-CN">
                <a:sym typeface="+mn-ea"/>
              </a:rPr>
              <a:t>/</a:t>
            </a:r>
            <a:r>
              <a:rPr lang="zh-CN" altLang="en-US">
                <a:sym typeface="+mn-ea"/>
              </a:rPr>
              <a:t>待审批</a:t>
            </a:r>
            <a:r>
              <a:rPr lang="en-US" altLang="zh-CN">
                <a:sym typeface="+mn-ea"/>
              </a:rPr>
              <a:t>/</a:t>
            </a:r>
            <a:r>
              <a:rPr lang="zh-CN" altLang="en-US">
                <a:sym typeface="+mn-ea"/>
              </a:rPr>
              <a:t>审批拒绝</a:t>
            </a:r>
            <a:r>
              <a:rPr lang="en-US" altLang="zh-CN">
                <a:sym typeface="+mn-ea"/>
              </a:rPr>
              <a:t>/</a:t>
            </a:r>
            <a:r>
              <a:rPr lang="zh-CN" altLang="en-US">
                <a:sym typeface="+mn-ea"/>
              </a:rPr>
              <a:t>已发布</a:t>
            </a:r>
            <a:endParaRPr lang="zh-CN" altLang="en-US">
              <a:sym typeface="+mn-ea"/>
            </a:endParaRPr>
          </a:p>
          <a:p>
            <a:pPr marL="285750" indent="-285750">
              <a:lnSpc>
                <a:spcPct val="130000"/>
              </a:lnSpc>
              <a:buFont typeface="Wingdings" panose="05000000000000000000" charset="0"/>
              <a:buChar char="ü"/>
            </a:pPr>
            <a:r>
              <a:rPr lang="zh-CN" altLang="en-US">
                <a:sym typeface="+mn-ea"/>
              </a:rPr>
              <a:t>该页面计划在</a:t>
            </a:r>
            <a:r>
              <a:rPr lang="zh-CN" altLang="en-US" b="1">
                <a:sym typeface="+mn-ea"/>
              </a:rPr>
              <a:t>二期</a:t>
            </a:r>
            <a:r>
              <a:rPr lang="zh-CN" altLang="en-US">
                <a:sym typeface="+mn-ea"/>
              </a:rPr>
              <a:t>实现，表单具体字段据后续需求再确认</a:t>
            </a:r>
            <a:endParaRPr lang="zh-CN" altLang="en-US">
              <a:sym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64846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验厂计划待办</a:t>
            </a:r>
            <a:endParaRPr lang="zh-CN" altLang="en-US" dirty="0"/>
          </a:p>
        </p:txBody>
      </p:sp>
      <p:sp>
        <p:nvSpPr>
          <p:cNvPr id="27" name="标题 1"/>
          <p:cNvSpPr>
            <a:spLocks noGrp="1"/>
          </p:cNvSpPr>
          <p:nvPr/>
        </p:nvSpPr>
        <p:spPr>
          <a:xfrm>
            <a:off x="400893" y="11668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6" name="文本框 5"/>
          <p:cNvSpPr txBox="1"/>
          <p:nvPr/>
        </p:nvSpPr>
        <p:spPr>
          <a:xfrm>
            <a:off x="575945" y="5518785"/>
            <a:ext cx="9882505" cy="75565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a:sym typeface="+mn-ea"/>
              </a:rPr>
              <a:t>员工可配置工作台，验厂人员可在工作台中选择验厂待办卡片</a:t>
            </a:r>
            <a:endParaRPr lang="zh-CN" altLang="en-US">
              <a:sym typeface="+mn-ea"/>
            </a:endParaRPr>
          </a:p>
          <a:p>
            <a:pPr marL="285750" indent="-285750">
              <a:lnSpc>
                <a:spcPct val="120000"/>
              </a:lnSpc>
              <a:buFont typeface="Wingdings" panose="05000000000000000000" charset="0"/>
              <a:buChar char="ü"/>
            </a:pPr>
            <a:r>
              <a:rPr lang="zh-CN" altLang="en-US">
                <a:sym typeface="+mn-ea"/>
              </a:rPr>
              <a:t>待办卡片具体样式待确认</a:t>
            </a:r>
            <a:endParaRPr lang="zh-CN" altLang="en-US">
              <a:sym typeface="+mn-ea"/>
            </a:endParaRPr>
          </a:p>
        </p:txBody>
      </p:sp>
      <p:pic>
        <p:nvPicPr>
          <p:cNvPr id="4" name="图片 3"/>
          <p:cNvPicPr>
            <a:picLocks noChangeAspect="1"/>
          </p:cNvPicPr>
          <p:nvPr/>
        </p:nvPicPr>
        <p:blipFill>
          <a:blip r:embed="rId1"/>
          <a:stretch>
            <a:fillRect/>
          </a:stretch>
        </p:blipFill>
        <p:spPr>
          <a:xfrm>
            <a:off x="575945" y="1266825"/>
            <a:ext cx="10452100" cy="4216400"/>
          </a:xfrm>
          <a:prstGeom prst="rect">
            <a:avLst/>
          </a:prstGeom>
        </p:spPr>
      </p:pic>
      <p:pic>
        <p:nvPicPr>
          <p:cNvPr id="5" name="图片 4"/>
          <p:cNvPicPr>
            <a:picLocks noChangeAspect="1"/>
          </p:cNvPicPr>
          <p:nvPr/>
        </p:nvPicPr>
        <p:blipFill>
          <a:blip r:embed="rId2"/>
          <a:stretch>
            <a:fillRect/>
          </a:stretch>
        </p:blipFill>
        <p:spPr>
          <a:xfrm>
            <a:off x="5953125" y="3718560"/>
            <a:ext cx="4717415" cy="1653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81102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可持续发展表</a:t>
            </a:r>
            <a:endParaRPr lang="zh-CN" altLang="en-US" dirty="0"/>
          </a:p>
        </p:txBody>
      </p:sp>
      <p:sp>
        <p:nvSpPr>
          <p:cNvPr id="27" name="标题 1"/>
          <p:cNvSpPr>
            <a:spLocks noGrp="1"/>
          </p:cNvSpPr>
          <p:nvPr/>
        </p:nvSpPr>
        <p:spPr>
          <a:xfrm>
            <a:off x="400893" y="11668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3" name="文本框 2"/>
          <p:cNvSpPr txBox="1"/>
          <p:nvPr/>
        </p:nvSpPr>
        <p:spPr>
          <a:xfrm>
            <a:off x="575945" y="5650230"/>
            <a:ext cx="9433560" cy="975995"/>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sz="1600">
                <a:sym typeface="+mn-ea"/>
              </a:rPr>
              <a:t>在验厂之前由产品部手动发起可持续发展表（调查表）给供应商</a:t>
            </a:r>
            <a:endParaRPr lang="zh-CN" altLang="en-US" sz="1600">
              <a:sym typeface="+mn-ea"/>
            </a:endParaRPr>
          </a:p>
          <a:p>
            <a:pPr marL="285750" indent="-285750">
              <a:lnSpc>
                <a:spcPct val="120000"/>
              </a:lnSpc>
              <a:buFont typeface="Wingdings" panose="05000000000000000000" charset="0"/>
              <a:buChar char="ü"/>
            </a:pPr>
            <a:r>
              <a:rPr lang="zh-CN" altLang="en-US" sz="1600">
                <a:sym typeface="+mn-ea"/>
              </a:rPr>
              <a:t>供应商进行填写并提交后，由产品部确认</a:t>
            </a:r>
            <a:endParaRPr lang="zh-CN" altLang="en-US" sz="1600">
              <a:sym typeface="+mn-ea"/>
            </a:endParaRPr>
          </a:p>
          <a:p>
            <a:pPr marL="285750" indent="-285750">
              <a:lnSpc>
                <a:spcPct val="120000"/>
              </a:lnSpc>
              <a:buFont typeface="Wingdings" panose="05000000000000000000" charset="0"/>
              <a:buChar char="ü"/>
            </a:pPr>
            <a:r>
              <a:rPr lang="zh-CN" altLang="en-US" sz="1600">
                <a:sym typeface="+mn-ea"/>
              </a:rPr>
              <a:t>可持续调查表记录在供应商</a:t>
            </a:r>
            <a:r>
              <a:rPr lang="en-US" altLang="zh-CN" sz="1600">
                <a:sym typeface="+mn-ea"/>
              </a:rPr>
              <a:t>360</a:t>
            </a:r>
            <a:r>
              <a:rPr lang="zh-CN" altLang="en-US" sz="1600">
                <a:sym typeface="+mn-ea"/>
              </a:rPr>
              <a:t>中</a:t>
            </a:r>
            <a:endParaRPr lang="zh-CN" altLang="en-US" sz="1600">
              <a:sym typeface="+mn-ea"/>
            </a:endParaRPr>
          </a:p>
        </p:txBody>
      </p:sp>
      <p:pic>
        <p:nvPicPr>
          <p:cNvPr id="4" name="图片 3"/>
          <p:cNvPicPr>
            <a:picLocks noChangeAspect="1"/>
          </p:cNvPicPr>
          <p:nvPr/>
        </p:nvPicPr>
        <p:blipFill>
          <a:blip r:embed="rId1"/>
          <a:stretch>
            <a:fillRect/>
          </a:stretch>
        </p:blipFill>
        <p:spPr>
          <a:xfrm>
            <a:off x="575945" y="1266825"/>
            <a:ext cx="8440420" cy="428688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75945" y="1266825"/>
            <a:ext cx="9936480" cy="465455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发起验厂</a:t>
            </a:r>
            <a:endParaRPr lang="zh-CN" altLang="en-US" dirty="0"/>
          </a:p>
        </p:txBody>
      </p:sp>
      <p:sp>
        <p:nvSpPr>
          <p:cNvPr id="27" name="标题 1"/>
          <p:cNvSpPr>
            <a:spLocks noGrp="1"/>
          </p:cNvSpPr>
          <p:nvPr/>
        </p:nvSpPr>
        <p:spPr>
          <a:xfrm>
            <a:off x="430738"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4" name="矩形 3"/>
          <p:cNvSpPr/>
          <p:nvPr/>
        </p:nvSpPr>
        <p:spPr>
          <a:xfrm>
            <a:off x="7127875" y="4304665"/>
            <a:ext cx="2999740" cy="37084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3" name="矩形 2"/>
          <p:cNvSpPr/>
          <p:nvPr/>
        </p:nvSpPr>
        <p:spPr>
          <a:xfrm>
            <a:off x="668655" y="5550535"/>
            <a:ext cx="7884160" cy="37084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543165" y="4421505"/>
            <a:ext cx="3319145" cy="43180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评分人维护</a:t>
            </a:r>
            <a:endParaRPr lang="en-US" altLang="zh-CN" dirty="0"/>
          </a:p>
        </p:txBody>
      </p:sp>
      <p:sp>
        <p:nvSpPr>
          <p:cNvPr id="27" name="标题 1"/>
          <p:cNvSpPr>
            <a:spLocks noGrp="1"/>
          </p:cNvSpPr>
          <p:nvPr/>
        </p:nvSpPr>
        <p:spPr>
          <a:xfrm>
            <a:off x="430738"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4" name="矩形 3"/>
          <p:cNvSpPr/>
          <p:nvPr/>
        </p:nvSpPr>
        <p:spPr>
          <a:xfrm>
            <a:off x="3904615" y="4231640"/>
            <a:ext cx="3131820" cy="42799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pic>
        <p:nvPicPr>
          <p:cNvPr id="5" name="图片 4"/>
          <p:cNvPicPr>
            <a:picLocks noChangeAspect="1"/>
          </p:cNvPicPr>
          <p:nvPr/>
        </p:nvPicPr>
        <p:blipFill>
          <a:blip r:embed="rId2"/>
          <a:stretch>
            <a:fillRect/>
          </a:stretch>
        </p:blipFill>
        <p:spPr>
          <a:xfrm>
            <a:off x="575945" y="1266825"/>
            <a:ext cx="8971280" cy="4371975"/>
          </a:xfrm>
          <a:prstGeom prst="rect">
            <a:avLst/>
          </a:prstGeom>
        </p:spPr>
      </p:pic>
      <p:sp>
        <p:nvSpPr>
          <p:cNvPr id="7" name="文本框 6"/>
          <p:cNvSpPr txBox="1"/>
          <p:nvPr/>
        </p:nvSpPr>
        <p:spPr>
          <a:xfrm>
            <a:off x="693420" y="5700395"/>
            <a:ext cx="6200140" cy="75565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a:t>在发起验厂时，验厂不同指标可维护不同的评分人</a:t>
            </a:r>
            <a:endParaRPr lang="zh-CN" altLang="en-US"/>
          </a:p>
          <a:p>
            <a:pPr marL="285750" indent="-285750">
              <a:lnSpc>
                <a:spcPct val="120000"/>
              </a:lnSpc>
              <a:buFont typeface="Wingdings" panose="05000000000000000000" charset="0"/>
              <a:buChar char="ü"/>
            </a:pPr>
            <a:r>
              <a:rPr lang="zh-CN" altLang="en-US"/>
              <a:t>同一指标可维护多个评分人，并设置不同用户评分权重</a:t>
            </a:r>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543165" y="4421505"/>
            <a:ext cx="3319145" cy="43180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附件上传</a:t>
            </a:r>
            <a:endParaRPr lang="zh-CN" altLang="en-US" dirty="0"/>
          </a:p>
        </p:txBody>
      </p:sp>
      <p:sp>
        <p:nvSpPr>
          <p:cNvPr id="27" name="标题 1"/>
          <p:cNvSpPr>
            <a:spLocks noGrp="1"/>
          </p:cNvSpPr>
          <p:nvPr/>
        </p:nvSpPr>
        <p:spPr>
          <a:xfrm>
            <a:off x="430738"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8" name="矩形 7"/>
          <p:cNvSpPr/>
          <p:nvPr/>
        </p:nvSpPr>
        <p:spPr>
          <a:xfrm>
            <a:off x="4086860" y="4112260"/>
            <a:ext cx="1880870" cy="26225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pic>
        <p:nvPicPr>
          <p:cNvPr id="14" name="图片 13"/>
          <p:cNvPicPr>
            <a:picLocks noChangeAspect="1"/>
          </p:cNvPicPr>
          <p:nvPr/>
        </p:nvPicPr>
        <p:blipFill>
          <a:blip r:embed="rId2"/>
          <a:srcRect t="1430"/>
          <a:stretch>
            <a:fillRect/>
          </a:stretch>
        </p:blipFill>
        <p:spPr>
          <a:xfrm>
            <a:off x="575945" y="1266825"/>
            <a:ext cx="11280140" cy="4463415"/>
          </a:xfrm>
          <a:prstGeom prst="rect">
            <a:avLst/>
          </a:prstGeom>
        </p:spPr>
      </p:pic>
      <p:sp>
        <p:nvSpPr>
          <p:cNvPr id="15" name="矩形 14"/>
          <p:cNvSpPr/>
          <p:nvPr/>
        </p:nvSpPr>
        <p:spPr>
          <a:xfrm>
            <a:off x="2005330" y="2847975"/>
            <a:ext cx="1165860" cy="241871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6" name="矩形 15"/>
          <p:cNvSpPr/>
          <p:nvPr/>
        </p:nvSpPr>
        <p:spPr>
          <a:xfrm>
            <a:off x="7408545" y="2847975"/>
            <a:ext cx="702945" cy="241871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 name="文本框 4"/>
          <p:cNvSpPr txBox="1"/>
          <p:nvPr/>
        </p:nvSpPr>
        <p:spPr>
          <a:xfrm>
            <a:off x="2395220" y="5730240"/>
            <a:ext cx="6200140" cy="75565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a:t>附件上传节点：验厂发起、供应商反馈、评分人评分</a:t>
            </a:r>
            <a:endParaRPr lang="zh-CN" altLang="en-US"/>
          </a:p>
          <a:p>
            <a:pPr marL="285750" indent="-285750">
              <a:lnSpc>
                <a:spcPct val="120000"/>
              </a:lnSpc>
              <a:buFont typeface="Wingdings" panose="05000000000000000000" charset="0"/>
              <a:buChar char="ü"/>
            </a:pPr>
            <a:r>
              <a:rPr lang="zh-CN" altLang="en-US"/>
              <a:t>内部附件：供应商无法查看</a:t>
            </a:r>
            <a:endParaRPr lang="zh-CN" alt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验厂评分</a:t>
            </a:r>
            <a:endParaRPr lang="zh-CN" altLang="en-US" dirty="0"/>
          </a:p>
        </p:txBody>
      </p:sp>
      <p:sp>
        <p:nvSpPr>
          <p:cNvPr id="27" name="标题 1"/>
          <p:cNvSpPr>
            <a:spLocks noGrp="1"/>
          </p:cNvSpPr>
          <p:nvPr/>
        </p:nvSpPr>
        <p:spPr>
          <a:xfrm>
            <a:off x="420578"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pic>
        <p:nvPicPr>
          <p:cNvPr id="2" name="图片 1"/>
          <p:cNvPicPr>
            <a:picLocks noChangeAspect="1"/>
          </p:cNvPicPr>
          <p:nvPr/>
        </p:nvPicPr>
        <p:blipFill>
          <a:blip r:embed="rId1"/>
          <a:stretch>
            <a:fillRect/>
          </a:stretch>
        </p:blipFill>
        <p:spPr>
          <a:xfrm>
            <a:off x="774700" y="3575050"/>
            <a:ext cx="3288665" cy="247650"/>
          </a:xfrm>
          <a:prstGeom prst="rect">
            <a:avLst/>
          </a:prstGeom>
        </p:spPr>
      </p:pic>
      <p:pic>
        <p:nvPicPr>
          <p:cNvPr id="3" name="图片 2"/>
          <p:cNvPicPr>
            <a:picLocks noChangeAspect="1"/>
          </p:cNvPicPr>
          <p:nvPr/>
        </p:nvPicPr>
        <p:blipFill>
          <a:blip r:embed="rId2"/>
          <a:stretch>
            <a:fillRect/>
          </a:stretch>
        </p:blipFill>
        <p:spPr>
          <a:xfrm>
            <a:off x="575945" y="1266825"/>
            <a:ext cx="9540875" cy="4571365"/>
          </a:xfrm>
          <a:prstGeom prst="rect">
            <a:avLst/>
          </a:prstGeom>
        </p:spPr>
      </p:pic>
      <p:sp>
        <p:nvSpPr>
          <p:cNvPr id="4" name="文本框 3"/>
          <p:cNvSpPr txBox="1"/>
          <p:nvPr/>
        </p:nvSpPr>
        <p:spPr>
          <a:xfrm>
            <a:off x="683260" y="5838190"/>
            <a:ext cx="6229350" cy="681355"/>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sz="1600"/>
              <a:t>发起评审后，评分人针对自己评分项进行评分</a:t>
            </a:r>
            <a:r>
              <a:rPr lang="zh-CN" sz="1600"/>
              <a:t>，并填写评分意见</a:t>
            </a:r>
            <a:endParaRPr lang="zh-CN" altLang="en-US" sz="1600"/>
          </a:p>
          <a:p>
            <a:pPr marL="285750" indent="-285750">
              <a:lnSpc>
                <a:spcPct val="120000"/>
              </a:lnSpc>
              <a:buFont typeface="Wingdings" panose="05000000000000000000" charset="0"/>
              <a:buChar char="ü"/>
            </a:pPr>
            <a:r>
              <a:rPr lang="zh-CN" altLang="en-US" sz="1600"/>
              <a:t>评分界面可进行打印</a:t>
            </a:r>
            <a:endParaRPr lang="zh-CN" altLang="en-US" sz="1600"/>
          </a:p>
        </p:txBody>
      </p:sp>
      <p:sp>
        <p:nvSpPr>
          <p:cNvPr id="16" name="矩形 15"/>
          <p:cNvSpPr/>
          <p:nvPr/>
        </p:nvSpPr>
        <p:spPr>
          <a:xfrm>
            <a:off x="7947660" y="3107690"/>
            <a:ext cx="768985" cy="159067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75945" y="1266825"/>
            <a:ext cx="9785350" cy="461645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21570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最低考察项目复核</a:t>
            </a:r>
            <a:endParaRPr lang="zh-CN" altLang="en-US" dirty="0"/>
          </a:p>
        </p:txBody>
      </p:sp>
      <p:sp>
        <p:nvSpPr>
          <p:cNvPr id="27" name="标题 1"/>
          <p:cNvSpPr>
            <a:spLocks noGrp="1"/>
          </p:cNvSpPr>
          <p:nvPr/>
        </p:nvSpPr>
        <p:spPr>
          <a:xfrm>
            <a:off x="400893" y="116680"/>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sp>
        <p:nvSpPr>
          <p:cNvPr id="3" name="文本框 2"/>
          <p:cNvSpPr txBox="1"/>
          <p:nvPr/>
        </p:nvSpPr>
        <p:spPr>
          <a:xfrm>
            <a:off x="808990" y="5810250"/>
            <a:ext cx="9692640" cy="38608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sz="1600">
                <a:sym typeface="+mn-ea"/>
              </a:rPr>
              <a:t>添加最低考察项目页签，从可持续发展表中自动带出供应商自评及反馈，由</a:t>
            </a:r>
            <a:r>
              <a:rPr lang="en-US" altLang="zh-CN" sz="1600">
                <a:sym typeface="+mn-ea"/>
              </a:rPr>
              <a:t>QA</a:t>
            </a:r>
            <a:r>
              <a:rPr lang="zh-CN" altLang="en-US" sz="1600">
                <a:sym typeface="+mn-ea"/>
              </a:rPr>
              <a:t>在验厂时进行复核</a:t>
            </a:r>
            <a:endParaRPr lang="zh-CN" altLang="en-US" sz="1600">
              <a:sym typeface="+mn-ea"/>
            </a:endParaRPr>
          </a:p>
        </p:txBody>
      </p:sp>
      <p:sp>
        <p:nvSpPr>
          <p:cNvPr id="16" name="矩形 15"/>
          <p:cNvSpPr/>
          <p:nvPr/>
        </p:nvSpPr>
        <p:spPr>
          <a:xfrm>
            <a:off x="7947660" y="3107690"/>
            <a:ext cx="1924050" cy="236982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2" name="矩形: 圆顶角 51"/>
          <p:cNvSpPr/>
          <p:nvPr/>
        </p:nvSpPr>
        <p:spPr>
          <a:xfrm>
            <a:off x="575945" y="892810"/>
            <a:ext cx="144970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SWOT</a:t>
            </a:r>
            <a:r>
              <a:rPr lang="zh-CN" altLang="en-US" dirty="0"/>
              <a:t>分析</a:t>
            </a:r>
            <a:endParaRPr lang="zh-CN" altLang="en-US" dirty="0"/>
          </a:p>
        </p:txBody>
      </p:sp>
      <p:sp>
        <p:nvSpPr>
          <p:cNvPr id="27" name="标题 1"/>
          <p:cNvSpPr>
            <a:spLocks noGrp="1"/>
          </p:cNvSpPr>
          <p:nvPr/>
        </p:nvSpPr>
        <p:spPr>
          <a:xfrm>
            <a:off x="420578"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验厂考察</a:t>
            </a:r>
            <a:r>
              <a:rPr lang="en-US" altLang="zh-CN" sz="2800" dirty="0"/>
              <a:t>-</a:t>
            </a:r>
            <a:r>
              <a:rPr lang="zh-CN" altLang="en-US" sz="2800" dirty="0"/>
              <a:t>页面介绍</a:t>
            </a:r>
            <a:endParaRPr lang="zh-CN" altLang="en-US" sz="2800" dirty="0"/>
          </a:p>
        </p:txBody>
      </p:sp>
      <p:pic>
        <p:nvPicPr>
          <p:cNvPr id="17" name="图片 16"/>
          <p:cNvPicPr>
            <a:picLocks noChangeAspect="1"/>
          </p:cNvPicPr>
          <p:nvPr/>
        </p:nvPicPr>
        <p:blipFill>
          <a:blip r:embed="rId1"/>
          <a:stretch>
            <a:fillRect/>
          </a:stretch>
        </p:blipFill>
        <p:spPr>
          <a:xfrm>
            <a:off x="575945" y="1266825"/>
            <a:ext cx="7607300" cy="5200650"/>
          </a:xfrm>
          <a:prstGeom prst="rect">
            <a:avLst/>
          </a:prstGeom>
        </p:spPr>
      </p:pic>
      <p:pic>
        <p:nvPicPr>
          <p:cNvPr id="2" name="图片 1"/>
          <p:cNvPicPr>
            <a:picLocks noChangeAspect="1"/>
          </p:cNvPicPr>
          <p:nvPr/>
        </p:nvPicPr>
        <p:blipFill>
          <a:blip r:embed="rId2"/>
          <a:stretch>
            <a:fillRect/>
          </a:stretch>
        </p:blipFill>
        <p:spPr>
          <a:xfrm>
            <a:off x="774700" y="3594100"/>
            <a:ext cx="3288665" cy="24765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tx1"/>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流程介绍</a:t>
            </a:r>
            <a:endParaRPr lang="zh-CN" altLang="en-US" sz="2800" dirty="0"/>
          </a:p>
        </p:txBody>
      </p:sp>
      <p:sp>
        <p:nvSpPr>
          <p:cNvPr id="72" name="矩形: 圆角 71"/>
          <p:cNvSpPr/>
          <p:nvPr/>
        </p:nvSpPr>
        <p:spPr>
          <a:xfrm>
            <a:off x="342900" y="1035685"/>
            <a:ext cx="4900930" cy="5327015"/>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33" name="文本框 32"/>
          <p:cNvSpPr txBox="1"/>
          <p:nvPr/>
        </p:nvSpPr>
        <p:spPr>
          <a:xfrm>
            <a:off x="949325" y="1144270"/>
            <a:ext cx="1325880" cy="368300"/>
          </a:xfrm>
          <a:prstGeom prst="rect">
            <a:avLst/>
          </a:prstGeom>
          <a:noFill/>
        </p:spPr>
        <p:txBody>
          <a:bodyPr wrap="none" rtlCol="0">
            <a:spAutoFit/>
          </a:bodyPr>
          <a:lstStyle/>
          <a:p>
            <a:r>
              <a:rPr lang="zh-CN" altLang="en-US" b="1">
                <a:solidFill>
                  <a:schemeClr val="accent1"/>
                </a:solidFill>
              </a:rPr>
              <a:t>实现要点：</a:t>
            </a:r>
            <a:endParaRPr lang="zh-CN" altLang="en-US" b="1">
              <a:solidFill>
                <a:schemeClr val="accent1"/>
              </a:solidFill>
            </a:endParaRPr>
          </a:p>
        </p:txBody>
      </p:sp>
      <p:sp>
        <p:nvSpPr>
          <p:cNvPr id="41" name="文本框 40"/>
          <p:cNvSpPr txBox="1"/>
          <p:nvPr/>
        </p:nvSpPr>
        <p:spPr>
          <a:xfrm>
            <a:off x="469265" y="1508125"/>
            <a:ext cx="4634865" cy="4612005"/>
          </a:xfrm>
          <a:prstGeom prst="rect">
            <a:avLst/>
          </a:prstGeom>
          <a:noFill/>
        </p:spPr>
        <p:txBody>
          <a:bodyPr wrap="square" rtlCol="0">
            <a:spAutoFit/>
          </a:bodyPr>
          <a:lstStyle/>
          <a:p>
            <a:pPr marL="285750" indent="-285750" algn="just" fontAlgn="auto">
              <a:lnSpc>
                <a:spcPct val="140000"/>
              </a:lnSpc>
              <a:buFont typeface="Wingdings" panose="05000000000000000000" charset="0"/>
              <a:buChar char="ü"/>
            </a:pPr>
            <a:r>
              <a:rPr lang="zh-CN" altLang="en-US" sz="1400" b="1">
                <a:sym typeface="+mn-ea"/>
              </a:rPr>
              <a:t>可供品类</a:t>
            </a:r>
            <a:r>
              <a:rPr lang="en-US" altLang="zh-CN" sz="1400" b="1">
                <a:sym typeface="+mn-ea"/>
              </a:rPr>
              <a:t>&amp;</a:t>
            </a:r>
            <a:r>
              <a:rPr lang="zh-CN" altLang="en-US" sz="1400" b="1">
                <a:sym typeface="+mn-ea"/>
              </a:rPr>
              <a:t>品牌</a:t>
            </a:r>
            <a:r>
              <a:rPr lang="zh-CN" altLang="en-US" sz="1400">
                <a:sym typeface="+mn-ea"/>
              </a:rPr>
              <a:t>：在发起准入评估时供管过滤供应商可供产品品类及品牌</a:t>
            </a:r>
            <a:endParaRPr lang="zh-CN" altLang="en-US" sz="1400"/>
          </a:p>
          <a:p>
            <a:pPr marL="285750" indent="-285750" algn="just" fontAlgn="auto">
              <a:lnSpc>
                <a:spcPct val="140000"/>
              </a:lnSpc>
              <a:buFont typeface="Wingdings" panose="05000000000000000000" charset="0"/>
              <a:buChar char="ü"/>
            </a:pPr>
            <a:r>
              <a:rPr lang="zh-CN" altLang="en-US" sz="1400" b="1">
                <a:sym typeface="+mn-ea"/>
              </a:rPr>
              <a:t>关联业务单据</a:t>
            </a:r>
            <a:r>
              <a:rPr lang="zh-CN" altLang="en-US" sz="1400">
                <a:sym typeface="+mn-ea"/>
              </a:rPr>
              <a:t>：发起评审后根据模板配置发送给不同模块负责人进行评分，评审过程中可查看关联供应商业务单据（包括</a:t>
            </a:r>
            <a:r>
              <a:rPr lang="zh-CN" altLang="en-US" sz="1400" b="1">
                <a:sym typeface="+mn-ea"/>
              </a:rPr>
              <a:t>调查表、送样申请、现场考察、订单</a:t>
            </a:r>
            <a:r>
              <a:rPr lang="zh-CN" altLang="en-US" sz="1400">
                <a:sym typeface="+mn-ea"/>
              </a:rPr>
              <a:t>）</a:t>
            </a:r>
            <a:endParaRPr lang="zh-CN" altLang="en-US" sz="1400"/>
          </a:p>
          <a:p>
            <a:pPr marL="285750" indent="-285750" algn="just" fontAlgn="auto">
              <a:lnSpc>
                <a:spcPct val="140000"/>
              </a:lnSpc>
              <a:buFont typeface="Wingdings" panose="05000000000000000000" charset="0"/>
              <a:buChar char="ü"/>
            </a:pPr>
            <a:r>
              <a:rPr lang="zh-CN" altLang="en-US" sz="1400" b="1">
                <a:sym typeface="+mn-ea"/>
              </a:rPr>
              <a:t>大货金额设限</a:t>
            </a:r>
            <a:r>
              <a:rPr lang="zh-CN" altLang="en-US" sz="1400">
                <a:sym typeface="+mn-ea"/>
              </a:rPr>
              <a:t>：若为特批供应商，在供应商分类行（供货大类）上维护受限金额及时间，并导入</a:t>
            </a:r>
            <a:r>
              <a:rPr lang="en-US" altLang="zh-CN" sz="1400">
                <a:sym typeface="+mn-ea"/>
              </a:rPr>
              <a:t>ERP</a:t>
            </a:r>
            <a:endParaRPr lang="zh-CN" altLang="en-US" sz="1400">
              <a:sym typeface="+mn-ea"/>
            </a:endParaRPr>
          </a:p>
          <a:p>
            <a:pPr marL="285750" indent="-285750" algn="just" fontAlgn="auto">
              <a:lnSpc>
                <a:spcPct val="140000"/>
              </a:lnSpc>
              <a:buFont typeface="Wingdings" panose="05000000000000000000" charset="0"/>
              <a:buChar char="ü"/>
            </a:pPr>
            <a:r>
              <a:rPr lang="zh-CN" altLang="en-US" sz="1400" b="1">
                <a:sym typeface="+mn-ea"/>
              </a:rPr>
              <a:t>确认供应商生命阶段</a:t>
            </a:r>
            <a:r>
              <a:rPr lang="zh-CN" altLang="en-US" sz="1400">
                <a:sym typeface="+mn-ea"/>
              </a:rPr>
              <a:t>：</a:t>
            </a:r>
            <a:endParaRPr lang="zh-CN" altLang="en-US" sz="1400">
              <a:sym typeface="+mn-ea"/>
            </a:endParaRPr>
          </a:p>
          <a:p>
            <a:pPr lvl="1" indent="0" algn="just" fontAlgn="auto">
              <a:lnSpc>
                <a:spcPct val="140000"/>
              </a:lnSpc>
              <a:buFont typeface="Wingdings" panose="05000000000000000000" charset="0"/>
              <a:buNone/>
            </a:pPr>
            <a:r>
              <a:rPr lang="zh-CN" altLang="en-US" sz="1400" b="1">
                <a:sym typeface="+mn-ea"/>
              </a:rPr>
              <a:t>评估通过</a:t>
            </a:r>
            <a:r>
              <a:rPr lang="zh-CN" altLang="en-US" sz="1400">
                <a:sym typeface="+mn-ea"/>
              </a:rPr>
              <a:t>：</a:t>
            </a:r>
            <a:r>
              <a:rPr lang="zh-CN" sz="1400">
                <a:sym typeface="+mn-ea"/>
              </a:rPr>
              <a:t>成为正式</a:t>
            </a:r>
            <a:r>
              <a:rPr lang="zh-CN" altLang="en-US" sz="1400">
                <a:sym typeface="+mn-ea"/>
              </a:rPr>
              <a:t>供应商</a:t>
            </a:r>
            <a:endParaRPr lang="zh-CN" altLang="en-US" sz="1400">
              <a:sym typeface="+mn-ea"/>
            </a:endParaRPr>
          </a:p>
          <a:p>
            <a:pPr lvl="1" indent="0" algn="just" fontAlgn="auto">
              <a:lnSpc>
                <a:spcPct val="140000"/>
              </a:lnSpc>
              <a:buFont typeface="Wingdings" panose="05000000000000000000" charset="0"/>
              <a:buNone/>
            </a:pPr>
            <a:r>
              <a:rPr lang="zh-CN" altLang="en-US" sz="1400" b="1">
                <a:sym typeface="+mn-ea"/>
              </a:rPr>
              <a:t>评估不通过</a:t>
            </a:r>
            <a:r>
              <a:rPr lang="zh-CN" altLang="en-US" sz="1400">
                <a:sym typeface="+mn-ea"/>
              </a:rPr>
              <a:t>：手动选择是否进入不合格阶段</a:t>
            </a:r>
            <a:endParaRPr lang="zh-CN" altLang="en-US" sz="1400">
              <a:sym typeface="+mn-ea"/>
            </a:endParaRPr>
          </a:p>
          <a:p>
            <a:pPr marL="285750" indent="-285750" algn="just" fontAlgn="auto">
              <a:lnSpc>
                <a:spcPct val="140000"/>
              </a:lnSpc>
              <a:buFont typeface="Wingdings" panose="05000000000000000000" charset="0"/>
              <a:buChar char="ü"/>
            </a:pPr>
            <a:r>
              <a:rPr lang="zh-CN" altLang="en-US" sz="1400" b="1"/>
              <a:t>特批供应商</a:t>
            </a:r>
            <a:r>
              <a:rPr lang="zh-CN" altLang="en-US" sz="1400"/>
              <a:t>：</a:t>
            </a:r>
            <a:r>
              <a:rPr lang="zh-CN" altLang="en-US" sz="1400">
                <a:sym typeface="+mn-ea"/>
              </a:rPr>
              <a:t>若供应商评估为潜在</a:t>
            </a:r>
            <a:r>
              <a:rPr lang="en-US" altLang="zh-CN" sz="1400">
                <a:sym typeface="+mn-ea"/>
              </a:rPr>
              <a:t>/</a:t>
            </a:r>
            <a:r>
              <a:rPr lang="zh-CN" altLang="en-US" sz="1400">
                <a:sym typeface="+mn-ea"/>
              </a:rPr>
              <a:t>不合格，产品部经理决定是否发起特批，在页面上将对特批供应商进行标记</a:t>
            </a:r>
            <a:endParaRPr lang="zh-CN" altLang="en-US" sz="1400">
              <a:sym typeface="+mn-ea"/>
            </a:endParaRPr>
          </a:p>
          <a:p>
            <a:pPr marL="285750" indent="-285750" algn="just" fontAlgn="auto">
              <a:lnSpc>
                <a:spcPct val="140000"/>
              </a:lnSpc>
              <a:buFont typeface="Wingdings" panose="05000000000000000000" charset="0"/>
              <a:buChar char="ü"/>
            </a:pPr>
            <a:r>
              <a:rPr lang="zh-CN" altLang="en-US" sz="1400" b="1">
                <a:sym typeface="+mn-ea"/>
              </a:rPr>
              <a:t>评分计算</a:t>
            </a:r>
            <a:r>
              <a:rPr lang="zh-CN" altLang="en-US" sz="1400">
                <a:sym typeface="+mn-ea"/>
              </a:rPr>
              <a:t>：通过手动选择相关单据，系统自动获取预审评审单总分、验厂评分总分，计入准入评估总分</a:t>
            </a:r>
            <a:endParaRPr lang="zh-CN" altLang="en-US" sz="1400">
              <a:sym typeface="+mn-ea"/>
            </a:endParaRPr>
          </a:p>
        </p:txBody>
      </p:sp>
      <p:graphicFrame>
        <p:nvGraphicFramePr>
          <p:cNvPr id="4" name="对象 3"/>
          <p:cNvGraphicFramePr/>
          <p:nvPr/>
        </p:nvGraphicFramePr>
        <p:xfrm>
          <a:off x="5504180" y="292100"/>
          <a:ext cx="6511925" cy="6145530"/>
        </p:xfrm>
        <a:graphic>
          <a:graphicData uri="http://schemas.openxmlformats.org/presentationml/2006/ole">
            <mc:AlternateContent xmlns:mc="http://schemas.openxmlformats.org/markup-compatibility/2006">
              <mc:Choice xmlns:v="urn:schemas-microsoft-com:vml" Requires="v">
                <p:oleObj spid="_x0000_s4100" name="" r:id="rId1" imgW="9676130" imgH="9132570" progId="Visio.Drawing.15">
                  <p:embed/>
                </p:oleObj>
              </mc:Choice>
              <mc:Fallback>
                <p:oleObj name="" r:id="rId1" imgW="9676130" imgH="9132570" progId="Visio.Drawing.15">
                  <p:embed/>
                  <p:pic>
                    <p:nvPicPr>
                      <p:cNvPr id="0" name="图片 4"/>
                      <p:cNvPicPr/>
                      <p:nvPr/>
                    </p:nvPicPr>
                    <p:blipFill>
                      <a:blip r:embed="rId2"/>
                      <a:stretch>
                        <a:fillRect/>
                      </a:stretch>
                    </p:blipFill>
                    <p:spPr>
                      <a:xfrm>
                        <a:off x="5504180" y="292100"/>
                        <a:ext cx="6511925" cy="6145530"/>
                      </a:xfrm>
                      <a:prstGeom prst="rect">
                        <a:avLst/>
                      </a:prstGeom>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6"/>
          <p:cNvSpPr>
            <a:spLocks noGrp="1"/>
          </p:cNvSpPr>
          <p:nvPr>
            <p:ph type="subTitle" idx="1"/>
          </p:nvPr>
        </p:nvSpPr>
        <p:spPr/>
        <p:txBody>
          <a:bodyPr/>
          <a:lstStyle/>
          <a:p>
            <a:endParaRPr lang="zh-CN" altLang="en-US"/>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发起准入评估</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页面介绍</a:t>
            </a:r>
            <a:endParaRPr lang="zh-CN" altLang="en-US" sz="2800" dirty="0"/>
          </a:p>
        </p:txBody>
      </p:sp>
      <p:pic>
        <p:nvPicPr>
          <p:cNvPr id="3" name="图片 2"/>
          <p:cNvPicPr>
            <a:picLocks noChangeAspect="1"/>
          </p:cNvPicPr>
          <p:nvPr/>
        </p:nvPicPr>
        <p:blipFill>
          <a:blip r:embed="rId1"/>
          <a:stretch>
            <a:fillRect/>
          </a:stretch>
        </p:blipFill>
        <p:spPr>
          <a:xfrm>
            <a:off x="3606165" y="2195830"/>
            <a:ext cx="387350" cy="203200"/>
          </a:xfrm>
          <a:prstGeom prst="rect">
            <a:avLst/>
          </a:prstGeom>
        </p:spPr>
      </p:pic>
      <p:pic>
        <p:nvPicPr>
          <p:cNvPr id="2" name="图片 1"/>
          <p:cNvPicPr>
            <a:picLocks noChangeAspect="1"/>
          </p:cNvPicPr>
          <p:nvPr/>
        </p:nvPicPr>
        <p:blipFill>
          <a:blip r:embed="rId2"/>
          <a:stretch>
            <a:fillRect/>
          </a:stretch>
        </p:blipFill>
        <p:spPr>
          <a:xfrm>
            <a:off x="558165" y="1266825"/>
            <a:ext cx="10806430" cy="4392930"/>
          </a:xfrm>
          <a:prstGeom prst="rect">
            <a:avLst/>
          </a:prstGeom>
        </p:spPr>
      </p:pic>
      <p:sp>
        <p:nvSpPr>
          <p:cNvPr id="8" name="矩形 7"/>
          <p:cNvSpPr/>
          <p:nvPr/>
        </p:nvSpPr>
        <p:spPr>
          <a:xfrm>
            <a:off x="4427855" y="4114800"/>
            <a:ext cx="5058410" cy="63055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pic>
        <p:nvPicPr>
          <p:cNvPr id="5" name="图片 4"/>
          <p:cNvPicPr>
            <a:picLocks noChangeAspect="1"/>
          </p:cNvPicPr>
          <p:nvPr/>
        </p:nvPicPr>
        <p:blipFill>
          <a:blip r:embed="rId3"/>
          <a:stretch>
            <a:fillRect/>
          </a:stretch>
        </p:blipFill>
        <p:spPr>
          <a:xfrm>
            <a:off x="431165" y="5389880"/>
            <a:ext cx="11032490" cy="1009015"/>
          </a:xfrm>
          <a:prstGeom prst="rect">
            <a:avLst/>
          </a:prstGeom>
        </p:spPr>
      </p:pic>
      <p:pic>
        <p:nvPicPr>
          <p:cNvPr id="4" name="图片 3"/>
          <p:cNvPicPr>
            <a:picLocks noChangeAspect="1"/>
          </p:cNvPicPr>
          <p:nvPr/>
        </p:nvPicPr>
        <p:blipFill>
          <a:blip r:embed="rId4"/>
          <a:srcRect b="13250"/>
          <a:stretch>
            <a:fillRect/>
          </a:stretch>
        </p:blipFill>
        <p:spPr>
          <a:xfrm>
            <a:off x="785495" y="4804410"/>
            <a:ext cx="10427970" cy="132207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58165" y="1266825"/>
            <a:ext cx="9062720" cy="431292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品类</a:t>
            </a:r>
            <a:r>
              <a:rPr lang="en-US" altLang="zh-CN" dirty="0"/>
              <a:t>&amp;</a:t>
            </a:r>
            <a:r>
              <a:rPr lang="zh-CN" altLang="en-US" dirty="0"/>
              <a:t>品牌限制</a:t>
            </a:r>
            <a:endParaRPr lang="en-US" alt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页面介绍</a:t>
            </a:r>
            <a:endParaRPr lang="zh-CN" altLang="en-US" sz="2800" dirty="0"/>
          </a:p>
        </p:txBody>
      </p:sp>
      <p:sp>
        <p:nvSpPr>
          <p:cNvPr id="6" name="矩形 5"/>
          <p:cNvSpPr/>
          <p:nvPr/>
        </p:nvSpPr>
        <p:spPr>
          <a:xfrm>
            <a:off x="1800860" y="4424680"/>
            <a:ext cx="2291715" cy="97853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文本框 7"/>
          <p:cNvSpPr txBox="1"/>
          <p:nvPr/>
        </p:nvSpPr>
        <p:spPr>
          <a:xfrm>
            <a:off x="696595" y="5495925"/>
            <a:ext cx="8816975" cy="1050925"/>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sz="1600"/>
              <a:t>由供管</a:t>
            </a:r>
            <a:r>
              <a:rPr lang="en-US" altLang="zh-CN" sz="1600"/>
              <a:t>/</a:t>
            </a:r>
            <a:r>
              <a:rPr lang="zh-CN" altLang="en-US" sz="1600"/>
              <a:t>采购员</a:t>
            </a:r>
            <a:r>
              <a:rPr lang="en-US" altLang="zh-CN" sz="1600"/>
              <a:t>/</a:t>
            </a:r>
            <a:r>
              <a:rPr lang="zh-CN" altLang="en-US" sz="1600"/>
              <a:t>产品部在发起准入评估时选择可供品类</a:t>
            </a:r>
            <a:r>
              <a:rPr lang="en-US" altLang="zh-CN" sz="1600"/>
              <a:t>&amp;</a:t>
            </a:r>
            <a:r>
              <a:rPr lang="zh-CN" altLang="en-US" sz="1600"/>
              <a:t>品牌（品牌使用负面清单）</a:t>
            </a:r>
            <a:endParaRPr lang="zh-CN" altLang="en-US" sz="1600"/>
          </a:p>
          <a:p>
            <a:pPr marL="285750" indent="-285750">
              <a:lnSpc>
                <a:spcPct val="130000"/>
              </a:lnSpc>
              <a:buFont typeface="Wingdings" panose="05000000000000000000" charset="0"/>
              <a:buChar char="ü"/>
            </a:pPr>
            <a:r>
              <a:rPr lang="zh-CN" altLang="en-US" sz="1600"/>
              <a:t>通过供应商分类限制品类的选择</a:t>
            </a:r>
            <a:endParaRPr lang="zh-CN" altLang="en-US" sz="1600"/>
          </a:p>
          <a:p>
            <a:pPr marL="285750" indent="-285750">
              <a:lnSpc>
                <a:spcPct val="130000"/>
              </a:lnSpc>
              <a:buFont typeface="Wingdings" panose="05000000000000000000" charset="0"/>
              <a:buChar char="ü"/>
            </a:pPr>
            <a:r>
              <a:rPr lang="zh-CN" altLang="en-US" sz="1600"/>
              <a:t>待确认是否要在</a:t>
            </a:r>
            <a:r>
              <a:rPr lang="en-US" altLang="zh-CN" sz="1600"/>
              <a:t>ERP</a:t>
            </a:r>
            <a:r>
              <a:rPr lang="zh-CN" altLang="en-US" sz="1600"/>
              <a:t>做供应商可供品类及品牌的限制</a:t>
            </a:r>
            <a:r>
              <a:rPr lang="zh-CN" altLang="en-US" sz="1600">
                <a:sym typeface="+mn-ea"/>
              </a:rPr>
              <a:t>，计划二期实现</a:t>
            </a:r>
            <a:endParaRPr lang="zh-CN" altLang="en-US" sz="160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关联业务单据</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页面介绍</a:t>
            </a:r>
            <a:endParaRPr lang="zh-CN" altLang="en-US" sz="2800" dirty="0"/>
          </a:p>
        </p:txBody>
      </p:sp>
      <p:pic>
        <p:nvPicPr>
          <p:cNvPr id="7" name="图片 6"/>
          <p:cNvPicPr>
            <a:picLocks noChangeAspect="1"/>
          </p:cNvPicPr>
          <p:nvPr/>
        </p:nvPicPr>
        <p:blipFill>
          <a:blip r:embed="rId1"/>
          <a:stretch>
            <a:fillRect/>
          </a:stretch>
        </p:blipFill>
        <p:spPr>
          <a:xfrm>
            <a:off x="558165" y="1266825"/>
            <a:ext cx="10299700" cy="4616450"/>
          </a:xfrm>
          <a:prstGeom prst="rect">
            <a:avLst/>
          </a:prstGeom>
        </p:spPr>
      </p:pic>
      <p:pic>
        <p:nvPicPr>
          <p:cNvPr id="3" name="图片 2"/>
          <p:cNvPicPr>
            <a:picLocks noChangeAspect="1"/>
          </p:cNvPicPr>
          <p:nvPr/>
        </p:nvPicPr>
        <p:blipFill>
          <a:blip r:embed="rId2"/>
          <a:stretch>
            <a:fillRect/>
          </a:stretch>
        </p:blipFill>
        <p:spPr>
          <a:xfrm>
            <a:off x="3606165" y="2195830"/>
            <a:ext cx="387350" cy="203200"/>
          </a:xfrm>
          <a:prstGeom prst="rect">
            <a:avLst/>
          </a:prstGeom>
        </p:spPr>
      </p:pic>
      <p:sp>
        <p:nvSpPr>
          <p:cNvPr id="8" name="文本框 7"/>
          <p:cNvSpPr txBox="1"/>
          <p:nvPr/>
        </p:nvSpPr>
        <p:spPr>
          <a:xfrm>
            <a:off x="871220" y="5642610"/>
            <a:ext cx="8816975" cy="450850"/>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a:t>供应商关联业务单据：调查表、送样申请、现场考察、订单（样品单）、报价表</a:t>
            </a:r>
            <a:endParaRPr lang="en-US" altLang="zh-CN"/>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评分人维护</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页面介绍</a:t>
            </a:r>
            <a:endParaRPr lang="zh-CN" altLang="en-US" sz="2800" dirty="0"/>
          </a:p>
        </p:txBody>
      </p:sp>
      <p:pic>
        <p:nvPicPr>
          <p:cNvPr id="3" name="图片 2"/>
          <p:cNvPicPr>
            <a:picLocks noChangeAspect="1"/>
          </p:cNvPicPr>
          <p:nvPr/>
        </p:nvPicPr>
        <p:blipFill>
          <a:blip r:embed="rId1"/>
          <a:stretch>
            <a:fillRect/>
          </a:stretch>
        </p:blipFill>
        <p:spPr>
          <a:xfrm>
            <a:off x="3606165" y="2195830"/>
            <a:ext cx="387350" cy="203200"/>
          </a:xfrm>
          <a:prstGeom prst="rect">
            <a:avLst/>
          </a:prstGeom>
        </p:spPr>
      </p:pic>
      <p:pic>
        <p:nvPicPr>
          <p:cNvPr id="2" name="图片 1"/>
          <p:cNvPicPr>
            <a:picLocks noChangeAspect="1"/>
          </p:cNvPicPr>
          <p:nvPr/>
        </p:nvPicPr>
        <p:blipFill>
          <a:blip r:embed="rId2"/>
          <a:stretch>
            <a:fillRect/>
          </a:stretch>
        </p:blipFill>
        <p:spPr>
          <a:xfrm>
            <a:off x="558165" y="1266825"/>
            <a:ext cx="8481695" cy="4415155"/>
          </a:xfrm>
          <a:prstGeom prst="rect">
            <a:avLst/>
          </a:prstGeom>
        </p:spPr>
      </p:pic>
      <p:sp>
        <p:nvSpPr>
          <p:cNvPr id="7" name="文本框 6"/>
          <p:cNvSpPr txBox="1"/>
          <p:nvPr/>
        </p:nvSpPr>
        <p:spPr>
          <a:xfrm>
            <a:off x="693420" y="5700395"/>
            <a:ext cx="8020685" cy="755650"/>
          </a:xfrm>
          <a:prstGeom prst="rect">
            <a:avLst/>
          </a:prstGeom>
          <a:noFill/>
        </p:spPr>
        <p:txBody>
          <a:bodyPr wrap="square" rtlCol="0" anchor="t">
            <a:spAutoFit/>
          </a:bodyPr>
          <a:lstStyle/>
          <a:p>
            <a:pPr marL="285750" indent="-285750">
              <a:lnSpc>
                <a:spcPct val="120000"/>
              </a:lnSpc>
              <a:buFont typeface="Wingdings" panose="05000000000000000000" charset="0"/>
              <a:buChar char="ü"/>
            </a:pPr>
            <a:r>
              <a:rPr lang="zh-CN" altLang="en-US"/>
              <a:t>在发起准入评估时，不同评分指标可修改</a:t>
            </a:r>
            <a:r>
              <a:rPr lang="en-US" altLang="zh-CN"/>
              <a:t>/</a:t>
            </a:r>
            <a:r>
              <a:rPr lang="zh-CN" altLang="en-US"/>
              <a:t>维护不同的评分人</a:t>
            </a:r>
            <a:endParaRPr lang="zh-CN" altLang="en-US"/>
          </a:p>
          <a:p>
            <a:pPr marL="285750" indent="-285750">
              <a:lnSpc>
                <a:spcPct val="120000"/>
              </a:lnSpc>
              <a:buFont typeface="Wingdings" panose="05000000000000000000" charset="0"/>
              <a:buChar char="ü"/>
            </a:pPr>
            <a:r>
              <a:rPr lang="zh-CN" altLang="en-US"/>
              <a:t>同一指标可维护多个评分人，并设置不同用户评分权重</a:t>
            </a:r>
            <a:endParaRPr lang="zh-CN" alt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95935" y="1266825"/>
            <a:ext cx="8719820" cy="427863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55" name="矩形: 圆顶角 54"/>
          <p:cNvSpPr/>
          <p:nvPr/>
        </p:nvSpPr>
        <p:spPr>
          <a:xfrm>
            <a:off x="495935" y="892810"/>
            <a:ext cx="15982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大货受限维护</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页面介绍</a:t>
            </a:r>
            <a:endParaRPr lang="zh-CN" altLang="en-US" sz="2800" dirty="0"/>
          </a:p>
        </p:txBody>
      </p:sp>
      <p:pic>
        <p:nvPicPr>
          <p:cNvPr id="3" name="图片 2"/>
          <p:cNvPicPr>
            <a:picLocks noChangeAspect="1"/>
          </p:cNvPicPr>
          <p:nvPr/>
        </p:nvPicPr>
        <p:blipFill>
          <a:blip r:embed="rId2"/>
          <a:stretch>
            <a:fillRect/>
          </a:stretch>
        </p:blipFill>
        <p:spPr>
          <a:xfrm>
            <a:off x="3606165" y="2195830"/>
            <a:ext cx="387350" cy="203200"/>
          </a:xfrm>
          <a:prstGeom prst="rect">
            <a:avLst/>
          </a:prstGeom>
        </p:spPr>
      </p:pic>
      <p:sp>
        <p:nvSpPr>
          <p:cNvPr id="12" name="矩形 11"/>
          <p:cNvSpPr/>
          <p:nvPr/>
        </p:nvSpPr>
        <p:spPr>
          <a:xfrm>
            <a:off x="3082925" y="4332605"/>
            <a:ext cx="3006090" cy="81216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文本框 7"/>
          <p:cNvSpPr txBox="1"/>
          <p:nvPr/>
        </p:nvSpPr>
        <p:spPr>
          <a:xfrm>
            <a:off x="752475" y="5244465"/>
            <a:ext cx="9781540" cy="1370965"/>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sz="1600"/>
              <a:t>基于供应商分类行维护大货订单限制</a:t>
            </a:r>
            <a:endParaRPr lang="zh-CN" altLang="en-US" sz="1600"/>
          </a:p>
          <a:p>
            <a:pPr marL="285750" indent="-285750">
              <a:lnSpc>
                <a:spcPct val="130000"/>
              </a:lnSpc>
              <a:buFont typeface="Wingdings" panose="05000000000000000000" charset="0"/>
              <a:buChar char="ü"/>
            </a:pPr>
            <a:r>
              <a:rPr lang="zh-CN" altLang="en-US" sz="1600"/>
              <a:t>待确认在</a:t>
            </a:r>
            <a:r>
              <a:rPr lang="en-US" altLang="zh-CN" sz="1600"/>
              <a:t>ERP</a:t>
            </a:r>
            <a:r>
              <a:rPr lang="zh-CN" altLang="en-US" sz="1600"/>
              <a:t>对试用供应商下达订单时，</a:t>
            </a:r>
            <a:r>
              <a:rPr lang="zh-CN" altLang="en-US" sz="1600">
                <a:sym typeface="+mn-ea"/>
              </a:rPr>
              <a:t>是否</a:t>
            </a:r>
            <a:r>
              <a:rPr lang="zh-CN" altLang="en-US" sz="1600"/>
              <a:t>进行大货总金额限制</a:t>
            </a:r>
            <a:endParaRPr lang="zh-CN" altLang="en-US" sz="1600"/>
          </a:p>
          <a:p>
            <a:pPr marL="285750" indent="-285750">
              <a:lnSpc>
                <a:spcPct val="130000"/>
              </a:lnSpc>
              <a:buFont typeface="Wingdings" panose="05000000000000000000" charset="0"/>
              <a:buChar char="ü"/>
            </a:pPr>
            <a:r>
              <a:rPr lang="zh-CN" altLang="en-US" sz="1600">
                <a:sym typeface="+mn-ea"/>
              </a:rPr>
              <a:t>设限预警：在设限期间内，大货订单总金额（订单审批通过）到达该设限额度，或者设限期间将到期时，</a:t>
            </a:r>
            <a:r>
              <a:rPr lang="en-US" altLang="zh-CN" sz="1600">
                <a:sym typeface="+mn-ea"/>
              </a:rPr>
              <a:t>SRM</a:t>
            </a:r>
            <a:r>
              <a:rPr lang="zh-CN" altLang="en-US" sz="1600">
                <a:sym typeface="+mn-ea"/>
              </a:rPr>
              <a:t>通过系统消息及邮件对供管</a:t>
            </a:r>
            <a:r>
              <a:rPr lang="en-US" altLang="zh-CN" sz="1600">
                <a:sym typeface="+mn-ea"/>
              </a:rPr>
              <a:t>/</a:t>
            </a:r>
            <a:r>
              <a:rPr lang="zh-CN" altLang="en-US" sz="1600">
                <a:sym typeface="+mn-ea"/>
              </a:rPr>
              <a:t>采购员进行预警提醒</a:t>
            </a:r>
            <a:endParaRPr lang="zh-CN" altLang="en-US" sz="1600">
              <a:sym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58165" y="1266825"/>
            <a:ext cx="8359140" cy="4258310"/>
          </a:xfrm>
          <a:prstGeom prst="rect">
            <a:avLst/>
          </a:prstGeom>
        </p:spPr>
      </p:pic>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特批供应商</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新供应商准入评估</a:t>
            </a:r>
            <a:r>
              <a:rPr lang="en-US" altLang="zh-CN" sz="2800" dirty="0"/>
              <a:t>-</a:t>
            </a:r>
            <a:r>
              <a:rPr lang="zh-CN" altLang="en-US" sz="2800" dirty="0"/>
              <a:t>页面介绍</a:t>
            </a:r>
            <a:endParaRPr lang="zh-CN" altLang="en-US" sz="2800" dirty="0"/>
          </a:p>
        </p:txBody>
      </p:sp>
      <p:sp>
        <p:nvSpPr>
          <p:cNvPr id="8" name="矩形 7"/>
          <p:cNvSpPr/>
          <p:nvPr/>
        </p:nvSpPr>
        <p:spPr>
          <a:xfrm>
            <a:off x="4953000" y="1516380"/>
            <a:ext cx="730250" cy="35369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文本框 9"/>
          <p:cNvSpPr txBox="1"/>
          <p:nvPr/>
        </p:nvSpPr>
        <p:spPr>
          <a:xfrm>
            <a:off x="558165" y="5659755"/>
            <a:ext cx="10499725" cy="730885"/>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sz="1600">
                <a:sym typeface="+mn-ea"/>
              </a:rPr>
              <a:t>若为特批，供应商分类行上面料</a:t>
            </a:r>
            <a:r>
              <a:rPr lang="en-US" altLang="zh-CN" sz="1600">
                <a:sym typeface="+mn-ea"/>
              </a:rPr>
              <a:t>/</a:t>
            </a:r>
            <a:r>
              <a:rPr lang="zh-CN" altLang="en-US" sz="1600">
                <a:sym typeface="+mn-ea"/>
              </a:rPr>
              <a:t>成衣交易设限时间字段必填，金额选填</a:t>
            </a:r>
            <a:endParaRPr lang="zh-CN" altLang="en-US" sz="1600">
              <a:sym typeface="+mn-ea"/>
            </a:endParaRPr>
          </a:p>
          <a:p>
            <a:pPr marL="285750" indent="-285750">
              <a:lnSpc>
                <a:spcPct val="130000"/>
              </a:lnSpc>
              <a:buFont typeface="Wingdings" panose="05000000000000000000" charset="0"/>
              <a:buChar char="ü"/>
            </a:pPr>
            <a:r>
              <a:rPr lang="zh-CN" altLang="en-US" sz="1600">
                <a:sym typeface="+mn-ea"/>
              </a:rPr>
              <a:t>特批</a:t>
            </a:r>
            <a:r>
              <a:rPr lang="zh-CN" sz="1600">
                <a:sym typeface="+mn-ea"/>
              </a:rPr>
              <a:t>场景：（</a:t>
            </a:r>
            <a:r>
              <a:rPr lang="en-US" altLang="zh-CN" sz="1600">
                <a:sym typeface="+mn-ea"/>
              </a:rPr>
              <a:t>1</a:t>
            </a:r>
            <a:r>
              <a:rPr lang="zh-CN" altLang="en-US" sz="1600">
                <a:sym typeface="+mn-ea"/>
              </a:rPr>
              <a:t>）</a:t>
            </a:r>
            <a:r>
              <a:rPr lang="zh-CN" sz="1600">
                <a:sym typeface="+mn-ea"/>
              </a:rPr>
              <a:t>准入评估评分汇总时，产品部勾选是否特批；（2）不合格供应商转为试用，发起特批流程</a:t>
            </a:r>
            <a:endParaRPr lang="zh-CN" sz="1600">
              <a:sym typeface="+mn-ea"/>
            </a:endParaRPr>
          </a:p>
        </p:txBody>
      </p:sp>
      <p:sp>
        <p:nvSpPr>
          <p:cNvPr id="6" name="矩形 5"/>
          <p:cNvSpPr/>
          <p:nvPr/>
        </p:nvSpPr>
        <p:spPr>
          <a:xfrm>
            <a:off x="6246495" y="2940685"/>
            <a:ext cx="2362200" cy="60261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7486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企业信息</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a:t>
            </a:r>
            <a:r>
              <a:rPr lang="en-US" altLang="zh-CN" sz="2800" dirty="0"/>
              <a:t>360</a:t>
            </a:r>
            <a:r>
              <a:rPr lang="zh-CN" altLang="en-US" sz="2800" dirty="0"/>
              <a:t>度查询</a:t>
            </a:r>
            <a:endParaRPr lang="zh-CN" altLang="en-US" sz="2800" dirty="0"/>
          </a:p>
        </p:txBody>
      </p:sp>
      <p:sp>
        <p:nvSpPr>
          <p:cNvPr id="4" name="矩形: 圆顶角 8"/>
          <p:cNvSpPr/>
          <p:nvPr/>
        </p:nvSpPr>
        <p:spPr>
          <a:xfrm>
            <a:off x="6393180"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供应商信息</a:t>
            </a:r>
            <a:endParaRPr lang="zh-CN" dirty="0"/>
          </a:p>
        </p:txBody>
      </p:sp>
      <p:sp>
        <p:nvSpPr>
          <p:cNvPr id="72" name="矩形: 圆角 71"/>
          <p:cNvSpPr/>
          <p:nvPr/>
        </p:nvSpPr>
        <p:spPr>
          <a:xfrm>
            <a:off x="748665" y="1266825"/>
            <a:ext cx="5097145" cy="4862195"/>
          </a:xfrm>
          <a:prstGeom prst="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5" name="矩形: 圆角 71"/>
          <p:cNvSpPr/>
          <p:nvPr/>
        </p:nvSpPr>
        <p:spPr>
          <a:xfrm>
            <a:off x="6393180" y="1266825"/>
            <a:ext cx="5097145" cy="4862195"/>
          </a:xfrm>
          <a:prstGeom prst="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41" name="文本框 40"/>
          <p:cNvSpPr txBox="1"/>
          <p:nvPr/>
        </p:nvSpPr>
        <p:spPr>
          <a:xfrm>
            <a:off x="911860" y="1288415"/>
            <a:ext cx="4771390" cy="361061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b="1">
                <a:sym typeface="+mn-ea"/>
              </a:rPr>
              <a:t>登记信息</a:t>
            </a:r>
            <a:r>
              <a:rPr lang="zh-CN" altLang="en-US" sz="1600">
                <a:sym typeface="+mn-ea"/>
              </a:rPr>
              <a:t>：</a:t>
            </a:r>
            <a:endParaRPr lang="zh-CN" altLang="en-US" sz="1600">
              <a:sym typeface="+mn-ea"/>
            </a:endParaRPr>
          </a:p>
          <a:p>
            <a:pPr lvl="1" indent="0" algn="just" fontAlgn="auto">
              <a:lnSpc>
                <a:spcPct val="130000"/>
              </a:lnSpc>
              <a:buFont typeface="Wingdings" panose="05000000000000000000" charset="0"/>
              <a:buNone/>
            </a:pPr>
            <a:r>
              <a:rPr lang="zh-CN" altLang="en-US" sz="1600">
                <a:sym typeface="+mn-ea"/>
              </a:rPr>
              <a:t>名称、简称、法定代表人、统一社会信用代码、认证地区、企业类型、纳税人标识、营业执照附件等信息</a:t>
            </a:r>
            <a:endParaRPr lang="zh-CN" altLang="en-US" sz="1600">
              <a:sym typeface="+mn-ea"/>
            </a:endParaRPr>
          </a:p>
          <a:p>
            <a:pPr marL="285750" indent="-285750" algn="just" fontAlgn="auto">
              <a:lnSpc>
                <a:spcPct val="130000"/>
              </a:lnSpc>
              <a:buFont typeface="Wingdings" panose="05000000000000000000" charset="0"/>
              <a:buChar char="ü"/>
            </a:pPr>
            <a:r>
              <a:rPr lang="zh-CN" altLang="en-US" sz="1600" b="1"/>
              <a:t>基础业务信息</a:t>
            </a:r>
            <a:r>
              <a:rPr lang="zh-CN" altLang="en-US" sz="1600"/>
              <a:t>：</a:t>
            </a:r>
            <a:endParaRPr lang="zh-CN" altLang="en-US" sz="1600"/>
          </a:p>
          <a:p>
            <a:pPr lvl="1" indent="0" algn="just" fontAlgn="auto">
              <a:lnSpc>
                <a:spcPct val="130000"/>
              </a:lnSpc>
              <a:buFont typeface="Wingdings" panose="05000000000000000000" charset="0"/>
              <a:buNone/>
            </a:pPr>
            <a:r>
              <a:rPr lang="zh-CN" altLang="en-US" sz="1600"/>
              <a:t>经营性质、行业类型、主营品类、公司官网、公司简介</a:t>
            </a:r>
            <a:endParaRPr lang="zh-CN" altLang="en-US" sz="1600"/>
          </a:p>
          <a:p>
            <a:pPr marL="285750" indent="-285750" algn="just" fontAlgn="auto">
              <a:lnSpc>
                <a:spcPct val="130000"/>
              </a:lnSpc>
              <a:buFont typeface="Wingdings" panose="05000000000000000000" charset="0"/>
              <a:buChar char="ü"/>
            </a:pPr>
            <a:r>
              <a:rPr lang="zh-CN" altLang="en-US" sz="1600" b="1"/>
              <a:t>近</a:t>
            </a:r>
            <a:r>
              <a:rPr lang="en-US" altLang="zh-CN" sz="1600" b="1"/>
              <a:t>3</a:t>
            </a:r>
            <a:r>
              <a:rPr lang="zh-CN" altLang="en-US" sz="1600" b="1"/>
              <a:t>年财务状况</a:t>
            </a:r>
            <a:r>
              <a:rPr lang="zh-CN" altLang="en-US" sz="1600"/>
              <a:t>：</a:t>
            </a:r>
            <a:endParaRPr lang="zh-CN" altLang="en-US" sz="1600"/>
          </a:p>
          <a:p>
            <a:pPr lvl="1" indent="0" algn="just" fontAlgn="auto">
              <a:lnSpc>
                <a:spcPct val="130000"/>
              </a:lnSpc>
              <a:buFont typeface="Wingdings" panose="05000000000000000000" charset="0"/>
              <a:buNone/>
            </a:pPr>
            <a:r>
              <a:rPr lang="zh-CN" altLang="en-US" sz="1600"/>
              <a:t>企业总资产、总负债、流动资产、流动负债、营业收入、净利润、资产负债率、流动比率、总资产收益率等</a:t>
            </a:r>
            <a:endParaRPr lang="zh-CN" altLang="en-US" sz="1600"/>
          </a:p>
        </p:txBody>
      </p:sp>
      <p:sp>
        <p:nvSpPr>
          <p:cNvPr id="6" name="文本框 5"/>
          <p:cNvSpPr txBox="1"/>
          <p:nvPr/>
        </p:nvSpPr>
        <p:spPr>
          <a:xfrm>
            <a:off x="6664960" y="1286510"/>
            <a:ext cx="4552950" cy="4742815"/>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sz="1600" b="1">
                <a:sym typeface="+mn-ea"/>
              </a:rPr>
              <a:t>供应商生命周期</a:t>
            </a:r>
            <a:r>
              <a:rPr lang="zh-CN" sz="1600">
                <a:sym typeface="+mn-ea"/>
              </a:rPr>
              <a:t>：变更记录及申请单查看</a:t>
            </a:r>
            <a:endParaRPr lang="zh-CN" sz="1600">
              <a:sym typeface="+mn-ea"/>
            </a:endParaRPr>
          </a:p>
          <a:p>
            <a:pPr marL="285750" indent="-285750" algn="just" fontAlgn="auto">
              <a:lnSpc>
                <a:spcPct val="130000"/>
              </a:lnSpc>
              <a:buFont typeface="Wingdings" panose="05000000000000000000" charset="0"/>
              <a:buChar char="ü"/>
            </a:pPr>
            <a:r>
              <a:rPr lang="zh-CN" sz="1600" b="1">
                <a:sym typeface="+mn-ea"/>
              </a:rPr>
              <a:t>联系人</a:t>
            </a:r>
            <a:endParaRPr lang="zh-CN" sz="1600" b="1">
              <a:sym typeface="+mn-ea"/>
            </a:endParaRPr>
          </a:p>
          <a:p>
            <a:pPr marL="285750" indent="-285750" algn="just" fontAlgn="auto">
              <a:lnSpc>
                <a:spcPct val="130000"/>
              </a:lnSpc>
              <a:buFont typeface="Wingdings" panose="05000000000000000000" charset="0"/>
              <a:buChar char="ü"/>
            </a:pPr>
            <a:r>
              <a:rPr lang="zh-CN" sz="1600" b="1">
                <a:sym typeface="+mn-ea"/>
              </a:rPr>
              <a:t>地址</a:t>
            </a:r>
            <a:r>
              <a:rPr lang="zh-CN" sz="1600">
                <a:sym typeface="+mn-ea"/>
              </a:rPr>
              <a:t>：营业执照地址、办公地址、工厂地址</a:t>
            </a:r>
            <a:endParaRPr lang="zh-CN" sz="1600">
              <a:sym typeface="+mn-ea"/>
            </a:endParaRPr>
          </a:p>
          <a:p>
            <a:pPr marL="285750" indent="-285750" algn="just" fontAlgn="auto">
              <a:lnSpc>
                <a:spcPct val="130000"/>
              </a:lnSpc>
              <a:buFont typeface="Wingdings" panose="05000000000000000000" charset="0"/>
              <a:buChar char="ü"/>
            </a:pPr>
            <a:r>
              <a:rPr lang="zh-CN" sz="1600" b="1">
                <a:sym typeface="+mn-ea"/>
              </a:rPr>
              <a:t>银行账户</a:t>
            </a:r>
            <a:r>
              <a:rPr lang="zh-CN" sz="1600">
                <a:sym typeface="+mn-ea"/>
              </a:rPr>
              <a:t>：开户行名称、开户行行号、银行账户、账户名称等</a:t>
            </a:r>
            <a:endParaRPr lang="zh-CN" sz="1600">
              <a:sym typeface="+mn-ea"/>
            </a:endParaRPr>
          </a:p>
          <a:p>
            <a:pPr marL="285750" indent="-285750" algn="just" fontAlgn="auto">
              <a:lnSpc>
                <a:spcPct val="130000"/>
              </a:lnSpc>
              <a:buFont typeface="Wingdings" panose="05000000000000000000" charset="0"/>
              <a:buChar char="ü"/>
            </a:pPr>
            <a:r>
              <a:rPr lang="zh-CN" sz="1600" b="1">
                <a:sym typeface="+mn-ea"/>
              </a:rPr>
              <a:t>开票信息</a:t>
            </a:r>
            <a:r>
              <a:rPr lang="zh-CN" sz="1600">
                <a:sym typeface="+mn-ea"/>
              </a:rPr>
              <a:t>：发票头、税务登记号、开户行等</a:t>
            </a:r>
            <a:endParaRPr lang="zh-CN" sz="1600" b="1">
              <a:sym typeface="+mn-ea"/>
            </a:endParaRPr>
          </a:p>
          <a:p>
            <a:pPr marL="285750" indent="-285750" algn="just" fontAlgn="auto">
              <a:lnSpc>
                <a:spcPct val="130000"/>
              </a:lnSpc>
              <a:buFont typeface="Wingdings" panose="05000000000000000000" charset="0"/>
              <a:buChar char="ü"/>
            </a:pPr>
            <a:r>
              <a:rPr lang="zh-CN" sz="1600" b="1">
                <a:sym typeface="+mn-ea"/>
              </a:rPr>
              <a:t>附件信息</a:t>
            </a:r>
            <a:r>
              <a:rPr lang="zh-CN" sz="1600">
                <a:sym typeface="+mn-ea"/>
              </a:rPr>
              <a:t>：资质证书、质量认证等，包括文件到期日、上传日期</a:t>
            </a:r>
            <a:endParaRPr lang="zh-CN" sz="1600" b="1">
              <a:sym typeface="+mn-ea"/>
            </a:endParaRPr>
          </a:p>
          <a:p>
            <a:pPr marL="285750" indent="-285750" algn="just" fontAlgn="auto">
              <a:lnSpc>
                <a:spcPct val="130000"/>
              </a:lnSpc>
              <a:buFont typeface="Wingdings" panose="05000000000000000000" charset="0"/>
              <a:buChar char="ü"/>
            </a:pPr>
            <a:r>
              <a:rPr lang="zh-CN" sz="1600" b="1">
                <a:sym typeface="+mn-ea"/>
              </a:rPr>
              <a:t>供货能力清单</a:t>
            </a:r>
            <a:endParaRPr lang="zh-CN" sz="1600" b="1">
              <a:sym typeface="+mn-ea"/>
            </a:endParaRPr>
          </a:p>
          <a:p>
            <a:pPr marL="285750" indent="-285750" algn="just" fontAlgn="auto">
              <a:lnSpc>
                <a:spcPct val="130000"/>
              </a:lnSpc>
              <a:buFont typeface="Wingdings" panose="05000000000000000000" charset="0"/>
              <a:buChar char="ü"/>
            </a:pPr>
            <a:r>
              <a:rPr lang="zh-CN" sz="1600" b="1">
                <a:sym typeface="+mn-ea"/>
              </a:rPr>
              <a:t>采购</a:t>
            </a:r>
            <a:r>
              <a:rPr lang="en-US" altLang="zh-CN" sz="1600" b="1">
                <a:sym typeface="+mn-ea"/>
              </a:rPr>
              <a:t>/</a:t>
            </a:r>
            <a:r>
              <a:rPr lang="zh-CN" altLang="en-US" sz="1600" b="1">
                <a:sym typeface="+mn-ea"/>
              </a:rPr>
              <a:t>财务信息</a:t>
            </a:r>
            <a:r>
              <a:rPr lang="zh-CN" altLang="en-US" sz="1600">
                <a:sym typeface="+mn-ea"/>
              </a:rPr>
              <a:t>：付款条件、订单货币、付款方式等</a:t>
            </a:r>
            <a:endParaRPr lang="zh-CN" sz="1600" b="1">
              <a:sym typeface="+mn-ea"/>
            </a:endParaRPr>
          </a:p>
          <a:p>
            <a:pPr marL="285750" indent="-285750" algn="just" fontAlgn="auto">
              <a:lnSpc>
                <a:spcPct val="130000"/>
              </a:lnSpc>
              <a:buFont typeface="Wingdings" panose="05000000000000000000" charset="0"/>
              <a:buChar char="ü"/>
            </a:pPr>
            <a:r>
              <a:rPr lang="zh-CN" sz="1600" b="1"/>
              <a:t>供应商考评结果</a:t>
            </a:r>
            <a:r>
              <a:rPr lang="zh-CN" sz="1600"/>
              <a:t>：考评档案记录及查看</a:t>
            </a:r>
            <a:endParaRPr lang="zh-CN" sz="1600"/>
          </a:p>
          <a:p>
            <a:pPr marL="285750" indent="-285750" algn="just" fontAlgn="auto">
              <a:lnSpc>
                <a:spcPct val="130000"/>
              </a:lnSpc>
              <a:buFont typeface="Wingdings" panose="05000000000000000000" charset="0"/>
              <a:buChar char="ü"/>
            </a:pPr>
            <a:r>
              <a:rPr lang="zh-CN" sz="1600" b="1"/>
              <a:t>调查表信息</a:t>
            </a:r>
            <a:endParaRPr lang="zh-CN" sz="1600" b="1"/>
          </a:p>
          <a:p>
            <a:pPr marL="285750" indent="-285750" algn="just" fontAlgn="auto">
              <a:lnSpc>
                <a:spcPct val="70000"/>
              </a:lnSpc>
              <a:buFont typeface="Wingdings" panose="05000000000000000000" charset="0"/>
              <a:buChar char="ü"/>
            </a:pPr>
            <a:endParaRPr lang="zh-CN" sz="1600" b="1"/>
          </a:p>
          <a:p>
            <a:pPr marL="285750" indent="-285750" algn="just" fontAlgn="auto">
              <a:lnSpc>
                <a:spcPct val="130000"/>
              </a:lnSpc>
              <a:buFont typeface="Wingdings" panose="05000000000000000000" charset="0"/>
              <a:buChar char="ü"/>
            </a:pPr>
            <a:r>
              <a:rPr lang="zh-CN" sz="1600"/>
              <a:t>交易金额等数据报表放在</a:t>
            </a:r>
            <a:r>
              <a:rPr lang="zh-CN" sz="1600" b="1"/>
              <a:t>二期</a:t>
            </a:r>
            <a:r>
              <a:rPr lang="zh-CN" sz="1600"/>
              <a:t>添加</a:t>
            </a:r>
            <a:endParaRPr lang="zh-CN" sz="160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sym typeface="+mn-ea"/>
              </a:rPr>
              <a:t>供应商</a:t>
            </a:r>
            <a:r>
              <a:rPr lang="en-US" altLang="zh-CN" sz="2800" dirty="0">
                <a:sym typeface="+mn-ea"/>
              </a:rPr>
              <a:t>360</a:t>
            </a:r>
            <a:r>
              <a:rPr lang="zh-CN" altLang="en-US" sz="2800" dirty="0">
                <a:sym typeface="+mn-ea"/>
              </a:rPr>
              <a:t>度查询</a:t>
            </a:r>
            <a:r>
              <a:rPr lang="en-US" altLang="zh-CN" sz="2800" dirty="0">
                <a:sym typeface="+mn-ea"/>
              </a:rPr>
              <a:t>-</a:t>
            </a:r>
            <a:r>
              <a:rPr lang="zh-CN" altLang="en-US" sz="2800" dirty="0">
                <a:sym typeface="+mn-ea"/>
              </a:rPr>
              <a:t>页面展示</a:t>
            </a:r>
            <a:endParaRPr lang="en-US" altLang="zh-CN" sz="2800" dirty="0">
              <a:sym typeface="+mn-ea"/>
            </a:endParaRPr>
          </a:p>
        </p:txBody>
      </p:sp>
      <p:pic>
        <p:nvPicPr>
          <p:cNvPr id="2" name="图片 1"/>
          <p:cNvPicPr>
            <a:picLocks noChangeAspect="1"/>
          </p:cNvPicPr>
          <p:nvPr/>
        </p:nvPicPr>
        <p:blipFill>
          <a:blip r:embed="rId1"/>
          <a:stretch>
            <a:fillRect/>
          </a:stretch>
        </p:blipFill>
        <p:spPr>
          <a:xfrm>
            <a:off x="549275" y="1266825"/>
            <a:ext cx="8221345" cy="3996690"/>
          </a:xfrm>
          <a:prstGeom prst="rect">
            <a:avLst/>
          </a:prstGeom>
        </p:spPr>
      </p:pic>
      <p:sp>
        <p:nvSpPr>
          <p:cNvPr id="3"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360</a:t>
            </a:r>
            <a:r>
              <a:rPr lang="zh-CN" altLang="en-US" dirty="0"/>
              <a:t>度查询</a:t>
            </a:r>
            <a:endParaRPr lang="zh-CN" altLang="en-US" dirty="0"/>
          </a:p>
        </p:txBody>
      </p:sp>
      <p:sp>
        <p:nvSpPr>
          <p:cNvPr id="10" name="文本框 9"/>
          <p:cNvSpPr txBox="1"/>
          <p:nvPr/>
        </p:nvSpPr>
        <p:spPr>
          <a:xfrm>
            <a:off x="8770620" y="1266825"/>
            <a:ext cx="3234055" cy="2971165"/>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sz="1600" b="1">
                <a:sym typeface="+mn-ea"/>
              </a:rPr>
              <a:t>供应商</a:t>
            </a:r>
            <a:r>
              <a:rPr lang="en-US" altLang="zh-CN" sz="1600" b="1">
                <a:sym typeface="+mn-ea"/>
              </a:rPr>
              <a:t>360</a:t>
            </a:r>
            <a:r>
              <a:rPr lang="zh-CN" altLang="en-US" sz="1600" b="1">
                <a:sym typeface="+mn-ea"/>
              </a:rPr>
              <a:t>度信息查看</a:t>
            </a:r>
            <a:r>
              <a:rPr lang="zh-CN" altLang="en-US" sz="1600">
                <a:sym typeface="+mn-ea"/>
              </a:rPr>
              <a:t>：</a:t>
            </a:r>
            <a:r>
              <a:rPr lang="zh-CN" sz="1600">
                <a:sym typeface="+mn-ea"/>
              </a:rPr>
              <a:t>供应商生命周期管理、准入评估及审批节点、验厂计划表、验厂报告等环节</a:t>
            </a:r>
            <a:endParaRPr lang="zh-CN" sz="1600">
              <a:sym typeface="+mn-ea"/>
            </a:endParaRPr>
          </a:p>
          <a:p>
            <a:pPr marL="285750" indent="-285750">
              <a:lnSpc>
                <a:spcPct val="130000"/>
              </a:lnSpc>
              <a:buFont typeface="Wingdings" panose="05000000000000000000" charset="0"/>
              <a:buChar char="ü"/>
            </a:pPr>
            <a:r>
              <a:rPr lang="zh-CN" altLang="en-US" sz="1600" b="1">
                <a:sym typeface="+mn-ea"/>
              </a:rPr>
              <a:t>导入</a:t>
            </a:r>
            <a:r>
              <a:rPr lang="en-US" altLang="zh-CN" sz="1600" b="1">
                <a:sym typeface="+mn-ea"/>
              </a:rPr>
              <a:t>ERP</a:t>
            </a:r>
            <a:r>
              <a:rPr lang="zh-CN" altLang="en-US" sz="1600" b="1">
                <a:sym typeface="+mn-ea"/>
              </a:rPr>
              <a:t>建档</a:t>
            </a:r>
            <a:r>
              <a:rPr lang="zh-CN" altLang="en-US" sz="1600">
                <a:sym typeface="+mn-ea"/>
              </a:rPr>
              <a:t>：信息在准入过程中补充完整，导入时与</a:t>
            </a:r>
            <a:r>
              <a:rPr lang="en-US" altLang="zh-CN" sz="1600">
                <a:sym typeface="+mn-ea"/>
              </a:rPr>
              <a:t>ERP</a:t>
            </a:r>
            <a:r>
              <a:rPr lang="zh-CN" altLang="en-US" sz="1600">
                <a:sym typeface="+mn-ea"/>
              </a:rPr>
              <a:t>供应商主档一一对应</a:t>
            </a:r>
            <a:endParaRPr lang="zh-CN" altLang="en-US" sz="1600">
              <a:sym typeface="+mn-ea"/>
            </a:endParaRPr>
          </a:p>
          <a:p>
            <a:pPr marL="285750" indent="-285750">
              <a:lnSpc>
                <a:spcPct val="130000"/>
              </a:lnSpc>
              <a:buFont typeface="Wingdings" panose="05000000000000000000" charset="0"/>
              <a:buChar char="ü"/>
            </a:pPr>
            <a:r>
              <a:rPr lang="zh-CN" altLang="en-US" sz="1600" b="1">
                <a:sym typeface="+mn-ea"/>
              </a:rPr>
              <a:t>供应商</a:t>
            </a:r>
            <a:r>
              <a:rPr lang="en-US" altLang="zh-CN" sz="1600" b="1">
                <a:sym typeface="+mn-ea"/>
              </a:rPr>
              <a:t>360</a:t>
            </a:r>
            <a:r>
              <a:rPr lang="zh-CN" altLang="en-US" sz="1600" b="1">
                <a:sym typeface="+mn-ea"/>
              </a:rPr>
              <a:t>信息打印</a:t>
            </a:r>
            <a:r>
              <a:rPr lang="zh-CN" altLang="en-US" sz="1600">
                <a:sym typeface="+mn-ea"/>
              </a:rPr>
              <a:t>：添加分模块选择性打印功能</a:t>
            </a:r>
            <a:endParaRPr lang="zh-CN" altLang="en-US" sz="1600">
              <a:sym typeface="+mn-e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tx1"/>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供应商降级</a:t>
            </a:r>
            <a:r>
              <a:rPr lang="en-US" altLang="zh-CN" sz="2800" dirty="0"/>
              <a:t>-</a:t>
            </a:r>
            <a:r>
              <a:rPr lang="zh-CN" altLang="en-US" sz="2800" dirty="0"/>
              <a:t>流程介绍</a:t>
            </a:r>
            <a:endParaRPr lang="zh-CN" altLang="en-US" sz="2800" dirty="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2" name="矩形: 圆角 71"/>
          <p:cNvSpPr/>
          <p:nvPr/>
        </p:nvSpPr>
        <p:spPr>
          <a:xfrm>
            <a:off x="326390" y="799465"/>
            <a:ext cx="5600065" cy="5528945"/>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3" name="文本框 2"/>
          <p:cNvSpPr txBox="1"/>
          <p:nvPr/>
        </p:nvSpPr>
        <p:spPr>
          <a:xfrm>
            <a:off x="937895" y="967740"/>
            <a:ext cx="1452880" cy="398780"/>
          </a:xfrm>
          <a:prstGeom prst="rect">
            <a:avLst/>
          </a:prstGeom>
          <a:noFill/>
        </p:spPr>
        <p:txBody>
          <a:bodyPr wrap="none" rtlCol="0">
            <a:spAutoFit/>
          </a:bodyPr>
          <a:lstStyle/>
          <a:p>
            <a:r>
              <a:rPr lang="zh-CN" altLang="en-US" sz="2000" b="1">
                <a:solidFill>
                  <a:schemeClr val="accent1"/>
                </a:solidFill>
              </a:rPr>
              <a:t>实现要点：</a:t>
            </a:r>
            <a:endParaRPr lang="zh-CN" altLang="en-US" sz="2000" b="1">
              <a:solidFill>
                <a:schemeClr val="accent1"/>
              </a:solidFill>
            </a:endParaRPr>
          </a:p>
        </p:txBody>
      </p:sp>
      <p:sp>
        <p:nvSpPr>
          <p:cNvPr id="4" name="文本框 3"/>
          <p:cNvSpPr txBox="1"/>
          <p:nvPr/>
        </p:nvSpPr>
        <p:spPr>
          <a:xfrm>
            <a:off x="391160" y="1376045"/>
            <a:ext cx="5535295" cy="489077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b="1"/>
              <a:t>供应商退出阶段状态说明</a:t>
            </a:r>
            <a:r>
              <a:rPr lang="zh-CN" altLang="en-US" sz="1600"/>
              <a:t>：</a:t>
            </a:r>
            <a:endParaRPr lang="zh-CN" altLang="en-US" sz="1600"/>
          </a:p>
          <a:p>
            <a:pPr marL="742950" lvl="1" indent="-285750" algn="just" fontAlgn="auto">
              <a:lnSpc>
                <a:spcPct val="130000"/>
              </a:lnSpc>
              <a:buFont typeface="Arial" panose="020B0604020202020204" pitchFamily="34" charset="0"/>
              <a:buChar char="•"/>
            </a:pPr>
            <a:r>
              <a:rPr lang="zh-CN" altLang="en-US" sz="1600" b="1"/>
              <a:t>退出（冻结）</a:t>
            </a:r>
            <a:r>
              <a:rPr lang="zh-CN" altLang="en-US" sz="1600"/>
              <a:t>：重启时不用重新准入评估</a:t>
            </a:r>
            <a:endParaRPr lang="zh-CN" altLang="en-US" sz="1600"/>
          </a:p>
          <a:p>
            <a:pPr marL="742950" lvl="1" indent="-285750" algn="just" fontAlgn="auto">
              <a:lnSpc>
                <a:spcPct val="130000"/>
              </a:lnSpc>
              <a:buFont typeface="Arial" panose="020B0604020202020204" pitchFamily="34" charset="0"/>
              <a:buChar char="•"/>
            </a:pPr>
            <a:r>
              <a:rPr lang="zh-CN" altLang="en-US" sz="1600" b="1"/>
              <a:t>黑名单</a:t>
            </a:r>
            <a:r>
              <a:rPr lang="zh-CN" altLang="en-US" sz="1600"/>
              <a:t>：重启时需重新准入评估</a:t>
            </a:r>
            <a:endParaRPr lang="zh-CN" altLang="en-US" sz="1600"/>
          </a:p>
          <a:p>
            <a:pPr marL="742950" lvl="1" indent="-285750" algn="just" fontAlgn="auto">
              <a:lnSpc>
                <a:spcPct val="130000"/>
              </a:lnSpc>
              <a:buFont typeface="Arial" panose="020B0604020202020204" pitchFamily="34" charset="0"/>
              <a:buChar char="•"/>
            </a:pPr>
            <a:r>
              <a:rPr lang="zh-CN" altLang="en-US" sz="1600" b="1">
                <a:sym typeface="+mn-ea"/>
              </a:rPr>
              <a:t>休眠（潜在阶段）</a:t>
            </a:r>
            <a:r>
              <a:rPr lang="zh-CN" altLang="en-US" sz="1600">
                <a:sym typeface="+mn-ea"/>
              </a:rPr>
              <a:t>：三年未有交易业务的供应商，状态自动更新为休眠，重启时走审批流</a:t>
            </a:r>
            <a:endParaRPr lang="zh-CN" altLang="en-US" sz="1600"/>
          </a:p>
          <a:p>
            <a:pPr marL="285750" indent="-285750" algn="just" fontAlgn="auto">
              <a:lnSpc>
                <a:spcPct val="130000"/>
              </a:lnSpc>
              <a:buFont typeface="Wingdings" panose="05000000000000000000" charset="0"/>
              <a:buChar char="ü"/>
            </a:pPr>
            <a:r>
              <a:rPr lang="zh-CN" altLang="en-US" sz="1600" b="1"/>
              <a:t>共用供应商：</a:t>
            </a:r>
            <a:r>
              <a:rPr lang="zh-CN" altLang="en-US" sz="1600"/>
              <a:t>若供应商同时供应多个业务大类，发起退出时将进行提示：该供应商为共用供应商，是否确认发起退出流程</a:t>
            </a:r>
            <a:endParaRPr lang="zh-CN" altLang="en-US" sz="1600"/>
          </a:p>
          <a:p>
            <a:pPr marL="285750" indent="-285750" algn="just" fontAlgn="auto">
              <a:lnSpc>
                <a:spcPct val="130000"/>
              </a:lnSpc>
              <a:buFont typeface="Wingdings" panose="05000000000000000000" charset="0"/>
              <a:buChar char="ü"/>
            </a:pPr>
            <a:r>
              <a:rPr lang="en-US" altLang="zh-CN" sz="1600" b="1"/>
              <a:t>ERP</a:t>
            </a:r>
            <a:r>
              <a:rPr lang="zh-CN" altLang="en-US" sz="1600" b="1"/>
              <a:t>供应商状态</a:t>
            </a:r>
            <a:r>
              <a:rPr lang="zh-CN" altLang="en-US" sz="1600"/>
              <a:t>需相应增加：预审</a:t>
            </a:r>
            <a:r>
              <a:rPr lang="en-US" altLang="zh-CN" sz="1600"/>
              <a:t>/</a:t>
            </a:r>
            <a:r>
              <a:rPr lang="zh-CN" altLang="en-US" sz="1600"/>
              <a:t>已确认</a:t>
            </a:r>
            <a:r>
              <a:rPr lang="en-US" altLang="zh-CN" sz="1600"/>
              <a:t>/</a:t>
            </a:r>
            <a:r>
              <a:rPr lang="zh-CN" altLang="en-US" sz="1600"/>
              <a:t>冻结</a:t>
            </a:r>
            <a:r>
              <a:rPr lang="en-US" altLang="zh-CN" sz="1600"/>
              <a:t>/</a:t>
            </a:r>
            <a:r>
              <a:rPr lang="zh-CN" altLang="en-US" sz="1600"/>
              <a:t>黑名单</a:t>
            </a:r>
            <a:r>
              <a:rPr lang="en-US" altLang="zh-CN" sz="1600"/>
              <a:t>/</a:t>
            </a:r>
            <a:r>
              <a:rPr lang="zh-CN" altLang="en-US" sz="1600"/>
              <a:t>休眠（待</a:t>
            </a:r>
            <a:r>
              <a:rPr lang="en-US" altLang="zh-CN" sz="1600"/>
              <a:t>ERP</a:t>
            </a:r>
            <a:r>
              <a:rPr lang="zh-CN" altLang="en-US" sz="1600"/>
              <a:t>评估）</a:t>
            </a:r>
            <a:endParaRPr lang="zh-CN" altLang="en-US" sz="1600"/>
          </a:p>
          <a:p>
            <a:pPr marL="285750" indent="-285750" algn="just" fontAlgn="auto">
              <a:lnSpc>
                <a:spcPct val="130000"/>
              </a:lnSpc>
              <a:buFont typeface="Wingdings" panose="05000000000000000000" charset="0"/>
              <a:buChar char="ü"/>
            </a:pPr>
            <a:r>
              <a:rPr lang="zh-CN" altLang="en-US" sz="1600" b="1"/>
              <a:t>状态标识</a:t>
            </a:r>
            <a:r>
              <a:rPr lang="zh-CN" altLang="en-US" sz="1600"/>
              <a:t>：对于特批</a:t>
            </a:r>
            <a:r>
              <a:rPr lang="en-US" altLang="zh-CN" sz="1600"/>
              <a:t>/</a:t>
            </a:r>
            <a:r>
              <a:rPr lang="zh-CN" altLang="en-US" sz="1600"/>
              <a:t>黑名单</a:t>
            </a:r>
            <a:r>
              <a:rPr lang="en-US" altLang="zh-CN" sz="1600"/>
              <a:t>/</a:t>
            </a:r>
            <a:r>
              <a:rPr lang="zh-CN" altLang="en-US" sz="1600"/>
              <a:t>休眠状态下的供应商，会在供应商生命周期泳道上进行标识</a:t>
            </a:r>
            <a:endParaRPr lang="zh-CN" altLang="en-US" sz="1600"/>
          </a:p>
          <a:p>
            <a:pPr marL="285750" indent="-285750" algn="just" fontAlgn="auto">
              <a:lnSpc>
                <a:spcPct val="130000"/>
              </a:lnSpc>
              <a:buFont typeface="Wingdings" panose="05000000000000000000" charset="0"/>
              <a:buChar char="ü"/>
            </a:pPr>
            <a:r>
              <a:rPr lang="zh-CN" altLang="en-US" sz="1600" b="1"/>
              <a:t>休眠时间计算</a:t>
            </a:r>
            <a:r>
              <a:rPr lang="zh-CN" altLang="en-US" sz="1600"/>
              <a:t>：</a:t>
            </a:r>
            <a:endParaRPr lang="zh-CN" altLang="en-US" sz="1600"/>
          </a:p>
          <a:p>
            <a:pPr marL="742950" lvl="1" indent="-285750" algn="just" fontAlgn="auto">
              <a:lnSpc>
                <a:spcPct val="130000"/>
              </a:lnSpc>
              <a:buFont typeface="Wingdings" panose="05000000000000000000" charset="0"/>
              <a:buChar char="ü"/>
            </a:pPr>
            <a:r>
              <a:rPr lang="zh-CN" altLang="en-US" sz="1600"/>
              <a:t>最新一次订单确认时间</a:t>
            </a:r>
            <a:endParaRPr lang="zh-CN" altLang="en-US" sz="1600"/>
          </a:p>
          <a:p>
            <a:pPr marL="742950" lvl="1" indent="-285750" algn="just" fontAlgn="auto">
              <a:lnSpc>
                <a:spcPct val="130000"/>
              </a:lnSpc>
              <a:buFont typeface="Wingdings" panose="05000000000000000000" charset="0"/>
              <a:buChar char="ü"/>
            </a:pPr>
            <a:r>
              <a:rPr lang="zh-CN" altLang="en-US" sz="1600"/>
              <a:t>供应商注册时间（无订单）</a:t>
            </a:r>
            <a:endParaRPr lang="zh-CN" altLang="en-US" sz="1600"/>
          </a:p>
        </p:txBody>
      </p:sp>
      <p:graphicFrame>
        <p:nvGraphicFramePr>
          <p:cNvPr id="5" name="对象 4"/>
          <p:cNvGraphicFramePr/>
          <p:nvPr/>
        </p:nvGraphicFramePr>
        <p:xfrm>
          <a:off x="6093460" y="783590"/>
          <a:ext cx="5796280" cy="5589905"/>
        </p:xfrm>
        <a:graphic>
          <a:graphicData uri="http://schemas.openxmlformats.org/presentationml/2006/ole">
            <mc:AlternateContent xmlns:mc="http://schemas.openxmlformats.org/markup-compatibility/2006">
              <mc:Choice xmlns:v="urn:schemas-microsoft-com:vml" Requires="v">
                <p:oleObj spid="_x0000_s5124" name="" r:id="rId1" imgW="6510655" imgH="6279515" progId="Visio.Drawing.15">
                  <p:embed/>
                </p:oleObj>
              </mc:Choice>
              <mc:Fallback>
                <p:oleObj name="" r:id="rId1" imgW="6510655" imgH="6279515" progId="Visio.Drawing.15">
                  <p:embed/>
                  <p:pic>
                    <p:nvPicPr>
                      <p:cNvPr id="0" name="图片 6"/>
                      <p:cNvPicPr/>
                      <p:nvPr/>
                    </p:nvPicPr>
                    <p:blipFill>
                      <a:blip r:embed="rId2"/>
                      <a:stretch>
                        <a:fillRect/>
                      </a:stretch>
                    </p:blipFill>
                    <p:spPr>
                      <a:xfrm>
                        <a:off x="6093460" y="783590"/>
                        <a:ext cx="5796280" cy="5589905"/>
                      </a:xfrm>
                      <a:prstGeom prst="rect">
                        <a:avLst/>
                      </a:prstGeom>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58165" y="1047750"/>
            <a:ext cx="9124950" cy="4512310"/>
            <a:chOff x="879" y="1650"/>
            <a:chExt cx="14370" cy="7106"/>
          </a:xfrm>
        </p:grpSpPr>
        <p:pic>
          <p:nvPicPr>
            <p:cNvPr id="8" name="图片 7"/>
            <p:cNvPicPr>
              <a:picLocks noChangeAspect="1"/>
            </p:cNvPicPr>
            <p:nvPr/>
          </p:nvPicPr>
          <p:blipFill>
            <a:blip r:embed="rId1"/>
            <a:stretch>
              <a:fillRect/>
            </a:stretch>
          </p:blipFill>
          <p:spPr>
            <a:xfrm>
              <a:off x="879" y="1650"/>
              <a:ext cx="14371" cy="7106"/>
            </a:xfrm>
            <a:prstGeom prst="rect">
              <a:avLst/>
            </a:prstGeom>
          </p:spPr>
        </p:pic>
        <p:pic>
          <p:nvPicPr>
            <p:cNvPr id="3" name="图片 2"/>
            <p:cNvPicPr>
              <a:picLocks noChangeAspect="1"/>
            </p:cNvPicPr>
            <p:nvPr/>
          </p:nvPicPr>
          <p:blipFill>
            <a:blip r:embed="rId2"/>
            <a:stretch>
              <a:fillRect/>
            </a:stretch>
          </p:blipFill>
          <p:spPr>
            <a:xfrm>
              <a:off x="5591" y="4719"/>
              <a:ext cx="4695" cy="468"/>
            </a:xfrm>
            <a:prstGeom prst="rect">
              <a:avLst/>
            </a:prstGeom>
          </p:spPr>
        </p:pic>
        <p:pic>
          <p:nvPicPr>
            <p:cNvPr id="4" name="图片 3"/>
            <p:cNvPicPr>
              <a:picLocks noChangeAspect="1"/>
            </p:cNvPicPr>
            <p:nvPr/>
          </p:nvPicPr>
          <p:blipFill>
            <a:blip r:embed="rId2"/>
            <a:stretch>
              <a:fillRect/>
            </a:stretch>
          </p:blipFill>
          <p:spPr>
            <a:xfrm>
              <a:off x="9647" y="4151"/>
              <a:ext cx="4695" cy="468"/>
            </a:xfrm>
            <a:prstGeom prst="rect">
              <a:avLst/>
            </a:prstGeom>
          </p:spPr>
        </p:pic>
        <p:pic>
          <p:nvPicPr>
            <p:cNvPr id="5" name="图片 4"/>
            <p:cNvPicPr>
              <a:picLocks noChangeAspect="1"/>
            </p:cNvPicPr>
            <p:nvPr/>
          </p:nvPicPr>
          <p:blipFill>
            <a:blip r:embed="rId3"/>
            <a:stretch>
              <a:fillRect/>
            </a:stretch>
          </p:blipFill>
          <p:spPr>
            <a:xfrm>
              <a:off x="6271" y="5335"/>
              <a:ext cx="1274" cy="266"/>
            </a:xfrm>
            <a:prstGeom prst="rect">
              <a:avLst/>
            </a:prstGeom>
          </p:spPr>
        </p:pic>
        <p:pic>
          <p:nvPicPr>
            <p:cNvPr id="6" name="图片 5"/>
            <p:cNvPicPr>
              <a:picLocks noChangeAspect="1"/>
            </p:cNvPicPr>
            <p:nvPr/>
          </p:nvPicPr>
          <p:blipFill>
            <a:blip r:embed="rId3"/>
            <a:stretch>
              <a:fillRect/>
            </a:stretch>
          </p:blipFill>
          <p:spPr>
            <a:xfrm>
              <a:off x="3087" y="5542"/>
              <a:ext cx="1274" cy="212"/>
            </a:xfrm>
            <a:prstGeom prst="rect">
              <a:avLst/>
            </a:prstGeom>
          </p:spPr>
        </p:pic>
      </p:gr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673735"/>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供应商退出</a:t>
            </a:r>
            <a:endParaRPr lang="zh-CN" dirty="0"/>
          </a:p>
        </p:txBody>
      </p:sp>
      <p:sp>
        <p:nvSpPr>
          <p:cNvPr id="52" name="矩形: 圆顶角 51"/>
          <p:cNvSpPr/>
          <p:nvPr/>
        </p:nvSpPr>
        <p:spPr>
          <a:xfrm>
            <a:off x="2481580" y="673735"/>
            <a:ext cx="168719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黑名单</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供应商降级</a:t>
            </a:r>
            <a:r>
              <a:rPr lang="en-US" altLang="zh-CN" sz="2800" dirty="0"/>
              <a:t>-</a:t>
            </a:r>
            <a:r>
              <a:rPr lang="zh-CN" altLang="en-US" sz="2800" dirty="0"/>
              <a:t>页面介绍</a:t>
            </a:r>
            <a:endParaRPr lang="zh-CN" altLang="en-US" sz="2800" dirty="0"/>
          </a:p>
        </p:txBody>
      </p:sp>
      <p:sp>
        <p:nvSpPr>
          <p:cNvPr id="2" name="矩形 1"/>
          <p:cNvSpPr/>
          <p:nvPr/>
        </p:nvSpPr>
        <p:spPr>
          <a:xfrm>
            <a:off x="3671570" y="2628265"/>
            <a:ext cx="1968500" cy="30480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文本框 9"/>
          <p:cNvSpPr txBox="1"/>
          <p:nvPr/>
        </p:nvSpPr>
        <p:spPr>
          <a:xfrm>
            <a:off x="558165" y="5455920"/>
            <a:ext cx="9986010" cy="1050925"/>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sz="1600">
                <a:sym typeface="+mn-ea"/>
              </a:rPr>
              <a:t>未加入黑名单的供应商，退出后重新启用无需走准入流程；加入黑名单的供应商重新启用需进行准入评估</a:t>
            </a:r>
            <a:endParaRPr lang="zh-CN" altLang="en-US" sz="1600">
              <a:sym typeface="+mn-ea"/>
            </a:endParaRPr>
          </a:p>
          <a:p>
            <a:pPr marL="285750" indent="-285750">
              <a:lnSpc>
                <a:spcPct val="130000"/>
              </a:lnSpc>
              <a:buFont typeface="Wingdings" panose="05000000000000000000" charset="0"/>
              <a:buChar char="ü"/>
            </a:pPr>
            <a:r>
              <a:rPr lang="zh-CN" altLang="en-US" sz="1600">
                <a:sym typeface="+mn-ea"/>
              </a:rPr>
              <a:t>共用供应商发起退出时将提示：该供应商为共用供应商，是否确认发起退出</a:t>
            </a:r>
            <a:endParaRPr lang="zh-CN" altLang="en-US" sz="1600">
              <a:sym typeface="+mn-ea"/>
            </a:endParaRPr>
          </a:p>
          <a:p>
            <a:pPr marL="285750" indent="-285750">
              <a:lnSpc>
                <a:spcPct val="130000"/>
              </a:lnSpc>
              <a:buFont typeface="Wingdings" panose="05000000000000000000" charset="0"/>
              <a:buChar char="ü"/>
            </a:pPr>
            <a:r>
              <a:rPr lang="zh-CN" altLang="en-US" sz="1600">
                <a:sym typeface="+mn-ea"/>
              </a:rPr>
              <a:t>加入黑名单后，将在生命周期</a:t>
            </a:r>
            <a:r>
              <a:rPr lang="en-US" altLang="zh-CN" sz="1600">
                <a:sym typeface="+mn-ea"/>
              </a:rPr>
              <a:t>--</a:t>
            </a:r>
            <a:r>
              <a:rPr lang="zh-CN" altLang="en-US" sz="1600">
                <a:sym typeface="+mn-ea"/>
              </a:rPr>
              <a:t>退出泳道中对供应商设置黑名单标识</a:t>
            </a:r>
            <a:endParaRPr lang="zh-CN" altLang="en-US" sz="16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2"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tx1"/>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供应商信息变更</a:t>
            </a:r>
            <a:endParaRPr lang="en-US" altLang="zh-CN" sz="3600" b="1"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供应商分类变更</a:t>
            </a:r>
            <a:r>
              <a:rPr lang="en-US" altLang="zh-CN" sz="2800" dirty="0"/>
              <a:t>-</a:t>
            </a:r>
            <a:r>
              <a:rPr lang="zh-CN" altLang="en-US" sz="2800" dirty="0"/>
              <a:t>流程介绍</a:t>
            </a:r>
            <a:endParaRPr lang="zh-CN" altLang="en-US" sz="2800" dirty="0"/>
          </a:p>
        </p:txBody>
      </p:sp>
      <p:sp>
        <p:nvSpPr>
          <p:cNvPr id="72" name="矩形: 圆角 71"/>
          <p:cNvSpPr/>
          <p:nvPr/>
        </p:nvSpPr>
        <p:spPr>
          <a:xfrm>
            <a:off x="5534660" y="1122045"/>
            <a:ext cx="6042660" cy="4507230"/>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23" name="文本框 22"/>
          <p:cNvSpPr txBox="1"/>
          <p:nvPr/>
        </p:nvSpPr>
        <p:spPr>
          <a:xfrm>
            <a:off x="6054725" y="1343025"/>
            <a:ext cx="1452880" cy="398780"/>
          </a:xfrm>
          <a:prstGeom prst="rect">
            <a:avLst/>
          </a:prstGeom>
          <a:noFill/>
        </p:spPr>
        <p:txBody>
          <a:bodyPr wrap="none" rtlCol="0">
            <a:spAutoFit/>
          </a:bodyPr>
          <a:lstStyle/>
          <a:p>
            <a:r>
              <a:rPr lang="zh-CN" altLang="en-US" sz="2000" b="1">
                <a:solidFill>
                  <a:schemeClr val="accent1"/>
                </a:solidFill>
              </a:rPr>
              <a:t>实现要点：</a:t>
            </a:r>
            <a:endParaRPr lang="zh-CN" altLang="en-US" sz="2000" b="1">
              <a:solidFill>
                <a:schemeClr val="accent1"/>
              </a:solidFill>
            </a:endParaRPr>
          </a:p>
        </p:txBody>
      </p:sp>
      <p:sp>
        <p:nvSpPr>
          <p:cNvPr id="41" name="文本框 40"/>
          <p:cNvSpPr txBox="1"/>
          <p:nvPr/>
        </p:nvSpPr>
        <p:spPr>
          <a:xfrm>
            <a:off x="5949950" y="1827530"/>
            <a:ext cx="5146040" cy="361061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sz="1600" b="1">
                <a:sym typeface="+mn-ea"/>
              </a:rPr>
              <a:t>供应商分类</a:t>
            </a:r>
            <a:r>
              <a:rPr lang="zh-CN" altLang="en-US" sz="1600">
                <a:sym typeface="+mn-ea"/>
              </a:rPr>
              <a:t>：控制供应商供应大类（面料</a:t>
            </a:r>
            <a:r>
              <a:rPr lang="en-US" altLang="zh-CN" sz="1600">
                <a:sym typeface="+mn-ea"/>
              </a:rPr>
              <a:t>/</a:t>
            </a:r>
            <a:r>
              <a:rPr lang="zh-CN" altLang="en-US" sz="1600">
                <a:sym typeface="+mn-ea"/>
              </a:rPr>
              <a:t>辅料</a:t>
            </a:r>
            <a:r>
              <a:rPr lang="en-US" altLang="zh-CN" sz="1600">
                <a:sym typeface="+mn-ea"/>
              </a:rPr>
              <a:t>/</a:t>
            </a:r>
            <a:r>
              <a:rPr lang="zh-CN" altLang="en-US" sz="1600">
                <a:sym typeface="+mn-ea"/>
              </a:rPr>
              <a:t>成衣</a:t>
            </a:r>
            <a:r>
              <a:rPr lang="en-US" altLang="zh-CN" sz="1600">
                <a:sym typeface="+mn-ea"/>
              </a:rPr>
              <a:t>/</a:t>
            </a:r>
            <a:r>
              <a:rPr lang="zh-CN" altLang="en-US" sz="1600">
                <a:sym typeface="+mn-ea"/>
              </a:rPr>
              <a:t>皮具），品类与供应商分类进行关联，不能跨大类进行可供品类的选择</a:t>
            </a:r>
            <a:endParaRPr lang="zh-CN" altLang="en-US" sz="1600">
              <a:sym typeface="+mn-ea"/>
            </a:endParaRPr>
          </a:p>
          <a:p>
            <a:pPr marL="285750" indent="-285750" algn="just" fontAlgn="auto">
              <a:lnSpc>
                <a:spcPct val="130000"/>
              </a:lnSpc>
              <a:buFont typeface="Wingdings" panose="05000000000000000000" charset="0"/>
              <a:buChar char="ü"/>
            </a:pPr>
            <a:r>
              <a:rPr lang="zh-CN" altLang="en-US" sz="1600" b="1"/>
              <a:t>增加业务合作大类</a:t>
            </a:r>
            <a:r>
              <a:rPr lang="zh-CN" altLang="en-US" sz="1600"/>
              <a:t>：增加供应商分类需重新发起准入评估</a:t>
            </a:r>
            <a:endParaRPr lang="zh-CN" altLang="en-US" sz="1600"/>
          </a:p>
          <a:p>
            <a:pPr marL="285750" indent="-285750" algn="just" fontAlgn="auto">
              <a:lnSpc>
                <a:spcPct val="130000"/>
              </a:lnSpc>
              <a:buFont typeface="Wingdings" panose="05000000000000000000" charset="0"/>
              <a:buChar char="ü"/>
            </a:pPr>
            <a:r>
              <a:rPr lang="zh-CN" altLang="en-US" sz="1600"/>
              <a:t>大类内的供货品类及品牌变更走供货能力清单变更流程，无需重新进行评估</a:t>
            </a:r>
            <a:endParaRPr lang="zh-CN" altLang="en-US" sz="1600"/>
          </a:p>
          <a:p>
            <a:pPr marL="285750" indent="-285750" algn="just" fontAlgn="auto">
              <a:lnSpc>
                <a:spcPct val="130000"/>
              </a:lnSpc>
              <a:buFont typeface="Wingdings" panose="05000000000000000000" charset="0"/>
              <a:buChar char="ü"/>
            </a:pPr>
            <a:r>
              <a:rPr lang="zh-CN" altLang="en-US" sz="1600"/>
              <a:t>共用供应商：通过变更供应商分类及供货品类进行控制；涉及场景：</a:t>
            </a:r>
            <a:endParaRPr lang="zh-CN" altLang="en-US" sz="1600"/>
          </a:p>
          <a:p>
            <a:pPr marL="742950" lvl="1" indent="-285750" algn="just" fontAlgn="auto">
              <a:lnSpc>
                <a:spcPct val="130000"/>
              </a:lnSpc>
              <a:buFont typeface="Wingdings" panose="05000000000000000000" charset="0"/>
              <a:buChar char="ü"/>
            </a:pPr>
            <a:r>
              <a:rPr lang="zh-CN" altLang="en-US" sz="1600"/>
              <a:t>增加供应商分类：准入评估</a:t>
            </a:r>
            <a:endParaRPr lang="zh-CN" altLang="en-US" sz="1600"/>
          </a:p>
          <a:p>
            <a:pPr marL="742950" lvl="1" indent="-285750" algn="just" fontAlgn="auto">
              <a:lnSpc>
                <a:spcPct val="130000"/>
              </a:lnSpc>
              <a:buFont typeface="Wingdings" panose="05000000000000000000" charset="0"/>
              <a:buChar char="ü"/>
            </a:pPr>
            <a:r>
              <a:rPr lang="zh-CN" altLang="en-US" sz="1600"/>
              <a:t>供应商退出：禁用供应商分类</a:t>
            </a:r>
            <a:endParaRPr lang="zh-CN" altLang="en-US" sz="1600"/>
          </a:p>
        </p:txBody>
      </p:sp>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graphicFrame>
        <p:nvGraphicFramePr>
          <p:cNvPr id="2" name="对象 1"/>
          <p:cNvGraphicFramePr/>
          <p:nvPr/>
        </p:nvGraphicFramePr>
        <p:xfrm>
          <a:off x="1609725" y="862330"/>
          <a:ext cx="2837180" cy="5492115"/>
        </p:xfrm>
        <a:graphic>
          <a:graphicData uri="http://schemas.openxmlformats.org/presentationml/2006/ole">
            <mc:AlternateContent xmlns:mc="http://schemas.openxmlformats.org/markup-compatibility/2006">
              <mc:Choice xmlns:v="urn:schemas-microsoft-com:vml" Requires="v">
                <p:oleObj spid="_x0000_s6148" name="" r:id="rId1" imgW="3443605" imgH="6632575" progId="Visio.Drawing.15">
                  <p:embed/>
                </p:oleObj>
              </mc:Choice>
              <mc:Fallback>
                <p:oleObj name="" r:id="rId1" imgW="3443605" imgH="6632575" progId="Visio.Drawing.15">
                  <p:embed/>
                  <p:pic>
                    <p:nvPicPr>
                      <p:cNvPr id="0" name="图片 2"/>
                      <p:cNvPicPr/>
                      <p:nvPr/>
                    </p:nvPicPr>
                    <p:blipFill>
                      <a:blip r:embed="rId2"/>
                      <a:stretch>
                        <a:fillRect/>
                      </a:stretch>
                    </p:blipFill>
                    <p:spPr>
                      <a:xfrm>
                        <a:off x="1609725" y="862330"/>
                        <a:ext cx="2837180" cy="549211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供货清单变更</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供应商分类变更</a:t>
            </a:r>
            <a:r>
              <a:rPr lang="en-US" altLang="zh-CN" sz="2800" dirty="0"/>
              <a:t>-</a:t>
            </a:r>
            <a:r>
              <a:rPr lang="zh-CN" altLang="en-US" sz="2800" dirty="0"/>
              <a:t>页面介绍</a:t>
            </a:r>
            <a:endParaRPr lang="zh-CN" altLang="en-US" sz="2800" dirty="0"/>
          </a:p>
        </p:txBody>
      </p:sp>
      <p:pic>
        <p:nvPicPr>
          <p:cNvPr id="4" name="图片 3"/>
          <p:cNvPicPr>
            <a:picLocks noChangeAspect="1"/>
          </p:cNvPicPr>
          <p:nvPr/>
        </p:nvPicPr>
        <p:blipFill>
          <a:blip r:embed="rId1"/>
          <a:stretch>
            <a:fillRect/>
          </a:stretch>
        </p:blipFill>
        <p:spPr>
          <a:xfrm>
            <a:off x="558165" y="1266825"/>
            <a:ext cx="9943465" cy="518414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t>供应商分类变更</a:t>
            </a:r>
            <a:endParaRPr lang="zh-CN"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供应商分类变更</a:t>
            </a:r>
            <a:r>
              <a:rPr lang="en-US" altLang="zh-CN" sz="2800" dirty="0"/>
              <a:t>-</a:t>
            </a:r>
            <a:r>
              <a:rPr lang="zh-CN" altLang="en-US" sz="2800" dirty="0"/>
              <a:t>页面介绍</a:t>
            </a:r>
            <a:endParaRPr lang="zh-CN" altLang="en-US" sz="2800" dirty="0"/>
          </a:p>
        </p:txBody>
      </p:sp>
      <p:pic>
        <p:nvPicPr>
          <p:cNvPr id="4" name="图片 3"/>
          <p:cNvPicPr>
            <a:picLocks noChangeAspect="1"/>
          </p:cNvPicPr>
          <p:nvPr/>
        </p:nvPicPr>
        <p:blipFill>
          <a:blip r:embed="rId1"/>
          <a:stretch>
            <a:fillRect/>
          </a:stretch>
        </p:blipFill>
        <p:spPr>
          <a:xfrm>
            <a:off x="558165" y="1266825"/>
            <a:ext cx="9963785" cy="5194935"/>
          </a:xfrm>
          <a:prstGeom prst="rect">
            <a:avLst/>
          </a:prstGeom>
        </p:spPr>
      </p:pic>
      <p:sp>
        <p:nvSpPr>
          <p:cNvPr id="2" name="矩形 1"/>
          <p:cNvSpPr/>
          <p:nvPr/>
        </p:nvSpPr>
        <p:spPr>
          <a:xfrm>
            <a:off x="2094865" y="4226560"/>
            <a:ext cx="946785" cy="37147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pic>
        <p:nvPicPr>
          <p:cNvPr id="11" name="图片 10"/>
          <p:cNvPicPr>
            <a:picLocks noChangeAspect="1"/>
          </p:cNvPicPr>
          <p:nvPr/>
        </p:nvPicPr>
        <p:blipFill>
          <a:blip r:embed="rId2"/>
          <a:stretch>
            <a:fillRect/>
          </a:stretch>
        </p:blipFill>
        <p:spPr>
          <a:xfrm>
            <a:off x="558165" y="1266825"/>
            <a:ext cx="9952355" cy="4853305"/>
          </a:xfrm>
          <a:prstGeom prst="rect">
            <a:avLst/>
          </a:prstGeom>
        </p:spPr>
      </p:pic>
      <p:sp>
        <p:nvSpPr>
          <p:cNvPr id="13" name="矩形 12"/>
          <p:cNvSpPr/>
          <p:nvPr/>
        </p:nvSpPr>
        <p:spPr>
          <a:xfrm>
            <a:off x="9315450" y="4688205"/>
            <a:ext cx="930275" cy="39370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文本框 9"/>
          <p:cNvSpPr txBox="1"/>
          <p:nvPr/>
        </p:nvSpPr>
        <p:spPr>
          <a:xfrm>
            <a:off x="4307840" y="3775710"/>
            <a:ext cx="6651625" cy="450850"/>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sym typeface="+mn-ea"/>
              </a:rPr>
              <a:t>通过重新发起准入评估单，在准入评估单据上新建</a:t>
            </a:r>
            <a:r>
              <a:rPr lang="en-US" altLang="zh-CN">
                <a:sym typeface="+mn-ea"/>
              </a:rPr>
              <a:t>/</a:t>
            </a:r>
            <a:r>
              <a:rPr lang="zh-CN" altLang="en-US">
                <a:sym typeface="+mn-ea"/>
              </a:rPr>
              <a:t>启用分类</a:t>
            </a:r>
            <a:endParaRPr lang="zh-CN" altLang="en-US">
              <a:sym typeface="+mn-ea"/>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6921500" y="613410"/>
            <a:ext cx="5024120" cy="5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蓝图方案</a:t>
            </a:r>
            <a:endParaRPr lang="en-US" altLang="zh-CN" sz="3600" b="1" dirty="0" smtClean="0">
              <a:solidFill>
                <a:schemeClr val="tx1"/>
              </a:solidFill>
            </a:endParaRPr>
          </a:p>
          <a:p>
            <a:pPr lvl="1" fontAlgn="auto">
              <a:lnSpc>
                <a:spcPct val="180000"/>
              </a:lnSpc>
              <a:spcBef>
                <a:spcPts val="1200"/>
              </a:spcBef>
              <a:buFont typeface="Wingdings" panose="05000000000000000000" charset="0"/>
              <a:buChar char="p"/>
            </a:pPr>
            <a:r>
              <a:rPr lang="zh-CN" altLang="en-US" sz="1600" b="1" dirty="0" smtClean="0">
                <a:solidFill>
                  <a:srgbClr val="A6A6A6"/>
                </a:solidFill>
              </a:rPr>
              <a:t>供应商引入管理</a:t>
            </a:r>
            <a:r>
              <a:rPr lang="en-US" altLang="zh-CN" sz="1600" b="1" dirty="0" smtClean="0">
                <a:solidFill>
                  <a:srgbClr val="A6A6A6"/>
                </a:solidFill>
              </a:rPr>
              <a:t> </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供应商预审评估</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合作条款确认</a:t>
            </a:r>
            <a:endParaRPr lang="en-US" altLang="zh-CN"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供应商验厂管理</a:t>
            </a:r>
            <a:endParaRPr lang="zh-CN" altLang="en-US" sz="1600" b="1" dirty="0" smtClean="0">
              <a:solidFill>
                <a:schemeClr val="bg1">
                  <a:lumMod val="65000"/>
                </a:schemeClr>
              </a:solidFill>
            </a:endParaRPr>
          </a:p>
          <a:p>
            <a:pPr lvl="1">
              <a:lnSpc>
                <a:spcPct val="180000"/>
              </a:lnSpc>
              <a:buFont typeface="Wingdings" panose="05000000000000000000" charset="0"/>
              <a:buChar char="p"/>
            </a:pPr>
            <a:endParaRPr lang="en-US" altLang="zh-CN" sz="1800" b="1" dirty="0">
              <a:solidFill>
                <a:schemeClr val="bg1">
                  <a:lumMod val="65000"/>
                </a:schemeClr>
              </a:solidFill>
            </a:endParaRPr>
          </a:p>
          <a:p>
            <a:r>
              <a:rPr lang="zh-CN" altLang="en-US" sz="3600" b="1" dirty="0" smtClean="0">
                <a:solidFill>
                  <a:schemeClr val="bg1">
                    <a:lumMod val="65000"/>
                  </a:schemeClr>
                </a:solidFill>
              </a:rPr>
              <a:t>后续任务</a:t>
            </a:r>
            <a:endParaRPr lang="en-US" altLang="zh-CN" sz="3600" b="1" dirty="0">
              <a:solidFill>
                <a:schemeClr val="bg1">
                  <a:lumMod val="65000"/>
                </a:schemeClr>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
        <p:nvSpPr>
          <p:cNvPr id="2" name="TextBox 186"/>
          <p:cNvSpPr txBox="1"/>
          <p:nvPr/>
        </p:nvSpPr>
        <p:spPr>
          <a:xfrm>
            <a:off x="9113520" y="3521075"/>
            <a:ext cx="284099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pPr lvl="1" fontAlgn="auto">
              <a:lnSpc>
                <a:spcPct val="180000"/>
              </a:lnSpc>
              <a:spcBef>
                <a:spcPts val="1200"/>
              </a:spcBef>
              <a:buFont typeface="Wingdings" panose="05000000000000000000" charset="0"/>
              <a:buChar char="p"/>
            </a:pPr>
            <a:r>
              <a:rPr lang="zh-CN" altLang="en-US" sz="1600" b="1" dirty="0" smtClean="0">
                <a:solidFill>
                  <a:schemeClr val="bg1">
                    <a:lumMod val="65000"/>
                  </a:schemeClr>
                </a:solidFill>
              </a:rPr>
              <a:t>新供应商准入评估</a:t>
            </a:r>
            <a:r>
              <a:rPr lang="en-US" altLang="zh-CN" sz="1600" b="1" dirty="0" smtClean="0">
                <a:solidFill>
                  <a:schemeClr val="bg1">
                    <a:lumMod val="65000"/>
                  </a:schemeClr>
                </a:solidFill>
              </a:rPr>
              <a:t>                </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altLang="en-US" sz="1600" b="1" dirty="0" smtClean="0">
                <a:solidFill>
                  <a:schemeClr val="bg1">
                    <a:lumMod val="65000"/>
                  </a:schemeClr>
                </a:solidFill>
              </a:rPr>
              <a:t>供应商降级</a:t>
            </a:r>
            <a:endParaRPr lang="zh-CN" altLang="en-US" sz="1600" b="1" dirty="0" smtClean="0">
              <a:solidFill>
                <a:schemeClr val="bg1">
                  <a:lumMod val="65000"/>
                </a:schemeClr>
              </a:solidFill>
            </a:endParaRPr>
          </a:p>
          <a:p>
            <a:pPr lvl="1">
              <a:lnSpc>
                <a:spcPct val="180000"/>
              </a:lnSpc>
              <a:buFont typeface="Wingdings" panose="05000000000000000000" charset="0"/>
              <a:buChar char="p"/>
            </a:pPr>
            <a:r>
              <a:rPr lang="zh-CN" sz="1600" b="1" dirty="0" smtClean="0">
                <a:solidFill>
                  <a:schemeClr val="bg1">
                    <a:lumMod val="65000"/>
                  </a:schemeClr>
                </a:solidFill>
                <a:ea typeface="宋体" panose="02010600030101010101" pitchFamily="2" charset="-122"/>
              </a:rPr>
              <a:t>供应商分类变更</a:t>
            </a:r>
            <a:endParaRPr lang="zh-CN" sz="1600" b="1" dirty="0" smtClean="0">
              <a:solidFill>
                <a:schemeClr val="bg1">
                  <a:lumMod val="65000"/>
                </a:schemeClr>
              </a:solidFill>
              <a:ea typeface="宋体" panose="02010600030101010101" pitchFamily="2" charset="-122"/>
            </a:endParaRPr>
          </a:p>
          <a:p>
            <a:pPr lvl="1">
              <a:lnSpc>
                <a:spcPct val="180000"/>
              </a:lnSpc>
              <a:buFont typeface="Wingdings" panose="05000000000000000000" charset="0"/>
              <a:buChar char="p"/>
            </a:pPr>
            <a:r>
              <a:rPr lang="zh-CN" altLang="en-US" sz="1600" b="1" dirty="0" smtClean="0">
                <a:solidFill>
                  <a:schemeClr val="tx1"/>
                </a:solidFill>
              </a:rPr>
              <a:t>供应商信息变更</a:t>
            </a:r>
            <a:endParaRPr lang="zh-CN" altLang="en-US" sz="1600" b="1" dirty="0" smtClean="0">
              <a:solidFill>
                <a:schemeClr val="tx1"/>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1"/>
          <p:cNvSpPr>
            <a:spLocks noGrp="1"/>
          </p:cNvSpPr>
          <p:nvPr/>
        </p:nvSpPr>
        <p:spPr>
          <a:xfrm>
            <a:off x="420578"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供应商信息变更</a:t>
            </a:r>
            <a:r>
              <a:rPr lang="en-US" altLang="zh-CN" sz="2800" dirty="0"/>
              <a:t>-</a:t>
            </a:r>
            <a:r>
              <a:rPr lang="zh-CN" altLang="en-US" sz="2800" dirty="0"/>
              <a:t>流程介绍</a:t>
            </a:r>
            <a:endParaRPr lang="zh-CN" altLang="en-US" sz="2800" dirty="0"/>
          </a:p>
        </p:txBody>
      </p:sp>
      <p:sp>
        <p:nvSpPr>
          <p:cNvPr id="72" name="矩形: 圆角 71"/>
          <p:cNvSpPr/>
          <p:nvPr/>
        </p:nvSpPr>
        <p:spPr>
          <a:xfrm>
            <a:off x="6144260" y="840740"/>
            <a:ext cx="5656580" cy="5454650"/>
          </a:xfrm>
          <a:prstGeom prst="roundRect">
            <a:avLst/>
          </a:prstGeom>
          <a:noFill/>
          <a:ln w="3175" cap="flat" cmpd="sng" algn="ctr">
            <a:solidFill>
              <a:schemeClr val="accent1">
                <a:lumMod val="50000"/>
              </a:schemeClr>
            </a:solidFill>
            <a:prstDash val="soli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zh-CN" altLang="en-US">
              <a:solidFill>
                <a:schemeClr val="bg1"/>
              </a:solidFill>
            </a:endParaRPr>
          </a:p>
        </p:txBody>
      </p:sp>
      <p:sp>
        <p:nvSpPr>
          <p:cNvPr id="23" name="文本框 22"/>
          <p:cNvSpPr txBox="1"/>
          <p:nvPr/>
        </p:nvSpPr>
        <p:spPr>
          <a:xfrm>
            <a:off x="6405245" y="1063625"/>
            <a:ext cx="1452880" cy="398780"/>
          </a:xfrm>
          <a:prstGeom prst="rect">
            <a:avLst/>
          </a:prstGeom>
          <a:noFill/>
        </p:spPr>
        <p:txBody>
          <a:bodyPr wrap="none" rtlCol="0">
            <a:spAutoFit/>
          </a:bodyPr>
          <a:lstStyle/>
          <a:p>
            <a:r>
              <a:rPr lang="zh-CN" altLang="en-US" sz="2000" b="1">
                <a:solidFill>
                  <a:schemeClr val="accent1"/>
                </a:solidFill>
              </a:rPr>
              <a:t>实现要点：</a:t>
            </a:r>
            <a:endParaRPr lang="zh-CN" altLang="en-US" sz="2000" b="1">
              <a:solidFill>
                <a:schemeClr val="accent1"/>
              </a:solidFill>
            </a:endParaRPr>
          </a:p>
        </p:txBody>
      </p:sp>
      <p:sp>
        <p:nvSpPr>
          <p:cNvPr id="41" name="文本框 40"/>
          <p:cNvSpPr txBox="1"/>
          <p:nvPr/>
        </p:nvSpPr>
        <p:spPr>
          <a:xfrm>
            <a:off x="6302375" y="1462405"/>
            <a:ext cx="5340350" cy="4767580"/>
          </a:xfrm>
          <a:prstGeom prst="rect">
            <a:avLst/>
          </a:prstGeom>
          <a:noFill/>
        </p:spPr>
        <p:txBody>
          <a:bodyPr wrap="square" rtlCol="0">
            <a:spAutoFit/>
          </a:bodyPr>
          <a:lstStyle/>
          <a:p>
            <a:pPr marL="285750" indent="-285750" algn="just" fontAlgn="auto">
              <a:lnSpc>
                <a:spcPct val="130000"/>
              </a:lnSpc>
              <a:buFont typeface="Wingdings" panose="05000000000000000000" charset="0"/>
              <a:buChar char="ü"/>
            </a:pPr>
            <a:r>
              <a:rPr lang="zh-CN" altLang="en-US" b="1"/>
              <a:t>供应商状态说明</a:t>
            </a:r>
            <a:r>
              <a:rPr lang="zh-CN" altLang="en-US"/>
              <a:t>：对影响在途业务流程的字段进行限制，产生变更时，由业务员选择生效时间</a:t>
            </a:r>
            <a:endParaRPr lang="zh-CN" altLang="en-US"/>
          </a:p>
          <a:p>
            <a:pPr marL="285750" indent="-285750" algn="just" fontAlgn="auto">
              <a:lnSpc>
                <a:spcPct val="130000"/>
              </a:lnSpc>
              <a:buFont typeface="Wingdings" panose="05000000000000000000" charset="0"/>
              <a:buChar char="ü"/>
            </a:pPr>
            <a:r>
              <a:rPr lang="zh-CN" altLang="en-US" b="1"/>
              <a:t>更新</a:t>
            </a:r>
            <a:r>
              <a:rPr lang="en-US" altLang="zh-CN" b="1"/>
              <a:t>ERP</a:t>
            </a:r>
            <a:r>
              <a:rPr lang="zh-CN" altLang="en-US" b="1"/>
              <a:t>供应商主档</a:t>
            </a:r>
            <a:r>
              <a:rPr lang="zh-CN" altLang="en-US"/>
              <a:t>：在变更信息生效后自动导入</a:t>
            </a:r>
            <a:r>
              <a:rPr lang="en-US" altLang="zh-CN"/>
              <a:t>ERP</a:t>
            </a:r>
            <a:r>
              <a:rPr lang="zh-CN" altLang="en-US"/>
              <a:t>进行更新</a:t>
            </a:r>
            <a:endParaRPr lang="zh-CN" altLang="en-US"/>
          </a:p>
          <a:p>
            <a:pPr marL="285750" indent="-285750" algn="just" fontAlgn="auto">
              <a:lnSpc>
                <a:spcPct val="130000"/>
              </a:lnSpc>
              <a:buFont typeface="Wingdings" panose="05000000000000000000" charset="0"/>
              <a:buChar char="ü"/>
            </a:pPr>
            <a:r>
              <a:rPr lang="zh-CN" altLang="en-US" b="1"/>
              <a:t>信息变更确认</a:t>
            </a:r>
            <a:r>
              <a:rPr lang="zh-CN" altLang="en-US"/>
              <a:t>：若供应商同时供应多个大类，需由各大类业务员均进行变更确认及审批</a:t>
            </a:r>
            <a:endParaRPr lang="zh-CN" altLang="en-US"/>
          </a:p>
          <a:p>
            <a:pPr marL="285750" indent="-285750" algn="just" fontAlgn="auto">
              <a:lnSpc>
                <a:spcPct val="130000"/>
              </a:lnSpc>
              <a:buFont typeface="Wingdings" panose="05000000000000000000" charset="0"/>
              <a:buChar char="ü"/>
            </a:pPr>
            <a:r>
              <a:rPr lang="zh-CN" altLang="en-US" b="1"/>
              <a:t>变更信息对比</a:t>
            </a:r>
            <a:r>
              <a:rPr lang="zh-CN" altLang="en-US"/>
              <a:t>：审批时会对变更前后的信息进行对比展示，有变更的栏目将自动展开，未变更字段默认关闭</a:t>
            </a:r>
            <a:endParaRPr lang="zh-CN" altLang="en-US"/>
          </a:p>
          <a:p>
            <a:pPr marL="285750" indent="-285750" algn="just" fontAlgn="auto">
              <a:lnSpc>
                <a:spcPct val="130000"/>
              </a:lnSpc>
              <a:buFont typeface="Wingdings" panose="05000000000000000000" charset="0"/>
              <a:buChar char="ü"/>
            </a:pPr>
            <a:r>
              <a:rPr lang="zh-CN" altLang="en-US" b="1"/>
              <a:t>影响在途业务的字段</a:t>
            </a:r>
            <a:r>
              <a:rPr lang="zh-CN" altLang="en-US"/>
              <a:t>：供应商名称、供应商注册地址、供应商地址、银行信息、开票信息（待确认）</a:t>
            </a:r>
            <a:endParaRPr lang="zh-CN" altLang="en-US"/>
          </a:p>
          <a:p>
            <a:pPr marL="285750" indent="-285750" algn="just" fontAlgn="auto">
              <a:lnSpc>
                <a:spcPct val="130000"/>
              </a:lnSpc>
              <a:buFont typeface="Wingdings" panose="05000000000000000000" charset="0"/>
              <a:buChar char="ü"/>
            </a:pPr>
            <a:endParaRPr lang="zh-CN" altLang="en-US"/>
          </a:p>
        </p:txBody>
      </p:sp>
      <p:graphicFrame>
        <p:nvGraphicFramePr>
          <p:cNvPr id="21" name="对象 20"/>
          <p:cNvGraphicFramePr/>
          <p:nvPr/>
        </p:nvGraphicFramePr>
        <p:xfrm>
          <a:off x="226060" y="904240"/>
          <a:ext cx="5760085" cy="5523230"/>
        </p:xfrm>
        <a:graphic>
          <a:graphicData uri="http://schemas.openxmlformats.org/presentationml/2006/ole">
            <mc:AlternateContent xmlns:mc="http://schemas.openxmlformats.org/markup-compatibility/2006">
              <mc:Choice xmlns:v="urn:schemas-microsoft-com:vml" Requires="v">
                <p:oleObj spid="_x0000_s7172" name="" r:id="rId1" imgW="6447155" imgH="6181090" progId="Visio.Drawing.15">
                  <p:embed/>
                </p:oleObj>
              </mc:Choice>
              <mc:Fallback>
                <p:oleObj name="" r:id="rId1" imgW="6447155" imgH="6181090" progId="Visio.Drawing.15">
                  <p:embed/>
                  <p:pic>
                    <p:nvPicPr>
                      <p:cNvPr id="0" name="图片 21"/>
                      <p:cNvPicPr/>
                      <p:nvPr/>
                    </p:nvPicPr>
                    <p:blipFill>
                      <a:blip r:embed="rId2"/>
                      <a:stretch>
                        <a:fillRect/>
                      </a:stretch>
                    </p:blipFill>
                    <p:spPr>
                      <a:xfrm>
                        <a:off x="226060" y="904240"/>
                        <a:ext cx="5760085" cy="5523230"/>
                      </a:xfrm>
                      <a:prstGeom prst="rect">
                        <a:avLst/>
                      </a:prstGeom>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923415"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信息变更审批</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供应商信息变更</a:t>
            </a:r>
            <a:r>
              <a:rPr lang="en-US" altLang="zh-CN" sz="2800" dirty="0"/>
              <a:t>-</a:t>
            </a:r>
            <a:r>
              <a:rPr lang="zh-CN" altLang="en-US" sz="2800" dirty="0"/>
              <a:t>页面介绍</a:t>
            </a:r>
            <a:endParaRPr lang="zh-CN" altLang="en-US" sz="2800" dirty="0"/>
          </a:p>
        </p:txBody>
      </p:sp>
      <p:pic>
        <p:nvPicPr>
          <p:cNvPr id="6" name="图片 5"/>
          <p:cNvPicPr>
            <a:picLocks noChangeAspect="1"/>
          </p:cNvPicPr>
          <p:nvPr/>
        </p:nvPicPr>
        <p:blipFill>
          <a:blip r:embed="rId1"/>
          <a:stretch>
            <a:fillRect/>
          </a:stretch>
        </p:blipFill>
        <p:spPr>
          <a:xfrm>
            <a:off x="558165" y="1266825"/>
            <a:ext cx="9055735" cy="4388485"/>
          </a:xfrm>
          <a:prstGeom prst="rect">
            <a:avLst/>
          </a:prstGeom>
        </p:spPr>
      </p:pic>
      <p:sp>
        <p:nvSpPr>
          <p:cNvPr id="2" name="文本框 1"/>
          <p:cNvSpPr txBox="1"/>
          <p:nvPr/>
        </p:nvSpPr>
        <p:spPr>
          <a:xfrm>
            <a:off x="1087120" y="5852795"/>
            <a:ext cx="8184515" cy="810260"/>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a:sym typeface="+mn-ea"/>
              </a:rPr>
              <a:t>产生变更的表单会自动展开，变更字段标红，未变更字段默认收起</a:t>
            </a:r>
            <a:endParaRPr lang="zh-CN" altLang="en-US">
              <a:sym typeface="+mn-ea"/>
            </a:endParaRPr>
          </a:p>
          <a:p>
            <a:pPr indent="0">
              <a:lnSpc>
                <a:spcPct val="130000"/>
              </a:lnSpc>
              <a:buFont typeface="Wingdings" panose="05000000000000000000" charset="0"/>
              <a:buNone/>
            </a:pPr>
            <a:endParaRPr lang="zh-CN" altLang="en-US">
              <a:sym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2"/>
          <p:cNvSpPr txBox="1"/>
          <p:nvPr/>
        </p:nvSpPr>
        <p:spPr>
          <a:xfrm>
            <a:off x="40256" y="6583423"/>
            <a:ext cx="455763" cy="261773"/>
          </a:xfrm>
          <a:prstGeom prst="rect">
            <a:avLst/>
          </a:prstGeom>
          <a:no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0327E2-17C4-431B-B5C7-D724C9A939E1}" type="slidenum">
              <a:rPr lang="zh-CN" altLang="en-US" smtClean="0">
                <a:solidFill>
                  <a:schemeClr val="tx2">
                    <a:lumMod val="75000"/>
                  </a:schemeClr>
                </a:solidFill>
              </a:rPr>
            </a:fld>
            <a:endParaRPr lang="zh-CN" altLang="en-US" dirty="0">
              <a:solidFill>
                <a:schemeClr val="tx2">
                  <a:lumMod val="75000"/>
                </a:schemeClr>
              </a:solidFill>
            </a:endParaRPr>
          </a:p>
        </p:txBody>
      </p:sp>
      <p:sp>
        <p:nvSpPr>
          <p:cNvPr id="9" name="矩形: 圆顶角 8"/>
          <p:cNvSpPr/>
          <p:nvPr/>
        </p:nvSpPr>
        <p:spPr>
          <a:xfrm>
            <a:off x="558165" y="892810"/>
            <a:ext cx="1704340" cy="374015"/>
          </a:xfrm>
          <a:prstGeom prst="round2Same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生效时间</a:t>
            </a:r>
            <a:endParaRPr lang="zh-CN" altLang="en-US" dirty="0"/>
          </a:p>
        </p:txBody>
      </p:sp>
      <p:sp>
        <p:nvSpPr>
          <p:cNvPr id="2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a:t>供应商信息变更</a:t>
            </a:r>
            <a:r>
              <a:rPr lang="en-US" altLang="zh-CN" sz="2800" dirty="0"/>
              <a:t>-</a:t>
            </a:r>
            <a:r>
              <a:rPr lang="zh-CN" altLang="en-US" sz="2800" dirty="0"/>
              <a:t>页面介绍</a:t>
            </a:r>
            <a:endParaRPr lang="zh-CN" altLang="en-US" sz="2800" dirty="0"/>
          </a:p>
        </p:txBody>
      </p:sp>
      <p:sp>
        <p:nvSpPr>
          <p:cNvPr id="5" name="矩形 4"/>
          <p:cNvSpPr/>
          <p:nvPr/>
        </p:nvSpPr>
        <p:spPr>
          <a:xfrm>
            <a:off x="802005" y="3569970"/>
            <a:ext cx="3069590" cy="32829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pic>
        <p:nvPicPr>
          <p:cNvPr id="7" name="图片 6"/>
          <p:cNvPicPr>
            <a:picLocks noChangeAspect="1"/>
          </p:cNvPicPr>
          <p:nvPr/>
        </p:nvPicPr>
        <p:blipFill>
          <a:blip r:embed="rId1"/>
          <a:stretch>
            <a:fillRect/>
          </a:stretch>
        </p:blipFill>
        <p:spPr>
          <a:xfrm>
            <a:off x="558165" y="1266825"/>
            <a:ext cx="8966200" cy="4427855"/>
          </a:xfrm>
          <a:prstGeom prst="rect">
            <a:avLst/>
          </a:prstGeom>
        </p:spPr>
      </p:pic>
      <p:sp>
        <p:nvSpPr>
          <p:cNvPr id="10" name="矩形 9"/>
          <p:cNvSpPr/>
          <p:nvPr/>
        </p:nvSpPr>
        <p:spPr>
          <a:xfrm>
            <a:off x="6471285" y="2788285"/>
            <a:ext cx="2247265" cy="356235"/>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 name="文本框 1"/>
          <p:cNvSpPr txBox="1"/>
          <p:nvPr/>
        </p:nvSpPr>
        <p:spPr>
          <a:xfrm>
            <a:off x="1087120" y="5852795"/>
            <a:ext cx="8970645" cy="810260"/>
          </a:xfrm>
          <a:prstGeom prst="rect">
            <a:avLst/>
          </a:prstGeom>
          <a:noFill/>
        </p:spPr>
        <p:txBody>
          <a:bodyPr wrap="square" rtlCol="0" anchor="t">
            <a:spAutoFit/>
          </a:bodyPr>
          <a:lstStyle/>
          <a:p>
            <a:pPr marL="285750" indent="-285750">
              <a:lnSpc>
                <a:spcPct val="130000"/>
              </a:lnSpc>
              <a:buFont typeface="Wingdings" panose="05000000000000000000" charset="0"/>
              <a:buChar char="ü"/>
            </a:pPr>
            <a:r>
              <a:rPr lang="zh-CN" altLang="en-US">
                <a:sym typeface="+mn-ea"/>
              </a:rPr>
              <a:t>影响</a:t>
            </a:r>
            <a:r>
              <a:rPr lang="en-US" altLang="zh-CN">
                <a:sym typeface="+mn-ea"/>
              </a:rPr>
              <a:t>ERP</a:t>
            </a:r>
            <a:r>
              <a:rPr lang="zh-CN" altLang="en-US">
                <a:sym typeface="+mn-ea"/>
              </a:rPr>
              <a:t>在途流程的字段变更需经过采购员</a:t>
            </a:r>
            <a:r>
              <a:rPr lang="en-US" altLang="zh-CN">
                <a:sym typeface="+mn-ea"/>
              </a:rPr>
              <a:t>/</a:t>
            </a:r>
            <a:r>
              <a:rPr lang="zh-CN" altLang="en-US">
                <a:sym typeface="+mn-ea"/>
              </a:rPr>
              <a:t>财务进行审批确认，并填写生效时间</a:t>
            </a:r>
            <a:endParaRPr lang="zh-CN" altLang="en-US">
              <a:sym typeface="+mn-ea"/>
            </a:endParaRPr>
          </a:p>
          <a:p>
            <a:pPr marL="285750" indent="-285750">
              <a:lnSpc>
                <a:spcPct val="130000"/>
              </a:lnSpc>
              <a:buFont typeface="Wingdings" panose="05000000000000000000" charset="0"/>
              <a:buChar char="ü"/>
            </a:pPr>
            <a:r>
              <a:rPr lang="zh-CN" altLang="en-US">
                <a:sym typeface="+mn-ea"/>
              </a:rPr>
              <a:t>在变更信息生效后导入</a:t>
            </a:r>
            <a:r>
              <a:rPr lang="en-US" altLang="zh-CN">
                <a:sym typeface="+mn-ea"/>
              </a:rPr>
              <a:t>ERP</a:t>
            </a:r>
            <a:r>
              <a:rPr lang="zh-CN" altLang="en-US">
                <a:sym typeface="+mn-ea"/>
              </a:rPr>
              <a:t>进行信息更新</a:t>
            </a:r>
            <a:endParaRPr lang="zh-CN" altLang="en-US">
              <a:sym typeface="+mn-ea"/>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86"/>
          <p:cNvSpPr txBox="1"/>
          <p:nvPr/>
        </p:nvSpPr>
        <p:spPr>
          <a:xfrm>
            <a:off x="7618056" y="612844"/>
            <a:ext cx="438733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39725" marR="0" lvl="0" indent="-339725" defTabSz="906145" fontAlgn="auto">
              <a:lnSpc>
                <a:spcPct val="100000"/>
              </a:lnSpc>
              <a:spcBef>
                <a:spcPts val="0"/>
              </a:spcBef>
              <a:spcAft>
                <a:spcPts val="0"/>
              </a:spcAft>
              <a:buClr>
                <a:srgbClr val="BCA070"/>
              </a:buClr>
              <a:buSzPct val="80000"/>
              <a:buFont typeface="Wingdings" panose="05000000000000000000" pitchFamily="2" charset="2"/>
              <a:buChar char="n"/>
              <a:defRPr kumimoji="0" sz="2800" b="0" i="0" u="none" strike="noStrike" cap="none" spc="0" normalizeH="0" baseline="0">
                <a:ln>
                  <a:noFill/>
                </a:ln>
                <a:solidFill>
                  <a:srgbClr val="080808"/>
                </a:solidFill>
                <a:effectLst/>
                <a:uLnTx/>
                <a:uFillTx/>
                <a:latin typeface="微软雅黑" panose="020B0503020204020204" charset="-122"/>
                <a:ea typeface="微软雅黑" panose="020B0503020204020204" charset="-122"/>
                <a:cs typeface="Helvetica Light" pitchFamily="50" charset="0"/>
              </a:defRPr>
            </a:lvl1pPr>
            <a:lvl2pPr marL="742950" indent="-285750">
              <a:defRPr sz="3000">
                <a:solidFill>
                  <a:srgbClr val="000000"/>
                </a:solidFill>
                <a:latin typeface="Helvetica Light" pitchFamily="50" charset="0"/>
                <a:ea typeface="Helvetica Light" pitchFamily="50" charset="0"/>
                <a:cs typeface="Helvetica Light" pitchFamily="50" charset="0"/>
              </a:defRPr>
            </a:lvl2pPr>
            <a:lvl3pPr marL="1143000" indent="-228600">
              <a:defRPr sz="3000">
                <a:solidFill>
                  <a:srgbClr val="000000"/>
                </a:solidFill>
                <a:latin typeface="Helvetica Light" pitchFamily="50" charset="0"/>
                <a:ea typeface="Helvetica Light" pitchFamily="50" charset="0"/>
                <a:cs typeface="Helvetica Light" pitchFamily="50" charset="0"/>
              </a:defRPr>
            </a:lvl3pPr>
            <a:lvl4pPr marL="1600200" indent="-228600">
              <a:defRPr sz="3000">
                <a:solidFill>
                  <a:srgbClr val="000000"/>
                </a:solidFill>
                <a:latin typeface="Helvetica Light" pitchFamily="50" charset="0"/>
                <a:ea typeface="Helvetica Light" pitchFamily="50" charset="0"/>
                <a:cs typeface="Helvetica Light" pitchFamily="50" charset="0"/>
              </a:defRPr>
            </a:lvl4pPr>
            <a:lvl5pPr marL="2057400" indent="-228600">
              <a:defRPr sz="3000">
                <a:solidFill>
                  <a:srgbClr val="000000"/>
                </a:solidFill>
                <a:latin typeface="Helvetica Light" pitchFamily="50" charset="0"/>
                <a:ea typeface="Helvetica Light" pitchFamily="50" charset="0"/>
                <a:cs typeface="Helvetica Light" pitchFamily="50" charset="0"/>
              </a:defRPr>
            </a:lvl5pPr>
            <a:lvl6pPr marL="25146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6pPr>
            <a:lvl7pPr marL="29718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7pPr>
            <a:lvl8pPr marL="34290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8pPr>
            <a:lvl9pPr marL="3886200" indent="-228600" defTabSz="668655" eaLnBrk="0" fontAlgn="base" hangingPunct="0">
              <a:spcBef>
                <a:spcPct val="0"/>
              </a:spcBef>
              <a:spcAft>
                <a:spcPct val="0"/>
              </a:spcAft>
              <a:defRPr sz="3000">
                <a:solidFill>
                  <a:srgbClr val="000000"/>
                </a:solidFill>
                <a:latin typeface="Helvetica Light" pitchFamily="50" charset="0"/>
                <a:ea typeface="Helvetica Light" pitchFamily="50" charset="0"/>
                <a:cs typeface="Helvetica Light" pitchFamily="50" charset="0"/>
              </a:defRPr>
            </a:lvl9pPr>
          </a:lstStyle>
          <a:p>
            <a:r>
              <a:rPr lang="zh-CN" altLang="en-US" sz="3600" b="1" dirty="0" smtClean="0">
                <a:solidFill>
                  <a:schemeClr val="bg1">
                    <a:lumMod val="65000"/>
                  </a:schemeClr>
                </a:solidFill>
              </a:rPr>
              <a:t>目标范围</a:t>
            </a:r>
            <a:endParaRPr lang="en-US" altLang="zh-CN" sz="3600" b="1" dirty="0" smtClean="0">
              <a:solidFill>
                <a:schemeClr val="bg1">
                  <a:lumMod val="65000"/>
                </a:schemeClr>
              </a:solidFill>
            </a:endParaRPr>
          </a:p>
          <a:p>
            <a:endParaRPr lang="en-US" altLang="zh-CN" sz="3600" b="1" dirty="0" smtClean="0">
              <a:solidFill>
                <a:schemeClr val="tx1"/>
              </a:solidFill>
            </a:endParaRPr>
          </a:p>
          <a:p>
            <a:endParaRPr lang="en-US" altLang="zh-CN" sz="3600" b="1" dirty="0">
              <a:solidFill>
                <a:schemeClr val="tx1"/>
              </a:solidFill>
            </a:endParaRPr>
          </a:p>
          <a:p>
            <a:r>
              <a:rPr lang="zh-CN" altLang="en-US" sz="3600" b="1" dirty="0" smtClean="0">
                <a:solidFill>
                  <a:schemeClr val="bg1">
                    <a:lumMod val="65000"/>
                  </a:schemeClr>
                </a:solidFill>
              </a:rPr>
              <a:t>项目计划</a:t>
            </a:r>
            <a:endParaRPr lang="en-US" altLang="zh-CN" sz="3600" b="1" dirty="0">
              <a:solidFill>
                <a:schemeClr val="bg1">
                  <a:lumMod val="65000"/>
                </a:schemeClr>
              </a:solidFill>
            </a:endParaRPr>
          </a:p>
          <a:p>
            <a:pPr marL="0" indent="0">
              <a:buNone/>
            </a:pPr>
            <a:endParaRPr lang="en-US" altLang="zh-CN" sz="3600" b="1" dirty="0" smtClean="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bg1">
                    <a:lumMod val="65000"/>
                  </a:schemeClr>
                </a:solidFill>
              </a:rPr>
              <a:t>蓝图方案</a:t>
            </a:r>
            <a:endParaRPr lang="en-US" altLang="zh-CN" sz="3600" b="1" dirty="0" smtClean="0">
              <a:solidFill>
                <a:schemeClr val="bg1">
                  <a:lumMod val="65000"/>
                </a:schemeClr>
              </a:solidFill>
            </a:endParaRPr>
          </a:p>
          <a:p>
            <a:pPr marL="0" indent="0">
              <a:buNone/>
            </a:pPr>
            <a:r>
              <a:rPr lang="en-US" altLang="zh-CN" sz="3600" b="1" dirty="0">
                <a:solidFill>
                  <a:schemeClr val="bg1">
                    <a:lumMod val="65000"/>
                  </a:schemeClr>
                </a:solidFill>
              </a:rPr>
              <a:t> </a:t>
            </a:r>
            <a:r>
              <a:rPr lang="en-US" altLang="zh-CN" sz="3600" b="1" dirty="0" smtClean="0">
                <a:solidFill>
                  <a:schemeClr val="bg1">
                    <a:lumMod val="65000"/>
                  </a:schemeClr>
                </a:solidFill>
              </a:rPr>
              <a:t>  </a:t>
            </a:r>
            <a:endParaRPr lang="en-US" altLang="zh-CN" sz="3600" b="1" dirty="0" smtClean="0">
              <a:solidFill>
                <a:schemeClr val="bg1">
                  <a:lumMod val="65000"/>
                </a:schemeClr>
              </a:solidFill>
            </a:endParaRPr>
          </a:p>
          <a:p>
            <a:pPr marL="0" indent="0">
              <a:buNone/>
            </a:pPr>
            <a:endParaRPr lang="en-US" altLang="zh-CN" sz="3600" b="1" dirty="0">
              <a:solidFill>
                <a:schemeClr val="bg1">
                  <a:lumMod val="65000"/>
                </a:schemeClr>
              </a:solidFill>
            </a:endParaRPr>
          </a:p>
          <a:p>
            <a:r>
              <a:rPr lang="zh-CN" altLang="en-US" sz="3600" b="1" dirty="0" smtClean="0">
                <a:solidFill>
                  <a:schemeClr val="tx1"/>
                </a:solidFill>
              </a:rPr>
              <a:t>后续任务</a:t>
            </a:r>
            <a:endParaRPr lang="en-US" altLang="zh-CN" sz="3600" b="1" dirty="0">
              <a:solidFill>
                <a:schemeClr val="tx1"/>
              </a:solidFill>
            </a:endParaRPr>
          </a:p>
        </p:txBody>
      </p:sp>
      <p:grpSp>
        <p:nvGrpSpPr>
          <p:cNvPr id="3" name="组合 2"/>
          <p:cNvGrpSpPr/>
          <p:nvPr/>
        </p:nvGrpSpPr>
        <p:grpSpPr>
          <a:xfrm>
            <a:off x="0" y="0"/>
            <a:ext cx="6419215" cy="6573520"/>
            <a:chOff x="-1" y="0"/>
            <a:chExt cx="6698256" cy="6858000"/>
          </a:xfrm>
        </p:grpSpPr>
        <p:sp>
          <p:nvSpPr>
            <p:cNvPr id="5" name="矩形 4"/>
            <p:cNvSpPr/>
            <p:nvPr/>
          </p:nvSpPr>
          <p:spPr>
            <a:xfrm>
              <a:off x="-1" y="0"/>
              <a:ext cx="6698256"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444606" y="0"/>
              <a:ext cx="5449912" cy="5617836"/>
            </a:xfrm>
            <a:prstGeom prst="rect">
              <a:avLst/>
            </a:prstGeom>
          </p:spPr>
          <p:txBody>
            <a:bodyPr wrap="square">
              <a:spAutoFit/>
            </a:bodyPr>
            <a:lstStyle/>
            <a:p>
              <a:r>
                <a:rPr lang="en-US" altLang="zh-CN" sz="34400" dirty="0">
                  <a:solidFill>
                    <a:srgbClr val="333333"/>
                  </a:solidFill>
                  <a:latin typeface="Arial" panose="020B0604020202020204" pitchFamily="34" charset="0"/>
                </a:rPr>
                <a:t>c</a:t>
              </a:r>
              <a:r>
                <a:rPr lang="en-US" altLang="zh-CN" sz="6600" u="sng" dirty="0">
                  <a:solidFill>
                    <a:srgbClr val="333333"/>
                  </a:solidFill>
                  <a:latin typeface="Arial" panose="020B0604020202020204" pitchFamily="34" charset="0"/>
                </a:rPr>
                <a:t>ontents</a:t>
              </a:r>
              <a:endParaRPr lang="zh-CN" altLang="en-US" sz="6600" dirty="0"/>
            </a:p>
          </p:txBody>
        </p:sp>
        <p:sp>
          <p:nvSpPr>
            <p:cNvPr id="7" name="文本框 6"/>
            <p:cNvSpPr txBox="1"/>
            <p:nvPr/>
          </p:nvSpPr>
          <p:spPr>
            <a:xfrm>
              <a:off x="3029809" y="2321003"/>
              <a:ext cx="2478796" cy="1154704"/>
            </a:xfrm>
            <a:prstGeom prst="rect">
              <a:avLst/>
            </a:prstGeom>
            <a:noFill/>
          </p:spPr>
          <p:txBody>
            <a:bodyPr wrap="square" rtlCol="0">
              <a:spAutoFit/>
            </a:bodyPr>
            <a:lstStyle/>
            <a:p>
              <a:r>
                <a:rPr lang="zh-CN" altLang="en-US" sz="6600" b="1" dirty="0" smtClean="0">
                  <a:solidFill>
                    <a:schemeClr val="bg1"/>
                  </a:solidFill>
                </a:rPr>
                <a:t>目录</a:t>
              </a:r>
              <a:endParaRPr lang="zh-CN" altLang="en-US" sz="6600" b="1" dirty="0">
                <a:solidFill>
                  <a:schemeClr val="bg1"/>
                </a:solidFill>
              </a:endParaRPr>
            </a:p>
          </p:txBody>
        </p:sp>
      </p:gr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123304" y="4699946"/>
          <a:ext cx="5115214" cy="1824990"/>
        </p:xfrm>
        <a:graphic>
          <a:graphicData uri="http://schemas.openxmlformats.org/drawingml/2006/table">
            <a:tbl>
              <a:tblPr>
                <a:tableStyleId>{5C22544A-7EE6-4342-B048-85BDC9FD1C3A}</a:tableStyleId>
              </a:tblPr>
              <a:tblGrid>
                <a:gridCol w="432271"/>
                <a:gridCol w="1380868"/>
                <a:gridCol w="1284807"/>
                <a:gridCol w="2017268"/>
              </a:tblGrid>
              <a:tr h="409575">
                <a:tc>
                  <a:txBody>
                    <a:bodyPr/>
                    <a:lstStyle/>
                    <a:p>
                      <a:pPr algn="ctr" fontAlgn="ctr"/>
                      <a:r>
                        <a:rPr lang="zh-CN" altLang="en-US" sz="1000" u="none" strike="noStrike" dirty="0">
                          <a:effectLst/>
                          <a:latin typeface="+mn-ea"/>
                          <a:ea typeface="+mn-ea"/>
                        </a:rPr>
                        <a:t>序号</a:t>
                      </a:r>
                      <a:endParaRPr lang="zh-CN" altLang="en-US" sz="1000" b="1" i="0" u="none" strike="noStrike" dirty="0">
                        <a:solidFill>
                          <a:srgbClr val="0D0D0D"/>
                        </a:solidFill>
                        <a:effectLst/>
                        <a:latin typeface="+mn-ea"/>
                        <a:ea typeface="+mn-ea"/>
                      </a:endParaRPr>
                    </a:p>
                  </a:txBody>
                  <a:tcPr marL="0" marR="0" marT="0" marB="0" anchor="ctr">
                    <a:solidFill>
                      <a:schemeClr val="accent1"/>
                    </a:solidFill>
                  </a:tcPr>
                </a:tc>
                <a:tc>
                  <a:txBody>
                    <a:bodyPr/>
                    <a:lstStyle/>
                    <a:p>
                      <a:pPr algn="l" fontAlgn="ctr"/>
                      <a:r>
                        <a:rPr lang="zh-CN" altLang="en-US" sz="1000" u="none" strike="noStrike" dirty="0">
                          <a:effectLst/>
                          <a:latin typeface="+mn-ea"/>
                          <a:ea typeface="+mn-ea"/>
                        </a:rPr>
                        <a:t>模块</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c>
                  <a:txBody>
                    <a:bodyPr/>
                    <a:lstStyle/>
                    <a:p>
                      <a:pPr algn="l" fontAlgn="ctr"/>
                      <a:r>
                        <a:rPr lang="zh-CN" altLang="en-US" sz="1000" u="none" strike="noStrike" dirty="0">
                          <a:effectLst/>
                          <a:latin typeface="+mn-ea"/>
                          <a:ea typeface="+mn-ea"/>
                        </a:rPr>
                        <a:t>功能</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c>
                  <a:txBody>
                    <a:bodyPr/>
                    <a:lstStyle/>
                    <a:p>
                      <a:pPr algn="l" fontAlgn="ctr"/>
                      <a:r>
                        <a:rPr lang="zh-CN" altLang="en-US" sz="1000" u="none" strike="noStrike" dirty="0">
                          <a:effectLst/>
                          <a:latin typeface="+mn-ea"/>
                          <a:ea typeface="+mn-ea"/>
                        </a:rPr>
                        <a:t>任务</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r>
              <a:tr h="471760">
                <a:tc>
                  <a:txBody>
                    <a:bodyPr/>
                    <a:lstStyle/>
                    <a:p>
                      <a:pPr algn="ctr" fontAlgn="ctr"/>
                      <a:r>
                        <a:rPr lang="en-US" altLang="zh-CN" sz="1000" u="none" strike="noStrike">
                          <a:effectLst/>
                          <a:latin typeface="+mn-ea"/>
                          <a:ea typeface="+mn-ea"/>
                        </a:rPr>
                        <a:t>1</a:t>
                      </a:r>
                      <a:endParaRPr lang="en-US" altLang="zh-CN" sz="1000" b="0" i="0" u="none" strike="noStrike">
                        <a:solidFill>
                          <a:srgbClr val="000000"/>
                        </a:solidFill>
                        <a:effectLst/>
                        <a:latin typeface="+mn-ea"/>
                        <a:ea typeface="+mn-ea"/>
                      </a:endParaRPr>
                    </a:p>
                  </a:txBody>
                  <a:tcPr marL="0" marR="0" marT="0" marB="0" anchor="ctr"/>
                </a:tc>
                <a:tc>
                  <a:txBody>
                    <a:bodyPr/>
                    <a:lstStyle/>
                    <a:p>
                      <a:pPr algn="l" fontAlgn="ctr"/>
                      <a:r>
                        <a:rPr lang="zh-CN" altLang="en-US" sz="1000" u="none" strike="noStrike">
                          <a:effectLst/>
                          <a:latin typeface="+mn-ea"/>
                          <a:ea typeface="+mn-ea"/>
                        </a:rPr>
                        <a:t>基础资料</a:t>
                      </a:r>
                      <a:endParaRPr lang="zh-CN" altLang="en-US" sz="1000" b="0" i="0" u="none" strike="noStrike">
                        <a:solidFill>
                          <a:srgbClr val="000000"/>
                        </a:solidFill>
                        <a:effectLst/>
                        <a:latin typeface="+mn-ea"/>
                        <a:ea typeface="+mn-ea"/>
                      </a:endParaRPr>
                    </a:p>
                  </a:txBody>
                  <a:tcPr marL="0" marR="0" marT="0" marB="0" anchor="ctr"/>
                </a:tc>
                <a:tc>
                  <a:txBody>
                    <a:bodyPr/>
                    <a:lstStyle/>
                    <a:p>
                      <a:pPr algn="l" fontAlgn="ctr"/>
                      <a:r>
                        <a:rPr lang="zh-CN" altLang="en-US" sz="1000" u="none" strike="noStrike">
                          <a:effectLst/>
                          <a:latin typeface="+mn-ea"/>
                          <a:ea typeface="+mn-ea"/>
                        </a:rPr>
                        <a:t>供应商接口</a:t>
                      </a:r>
                      <a:endParaRPr lang="zh-CN" altLang="en-US" sz="1000" b="0" i="0" u="none" strike="noStrike">
                        <a:solidFill>
                          <a:srgbClr val="000000"/>
                        </a:solidFill>
                        <a:effectLst/>
                        <a:latin typeface="+mn-ea"/>
                        <a:ea typeface="+mn-ea"/>
                      </a:endParaRPr>
                    </a:p>
                  </a:txBody>
                  <a:tcPr marL="0" marR="0" marT="0" marB="0" anchor="ctr"/>
                </a:tc>
                <a:tc>
                  <a:txBody>
                    <a:bodyPr/>
                    <a:lstStyle/>
                    <a:p>
                      <a:pPr algn="l" fontAlgn="ctr"/>
                      <a:r>
                        <a:rPr lang="zh-CN" altLang="en-US" sz="1000" u="none" strike="noStrike">
                          <a:effectLst/>
                          <a:latin typeface="+mn-ea"/>
                          <a:ea typeface="+mn-ea"/>
                        </a:rPr>
                        <a:t>同步供应商数据到</a:t>
                      </a:r>
                      <a:r>
                        <a:rPr lang="en-US" altLang="zh-CN" sz="1000" u="none" strike="noStrike">
                          <a:effectLst/>
                          <a:latin typeface="+mn-ea"/>
                          <a:ea typeface="+mn-ea"/>
                        </a:rPr>
                        <a:t>ERP</a:t>
                      </a:r>
                      <a:endParaRPr lang="en-US" altLang="zh-CN" sz="1000" b="0" i="0" u="none" strike="noStrike">
                        <a:solidFill>
                          <a:srgbClr val="000000"/>
                        </a:solidFill>
                        <a:effectLst/>
                        <a:latin typeface="+mn-ea"/>
                        <a:ea typeface="+mn-ea"/>
                      </a:endParaRPr>
                    </a:p>
                  </a:txBody>
                  <a:tcPr marL="0" marR="0" marT="0" marB="0" anchor="ctr"/>
                </a:tc>
              </a:tr>
              <a:tr h="471760">
                <a:tc>
                  <a:txBody>
                    <a:bodyPr/>
                    <a:lstStyle/>
                    <a:p>
                      <a:pPr algn="ctr" fontAlgn="ctr"/>
                      <a:r>
                        <a:rPr lang="en-US" altLang="zh-CN" sz="1000" u="none" strike="noStrike">
                          <a:effectLst/>
                          <a:latin typeface="+mn-ea"/>
                          <a:ea typeface="+mn-ea"/>
                        </a:rPr>
                        <a:t>2</a:t>
                      </a:r>
                      <a:endParaRPr lang="en-US" altLang="zh-CN" sz="1000" b="0" i="0" u="none" strike="noStrike">
                        <a:solidFill>
                          <a:srgbClr val="000000"/>
                        </a:solidFill>
                        <a:effectLst/>
                        <a:latin typeface="+mn-ea"/>
                        <a:ea typeface="+mn-ea"/>
                      </a:endParaRPr>
                    </a:p>
                  </a:txBody>
                  <a:tcPr marL="0" marR="0" marT="0" marB="0" anchor="ctr"/>
                </a:tc>
                <a:tc>
                  <a:txBody>
                    <a:bodyPr/>
                    <a:lstStyle/>
                    <a:p>
                      <a:pPr algn="l" fontAlgn="ctr"/>
                      <a:r>
                        <a:rPr lang="zh-CN" altLang="en-US" sz="1000" u="none" strike="noStrike">
                          <a:effectLst/>
                          <a:latin typeface="+mn-ea"/>
                          <a:ea typeface="+mn-ea"/>
                        </a:rPr>
                        <a:t>基础资料</a:t>
                      </a:r>
                      <a:endParaRPr lang="zh-CN" altLang="en-US" sz="1000" b="0" i="0" u="none" strike="noStrike">
                        <a:solidFill>
                          <a:srgbClr val="000000"/>
                        </a:solidFill>
                        <a:effectLst/>
                        <a:latin typeface="+mn-ea"/>
                        <a:ea typeface="+mn-ea"/>
                      </a:endParaRPr>
                    </a:p>
                  </a:txBody>
                  <a:tcPr marL="0" marR="0" marT="0" marB="0" anchor="ctr"/>
                </a:tc>
                <a:tc>
                  <a:txBody>
                    <a:bodyPr/>
                    <a:lstStyle/>
                    <a:p>
                      <a:pPr algn="l" fontAlgn="ctr"/>
                      <a:r>
                        <a:rPr lang="zh-CN" altLang="en-US" sz="1000" u="none" strike="noStrike">
                          <a:effectLst/>
                          <a:latin typeface="+mn-ea"/>
                          <a:ea typeface="+mn-ea"/>
                        </a:rPr>
                        <a:t>供应商接口</a:t>
                      </a:r>
                      <a:endParaRPr lang="zh-CN" altLang="en-US" sz="1000" b="0" i="0" u="none" strike="noStrike">
                        <a:solidFill>
                          <a:srgbClr val="000000"/>
                        </a:solidFill>
                        <a:effectLst/>
                        <a:latin typeface="+mn-ea"/>
                        <a:ea typeface="+mn-ea"/>
                      </a:endParaRPr>
                    </a:p>
                  </a:txBody>
                  <a:tcPr marL="0" marR="0" marT="0" marB="0" anchor="ctr"/>
                </a:tc>
                <a:tc>
                  <a:txBody>
                    <a:bodyPr/>
                    <a:lstStyle/>
                    <a:p>
                      <a:pPr algn="l" fontAlgn="ctr"/>
                      <a:r>
                        <a:rPr lang="en-US" altLang="zh-CN" sz="1000" b="0" i="0" u="none" strike="noStrike" dirty="0">
                          <a:solidFill>
                            <a:srgbClr val="000000"/>
                          </a:solidFill>
                          <a:effectLst/>
                          <a:latin typeface="+mn-ea"/>
                          <a:ea typeface="+mn-ea"/>
                        </a:rPr>
                        <a:t>ERP</a:t>
                      </a:r>
                      <a:r>
                        <a:rPr lang="zh-CN" altLang="en-US" sz="1000" b="0" i="0" u="none" strike="noStrike" dirty="0">
                          <a:solidFill>
                            <a:srgbClr val="000000"/>
                          </a:solidFill>
                          <a:effectLst/>
                          <a:latin typeface="+mn-ea"/>
                          <a:ea typeface="+mn-ea"/>
                        </a:rPr>
                        <a:t>同步供应商数据到</a:t>
                      </a:r>
                      <a:r>
                        <a:rPr lang="en-US" altLang="zh-CN" sz="1000" b="0" i="0" u="none" strike="noStrike" dirty="0">
                          <a:solidFill>
                            <a:srgbClr val="000000"/>
                          </a:solidFill>
                          <a:effectLst/>
                          <a:latin typeface="+mn-ea"/>
                          <a:ea typeface="+mn-ea"/>
                        </a:rPr>
                        <a:t>SRM</a:t>
                      </a:r>
                      <a:endParaRPr lang="en-US" altLang="zh-CN" sz="1000" b="0" i="0" u="none" strike="noStrike" dirty="0">
                        <a:solidFill>
                          <a:srgbClr val="000000"/>
                        </a:solidFill>
                        <a:effectLst/>
                        <a:latin typeface="+mn-ea"/>
                        <a:ea typeface="+mn-ea"/>
                      </a:endParaRPr>
                    </a:p>
                  </a:txBody>
                  <a:tcPr marL="0" marR="0" marT="0" marB="0" anchor="ctr"/>
                </a:tc>
              </a:tr>
              <a:tr h="471760">
                <a:tc>
                  <a:txBody>
                    <a:bodyPr/>
                    <a:lstStyle/>
                    <a:p>
                      <a:pPr algn="ctr" fontAlgn="ctr"/>
                      <a:r>
                        <a:rPr lang="zh-CN" altLang="en-US" sz="1000" u="none" strike="noStrike" dirty="0" smtClean="0">
                          <a:effectLst/>
                          <a:latin typeface="+mn-ea"/>
                          <a:ea typeface="+mn-ea"/>
                        </a:rPr>
                        <a:t>３</a:t>
                      </a:r>
                      <a:endParaRPr lang="en-US" altLang="zh-CN" sz="1000" b="0" i="0" u="none" strike="noStrike" dirty="0">
                        <a:solidFill>
                          <a:srgbClr val="000000"/>
                        </a:solidFill>
                        <a:effectLst/>
                        <a:latin typeface="+mn-ea"/>
                        <a:ea typeface="+mn-ea"/>
                      </a:endParaRPr>
                    </a:p>
                  </a:txBody>
                  <a:tcPr marL="0" marR="0" marT="0" marB="0" anchor="ctr"/>
                </a:tc>
                <a:tc>
                  <a:txBody>
                    <a:bodyPr/>
                    <a:lstStyle/>
                    <a:p>
                      <a:pPr algn="l" fontAlgn="ctr"/>
                      <a:endParaRPr lang="zh-CN" altLang="en-US" sz="1000" b="0" i="0" u="none" strike="noStrike">
                        <a:solidFill>
                          <a:srgbClr val="000000"/>
                        </a:solidFill>
                        <a:effectLst/>
                        <a:latin typeface="+mn-ea"/>
                        <a:ea typeface="+mn-ea"/>
                      </a:endParaRPr>
                    </a:p>
                  </a:txBody>
                  <a:tcPr marL="0" marR="0" marT="0" marB="0" anchor="ctr"/>
                </a:tc>
                <a:tc>
                  <a:txBody>
                    <a:bodyPr/>
                    <a:lstStyle/>
                    <a:p>
                      <a:pPr algn="l" fontAlgn="ctr"/>
                      <a:endParaRPr lang="zh-CN" altLang="en-US" sz="1000" b="0" i="0" u="none" strike="noStrike">
                        <a:solidFill>
                          <a:srgbClr val="000000"/>
                        </a:solidFill>
                        <a:effectLst/>
                        <a:latin typeface="+mn-ea"/>
                        <a:ea typeface="+mn-ea"/>
                      </a:endParaRPr>
                    </a:p>
                  </a:txBody>
                  <a:tcPr marL="0" marR="0" marT="0" marB="0" anchor="ctr"/>
                </a:tc>
                <a:tc>
                  <a:txBody>
                    <a:bodyPr/>
                    <a:lstStyle/>
                    <a:p>
                      <a:pPr algn="l" fontAlgn="ctr"/>
                      <a:endParaRPr lang="zh-CN" altLang="en-US" sz="1000" b="0" i="0" u="none" strike="noStrike">
                        <a:solidFill>
                          <a:srgbClr val="000000"/>
                        </a:solidFill>
                        <a:effectLst/>
                        <a:latin typeface="+mn-ea"/>
                        <a:ea typeface="+mn-ea"/>
                      </a:endParaRPr>
                    </a:p>
                  </a:txBody>
                  <a:tcPr marL="0" marR="0" marT="0" marB="0" anchor="ctr"/>
                </a:tc>
              </a:tr>
            </a:tbl>
          </a:graphicData>
        </a:graphic>
      </p:graphicFrame>
      <p:graphicFrame>
        <p:nvGraphicFramePr>
          <p:cNvPr id="5" name="表格 4"/>
          <p:cNvGraphicFramePr>
            <a:graphicFrameLocks noGrp="1"/>
          </p:cNvGraphicFramePr>
          <p:nvPr>
            <p:custDataLst>
              <p:tags r:id="rId2"/>
            </p:custDataLst>
          </p:nvPr>
        </p:nvGraphicFramePr>
        <p:xfrm>
          <a:off x="5238056" y="90199"/>
          <a:ext cx="6932353" cy="6435725"/>
        </p:xfrm>
        <a:graphic>
          <a:graphicData uri="http://schemas.openxmlformats.org/drawingml/2006/table">
            <a:tbl>
              <a:tblPr>
                <a:tableStyleId>{5C22544A-7EE6-4342-B048-85BDC9FD1C3A}</a:tableStyleId>
              </a:tblPr>
              <a:tblGrid>
                <a:gridCol w="340625"/>
                <a:gridCol w="1088108"/>
                <a:gridCol w="1012414"/>
                <a:gridCol w="1589584"/>
                <a:gridCol w="2901622"/>
              </a:tblGrid>
              <a:tr h="350520">
                <a:tc>
                  <a:txBody>
                    <a:bodyPr/>
                    <a:lstStyle/>
                    <a:p>
                      <a:pPr algn="ctr" fontAlgn="ctr"/>
                      <a:r>
                        <a:rPr lang="zh-CN" altLang="en-US" sz="1000" u="none" strike="noStrike" dirty="0">
                          <a:effectLst/>
                          <a:latin typeface="+mn-ea"/>
                          <a:ea typeface="+mn-ea"/>
                        </a:rPr>
                        <a:t>序号</a:t>
                      </a:r>
                      <a:endParaRPr lang="zh-CN" altLang="en-US" sz="1000" b="1" i="0" u="none" strike="noStrike" dirty="0">
                        <a:solidFill>
                          <a:srgbClr val="0D0D0D"/>
                        </a:solidFill>
                        <a:effectLst/>
                        <a:latin typeface="+mn-ea"/>
                        <a:ea typeface="+mn-ea"/>
                      </a:endParaRPr>
                    </a:p>
                  </a:txBody>
                  <a:tcPr marL="0" marR="0" marT="0" marB="0" anchor="ctr">
                    <a:solidFill>
                      <a:schemeClr val="accent1"/>
                    </a:solidFill>
                  </a:tcPr>
                </a:tc>
                <a:tc>
                  <a:txBody>
                    <a:bodyPr/>
                    <a:lstStyle/>
                    <a:p>
                      <a:pPr algn="l" fontAlgn="ctr"/>
                      <a:r>
                        <a:rPr lang="zh-CN" altLang="en-US" sz="1000" u="none" strike="noStrike" dirty="0">
                          <a:effectLst/>
                          <a:latin typeface="+mn-ea"/>
                          <a:ea typeface="+mn-ea"/>
                        </a:rPr>
                        <a:t>模块</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c>
                  <a:txBody>
                    <a:bodyPr/>
                    <a:lstStyle/>
                    <a:p>
                      <a:pPr algn="l" fontAlgn="ctr"/>
                      <a:r>
                        <a:rPr lang="zh-CN" altLang="en-US" sz="1000" u="none" strike="noStrike" dirty="0">
                          <a:effectLst/>
                          <a:latin typeface="+mn-ea"/>
                          <a:ea typeface="+mn-ea"/>
                        </a:rPr>
                        <a:t>功能</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c>
                  <a:txBody>
                    <a:bodyPr/>
                    <a:lstStyle/>
                    <a:p>
                      <a:pPr algn="l" fontAlgn="ctr"/>
                      <a:r>
                        <a:rPr lang="zh-CN" altLang="en-US" sz="1000" u="none" strike="noStrike" dirty="0">
                          <a:effectLst/>
                          <a:latin typeface="+mn-ea"/>
                          <a:ea typeface="+mn-ea"/>
                        </a:rPr>
                        <a:t>任务</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c>
                  <a:txBody>
                    <a:bodyPr/>
                    <a:lstStyle/>
                    <a:p>
                      <a:pPr algn="ctr" fontAlgn="ctr"/>
                      <a:r>
                        <a:rPr lang="zh-CN" altLang="en-US" sz="1000" u="none" strike="noStrike" dirty="0">
                          <a:effectLst/>
                          <a:latin typeface="+mn-ea"/>
                          <a:ea typeface="+mn-ea"/>
                        </a:rPr>
                        <a:t>说明及参考</a:t>
                      </a:r>
                      <a:endParaRPr lang="zh-CN" altLang="en-US" sz="1000" b="1" i="0" u="none" strike="noStrike" dirty="0">
                        <a:solidFill>
                          <a:srgbClr val="000000"/>
                        </a:solidFill>
                        <a:effectLst/>
                        <a:latin typeface="+mn-ea"/>
                        <a:ea typeface="+mn-ea"/>
                      </a:endParaRPr>
                    </a:p>
                  </a:txBody>
                  <a:tcPr marL="0" marR="0" marT="0" marB="0" anchor="ctr">
                    <a:solidFill>
                      <a:schemeClr val="accent1"/>
                    </a:solidFill>
                  </a:tcPr>
                </a:tc>
              </a:tr>
              <a:tr h="728980">
                <a:tc>
                  <a:txBody>
                    <a:bodyPr/>
                    <a:lstStyle/>
                    <a:p>
                      <a:pPr algn="ctr" fontAlgn="ctr"/>
                      <a:r>
                        <a:rPr lang="zh-CN" altLang="en-US" sz="1000" b="0" i="0" u="none" strike="noStrike" dirty="0" smtClean="0">
                          <a:solidFill>
                            <a:srgbClr val="0D0D0D"/>
                          </a:solidFill>
                          <a:effectLst/>
                          <a:latin typeface="+mn-ea"/>
                          <a:ea typeface="+mn-ea"/>
                        </a:rPr>
                        <a:t>１</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导入ERP</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触发审批流，并增加页面补充供应商主档部分字段</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增加页面及审批流，由发起人选择采购员，由该采购员在页面中补充供应商主档信息，确认后导入ERP（供管发起 → 采购员补充信息 → 供管确认→ 导入ERP）</a:t>
                      </a:r>
                      <a:endParaRPr lang="zh-CN" sz="900" b="0">
                        <a:solidFill>
                          <a:srgbClr val="000000"/>
                        </a:solidFill>
                        <a:latin typeface="Arial" panose="020B0604020202020204" pitchFamily="34" charset="0"/>
                        <a:ea typeface="微软雅黑" panose="020B0503020204020204" charset="-122"/>
                      </a:endParaRPr>
                    </a:p>
                    <a:p>
                      <a:pPr indent="0">
                        <a:buNone/>
                      </a:pPr>
                      <a:r>
                        <a:rPr lang="zh-CN" sz="900" b="0">
                          <a:solidFill>
                            <a:srgbClr val="000000"/>
                          </a:solidFill>
                          <a:latin typeface="Arial" panose="020B0604020202020204" pitchFamily="34" charset="0"/>
                          <a:ea typeface="微软雅黑" panose="020B0503020204020204" charset="-122"/>
                        </a:rPr>
                        <a:t>在准入评估后需要自动触发该流程</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728980">
                <a:tc>
                  <a:txBody>
                    <a:bodyPr/>
                    <a:lstStyle/>
                    <a:p>
                      <a:pPr algn="ctr" fontAlgn="ctr"/>
                      <a:r>
                        <a:rPr lang="zh-CN" altLang="en-US" sz="1000" b="0" i="0" u="none" strike="noStrike" dirty="0" smtClean="0">
                          <a:solidFill>
                            <a:srgbClr val="0D0D0D"/>
                          </a:solidFill>
                          <a:effectLst/>
                          <a:latin typeface="+mn-ea"/>
                          <a:ea typeface="+mn-ea"/>
                        </a:rPr>
                        <a:t>２</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供应商整改</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采购方在现场考察发起时选择是否需要供应商进行整改，若勾选，评分汇总页面需增加整改表单，采购方填写整改要点，供应商需反馈整改措施</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688975">
                <a:tc>
                  <a:txBody>
                    <a:bodyPr/>
                    <a:lstStyle/>
                    <a:p>
                      <a:pPr algn="ctr" fontAlgn="ctr"/>
                      <a:r>
                        <a:rPr lang="zh-CN" altLang="en-US" sz="1000" b="0" i="0" u="none" strike="noStrike" dirty="0" smtClean="0">
                          <a:solidFill>
                            <a:srgbClr val="0D0D0D"/>
                          </a:solidFill>
                          <a:effectLst/>
                          <a:latin typeface="+mn-ea"/>
                          <a:ea typeface="+mn-ea"/>
                        </a:rPr>
                        <a:t>３</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验厂界面带出可持续调查表部分页签并添加复核字段</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发起验厂时通过字段控制，验厂评分界面增加页签，拉取可持续发展表（调查表）中的部分页签信息，并增加复核及备注字段</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521970">
                <a:tc>
                  <a:txBody>
                    <a:bodyPr/>
                    <a:lstStyle/>
                    <a:p>
                      <a:pPr algn="ctr" fontAlgn="ctr"/>
                      <a:r>
                        <a:rPr lang="zh-CN" altLang="en-US" sz="1000" b="0" i="0" u="none" strike="noStrike" dirty="0" smtClean="0">
                          <a:solidFill>
                            <a:srgbClr val="0D0D0D"/>
                          </a:solidFill>
                          <a:effectLst/>
                          <a:latin typeface="+mn-ea"/>
                          <a:ea typeface="+mn-ea"/>
                        </a:rPr>
                        <a:t>４</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评分逾期提醒</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现场考察发起评分后，若评分人未在10天内进行评分，需对其进行逾期提醒</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563880">
                <a:tc>
                  <a:txBody>
                    <a:bodyPr/>
                    <a:lstStyle/>
                    <a:p>
                      <a:pPr algn="ctr" fontAlgn="ctr"/>
                      <a:r>
                        <a:rPr lang="zh-CN" altLang="en-US" sz="1000" b="0" i="0" u="none" strike="noStrike" dirty="0" smtClean="0">
                          <a:solidFill>
                            <a:srgbClr val="0D0D0D"/>
                          </a:solidFill>
                          <a:effectLst/>
                          <a:latin typeface="+mn-ea"/>
                          <a:ea typeface="+mn-ea"/>
                        </a:rPr>
                        <a:t>５</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验厂计划表</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新开表单界面，需要功能性审批，审批通过后需邮件通知供应商及验厂人员</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406307">
                <a:tc>
                  <a:txBody>
                    <a:bodyPr/>
                    <a:lstStyle/>
                    <a:p>
                      <a:pPr algn="ctr" fontAlgn="ctr"/>
                      <a:r>
                        <a:rPr lang="zh-CN" altLang="en-US" sz="1000" b="0" i="0" u="none" strike="noStrike" dirty="0" smtClean="0">
                          <a:solidFill>
                            <a:srgbClr val="0D0D0D"/>
                          </a:solidFill>
                          <a:effectLst/>
                          <a:latin typeface="+mn-ea"/>
                          <a:ea typeface="+mn-ea"/>
                        </a:rPr>
                        <a:t>６</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验厂待办清单</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在工作台上增加验厂计划待办卡片，需设计卡片样式，将验厂计划中的待办写入卡片</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406307">
                <a:tc>
                  <a:txBody>
                    <a:bodyPr/>
                    <a:lstStyle/>
                    <a:p>
                      <a:pPr algn="ctr" fontAlgn="ctr"/>
                      <a:r>
                        <a:rPr lang="zh-CN" altLang="en-US" sz="1000" b="0" i="0" u="none" strike="noStrike" dirty="0" smtClean="0">
                          <a:solidFill>
                            <a:srgbClr val="0D0D0D"/>
                          </a:solidFill>
                          <a:effectLst/>
                          <a:latin typeface="+mn-ea"/>
                          <a:ea typeface="+mn-ea"/>
                        </a:rPr>
                        <a:t>７</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供应商升降级管理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发起特批</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若评估后目标阶段选择潜在/不合格，在审批流程中，采购部门需决定是否发起特批流程，若发起，供应商生命阶段变更为试用</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315644">
                <a:tc>
                  <a:txBody>
                    <a:bodyPr/>
                    <a:lstStyle/>
                    <a:p>
                      <a:pPr algn="ctr" fontAlgn="ctr"/>
                      <a:r>
                        <a:rPr lang="zh-CN" altLang="en-US" sz="1000" b="0" i="0" u="none" strike="noStrike" dirty="0" smtClean="0">
                          <a:solidFill>
                            <a:srgbClr val="0D0D0D"/>
                          </a:solidFill>
                          <a:effectLst/>
                          <a:latin typeface="+mn-ea"/>
                          <a:ea typeface="+mn-ea"/>
                        </a:rPr>
                        <a:t>８</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供应商升降级管理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不同的升级评审单上需增加字段</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不同生命阶段的申请单是否是单独的单据？</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437515">
                <a:tc>
                  <a:txBody>
                    <a:bodyPr/>
                    <a:lstStyle/>
                    <a:p>
                      <a:pPr algn="ctr" fontAlgn="ctr"/>
                      <a:r>
                        <a:rPr lang="en-US" altLang="zh-CN" sz="1000" b="0" i="0" u="none" strike="noStrike" dirty="0" smtClean="0">
                          <a:solidFill>
                            <a:srgbClr val="0D0D0D"/>
                          </a:solidFill>
                          <a:effectLst/>
                          <a:latin typeface="+mn-ea"/>
                          <a:ea typeface="+mn-ea"/>
                        </a:rPr>
                        <a:t>9</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供应商信息变更</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批量变更采购员信息脚本</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需为宝姿IT提供批量变更供应商信息的脚本</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735965">
                <a:tc>
                  <a:txBody>
                    <a:bodyPr/>
                    <a:lstStyle/>
                    <a:p>
                      <a:pPr algn="ctr" fontAlgn="ctr"/>
                      <a:r>
                        <a:rPr lang="en-US" altLang="zh-CN" sz="1000" b="0" i="0" u="none" strike="noStrike" dirty="0" smtClean="0">
                          <a:solidFill>
                            <a:srgbClr val="0D0D0D"/>
                          </a:solidFill>
                          <a:effectLst/>
                          <a:latin typeface="+mn-ea"/>
                          <a:ea typeface="+mn-ea"/>
                        </a:rPr>
                        <a:t>10</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导入ERP</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触发审批流，并增加页面补充供应商主档部分字段</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增加页面及审批流，由发起人选择采购员，由该采购员在页面中补充供应商主档信息，确认后导入ERP（供管发起 → 采购员补充信息 → 供管确认→ 导入ERP）</a:t>
                      </a:r>
                      <a:endParaRPr lang="zh-CN" sz="900" b="0">
                        <a:solidFill>
                          <a:srgbClr val="000000"/>
                        </a:solidFill>
                        <a:latin typeface="Arial" panose="020B0604020202020204" pitchFamily="34" charset="0"/>
                        <a:ea typeface="微软雅黑" panose="020B0503020204020204" charset="-122"/>
                      </a:endParaRPr>
                    </a:p>
                    <a:p>
                      <a:pPr indent="0">
                        <a:buNone/>
                      </a:pPr>
                      <a:r>
                        <a:rPr lang="zh-CN" sz="900" b="0">
                          <a:solidFill>
                            <a:srgbClr val="000000"/>
                          </a:solidFill>
                          <a:latin typeface="Arial" panose="020B0604020202020204" pitchFamily="34" charset="0"/>
                          <a:ea typeface="微软雅黑" panose="020B0503020204020204" charset="-122"/>
                        </a:rPr>
                        <a:t>在准入评估后需要自动触发该流程</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r h="406307">
                <a:tc>
                  <a:txBody>
                    <a:bodyPr/>
                    <a:lstStyle/>
                    <a:p>
                      <a:pPr algn="ctr" fontAlgn="ctr"/>
                      <a:r>
                        <a:rPr lang="en-US" altLang="zh-CN" sz="1000" b="0" i="0" u="none" strike="noStrike" dirty="0" smtClean="0">
                          <a:solidFill>
                            <a:srgbClr val="0D0D0D"/>
                          </a:solidFill>
                          <a:effectLst/>
                          <a:latin typeface="+mn-ea"/>
                          <a:ea typeface="+mn-ea"/>
                        </a:rPr>
                        <a:t>11</a:t>
                      </a:r>
                      <a:endParaRPr lang="en-US" altLang="zh-CN" sz="1000" b="0" i="0" u="none" strike="noStrike" dirty="0">
                        <a:solidFill>
                          <a:srgbClr val="0D0D0D"/>
                        </a:solidFill>
                        <a:effectLst/>
                        <a:latin typeface="+mn-ea"/>
                        <a:ea typeface="+mn-ea"/>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供应商整改</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采购方在现场考察发起时选择是否需要供应商进行整改，若勾选，评分汇总页面需增加整改表单，采购方填写整改要点，供应商需反馈整改措施</a:t>
                      </a:r>
                      <a:endParaRPr lang="zh-CN" altLang="en-US" sz="900" b="0">
                        <a:solidFill>
                          <a:srgbClr val="000000"/>
                        </a:solidFill>
                        <a:latin typeface="Arial" panose="020B0604020202020204" pitchFamily="34" charset="0"/>
                        <a:ea typeface="微软雅黑" panose="020B0503020204020204" charset="-122"/>
                      </a:endParaRPr>
                    </a:p>
                  </a:txBody>
                  <a:tcPr marL="12700" marR="12700" marT="12700" anchor="ctr"/>
                </a:tc>
              </a:tr>
            </a:tbl>
          </a:graphicData>
        </a:graphic>
      </p:graphicFrame>
      <p:sp>
        <p:nvSpPr>
          <p:cNvPr id="7"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smtClean="0"/>
              <a:t>后续工作任务清单</a:t>
            </a:r>
            <a:endParaRPr lang="zh-CN" altLang="en-US" sz="2800" dirty="0"/>
          </a:p>
        </p:txBody>
      </p:sp>
      <p:graphicFrame>
        <p:nvGraphicFramePr>
          <p:cNvPr id="8" name="图示 7"/>
          <p:cNvGraphicFramePr/>
          <p:nvPr/>
        </p:nvGraphicFramePr>
        <p:xfrm>
          <a:off x="-512677" y="1238244"/>
          <a:ext cx="3609571" cy="23803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文本框 9"/>
          <p:cNvSpPr txBox="1"/>
          <p:nvPr/>
        </p:nvSpPr>
        <p:spPr>
          <a:xfrm>
            <a:off x="2723224" y="1544403"/>
            <a:ext cx="2536422" cy="1938020"/>
          </a:xfrm>
          <a:prstGeom prst="rect">
            <a:avLst/>
          </a:prstGeom>
          <a:noFill/>
        </p:spPr>
        <p:txBody>
          <a:bodyPr wrap="square" rtlCol="0">
            <a:spAutoFit/>
          </a:bodyPr>
          <a:lstStyle/>
          <a:p>
            <a:r>
              <a:rPr lang="zh-CN" altLang="en-US" sz="2400" dirty="0" smtClean="0">
                <a:latin typeface="微软雅黑" panose="020B0503020204020204" charset="-122"/>
              </a:rPr>
              <a:t>接口</a:t>
            </a:r>
            <a:r>
              <a:rPr lang="zh-CN" altLang="en-US" sz="2400" dirty="0">
                <a:latin typeface="微软雅黑" panose="020B0503020204020204" charset="-122"/>
              </a:rPr>
              <a:t>数量：</a:t>
            </a:r>
            <a:r>
              <a:rPr lang="en-US" altLang="zh-CN" sz="2400" dirty="0" smtClean="0">
                <a:solidFill>
                  <a:srgbClr val="FF0000"/>
                </a:solidFill>
                <a:latin typeface="微软雅黑" panose="020B0503020204020204" charset="-122"/>
              </a:rPr>
              <a:t>2</a:t>
            </a:r>
            <a:endParaRPr lang="en-US" altLang="zh-CN" sz="2400" dirty="0" smtClean="0">
              <a:solidFill>
                <a:srgbClr val="FF0000"/>
              </a:solidFill>
              <a:latin typeface="微软雅黑" panose="020B0503020204020204" charset="-122"/>
            </a:endParaRPr>
          </a:p>
          <a:p>
            <a:endParaRPr lang="en-US" altLang="zh-CN" sz="2400" dirty="0">
              <a:solidFill>
                <a:srgbClr val="FF0000"/>
              </a:solidFill>
              <a:latin typeface="微软雅黑" panose="020B0503020204020204" charset="-122"/>
            </a:endParaRPr>
          </a:p>
          <a:p>
            <a:r>
              <a:rPr lang="zh-CN" altLang="en-US" sz="2400" dirty="0" smtClean="0">
                <a:latin typeface="微软雅黑" panose="020B0503020204020204" charset="-122"/>
                <a:ea typeface="微软雅黑" panose="020B0503020204020204" charset="-122"/>
              </a:rPr>
              <a:t>功能定制：</a:t>
            </a:r>
            <a:r>
              <a:rPr lang="en-US" altLang="zh-CN" sz="2400" dirty="0" smtClean="0">
                <a:solidFill>
                  <a:srgbClr val="FF0000"/>
                </a:solidFill>
                <a:latin typeface="微软雅黑" panose="020B0503020204020204" charset="-122"/>
                <a:ea typeface="微软雅黑" panose="020B0503020204020204" charset="-122"/>
              </a:rPr>
              <a:t>11</a:t>
            </a:r>
            <a:endParaRPr lang="en-US" altLang="zh-CN" sz="2400" dirty="0" smtClean="0">
              <a:solidFill>
                <a:srgbClr val="FF0000"/>
              </a:solidFill>
              <a:latin typeface="微软雅黑" panose="020B0503020204020204" charset="-122"/>
              <a:ea typeface="微软雅黑" panose="020B0503020204020204" charset="-122"/>
            </a:endParaRPr>
          </a:p>
          <a:p>
            <a:endParaRPr lang="en-US" altLang="zh-CN" sz="2400" dirty="0">
              <a:solidFill>
                <a:srgbClr val="FF0000"/>
              </a:solidFill>
              <a:latin typeface="微软雅黑" panose="020B0503020204020204" charset="-122"/>
              <a:ea typeface="微软雅黑" panose="020B0503020204020204" charset="-122"/>
            </a:endParaRPr>
          </a:p>
          <a:p>
            <a:r>
              <a:rPr lang="zh-CN" altLang="en-US" sz="2400" dirty="0" smtClean="0">
                <a:latin typeface="微软雅黑" panose="020B0503020204020204" charset="-122"/>
                <a:ea typeface="微软雅黑" panose="020B0503020204020204" charset="-122"/>
              </a:rPr>
              <a:t>功能调整：</a:t>
            </a:r>
            <a:r>
              <a:rPr lang="en-US" altLang="zh-CN" sz="2400" dirty="0" smtClean="0">
                <a:solidFill>
                  <a:srgbClr val="FF0000"/>
                </a:solidFill>
                <a:latin typeface="微软雅黑" panose="020B0503020204020204" charset="-122"/>
                <a:ea typeface="微软雅黑" panose="020B0503020204020204" charset="-122"/>
              </a:rPr>
              <a:t>20</a:t>
            </a:r>
            <a:endParaRPr lang="zh-CN" altLang="en-US" sz="2400"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custDataLst>
              <p:tags r:id="rId1"/>
            </p:custDataLst>
          </p:nvPr>
        </p:nvGraphicFramePr>
        <p:xfrm>
          <a:off x="147608" y="729383"/>
          <a:ext cx="5636375" cy="5758180"/>
        </p:xfrm>
        <a:graphic>
          <a:graphicData uri="http://schemas.openxmlformats.org/drawingml/2006/table">
            <a:tbl>
              <a:tblPr>
                <a:tableStyleId>{5C22544A-7EE6-4342-B048-85BDC9FD1C3A}</a:tableStyleId>
              </a:tblPr>
              <a:tblGrid>
                <a:gridCol w="276860"/>
                <a:gridCol w="884776"/>
                <a:gridCol w="823147"/>
                <a:gridCol w="1292418"/>
                <a:gridCol w="2359174"/>
              </a:tblGrid>
              <a:tr h="428682">
                <a:tc>
                  <a:txBody>
                    <a:bodyPr/>
                    <a:lstStyle/>
                    <a:p>
                      <a:pPr algn="ctr" fontAlgn="ctr"/>
                      <a:r>
                        <a:rPr lang="zh-CN" altLang="en-US" sz="900" u="none" strike="noStrike">
                          <a:effectLst/>
                        </a:rPr>
                        <a:t>序号</a:t>
                      </a:r>
                      <a:endParaRPr lang="zh-CN" altLang="en-US" sz="900" b="1" i="0" u="none" strike="noStrike">
                        <a:solidFill>
                          <a:srgbClr val="0D0D0D"/>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l" fontAlgn="ctr"/>
                      <a:r>
                        <a:rPr lang="zh-CN" altLang="en-US" sz="900" u="none" strike="noStrike">
                          <a:effectLst/>
                        </a:rPr>
                        <a:t>模块</a:t>
                      </a:r>
                      <a:endParaRPr lang="zh-CN" altLang="en-US" sz="900" b="1"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l" fontAlgn="ctr"/>
                      <a:r>
                        <a:rPr lang="zh-CN" altLang="en-US" sz="900" u="none" strike="noStrike">
                          <a:effectLst/>
                        </a:rPr>
                        <a:t>功能</a:t>
                      </a:r>
                      <a:endParaRPr lang="zh-CN" altLang="en-US" sz="900" b="1"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l" fontAlgn="ctr"/>
                      <a:r>
                        <a:rPr lang="zh-CN" altLang="en-US" sz="900" u="none" strike="noStrike">
                          <a:effectLst/>
                        </a:rPr>
                        <a:t>任务</a:t>
                      </a:r>
                      <a:endParaRPr lang="zh-CN" altLang="en-US" sz="900" b="1"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ctr" fontAlgn="ctr"/>
                      <a:r>
                        <a:rPr lang="zh-CN" altLang="en-US" sz="900" u="none" strike="noStrike" dirty="0">
                          <a:effectLst/>
                        </a:rPr>
                        <a:t>说明及参考</a:t>
                      </a:r>
                      <a:endParaRPr lang="zh-CN" altLang="en-US" sz="900" b="1"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r>
              <a:tr h="382270">
                <a:tc>
                  <a:txBody>
                    <a:bodyPr/>
                    <a:lstStyle/>
                    <a:p>
                      <a:pPr algn="ctr" fontAlgn="ctr"/>
                      <a:r>
                        <a:rPr lang="zh-CN" altLang="en-US" sz="900" b="0" i="0" u="none" strike="noStrike" dirty="0" smtClean="0">
                          <a:solidFill>
                            <a:srgbClr val="000000"/>
                          </a:solidFill>
                          <a:effectLst/>
                          <a:latin typeface="微软雅黑" panose="020B0503020204020204" charset="-122"/>
                          <a:ea typeface="微软雅黑" panose="020B0503020204020204" charset="-122"/>
                        </a:rPr>
                        <a:t>１</a:t>
                      </a:r>
                      <a:endParaRPr lang="en-US" altLang="zh-CN" sz="9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供应商引入</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邀请供应商注册</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通过邮件发送注册网址至供应商，标准功能已有，但网址有问题，需要调整</a:t>
                      </a:r>
                      <a:endParaRPr lang="en-US" altLang="en-US" sz="900" b="0">
                        <a:solidFill>
                          <a:srgbClr val="000000"/>
                        </a:solidFill>
                        <a:latin typeface="微软雅黑" panose="020B0503020204020204" charset="-122"/>
                      </a:endParaRPr>
                    </a:p>
                  </a:txBody>
                  <a:tcPr marL="12700" marR="12700" marT="12700" anchor="ctr"/>
                </a:tc>
              </a:tr>
              <a:tr h="428682">
                <a:tc>
                  <a:txBody>
                    <a:bodyPr/>
                    <a:lstStyle/>
                    <a:p>
                      <a:pPr algn="ctr" fontAlgn="ctr"/>
                      <a:r>
                        <a:rPr lang="zh-CN" altLang="en-US" sz="900" b="0" i="0" u="none" strike="noStrike" dirty="0" smtClean="0">
                          <a:solidFill>
                            <a:srgbClr val="000000"/>
                          </a:solidFill>
                          <a:effectLst/>
                          <a:latin typeface="微软雅黑" panose="020B0503020204020204" charset="-122"/>
                          <a:ea typeface="微软雅黑" panose="020B0503020204020204" charset="-122"/>
                        </a:rPr>
                        <a:t>２</a:t>
                      </a:r>
                      <a:endParaRPr lang="en-US" altLang="zh-CN" sz="9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供应商引入</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供应商企业认证</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增加字段【合作大类】，企业认证审批需要通过该字段区分审批人</a:t>
                      </a:r>
                      <a:endParaRPr lang="en-US" altLang="en-US" sz="900" b="0">
                        <a:solidFill>
                          <a:srgbClr val="000000"/>
                        </a:solidFill>
                        <a:latin typeface="微软雅黑" panose="020B0503020204020204" charset="-122"/>
                      </a:endParaRPr>
                    </a:p>
                  </a:txBody>
                  <a:tcPr marL="12700" marR="12700" marT="12700" anchor="ctr"/>
                </a:tc>
              </a:tr>
              <a:tr h="496645">
                <a:tc>
                  <a:txBody>
                    <a:bodyPr/>
                    <a:lstStyle/>
                    <a:p>
                      <a:pPr algn="ctr" fontAlgn="ctr"/>
                      <a:r>
                        <a:rPr lang="zh-CN" altLang="en-US" sz="900" b="0" i="0" u="none" strike="noStrike" dirty="0" smtClean="0">
                          <a:solidFill>
                            <a:srgbClr val="000000"/>
                          </a:solidFill>
                          <a:effectLst/>
                          <a:latin typeface="微软雅黑" panose="020B0503020204020204" charset="-122"/>
                          <a:ea typeface="微软雅黑" panose="020B0503020204020204" charset="-122"/>
                        </a:rPr>
                        <a:t>３</a:t>
                      </a:r>
                      <a:endParaRPr lang="en-US" altLang="zh-CN" sz="9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供应商调查表</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调查表审批时，增加选择采购员字段，以及是否导入ERP字段</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调查表审批时，供管需填写采购员字段，审批通过后需给该采购员发送消息及邮件通知，且该采购员字段需记录在供应商档案上</a:t>
                      </a:r>
                      <a:endParaRPr lang="zh-CN" sz="900" b="0">
                        <a:solidFill>
                          <a:srgbClr val="000000"/>
                        </a:solidFill>
                        <a:latin typeface="Arial" panose="020B0604020202020204" pitchFamily="34" charset="0"/>
                        <a:ea typeface="微软雅黑" panose="020B0503020204020204" charset="-122"/>
                      </a:endParaRPr>
                    </a:p>
                    <a:p>
                      <a:pPr indent="0">
                        <a:buNone/>
                      </a:pPr>
                      <a:r>
                        <a:rPr lang="zh-CN" sz="900" b="0">
                          <a:solidFill>
                            <a:srgbClr val="000000"/>
                          </a:solidFill>
                          <a:latin typeface="Arial" panose="020B0604020202020204" pitchFamily="34" charset="0"/>
                          <a:ea typeface="微软雅黑" panose="020B0503020204020204" charset="-122"/>
                        </a:rPr>
                        <a:t>若选择导入ERP，在调查表审批通过后系统自动触发导入ERP的工作流</a:t>
                      </a:r>
                      <a:endParaRPr lang="en-US" altLang="en-US" sz="900" b="0">
                        <a:solidFill>
                          <a:srgbClr val="000000"/>
                        </a:solidFill>
                        <a:latin typeface="微软雅黑" panose="020B0503020204020204" charset="-122"/>
                      </a:endParaRPr>
                    </a:p>
                  </a:txBody>
                  <a:tcPr marL="12700" marR="12700" marT="12700" anchor="ctr"/>
                </a:tc>
              </a:tr>
              <a:tr h="496645">
                <a:tc>
                  <a:txBody>
                    <a:bodyPr/>
                    <a:lstStyle/>
                    <a:p>
                      <a:pPr algn="ctr" fontAlgn="ctr"/>
                      <a:r>
                        <a:rPr lang="zh-CN" altLang="en-US" sz="900" b="0" i="0" u="none" strike="noStrike" dirty="0" smtClean="0">
                          <a:solidFill>
                            <a:srgbClr val="000000"/>
                          </a:solidFill>
                          <a:effectLst/>
                          <a:latin typeface="微软雅黑" panose="020B0503020204020204" charset="-122"/>
                          <a:ea typeface="微软雅黑" panose="020B0503020204020204" charset="-122"/>
                        </a:rPr>
                        <a:t>４</a:t>
                      </a:r>
                      <a:endParaRPr lang="en-US" altLang="zh-CN" sz="9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供应商调查表</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可持续调查表</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通过调查表配置可持续发展表字段，并写入供应商主档，调查表需增加页签及样式</a:t>
                      </a:r>
                      <a:endParaRPr lang="en-US" altLang="en-US" sz="900" b="0">
                        <a:solidFill>
                          <a:srgbClr val="000000"/>
                        </a:solidFill>
                        <a:latin typeface="微软雅黑" panose="020B0503020204020204" charset="-122"/>
                      </a:endParaRPr>
                    </a:p>
                  </a:txBody>
                  <a:tcPr marL="12700" marR="12700" marT="12700" anchor="ctr"/>
                </a:tc>
              </a:tr>
              <a:tr h="497205">
                <a:tc>
                  <a:txBody>
                    <a:bodyPr/>
                    <a:lstStyle/>
                    <a:p>
                      <a:pPr algn="ctr" fontAlgn="ctr"/>
                      <a:r>
                        <a:rPr lang="zh-CN" altLang="en-US" sz="900" b="0" i="0" u="none" strike="noStrike" dirty="0" smtClean="0">
                          <a:solidFill>
                            <a:srgbClr val="0D0D0D"/>
                          </a:solidFill>
                          <a:effectLst/>
                          <a:latin typeface="微软雅黑" panose="020B0503020204020204" charset="-122"/>
                          <a:ea typeface="微软雅黑" panose="020B0503020204020204" charset="-122"/>
                        </a:rPr>
                        <a:t>５</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SWOT分析</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采购方在现场考察发起时选择是否填写SWOT，若勾选，评分汇总页面需增加SWOT分析字段</a:t>
                      </a:r>
                      <a:endParaRPr lang="en-US" altLang="en-US" sz="900" b="0">
                        <a:solidFill>
                          <a:srgbClr val="000000"/>
                        </a:solidFill>
                        <a:latin typeface="微软雅黑" panose="020B0503020204020204" charset="-122"/>
                      </a:endParaRPr>
                    </a:p>
                  </a:txBody>
                  <a:tcPr marL="12700" marR="12700" marT="12700" anchor="ctr"/>
                </a:tc>
              </a:tr>
              <a:tr h="605790">
                <a:tc>
                  <a:txBody>
                    <a:bodyPr/>
                    <a:lstStyle/>
                    <a:p>
                      <a:pPr algn="ctr" fontAlgn="ctr"/>
                      <a:r>
                        <a:rPr lang="zh-CN" altLang="en-US" sz="900" b="0" i="0" u="none" strike="noStrike" dirty="0" smtClean="0">
                          <a:solidFill>
                            <a:srgbClr val="0D0D0D"/>
                          </a:solidFill>
                          <a:effectLst/>
                          <a:latin typeface="微软雅黑" panose="020B0503020204020204" charset="-122"/>
                          <a:ea typeface="微软雅黑" panose="020B0503020204020204" charset="-122"/>
                        </a:rPr>
                        <a:t>６</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供应商现场考察</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验厂评分表单打印</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现场考察评审时增加打印功能</a:t>
                      </a:r>
                      <a:endParaRPr lang="en-US" altLang="en-US" sz="900" b="0">
                        <a:solidFill>
                          <a:srgbClr val="000000"/>
                        </a:solidFill>
                        <a:latin typeface="微软雅黑" panose="020B0503020204020204" charset="-122"/>
                      </a:endParaRPr>
                    </a:p>
                  </a:txBody>
                  <a:tcPr marL="12700" marR="12700" marT="12700" anchor="ctr"/>
                </a:tc>
              </a:tr>
              <a:tr h="427990">
                <a:tc>
                  <a:txBody>
                    <a:bodyPr/>
                    <a:lstStyle/>
                    <a:p>
                      <a:pPr algn="ctr" fontAlgn="ctr"/>
                      <a:r>
                        <a:rPr lang="zh-CN" altLang="en-US" sz="900" b="0" i="0" u="none" strike="noStrike" dirty="0" smtClean="0">
                          <a:solidFill>
                            <a:srgbClr val="0D0D0D"/>
                          </a:solidFill>
                          <a:effectLst/>
                          <a:latin typeface="微软雅黑" panose="020B0503020204020204" charset="-122"/>
                          <a:ea typeface="微软雅黑" panose="020B0503020204020204" charset="-122"/>
                        </a:rPr>
                        <a:t>７</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供应商升降级管理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添加新增评审单的入口</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添加新增供应商评审单的入口</a:t>
                      </a:r>
                      <a:endParaRPr lang="en-US" altLang="en-US" sz="900" b="0">
                        <a:solidFill>
                          <a:srgbClr val="000000"/>
                        </a:solidFill>
                        <a:latin typeface="微软雅黑" panose="020B0503020204020204" charset="-122"/>
                      </a:endParaRPr>
                    </a:p>
                  </a:txBody>
                  <a:tcPr marL="12700" marR="12700" marT="12700" anchor="ctr"/>
                </a:tc>
              </a:tr>
              <a:tr h="398145">
                <a:tc>
                  <a:txBody>
                    <a:bodyPr/>
                    <a:lstStyle/>
                    <a:p>
                      <a:pPr algn="ctr" fontAlgn="ctr"/>
                      <a:r>
                        <a:rPr lang="zh-CN" altLang="en-US" sz="900" b="0" i="0" u="none" strike="noStrike" dirty="0" smtClean="0">
                          <a:solidFill>
                            <a:srgbClr val="0D0D0D"/>
                          </a:solidFill>
                          <a:effectLst/>
                          <a:latin typeface="微软雅黑" panose="020B0503020204020204" charset="-122"/>
                          <a:ea typeface="微软雅黑" panose="020B0503020204020204" charset="-122"/>
                        </a:rPr>
                        <a:t>８</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供应商升降级管理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目标阶段</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评分汇总时增加按键评估为潜在/不合格，点击该按键，申请单审批通过后生命阶段修改为潜在/不合格</a:t>
                      </a:r>
                      <a:endParaRPr lang="en-US" altLang="en-US" sz="900" b="0">
                        <a:solidFill>
                          <a:srgbClr val="000000"/>
                        </a:solidFill>
                        <a:latin typeface="微软雅黑" panose="020B0503020204020204" charset="-122"/>
                      </a:endParaRPr>
                    </a:p>
                  </a:txBody>
                  <a:tcPr marL="12700" marR="12700" marT="12700" anchor="ctr"/>
                </a:tc>
              </a:tr>
              <a:tr h="579755">
                <a:tc>
                  <a:txBody>
                    <a:bodyPr/>
                    <a:lstStyle/>
                    <a:p>
                      <a:pPr algn="ctr" fontAlgn="ctr"/>
                      <a:r>
                        <a:rPr lang="zh-CN" altLang="en-US" sz="900" b="0" i="0" u="none" strike="noStrike" dirty="0" smtClean="0">
                          <a:solidFill>
                            <a:srgbClr val="0D0D0D"/>
                          </a:solidFill>
                          <a:effectLst/>
                          <a:latin typeface="微软雅黑" panose="020B0503020204020204" charset="-122"/>
                          <a:ea typeface="微软雅黑" panose="020B0503020204020204" charset="-122"/>
                        </a:rPr>
                        <a:t>９</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供应商升降级管理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供应商关联业务单据</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在评分人评分时可以查看供应商关联业务单据，且供应商关联业务单据页面需隐藏协议页签，增加订单、询报价、预审申请单的页签</a:t>
                      </a:r>
                      <a:endParaRPr lang="en-US" altLang="en-US" sz="900" b="0">
                        <a:solidFill>
                          <a:srgbClr val="000000"/>
                        </a:solidFill>
                        <a:latin typeface="微软雅黑" panose="020B0503020204020204" charset="-122"/>
                      </a:endParaRPr>
                    </a:p>
                  </a:txBody>
                  <a:tcPr marL="12700" marR="12700" marT="12700" anchor="ctr"/>
                </a:tc>
              </a:tr>
              <a:tr h="768895">
                <a:tc>
                  <a:txBody>
                    <a:bodyPr/>
                    <a:lstStyle/>
                    <a:p>
                      <a:pPr algn="ctr" fontAlgn="ctr">
                        <a:buNone/>
                      </a:pPr>
                      <a:r>
                        <a:rPr lang="en-US" altLang="zh-CN" sz="900" b="0" i="0" u="none" strike="noStrike" dirty="0">
                          <a:solidFill>
                            <a:srgbClr val="0D0D0D"/>
                          </a:solidFill>
                          <a:effectLst/>
                          <a:latin typeface="微软雅黑" panose="020B0503020204020204" charset="-122"/>
                          <a:ea typeface="微软雅黑" panose="020B0503020204020204" charset="-122"/>
                        </a:rPr>
                        <a:t>10</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供应商生命周期</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标记特批供应商&amp;黑名单供应商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在供应商生命周期泳道上对特批及黑名单供应商进行标记</a:t>
                      </a:r>
                      <a:endParaRPr lang="en-US" altLang="en-US" sz="900" b="0">
                        <a:solidFill>
                          <a:srgbClr val="000000"/>
                        </a:solidFill>
                        <a:latin typeface="微软雅黑" panose="020B0503020204020204" charset="-122"/>
                      </a:endParaRPr>
                    </a:p>
                  </a:txBody>
                  <a:tcPr marL="12700" marR="12700" marT="12700" anchor="ctr"/>
                </a:tc>
              </a:tr>
            </a:tbl>
          </a:graphicData>
        </a:graphic>
      </p:graphicFrame>
      <p:graphicFrame>
        <p:nvGraphicFramePr>
          <p:cNvPr id="8" name="表格 7"/>
          <p:cNvGraphicFramePr>
            <a:graphicFrameLocks noGrp="1"/>
          </p:cNvGraphicFramePr>
          <p:nvPr>
            <p:custDataLst>
              <p:tags r:id="rId2"/>
            </p:custDataLst>
          </p:nvPr>
        </p:nvGraphicFramePr>
        <p:xfrm>
          <a:off x="5937018" y="156615"/>
          <a:ext cx="6190211" cy="7009130"/>
        </p:xfrm>
        <a:graphic>
          <a:graphicData uri="http://schemas.openxmlformats.org/drawingml/2006/table">
            <a:tbl>
              <a:tblPr>
                <a:tableStyleId>{5C22544A-7EE6-4342-B048-85BDC9FD1C3A}</a:tableStyleId>
              </a:tblPr>
              <a:tblGrid>
                <a:gridCol w="304160"/>
                <a:gridCol w="971621"/>
                <a:gridCol w="904030"/>
                <a:gridCol w="1419412"/>
                <a:gridCol w="2590988"/>
              </a:tblGrid>
              <a:tr h="446442">
                <a:tc>
                  <a:txBody>
                    <a:bodyPr/>
                    <a:lstStyle/>
                    <a:p>
                      <a:pPr algn="ctr" fontAlgn="ctr"/>
                      <a:r>
                        <a:rPr lang="zh-CN" altLang="en-US" sz="900" u="none" strike="noStrike">
                          <a:effectLst/>
                        </a:rPr>
                        <a:t>序号</a:t>
                      </a:r>
                      <a:endParaRPr lang="zh-CN" altLang="en-US" sz="900" b="1" i="0" u="none" strike="noStrike">
                        <a:solidFill>
                          <a:srgbClr val="0D0D0D"/>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l" fontAlgn="ctr"/>
                      <a:r>
                        <a:rPr lang="zh-CN" altLang="en-US" sz="900" u="none" strike="noStrike">
                          <a:effectLst/>
                        </a:rPr>
                        <a:t>模块</a:t>
                      </a:r>
                      <a:endParaRPr lang="zh-CN" altLang="en-US" sz="900" b="1"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l" fontAlgn="ctr"/>
                      <a:r>
                        <a:rPr lang="zh-CN" altLang="en-US" sz="900" u="none" strike="noStrike" dirty="0">
                          <a:effectLst/>
                        </a:rPr>
                        <a:t>功能</a:t>
                      </a:r>
                      <a:endParaRPr lang="zh-CN" altLang="en-US" sz="900" b="1"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l" fontAlgn="ctr"/>
                      <a:r>
                        <a:rPr lang="zh-CN" altLang="en-US" sz="900" u="none" strike="noStrike">
                          <a:effectLst/>
                        </a:rPr>
                        <a:t>任务</a:t>
                      </a:r>
                      <a:endParaRPr lang="zh-CN" altLang="en-US" sz="900" b="1"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c>
                  <a:txBody>
                    <a:bodyPr/>
                    <a:lstStyle/>
                    <a:p>
                      <a:pPr algn="ctr" fontAlgn="ctr"/>
                      <a:r>
                        <a:rPr lang="zh-CN" altLang="en-US" sz="900" u="none" strike="noStrike" dirty="0">
                          <a:effectLst/>
                        </a:rPr>
                        <a:t>说明及参考</a:t>
                      </a:r>
                      <a:endParaRPr lang="zh-CN" altLang="en-US" sz="900" b="1"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solidFill>
                  </a:tcPr>
                </a:tc>
              </a:tr>
              <a:tr h="775829">
                <a:tc>
                  <a:txBody>
                    <a:bodyPr/>
                    <a:lstStyle/>
                    <a:p>
                      <a:pPr algn="ctr" fontAlgn="ctr"/>
                      <a:r>
                        <a:rPr lang="en-US" altLang="zh-CN" sz="900" u="none" strike="noStrike" dirty="0" smtClean="0">
                          <a:effectLst/>
                        </a:rPr>
                        <a:t>11</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供应商生命周期</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当供应商有多个启用状态下的供应商分类行时，发起变更时进行提醒</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发起阶段变更单时，系统弹窗提示：该供应商同时为成衣供应商与面料供应商，是否确认发起变更</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r>
                        <a:rPr lang="en-US" altLang="zh-CN" sz="900" u="none" strike="noStrike" dirty="0" smtClean="0">
                          <a:effectLst/>
                        </a:rPr>
                        <a:t>12</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供应商生命周期</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超期提示</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供应商在注册/预审阶段停留超过6个月后，供应商名称标红</a:t>
                      </a:r>
                      <a:endParaRPr lang="en-US" altLang="en-US" sz="900" b="0">
                        <a:solidFill>
                          <a:srgbClr val="000000"/>
                        </a:solidFill>
                        <a:latin typeface="微软雅黑" panose="020B0503020204020204" charset="-122"/>
                      </a:endParaRPr>
                    </a:p>
                  </a:txBody>
                  <a:tcPr marL="12700" marR="12700" marT="12700" anchor="ctr"/>
                </a:tc>
              </a:tr>
              <a:tr h="783996">
                <a:tc>
                  <a:txBody>
                    <a:bodyPr/>
                    <a:lstStyle/>
                    <a:p>
                      <a:pPr algn="ctr" fontAlgn="ctr"/>
                      <a:r>
                        <a:rPr lang="en-US" altLang="zh-CN" sz="900" u="none" strike="noStrike" dirty="0" smtClean="0">
                          <a:effectLst/>
                        </a:rPr>
                        <a:t>13</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供应商生命周期</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休眠状态</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当供应商三年未交易订单时（若没有订单，按注册时间算），自动将其生命周期改为退出，并添加供应商状态为休眠，触发更新ERP状态的接口，状态变更后需发送邮件提醒</a:t>
                      </a:r>
                      <a:endParaRPr lang="en-US" altLang="en-US" sz="900" b="0">
                        <a:solidFill>
                          <a:srgbClr val="000000"/>
                        </a:solidFill>
                        <a:latin typeface="微软雅黑" panose="020B0503020204020204" charset="-122"/>
                      </a:endParaRPr>
                    </a:p>
                  </a:txBody>
                  <a:tcPr marL="12700" marR="12700" marT="12700" anchor="ctr"/>
                </a:tc>
              </a:tr>
              <a:tr h="775970">
                <a:tc>
                  <a:txBody>
                    <a:bodyPr/>
                    <a:lstStyle/>
                    <a:p>
                      <a:pPr algn="ctr" fontAlgn="ctr"/>
                      <a:r>
                        <a:rPr lang="en-US" altLang="zh-CN" sz="900" u="none" strike="noStrike" dirty="0" smtClean="0">
                          <a:effectLst/>
                        </a:rPr>
                        <a:t>14</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供应商分类需与品类进行关联</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供应商分类与品类关联，该分类下的供应商只能选择到该分类下的品类</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r>
                        <a:rPr lang="en-US" altLang="zh-CN" sz="900" u="none" strike="noStrike" dirty="0" smtClean="0">
                          <a:effectLst/>
                        </a:rPr>
                        <a:t>15</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在供应商分类行上设置大货订单限制</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设置金额及时间限制，该供应商和该分类下，采购类型为大货的订单总金额达到该限制后，需要对供管及采购人员进行预警消息提醒</a:t>
                      </a:r>
                      <a:r>
                        <a:rPr lang="en-US" sz="900" b="1">
                          <a:solidFill>
                            <a:srgbClr val="000000"/>
                          </a:solidFill>
                          <a:latin typeface="微软雅黑" panose="020B0503020204020204" charset="-122"/>
                        </a:rPr>
                        <a:t>（待定）</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r>
                        <a:rPr lang="en-US" altLang="zh-CN" sz="900" u="none" strike="noStrike" dirty="0" smtClean="0">
                          <a:effectLst/>
                        </a:rPr>
                        <a:t>16</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供应商分类变更流程不允许新增/启用分类行，可禁用/冻结/解冻</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供应商分类变更申请页面只能禁用/冻结/解冻分类，不能新增/启用，新增/启用分类需通过供应商评审单操作，即需重新发起评审流程</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r>
                        <a:rPr lang="en-US" altLang="zh-CN" sz="900" u="none" strike="noStrike" dirty="0" smtClean="0">
                          <a:effectLst/>
                        </a:rPr>
                        <a:t>17</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供应商360度查询</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增加打印功能</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需支持选择模块进行打印</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r>
                        <a:rPr lang="en-US" altLang="zh-CN" sz="900" u="none" strike="noStrike" dirty="0" smtClean="0">
                          <a:effectLst/>
                        </a:rPr>
                        <a:t>18</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供应商信息变更</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添加变更生效时间</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对于部分字段的变更需设置生效时间，到生效时间后再导入ERP进行信息更新</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buNone/>
                      </a:pPr>
                      <a:r>
                        <a:rPr lang="en-US" altLang="zh-CN" sz="900" b="0" i="0" u="none" strike="noStrike" dirty="0">
                          <a:solidFill>
                            <a:srgbClr val="0D0D0D"/>
                          </a:solidFill>
                          <a:effectLst/>
                          <a:latin typeface="微软雅黑" panose="020B0503020204020204" charset="-122"/>
                          <a:ea typeface="微软雅黑" panose="020B0503020204020204" charset="-122"/>
                        </a:rPr>
                        <a:t>19</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供应商信息变更</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变更走审批流，字段跟上面一样</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部分特定字段变更需走审批流，其他字段不走审批工作流</a:t>
                      </a:r>
                      <a:endParaRPr lang="en-US" altLang="en-US" sz="900" b="0">
                        <a:solidFill>
                          <a:srgbClr val="000000"/>
                        </a:solidFill>
                        <a:latin typeface="微软雅黑" panose="020B0503020204020204" charset="-122"/>
                      </a:endParaRPr>
                    </a:p>
                  </a:txBody>
                  <a:tcPr marL="12700" marR="12700" marT="12700" anchor="ctr"/>
                </a:tc>
              </a:tr>
              <a:tr h="517219">
                <a:tc>
                  <a:txBody>
                    <a:bodyPr/>
                    <a:lstStyle/>
                    <a:p>
                      <a:pPr algn="ctr" fontAlgn="ctr">
                        <a:buNone/>
                      </a:pPr>
                      <a:r>
                        <a:rPr lang="en-US" altLang="zh-CN" sz="900" b="0" i="0" u="none" strike="noStrike" dirty="0">
                          <a:solidFill>
                            <a:srgbClr val="0D0D0D"/>
                          </a:solidFill>
                          <a:effectLst/>
                          <a:latin typeface="微软雅黑" panose="020B0503020204020204" charset="-122"/>
                          <a:ea typeface="微软雅黑" panose="020B0503020204020204" charset="-122"/>
                        </a:rPr>
                        <a:t>20</a:t>
                      </a:r>
                      <a:endParaRPr lang="en-US" altLang="zh-CN" sz="900" b="0" i="0" u="none" strike="noStrike" dirty="0">
                        <a:solidFill>
                          <a:srgbClr val="0D0D0D"/>
                        </a:solidFill>
                        <a:effectLst/>
                        <a:latin typeface="微软雅黑" panose="020B0503020204020204" charset="-122"/>
                        <a:ea typeface="微软雅黑" panose="020B0503020204020204" charset="-122"/>
                      </a:endParaRPr>
                    </a:p>
                  </a:txBody>
                  <a:tcPr marL="0" marR="0" marT="0" marB="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供应商管理</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业务通知单</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增加系统消息及邮件通知，附件关联供应商主档</a:t>
                      </a:r>
                      <a:endParaRPr lang="en-US" altLang="en-US" sz="900" b="0">
                        <a:solidFill>
                          <a:srgbClr val="000000"/>
                        </a:solidFill>
                        <a:latin typeface="微软雅黑" panose="020B0503020204020204" charset="-122"/>
                      </a:endParaRPr>
                    </a:p>
                  </a:txBody>
                  <a:tcPr marL="12700" marR="12700" marT="12700" anchor="ctr"/>
                </a:tc>
                <a:tc>
                  <a:txBody>
                    <a:bodyPr/>
                    <a:lstStyle/>
                    <a:p>
                      <a:pPr indent="0">
                        <a:buNone/>
                      </a:pPr>
                      <a:r>
                        <a:rPr lang="zh-CN" sz="900" b="0">
                          <a:solidFill>
                            <a:srgbClr val="000000"/>
                          </a:solidFill>
                          <a:latin typeface="Arial" panose="020B0604020202020204" pitchFamily="34" charset="0"/>
                          <a:ea typeface="微软雅黑" panose="020B0503020204020204" charset="-122"/>
                        </a:rPr>
                        <a:t>供应商回传的附件需关联到供应商360信息中</a:t>
                      </a:r>
                      <a:endParaRPr lang="en-US" altLang="en-US" sz="900" b="0">
                        <a:solidFill>
                          <a:srgbClr val="000000"/>
                        </a:solidFill>
                        <a:latin typeface="微软雅黑" panose="020B0503020204020204" charset="-122"/>
                      </a:endParaRPr>
                    </a:p>
                  </a:txBody>
                  <a:tcPr marL="12700" marR="12700" marT="12700" anchor="ctr"/>
                </a:tc>
              </a:tr>
            </a:tbl>
          </a:graphicData>
        </a:graphic>
      </p:graphicFrame>
      <p:sp>
        <p:nvSpPr>
          <p:cNvPr id="9" name="标题 1"/>
          <p:cNvSpPr>
            <a:spLocks noGrp="1"/>
          </p:cNvSpPr>
          <p:nvPr/>
        </p:nvSpPr>
        <p:spPr>
          <a:xfrm>
            <a:off x="431373" y="156685"/>
            <a:ext cx="9697077" cy="533400"/>
          </a:xfrm>
          <a:prstGeom prst="rect">
            <a:avLst/>
          </a:prstGeom>
          <a:noFill/>
          <a:ln>
            <a:noFill/>
          </a:ln>
        </p:spPr>
        <p:txBody>
          <a:bodyPr vert="horz" wrap="square" lIns="91440" tIns="45720" rIns="91440" bIns="45720" numCol="1" anchor="ctr" anchorCtr="0" compatLnSpc="1"/>
          <a:lstStyle>
            <a:lvl1pPr algn="l" rtl="0" eaLnBrk="0" fontAlgn="ctr" hangingPunct="0">
              <a:spcBef>
                <a:spcPct val="0"/>
              </a:spcBef>
              <a:spcAft>
                <a:spcPct val="0"/>
              </a:spcAft>
              <a:defRPr sz="3200">
                <a:solidFill>
                  <a:schemeClr val="tx1"/>
                </a:solidFill>
                <a:latin typeface="微软雅黑" panose="020B0503020204020204" charset="-122"/>
                <a:ea typeface="微软雅黑" panose="020B0503020204020204" charset="-122"/>
                <a:cs typeface="+mj-cs"/>
              </a:defRPr>
            </a:lvl1pPr>
            <a:lvl2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2pPr>
            <a:lvl3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3pPr>
            <a:lvl4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4pPr>
            <a:lvl5pPr algn="l" rtl="0" eaLnBrk="0" fontAlgn="ctr" hangingPunct="0">
              <a:spcBef>
                <a:spcPct val="0"/>
              </a:spcBef>
              <a:spcAft>
                <a:spcPct val="0"/>
              </a:spcAft>
              <a:defRPr sz="2400">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2400" b="1">
                <a:solidFill>
                  <a:schemeClr val="tx1"/>
                </a:solidFill>
                <a:latin typeface="宋体" panose="02010600030101010101" pitchFamily="2" charset="-122"/>
                <a:ea typeface="宋体" panose="02010600030101010101" pitchFamily="2" charset="-122"/>
              </a:defRPr>
            </a:lvl9pPr>
          </a:lstStyle>
          <a:p>
            <a:r>
              <a:rPr lang="zh-CN" altLang="en-US" sz="2800" dirty="0" smtClean="0"/>
              <a:t>后续工作任务清单</a:t>
            </a:r>
            <a:endParaRPr lang="zh-CN" altLang="en-US" sz="28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C:\Documents and Settings\IBM\桌面\logo.png"/>
          <p:cNvPicPr>
            <a:picLocks noChangeAspect="1" noChangeArrowheads="1"/>
          </p:cNvPicPr>
          <p:nvPr/>
        </p:nvPicPr>
        <p:blipFill>
          <a:blip r:embed="rId1" cstate="screen"/>
          <a:srcRect/>
          <a:stretch>
            <a:fillRect/>
          </a:stretch>
        </p:blipFill>
        <p:spPr bwMode="auto">
          <a:xfrm>
            <a:off x="9948230" y="5417047"/>
            <a:ext cx="2093909" cy="59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txBox="1"/>
          <p:nvPr/>
        </p:nvSpPr>
        <p:spPr>
          <a:xfrm>
            <a:off x="268137" y="163903"/>
            <a:ext cx="11593183" cy="4905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zh-CN" altLang="en-US" dirty="0">
                <a:solidFill>
                  <a:schemeClr val="bg1"/>
                </a:solidFill>
              </a:rPr>
              <a:t>结束</a:t>
            </a:r>
            <a:endParaRPr lang="zh-CN" altLang="en-US" dirty="0">
              <a:solidFill>
                <a:schemeClr val="bg1"/>
              </a:solidFill>
            </a:endParaRPr>
          </a:p>
        </p:txBody>
      </p:sp>
      <p:sp>
        <p:nvSpPr>
          <p:cNvPr id="10" name="矩形 9"/>
          <p:cNvSpPr/>
          <p:nvPr/>
        </p:nvSpPr>
        <p:spPr>
          <a:xfrm>
            <a:off x="3255887" y="2218447"/>
            <a:ext cx="5491942" cy="1861185"/>
          </a:xfrm>
          <a:prstGeom prst="rect">
            <a:avLst/>
          </a:prstGeom>
        </p:spPr>
        <p:txBody>
          <a:bodyPr wrap="square">
            <a:spAutoFit/>
          </a:bodyPr>
          <a:lstStyle/>
          <a:p>
            <a:pPr algn="ctr">
              <a:defRPr/>
            </a:pPr>
            <a:r>
              <a:rPr lang="en-US" altLang="zh-CN" sz="11500" dirty="0" smtClean="0">
                <a:solidFill>
                  <a:schemeClr val="bg1"/>
                </a:solidFill>
              </a:rPr>
              <a:t>Thanks!</a:t>
            </a:r>
            <a:endParaRPr lang="en-US" altLang="zh-CN" sz="11500" dirty="0" smtClean="0">
              <a:solidFill>
                <a:schemeClr val="bg1"/>
              </a:solidFill>
            </a:endParaRPr>
          </a:p>
        </p:txBody>
      </p:sp>
    </p:spTree>
  </p:cSld>
  <p:clrMapOvr>
    <a:masterClrMapping/>
  </p:clrMapOvr>
</p:sld>
</file>

<file path=ppt/tags/tag1.xml><?xml version="1.0" encoding="utf-8"?>
<p:tagLst xmlns:p="http://schemas.openxmlformats.org/presentationml/2006/main">
  <p:tag name="PA" val="v5.1.0"/>
</p:tagLst>
</file>

<file path=ppt/tags/tag2.xml><?xml version="1.0" encoding="utf-8"?>
<p:tagLst xmlns:p="http://schemas.openxmlformats.org/presentationml/2006/main">
  <p:tag name="PA" val="v5.1.2"/>
</p:tagLst>
</file>

<file path=ppt/tags/tag3.xml><?xml version="1.0" encoding="utf-8"?>
<p:tagLst xmlns:p="http://schemas.openxmlformats.org/presentationml/2006/main">
  <p:tag name="PA" val="v5.1.2"/>
</p:tagLst>
</file>

<file path=ppt/tags/tag4.xml><?xml version="1.0" encoding="utf-8"?>
<p:tagLst xmlns:p="http://schemas.openxmlformats.org/presentationml/2006/main">
  <p:tag name="PA" val="v5.1.2"/>
</p:tagLst>
</file>

<file path=ppt/tags/tag5.xml><?xml version="1.0" encoding="utf-8"?>
<p:tagLst xmlns:p="http://schemas.openxmlformats.org/presentationml/2006/main">
  <p:tag name="PA" val="v5.1.2"/>
</p:tagLst>
</file>

<file path=ppt/tags/tag6.xml><?xml version="1.0" encoding="utf-8"?>
<p:tagLst xmlns:p="http://schemas.openxmlformats.org/presentationml/2006/main">
  <p:tag name="KSO_WM_UNIT_TABLE_BEAUTIFY" val="smartTable{fb784ae9-c010-483b-9813-73f31b3750bf}"/>
</p:tagLst>
</file>

<file path=ppt/tags/tag7.xml><?xml version="1.0" encoding="utf-8"?>
<p:tagLst xmlns:p="http://schemas.openxmlformats.org/presentationml/2006/main">
  <p:tag name="KSO_WM_UNIT_TABLE_BEAUTIFY" val="smartTable{072eb14a-d60e-4f3b-af71-52ecd0bde162}"/>
</p:tagLst>
</file>

<file path=ppt/tags/tag8.xml><?xml version="1.0" encoding="utf-8"?>
<p:tagLst xmlns:p="http://schemas.openxmlformats.org/presentationml/2006/main">
  <p:tag name="KSO_WM_UNIT_TABLE_BEAUTIFY" val="smartTable{4ad85b97-0268-4b3e-ae16-accc9e4fd137}"/>
</p:tagLst>
</file>

<file path=ppt/tags/tag9.xml><?xml version="1.0" encoding="utf-8"?>
<p:tagLst xmlns:p="http://schemas.openxmlformats.org/presentationml/2006/main">
  <p:tag name="KSO_WM_UNIT_TABLE_BEAUTIFY" val="smartTable{d6eb2c67-f291-4347-bc85-af62f6849b73}"/>
  <p:tag name="TABLE_ENDDRAG_ORIGIN_RECT" val="954*296"/>
  <p:tag name="TABLE_ENDDRAG_RECT" val="-42*141*954*296"/>
</p:tagLst>
</file>

<file path=ppt/tags/tag10.xml><?xml version="1.0" encoding="utf-8"?>
<p:tagLst xmlns:p="http://schemas.openxmlformats.org/presentationml/2006/main">
  <p:tag name="KSO_WM_UNIT_TABLE_BEAUTIFY" val="smartTable{1b19ffb5-127e-4f0b-a092-b4548fc6ecf9}"/>
</p:tagLst>
</file>

<file path=ppt/tags/tag11.xml><?xml version="1.0" encoding="utf-8"?>
<p:tagLst xmlns:p="http://schemas.openxmlformats.org/presentationml/2006/main">
  <p:tag name="KSO_WM_UNIT_TABLE_BEAUTIFY" val="smartTable{f1202b00-9763-4b6a-bf4d-768f16fcdeb4}"/>
</p:tagLst>
</file>

<file path=ppt/tags/tag12.xml><?xml version="1.0" encoding="utf-8"?>
<p:tagLst xmlns:p="http://schemas.openxmlformats.org/presentationml/2006/main">
  <p:tag name="KSO_WM_UNIT_PLACING_PICTURE_USER_VIEWPORT" val="{&quot;height&quot;:8220,&quot;width&quot;:14570}"/>
</p:tagLst>
</file>

<file path=ppt/tags/tag13.xml><?xml version="1.0" encoding="utf-8"?>
<p:tagLst xmlns:p="http://schemas.openxmlformats.org/presentationml/2006/main">
  <p:tag name="KSO_WM_UNIT_PLACING_PICTURE_USER_VIEWPORT" val="{&quot;height&quot;:7920,&quot;width&quot;:16850}"/>
</p:tagLst>
</file>

<file path=ppt/tags/tag14.xml><?xml version="1.0" encoding="utf-8"?>
<p:tagLst xmlns:p="http://schemas.openxmlformats.org/presentationml/2006/main">
  <p:tag name="KSO_WM_UNIT_PLACING_PICTURE_USER_VIEWPORT" val="{&quot;height&quot;:7014,&quot;width&quot;:14728}"/>
</p:tagLst>
</file>

<file path=ppt/tags/tag15.xml><?xml version="1.0" encoding="utf-8"?>
<p:tagLst xmlns:p="http://schemas.openxmlformats.org/presentationml/2006/main">
  <p:tag name="KSO_WM_UNIT_TABLE_BEAUTIFY" val="smartTable{49821d56-69d2-4ae3-b472-6ac0b58da99f}"/>
</p:tagLst>
</file>

<file path=ppt/tags/tag16.xml><?xml version="1.0" encoding="utf-8"?>
<p:tagLst xmlns:p="http://schemas.openxmlformats.org/presentationml/2006/main">
  <p:tag name="KSO_WM_UNIT_TABLE_BEAUTIFY" val="smartTable{291315f0-1247-429c-b187-63688fb6a844}"/>
</p:tagLst>
</file>

<file path=ppt/tags/tag17.xml><?xml version="1.0" encoding="utf-8"?>
<p:tagLst xmlns:p="http://schemas.openxmlformats.org/presentationml/2006/main">
  <p:tag name="KSO_WM_UNIT_TABLE_BEAUTIFY" val="smartTable{dba0c92a-3750-4eb4-8bb6-2343378dcd1f}"/>
</p:tagLst>
</file>

<file path=ppt/tags/tag18.xml><?xml version="1.0" encoding="utf-8"?>
<p:tagLst xmlns:p="http://schemas.openxmlformats.org/presentationml/2006/main">
  <p:tag name="KSO_WM_UNIT_TABLE_BEAUTIFY" val="smartTable{f8cd2b2c-52df-4ef5-8116-e6872b09d60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13538</Words>
  <Application>WPS 演示</Application>
  <PresentationFormat>宽屏</PresentationFormat>
  <Paragraphs>2411</Paragraphs>
  <Slides>76</Slides>
  <Notes>56</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7</vt:i4>
      </vt:variant>
      <vt:variant>
        <vt:lpstr>幻灯片标题</vt:lpstr>
      </vt:variant>
      <vt:variant>
        <vt:i4>76</vt:i4>
      </vt:variant>
    </vt:vector>
  </HeadingPairs>
  <TitlesOfParts>
    <vt:vector size="97" baseType="lpstr">
      <vt:lpstr>Arial</vt:lpstr>
      <vt:lpstr>宋体</vt:lpstr>
      <vt:lpstr>Wingdings</vt:lpstr>
      <vt:lpstr>微软雅黑</vt:lpstr>
      <vt:lpstr>黑体</vt:lpstr>
      <vt:lpstr>Helvetica Light</vt:lpstr>
      <vt:lpstr>思源黑体</vt:lpstr>
      <vt:lpstr>Source Han Sans CN Normal</vt:lpstr>
      <vt:lpstr>Yu Gothic UI Semilight</vt:lpstr>
      <vt:lpstr>Calibri</vt:lpstr>
      <vt:lpstr>Arial Unicode MS</vt:lpstr>
      <vt:lpstr>Wingdings</vt:lpstr>
      <vt:lpstr>Helvetica Neue Medium</vt:lpstr>
      <vt:lpstr>Office 主题</vt:lpstr>
      <vt:lpstr>Visio.Drawing.15</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周丹</cp:lastModifiedBy>
  <cp:revision>1062</cp:revision>
  <dcterms:created xsi:type="dcterms:W3CDTF">2022-03-06T11:02:00Z</dcterms:created>
  <dcterms:modified xsi:type="dcterms:W3CDTF">2022-04-01T05:25:50Z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2F61E5E72C704BF5BC01E7BB1E4C46B8</vt:lpwstr>
  </property>
  <property fmtid="{D5CDD505-2E9C-101B-9397-08002B2CF9AE}" pid="3" name="KSOProductBuildVer">
    <vt:lpwstr>2052-11.1.0.11365</vt:lpwstr>
  </property>
</Properties>
</file>